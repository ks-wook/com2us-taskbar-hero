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4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95" r:id="rId11"/>
    <p:sldId id="297" r:id="rId12"/>
    <p:sldId id="298" r:id="rId13"/>
    <p:sldId id="300" r:id="rId14"/>
    <p:sldId id="267" r:id="rId15"/>
    <p:sldId id="268" r:id="rId16"/>
    <p:sldId id="303" r:id="rId17"/>
    <p:sldId id="269" r:id="rId18"/>
    <p:sldId id="270" r:id="rId19"/>
    <p:sldId id="271" r:id="rId20"/>
    <p:sldId id="272" r:id="rId21"/>
    <p:sldId id="279" r:id="rId22"/>
    <p:sldId id="280" r:id="rId23"/>
    <p:sldId id="281" r:id="rId24"/>
    <p:sldId id="282" r:id="rId25"/>
    <p:sldId id="283" r:id="rId26"/>
    <p:sldId id="284" r:id="rId27"/>
    <p:sldId id="285" r:id="rId28"/>
    <p:sldId id="286" r:id="rId29"/>
    <p:sldId id="287" r:id="rId30"/>
    <p:sldId id="288" r:id="rId31"/>
    <p:sldId id="289" r:id="rId32"/>
    <p:sldId id="290" r:id="rId33"/>
    <p:sldId id="292" r:id="rId34"/>
    <p:sldId id="304" r:id="rId35"/>
    <p:sldId id="273" r:id="rId36"/>
    <p:sldId id="274" r:id="rId37"/>
    <p:sldId id="275" r:id="rId38"/>
    <p:sldId id="276" r:id="rId39"/>
    <p:sldId id="302" r:id="rId40"/>
    <p:sldId id="301" r:id="rId41"/>
    <p:sldId id="294" r:id="rId4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6" roundtripDataSignature="AMtx7mhvl5lWgQYF+5+841CAmgrQLhPSE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17F4239-6CF6-4BE5-99FF-9D92B26D0C97}">
  <a:tblStyle styleId="{117F4239-6CF6-4BE5-99FF-9D92B26D0C9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tcBdr/>
        <a:fill>
          <a:solidFill>
            <a:srgbClr val="CFD7E7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FD7E7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69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24" y="10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customschemas.google.com/relationships/presentationmetadata" Target="metadata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8" name="Google Shape;9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0" name="Google Shape;14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9" name="Google Shape;14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0" name="Google Shape;180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81" name="Google Shape;181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57" name="Google Shape;25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16" name="Google Shape;31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52" name="Google Shape;352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86" name="Google Shape;48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fld>
            <a:endParaRPr lang="en-US"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2654896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07" name="Google Shape;60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42" name="Google Shape;64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59" name="Google Shape;659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60" name="Google Shape;660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84" name="Google Shape;684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04" name="Google Shape;704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18" name="Google Shape;718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4" name="Google Shape;884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85" name="Google Shape;885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93" name="Google Shape;893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6" name="Google Shape;926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27" name="Google Shape;927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61" name="Google Shape;961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96" name="Google Shape;996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" name="Google Shape;1020;p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21" name="Google Shape;1021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1" name="Google Shape;1061;p3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2" name="Google Shape;1062;p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p3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78" name="Google Shape;1078;p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p3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03" name="Google Shape;1103;p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3" name="Google Shape;1123;p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24" name="Google Shape;1124;p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" name="Google Shape;1167;p3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8" name="Google Shape;1168;p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3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81" name="Google Shape;1181;p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16" name="Google Shape;1216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70" name="Google Shape;770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1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91" name="Google Shape;791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p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06" name="Google Shape;806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2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19" name="Google Shape;819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39</a:t>
            </a:fld>
            <a:endParaRPr lang="en-US"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85707592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3">
          <a:extLst>
            <a:ext uri="{FF2B5EF4-FFF2-40B4-BE49-F238E27FC236}">
              <a16:creationId xmlns:a16="http://schemas.microsoft.com/office/drawing/2014/main" id="{9090408C-4552-88C4-72AC-76C244B2A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Google Shape;1254;p40:notes">
            <a:extLst>
              <a:ext uri="{FF2B5EF4-FFF2-40B4-BE49-F238E27FC236}">
                <a16:creationId xmlns:a16="http://schemas.microsoft.com/office/drawing/2014/main" id="{BEC2B554-2A66-6E46-97AD-522CEEB305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55" name="Google Shape;1255;p40:notes">
            <a:extLst>
              <a:ext uri="{FF2B5EF4-FFF2-40B4-BE49-F238E27FC236}">
                <a16:creationId xmlns:a16="http://schemas.microsoft.com/office/drawing/2014/main" id="{AB27B94B-5F93-1C3A-D61F-26217C7FFD1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2566924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Google Shape;1254;p4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55" name="Google Shape;1255;p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4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4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4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4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4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4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0" name="Google Shape;40;p4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1" name="Google Shape;41;p4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4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4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4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4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8" name="Google Shape;48;p4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4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0" name="Google Shape;50;p4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4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4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4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4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4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4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4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4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4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4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4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5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5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5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5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5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5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5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5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5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5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5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5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5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5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4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4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4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4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1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1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1.png"/><Relationship Id="rId4" Type="http://schemas.openxmlformats.org/officeDocument/2006/relationships/image" Target="../media/image2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35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gif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914400" y="1409387"/>
            <a:ext cx="10058400" cy="10662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1" i="0" u="none" strike="noStrike" cap="none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2026 컴투스 지니어스 8기 과제발표</a:t>
            </a:r>
            <a:endParaRPr sz="2400" b="1" i="0" u="none" strike="noStrike" cap="none">
              <a:solidFill>
                <a:srgbClr val="FF000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테크코어실 백엔드기술팀 </a:t>
            </a:r>
            <a:endParaRPr sz="1800" b="1" i="0" u="none" strike="noStrike" cap="none">
              <a:solidFill>
                <a:srgbClr val="E0A526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인턴 권순욱</a:t>
            </a:r>
            <a:endParaRPr sz="1500" b="1" i="0" u="none" strike="noStrike" cap="none">
              <a:solidFill>
                <a:srgbClr val="E0A52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914400" y="3311665"/>
            <a:ext cx="10241280" cy="1697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en-US" sz="48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방치형 게임(Com2us Taskbar Hero)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endParaRPr sz="4800" b="1" i="0" u="none" strike="noStrike" cap="none">
              <a:solidFill>
                <a:srgbClr val="FFFFF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3" name="Google Shape;93;p1"/>
          <p:cNvSpPr/>
          <p:nvPr/>
        </p:nvSpPr>
        <p:spPr>
          <a:xfrm>
            <a:off x="1005840" y="4160520"/>
            <a:ext cx="146304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5" name="Google Shape;95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"/>
          <p:cNvSpPr/>
          <p:nvPr/>
        </p:nvSpPr>
        <p:spPr>
          <a:xfrm>
            <a:off x="305" y="-4572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CONTENTS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2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목차</a:t>
            </a:r>
            <a:endParaRPr sz="30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5" name="Google Shape;105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2"/>
          <p:cNvSpPr/>
          <p:nvPr/>
        </p:nvSpPr>
        <p:spPr>
          <a:xfrm>
            <a:off x="685800" y="2011681"/>
            <a:ext cx="5166360" cy="3831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1097280" y="237744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제1부 — 서버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1097280" y="3172968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2"/>
          <p:cNvSpPr txBox="1"/>
          <p:nvPr/>
        </p:nvSpPr>
        <p:spPr>
          <a:xfrm>
            <a:off x="1645920" y="3172968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시스템 아키텍처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"/>
          <p:cNvSpPr txBox="1"/>
          <p:nvPr/>
        </p:nvSpPr>
        <p:spPr>
          <a:xfrm>
            <a:off x="1097280" y="5093208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1645920" y="5093208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 시 각 단계에 대해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2"/>
          <p:cNvSpPr txBox="1"/>
          <p:nvPr/>
        </p:nvSpPr>
        <p:spPr>
          <a:xfrm>
            <a:off x="1097280" y="5477256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"/>
          <p:cNvSpPr txBox="1"/>
          <p:nvPr/>
        </p:nvSpPr>
        <p:spPr>
          <a:xfrm>
            <a:off x="1645920" y="5477256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 체계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2"/>
          <p:cNvSpPr/>
          <p:nvPr/>
        </p:nvSpPr>
        <p:spPr>
          <a:xfrm>
            <a:off x="6309360" y="2011680"/>
            <a:ext cx="5166360" cy="38313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2"/>
          <p:cNvSpPr txBox="1"/>
          <p:nvPr/>
        </p:nvSpPr>
        <p:spPr>
          <a:xfrm>
            <a:off x="6720840" y="2377440"/>
            <a:ext cx="4343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제2부 — 클라이언트(Unity)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0" name="Google Shape;120;p2"/>
          <p:cNvSpPr txBox="1"/>
          <p:nvPr/>
        </p:nvSpPr>
        <p:spPr>
          <a:xfrm>
            <a:off x="6720840" y="2852928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p2"/>
          <p:cNvSpPr txBox="1"/>
          <p:nvPr/>
        </p:nvSpPr>
        <p:spPr>
          <a:xfrm>
            <a:off x="7269480" y="2852928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 소개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p2"/>
          <p:cNvSpPr txBox="1"/>
          <p:nvPr/>
        </p:nvSpPr>
        <p:spPr>
          <a:xfrm>
            <a:off x="6720840" y="3236976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3" name="Google Shape;123;p2"/>
          <p:cNvSpPr txBox="1"/>
          <p:nvPr/>
        </p:nvSpPr>
        <p:spPr>
          <a:xfrm>
            <a:off x="7269480" y="3236976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 AI를 이용한 유니티 클라이언트 개발</a:t>
            </a:r>
            <a:endParaRPr sz="1250" b="0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4" name="Google Shape;124;p2"/>
          <p:cNvSpPr txBox="1"/>
          <p:nvPr/>
        </p:nvSpPr>
        <p:spPr>
          <a:xfrm>
            <a:off x="6720840" y="3621024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2"/>
          <p:cNvSpPr txBox="1"/>
          <p:nvPr/>
        </p:nvSpPr>
        <p:spPr>
          <a:xfrm>
            <a:off x="7269480" y="3621024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사운드 리소스 생성 및 관리</a:t>
            </a:r>
            <a:endParaRPr sz="1250" b="0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6" name="Google Shape;126;p2"/>
          <p:cNvSpPr txBox="1"/>
          <p:nvPr/>
        </p:nvSpPr>
        <p:spPr>
          <a:xfrm>
            <a:off x="1097280" y="2788920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250" b="1" i="0" u="none" strike="noStrike" cap="none">
              <a:solidFill>
                <a:srgbClr val="E0A52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27" name="Google Shape;127;p2"/>
          <p:cNvSpPr txBox="1"/>
          <p:nvPr/>
        </p:nvSpPr>
        <p:spPr>
          <a:xfrm>
            <a:off x="1645920" y="2788920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프로젝트 개요</a:t>
            </a:r>
            <a:endParaRPr sz="1250" b="0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2" name="Google Shape;132;p2"/>
          <p:cNvSpPr txBox="1"/>
          <p:nvPr/>
        </p:nvSpPr>
        <p:spPr>
          <a:xfrm>
            <a:off x="6720840" y="4005072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p2"/>
          <p:cNvSpPr txBox="1"/>
          <p:nvPr/>
        </p:nvSpPr>
        <p:spPr>
          <a:xfrm>
            <a:off x="7269480" y="4005072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개발용 하네스 씬 구성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2"/>
          <p:cNvSpPr txBox="1"/>
          <p:nvPr/>
        </p:nvSpPr>
        <p:spPr>
          <a:xfrm>
            <a:off x="6720840" y="4389120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5" name="Google Shape;135;p2"/>
          <p:cNvSpPr txBox="1"/>
          <p:nvPr/>
        </p:nvSpPr>
        <p:spPr>
          <a:xfrm>
            <a:off x="7269480" y="4389120"/>
            <a:ext cx="3794760" cy="24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아이템</a:t>
            </a:r>
            <a:r>
              <a:rPr lang="en-US" sz="12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생성</a:t>
            </a:r>
            <a:r>
              <a:rPr lang="en-US" sz="12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자동화</a:t>
            </a:r>
            <a:endParaRPr sz="1250" b="0" i="0" u="none" strike="noStrike" cap="none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6" name="Google Shape;136;p2"/>
          <p:cNvSpPr txBox="1"/>
          <p:nvPr/>
        </p:nvSpPr>
        <p:spPr>
          <a:xfrm>
            <a:off x="1097280" y="3557016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250" b="1" i="0" u="none" strike="noStrike" cap="none">
              <a:solidFill>
                <a:srgbClr val="E0A52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7" name="Google Shape;137;p2"/>
          <p:cNvSpPr txBox="1"/>
          <p:nvPr/>
        </p:nvSpPr>
        <p:spPr>
          <a:xfrm>
            <a:off x="1645920" y="3557016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데이터베이스 설계</a:t>
            </a:r>
            <a:endParaRPr sz="1250" b="0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" name="Google Shape;126;p2"/>
          <p:cNvSpPr txBox="1"/>
          <p:nvPr/>
        </p:nvSpPr>
        <p:spPr>
          <a:xfrm>
            <a:off x="1097280" y="3941064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sz="1250" b="1" i="0" u="none" strike="noStrike" cap="none">
              <a:solidFill>
                <a:srgbClr val="E0A52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" name="Google Shape;127;p2"/>
          <p:cNvSpPr txBox="1"/>
          <p:nvPr/>
        </p:nvSpPr>
        <p:spPr>
          <a:xfrm>
            <a:off x="1645920" y="3941064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</a:t>
            </a:r>
            <a:r>
              <a:rPr lang="ko-KR" altLang="en-US" sz="1250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챠</a:t>
            </a:r>
            <a:endParaRPr sz="1250" b="0" i="0" u="none" strike="noStrike" cap="none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301" name="TocBatch9301"/>
          <p:cNvSpPr txBox="1"/>
          <p:nvPr/>
        </p:nvSpPr>
        <p:spPr>
          <a:xfrm>
            <a:off x="1097280" y="4709160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02" name="TocBatch9302"/>
          <p:cNvSpPr txBox="1"/>
          <p:nvPr/>
        </p:nvSpPr>
        <p:spPr>
          <a:xfrm>
            <a:off x="1645920" y="4709160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 서버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10" name="TocNum5"/>
          <p:cNvSpPr txBox="1"/>
          <p:nvPr/>
        </p:nvSpPr>
        <p:spPr>
          <a:xfrm>
            <a:off x="1097280" y="4325112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sz="1250" b="1" i="0" u="none" strike="noStrike" cap="none">
              <a:solidFill>
                <a:srgbClr val="E0A52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411" name="TocTtl5"/>
          <p:cNvSpPr txBox="1"/>
          <p:nvPr/>
        </p:nvSpPr>
        <p:spPr>
          <a:xfrm>
            <a:off x="1645920" y="4325112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거래소 구매</a:t>
            </a:r>
            <a:endParaRPr sz="1250" b="0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501" name="TocNum16"/>
          <p:cNvSpPr txBox="1"/>
          <p:nvPr/>
        </p:nvSpPr>
        <p:spPr>
          <a:xfrm>
            <a:off x="6720840" y="4773168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14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02" name="TocTtl16"/>
          <p:cNvSpPr txBox="1"/>
          <p:nvPr/>
        </p:nvSpPr>
        <p:spPr>
          <a:xfrm>
            <a:off x="7269480" y="4773168"/>
            <a:ext cx="3794760" cy="24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밸런스 수치 조절 하네스</a:t>
            </a:r>
            <a:endParaRPr sz="1250" b="0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" name="Google Shape;120;p2"/>
          <p:cNvSpPr txBox="1"/>
          <p:nvPr/>
        </p:nvSpPr>
        <p:spPr>
          <a:xfrm>
            <a:off x="6720840" y="5157216"/>
            <a:ext cx="457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Google Shape;121;p2"/>
          <p:cNvSpPr txBox="1"/>
          <p:nvPr/>
        </p:nvSpPr>
        <p:spPr>
          <a:xfrm>
            <a:off x="7269480" y="5157216"/>
            <a:ext cx="379476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활용 정리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3"/>
          <p:cNvSpPr txBox="1"/>
          <p:nvPr/>
        </p:nvSpPr>
        <p:spPr>
          <a:xfrm>
            <a:off x="1097280" y="265176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PART 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"/>
          <p:cNvSpPr txBox="1"/>
          <p:nvPr/>
        </p:nvSpPr>
        <p:spPr>
          <a:xfrm>
            <a:off x="1097280" y="3108960"/>
            <a:ext cx="1005840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lang="en-US" sz="5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3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6" name="Google Shape;146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4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OVERVIEW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1. 프로젝트 개요</a:t>
            </a:r>
            <a:endParaRPr sz="30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5" name="Google Shape;155;p4"/>
          <p:cNvSpPr/>
          <p:nvPr/>
        </p:nvSpPr>
        <p:spPr>
          <a:xfrm>
            <a:off x="685800" y="2148840"/>
            <a:ext cx="24917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4"/>
          <p:cNvSpPr txBox="1"/>
          <p:nvPr/>
        </p:nvSpPr>
        <p:spPr>
          <a:xfrm>
            <a:off x="905256" y="2331720"/>
            <a:ext cx="205282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4"/>
          <p:cNvSpPr txBox="1"/>
          <p:nvPr/>
        </p:nvSpPr>
        <p:spPr>
          <a:xfrm>
            <a:off x="905256" y="2624328"/>
            <a:ext cx="205282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AccountServer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4"/>
          <p:cNvSpPr txBox="1"/>
          <p:nvPr/>
        </p:nvSpPr>
        <p:spPr>
          <a:xfrm>
            <a:off x="905256" y="3017520"/>
            <a:ext cx="2052828" cy="204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계정 · 인증 서비스</a:t>
            </a:r>
            <a:endParaRPr sz="11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59" name="Google Shape;159;p4"/>
          <p:cNvSpPr/>
          <p:nvPr/>
        </p:nvSpPr>
        <p:spPr>
          <a:xfrm>
            <a:off x="3451860" y="2148840"/>
            <a:ext cx="24917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4"/>
          <p:cNvSpPr txBox="1"/>
          <p:nvPr/>
        </p:nvSpPr>
        <p:spPr>
          <a:xfrm>
            <a:off x="3671316" y="2331720"/>
            <a:ext cx="205282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4"/>
          <p:cNvSpPr txBox="1"/>
          <p:nvPr/>
        </p:nvSpPr>
        <p:spPr>
          <a:xfrm>
            <a:off x="3671316" y="2624328"/>
            <a:ext cx="205282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GameServer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4"/>
          <p:cNvSpPr txBox="1"/>
          <p:nvPr/>
        </p:nvSpPr>
        <p:spPr>
          <a:xfrm>
            <a:off x="3671316" y="3017520"/>
            <a:ext cx="2052828" cy="230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 컨텐츠 제공</a:t>
            </a:r>
            <a:endParaRPr sz="11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3" name="Google Shape;163;p4"/>
          <p:cNvSpPr/>
          <p:nvPr/>
        </p:nvSpPr>
        <p:spPr>
          <a:xfrm>
            <a:off x="8983980" y="2148840"/>
            <a:ext cx="24917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4"/>
          <p:cNvSpPr txBox="1"/>
          <p:nvPr/>
        </p:nvSpPr>
        <p:spPr>
          <a:xfrm>
            <a:off x="9203436" y="2331720"/>
            <a:ext cx="205282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4"/>
          <p:cNvSpPr txBox="1"/>
          <p:nvPr/>
        </p:nvSpPr>
        <p:spPr>
          <a:xfrm>
            <a:off x="9203436" y="2624328"/>
            <a:ext cx="205282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TaskbarHero.Common</a:t>
            </a:r>
            <a:endParaRPr sz="15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6" name="Google Shape;166;p4"/>
          <p:cNvSpPr txBox="1"/>
          <p:nvPr/>
        </p:nvSpPr>
        <p:spPr>
          <a:xfrm>
            <a:off x="9203436" y="3017520"/>
            <a:ext cx="2052828" cy="473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클라, 서버간 공유 클래스</a:t>
            </a:r>
            <a:endParaRPr sz="11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Ex) Dto, 에러코드…</a:t>
            </a:r>
            <a:endParaRPr sz="11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67" name="Google Shape;167;p4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8" name="Google Shape;168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85800" y="3977640"/>
            <a:ext cx="3837594" cy="1664900"/>
          </a:xfrm>
          <a:prstGeom prst="rect">
            <a:avLst/>
          </a:prstGeom>
          <a:noFill/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69" name="Google Shape;169;p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80594" y="3977640"/>
            <a:ext cx="3068410" cy="1664900"/>
          </a:xfrm>
          <a:prstGeom prst="rect">
            <a:avLst/>
          </a:prstGeom>
          <a:noFill/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70" name="Google Shape;170;p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06204" y="3977640"/>
            <a:ext cx="2968516" cy="1664900"/>
          </a:xfrm>
          <a:prstGeom prst="roundRect">
            <a:avLst>
              <a:gd name="adj" fmla="val 8594"/>
            </a:avLst>
          </a:prstGeom>
          <a:solidFill>
            <a:srgbClr val="ECECEC"/>
          </a:solidFill>
          <a:ln>
            <a:noFill/>
          </a:ln>
          <a:effectLst>
            <a:reflection stA="38000" endPos="28000" dist="5000" dir="5400000" sy="-100000" algn="bl" rotWithShape="0"/>
          </a:effectLst>
        </p:spPr>
      </p:pic>
      <p:pic>
        <p:nvPicPr>
          <p:cNvPr id="171" name="Google Shape;171;p4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4"/>
          <p:cNvSpPr txBox="1"/>
          <p:nvPr/>
        </p:nvSpPr>
        <p:spPr>
          <a:xfrm>
            <a:off x="685800" y="5779700"/>
            <a:ext cx="3837594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원작 스팀 게임 TBH : 태스크바 히어로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4"/>
          <p:cNvSpPr txBox="1"/>
          <p:nvPr/>
        </p:nvSpPr>
        <p:spPr>
          <a:xfrm>
            <a:off x="4980594" y="5779700"/>
            <a:ext cx="649412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모작 : Com2us Taskbar Hero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4"/>
          <p:cNvSpPr/>
          <p:nvPr/>
        </p:nvSpPr>
        <p:spPr>
          <a:xfrm>
            <a:off x="6217920" y="2148840"/>
            <a:ext cx="249174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"/>
          <p:cNvSpPr txBox="1"/>
          <p:nvPr/>
        </p:nvSpPr>
        <p:spPr>
          <a:xfrm>
            <a:off x="6437376" y="2331720"/>
            <a:ext cx="2052828" cy="250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스케줄링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4"/>
          <p:cNvSpPr txBox="1"/>
          <p:nvPr/>
        </p:nvSpPr>
        <p:spPr>
          <a:xfrm>
            <a:off x="6437376" y="2624328"/>
            <a:ext cx="2052828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BatchServer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4"/>
          <p:cNvSpPr txBox="1"/>
          <p:nvPr/>
        </p:nvSpPr>
        <p:spPr>
          <a:xfrm>
            <a:off x="6437376" y="2949569"/>
            <a:ext cx="2052828" cy="5570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주기 배치 전담 워커</a:t>
            </a:r>
            <a:endParaRPr sz="80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보관기간 만료 메일 정리</a:t>
            </a:r>
            <a:endParaRPr sz="80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보스러시 시즌 순위별 보상 지급(정산)</a:t>
            </a: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5"/>
          <p:cNvSpPr/>
          <p:nvPr/>
        </p:nvSpPr>
        <p:spPr>
          <a:xfrm>
            <a:off x="0" y="-1"/>
            <a:ext cx="12192000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4" name="Google Shape;184;p5" descr="logo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5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ARCHITECTURE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5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5"/>
          <p:cNvSpPr txBox="1"/>
          <p:nvPr/>
        </p:nvSpPr>
        <p:spPr>
          <a:xfrm>
            <a:off x="685800" y="914400"/>
            <a:ext cx="3286156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시스템 아키텍처</a:t>
            </a:r>
            <a:endParaRPr sz="30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88" name="Google Shape;188;p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685800" y="2240280"/>
            <a:ext cx="1965960" cy="78814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5"/>
          <p:cNvSpPr/>
          <p:nvPr/>
        </p:nvSpPr>
        <p:spPr>
          <a:xfrm>
            <a:off x="832104" y="2359152"/>
            <a:ext cx="411480" cy="41148"/>
          </a:xfrm>
          <a:prstGeom prst="rect">
            <a:avLst/>
          </a:prstGeom>
          <a:solidFill>
            <a:srgbClr val="6B768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5"/>
          <p:cNvSpPr txBox="1"/>
          <p:nvPr/>
        </p:nvSpPr>
        <p:spPr>
          <a:xfrm>
            <a:off x="832104" y="2468880"/>
            <a:ext cx="1673351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Unity 클라이언트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5"/>
          <p:cNvSpPr/>
          <p:nvPr/>
        </p:nvSpPr>
        <p:spPr>
          <a:xfrm>
            <a:off x="3246120" y="1828800"/>
            <a:ext cx="3383280" cy="2468880"/>
          </a:xfrm>
          <a:prstGeom prst="roundRect">
            <a:avLst>
              <a:gd name="adj" fmla="val 3000"/>
            </a:avLst>
          </a:prstGeom>
          <a:noFill/>
          <a:ln w="12700" cap="flat" cmpd="sng">
            <a:solidFill>
              <a:srgbClr val="D8DEE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5"/>
          <p:cNvSpPr txBox="1"/>
          <p:nvPr/>
        </p:nvSpPr>
        <p:spPr>
          <a:xfrm>
            <a:off x="3364991" y="1892807"/>
            <a:ext cx="3145536" cy="146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애플리케이션 서버</a:t>
            </a:r>
            <a:endParaRPr sz="950" b="1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4" name="Google Shape;194;p5"/>
          <p:cNvSpPr/>
          <p:nvPr/>
        </p:nvSpPr>
        <p:spPr>
          <a:xfrm>
            <a:off x="3364992" y="2084832"/>
            <a:ext cx="3145536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5"/>
          <p:cNvSpPr/>
          <p:nvPr/>
        </p:nvSpPr>
        <p:spPr>
          <a:xfrm>
            <a:off x="3511296" y="2157984"/>
            <a:ext cx="411480" cy="41148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5"/>
          <p:cNvSpPr txBox="1"/>
          <p:nvPr/>
        </p:nvSpPr>
        <p:spPr>
          <a:xfrm>
            <a:off x="3511296" y="2212848"/>
            <a:ext cx="285292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AccountServer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7" name="Google Shape;197;p5"/>
          <p:cNvSpPr txBox="1"/>
          <p:nvPr/>
        </p:nvSpPr>
        <p:spPr>
          <a:xfrm>
            <a:off x="3511296" y="2414016"/>
            <a:ext cx="285292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:5160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5"/>
          <p:cNvSpPr txBox="1"/>
          <p:nvPr/>
        </p:nvSpPr>
        <p:spPr>
          <a:xfrm>
            <a:off x="3511296" y="2560320"/>
            <a:ext cx="285292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계정 생성 · 로그인 · 토큰 발급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5"/>
          <p:cNvSpPr/>
          <p:nvPr/>
        </p:nvSpPr>
        <p:spPr>
          <a:xfrm>
            <a:off x="3364992" y="2852928"/>
            <a:ext cx="3145536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5"/>
          <p:cNvSpPr/>
          <p:nvPr/>
        </p:nvSpPr>
        <p:spPr>
          <a:xfrm>
            <a:off x="3511296" y="2926080"/>
            <a:ext cx="411480" cy="41148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5"/>
          <p:cNvSpPr txBox="1"/>
          <p:nvPr/>
        </p:nvSpPr>
        <p:spPr>
          <a:xfrm>
            <a:off x="3511296" y="2980944"/>
            <a:ext cx="285292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GameServer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5"/>
          <p:cNvSpPr txBox="1"/>
          <p:nvPr/>
        </p:nvSpPr>
        <p:spPr>
          <a:xfrm>
            <a:off x="3511296" y="3182112"/>
            <a:ext cx="2852928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1" i="0" u="none" strike="noStrike" cap="none">
                <a:solidFill>
                  <a:srgbClr val="1B9E6F"/>
                </a:solidFill>
                <a:latin typeface="Malgun Gothic"/>
                <a:ea typeface="Malgun Gothic"/>
                <a:cs typeface="Malgun Gothic"/>
                <a:sym typeface="Malgun Gothic"/>
              </a:rPr>
              <a:t>:5247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5"/>
          <p:cNvSpPr txBox="1"/>
          <p:nvPr/>
        </p:nvSpPr>
        <p:spPr>
          <a:xfrm>
            <a:off x="3511296" y="3328416"/>
            <a:ext cx="2853000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 진행도 load, 게임 콘텐츠 진행</a:t>
            </a:r>
            <a:endParaRPr sz="8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7269480" y="1828800"/>
            <a:ext cx="4206240" cy="2468880"/>
          </a:xfrm>
          <a:prstGeom prst="roundRect">
            <a:avLst>
              <a:gd name="adj" fmla="val 3000"/>
            </a:avLst>
          </a:prstGeom>
          <a:noFill/>
          <a:ln w="12700" cap="flat" cmpd="sng">
            <a:solidFill>
              <a:srgbClr val="D8DEE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5"/>
          <p:cNvSpPr txBox="1"/>
          <p:nvPr/>
        </p:nvSpPr>
        <p:spPr>
          <a:xfrm>
            <a:off x="7383780" y="1912908"/>
            <a:ext cx="3968496" cy="146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Database</a:t>
            </a:r>
            <a:endParaRPr sz="950" b="1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6" name="Google Shape;206;p5"/>
          <p:cNvSpPr/>
          <p:nvPr/>
        </p:nvSpPr>
        <p:spPr>
          <a:xfrm>
            <a:off x="7397496" y="2135124"/>
            <a:ext cx="3968496" cy="987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5"/>
          <p:cNvSpPr/>
          <p:nvPr/>
        </p:nvSpPr>
        <p:spPr>
          <a:xfrm>
            <a:off x="7543800" y="2253996"/>
            <a:ext cx="411480" cy="4114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5"/>
          <p:cNvSpPr txBox="1"/>
          <p:nvPr/>
        </p:nvSpPr>
        <p:spPr>
          <a:xfrm>
            <a:off x="7543800" y="2363724"/>
            <a:ext cx="3675887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Cache(Redis 8.2)</a:t>
            </a:r>
            <a:endParaRPr sz="12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9" name="Google Shape;209;p5"/>
          <p:cNvSpPr txBox="1"/>
          <p:nvPr/>
        </p:nvSpPr>
        <p:spPr>
          <a:xfrm>
            <a:off x="7543800" y="2583179"/>
            <a:ext cx="3675887" cy="130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1" i="0" u="none" strike="noStrike" cap="none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:36379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5"/>
          <p:cNvSpPr txBox="1"/>
          <p:nvPr/>
        </p:nvSpPr>
        <p:spPr>
          <a:xfrm>
            <a:off x="7543800" y="2756916"/>
            <a:ext cx="3675887" cy="319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유저 로그인 인증 토큰</a:t>
            </a:r>
            <a:endParaRPr sz="8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랭킹 데이터 캐싱</a:t>
            </a:r>
            <a:endParaRPr sz="8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1" name="Google Shape;211;p5"/>
          <p:cNvSpPr/>
          <p:nvPr/>
        </p:nvSpPr>
        <p:spPr>
          <a:xfrm>
            <a:off x="7388352" y="3236976"/>
            <a:ext cx="3968496" cy="987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5"/>
          <p:cNvSpPr/>
          <p:nvPr/>
        </p:nvSpPr>
        <p:spPr>
          <a:xfrm>
            <a:off x="7534656" y="3355848"/>
            <a:ext cx="411480" cy="41148"/>
          </a:xfrm>
          <a:prstGeom prst="rect">
            <a:avLst/>
          </a:prstGeom>
          <a:solidFill>
            <a:srgbClr val="2A5C9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5"/>
          <p:cNvSpPr txBox="1"/>
          <p:nvPr/>
        </p:nvSpPr>
        <p:spPr>
          <a:xfrm>
            <a:off x="7534656" y="3465576"/>
            <a:ext cx="3675887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Database (MySQL 8.4)</a:t>
            </a:r>
            <a:endParaRPr sz="12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4" name="Google Shape;214;p5"/>
          <p:cNvSpPr txBox="1"/>
          <p:nvPr/>
        </p:nvSpPr>
        <p:spPr>
          <a:xfrm>
            <a:off x="7534656" y="3685032"/>
            <a:ext cx="3675887" cy="130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1" i="0" u="none" strike="noStrike" cap="none">
                <a:solidFill>
                  <a:srgbClr val="2A5C9A"/>
                </a:solidFill>
                <a:latin typeface="Malgun Gothic"/>
                <a:ea typeface="Malgun Gothic"/>
                <a:cs typeface="Malgun Gothic"/>
                <a:sym typeface="Malgun Gothic"/>
              </a:rPr>
              <a:t>:33306 · SqlKata + Dapper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5"/>
          <p:cNvSpPr txBox="1"/>
          <p:nvPr/>
        </p:nvSpPr>
        <p:spPr>
          <a:xfrm>
            <a:off x="7534656" y="3819111"/>
            <a:ext cx="3675887" cy="381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taskbar_hero_account – 사용자 계정 관리</a:t>
            </a:r>
            <a:endParaRPr sz="70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taskbar_hero_game – 게임 컨텐츠 관련 관리</a:t>
            </a:r>
            <a:endParaRPr sz="70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lang="en-US" sz="7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taskbar_hero_master – 게임 마스터 데이터</a:t>
            </a:r>
            <a:endParaRPr sz="70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16" name="Google Shape;216;p5"/>
          <p:cNvCxnSpPr/>
          <p:nvPr/>
        </p:nvCxnSpPr>
        <p:spPr>
          <a:xfrm>
            <a:off x="2651760" y="2404872"/>
            <a:ext cx="713232" cy="0"/>
          </a:xfrm>
          <a:prstGeom prst="straightConnector1">
            <a:avLst/>
          </a:prstGeom>
          <a:noFill/>
          <a:ln w="15875" cap="flat" cmpd="sng">
            <a:solidFill>
              <a:srgbClr val="6B7684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17" name="Google Shape;217;p5"/>
          <p:cNvSpPr txBox="1"/>
          <p:nvPr/>
        </p:nvSpPr>
        <p:spPr>
          <a:xfrm>
            <a:off x="2697480" y="2148840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5"/>
          <p:cNvSpPr txBox="1"/>
          <p:nvPr/>
        </p:nvSpPr>
        <p:spPr>
          <a:xfrm>
            <a:off x="2697480" y="2871216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19" name="Google Shape;219;p5"/>
          <p:cNvCxnSpPr/>
          <p:nvPr/>
        </p:nvCxnSpPr>
        <p:spPr>
          <a:xfrm>
            <a:off x="6629400" y="2404872"/>
            <a:ext cx="640080" cy="0"/>
          </a:xfrm>
          <a:prstGeom prst="straightConnector1">
            <a:avLst/>
          </a:prstGeom>
          <a:noFill/>
          <a:ln w="15875" cap="flat" cmpd="sng">
            <a:solidFill>
              <a:srgbClr val="6B7684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20" name="Google Shape;220;p5"/>
          <p:cNvSpPr txBox="1"/>
          <p:nvPr/>
        </p:nvSpPr>
        <p:spPr>
          <a:xfrm>
            <a:off x="6720840" y="2148840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21" name="Google Shape;221;p5"/>
          <p:cNvCxnSpPr/>
          <p:nvPr/>
        </p:nvCxnSpPr>
        <p:spPr>
          <a:xfrm>
            <a:off x="6629400" y="3383280"/>
            <a:ext cx="640080" cy="0"/>
          </a:xfrm>
          <a:prstGeom prst="straightConnector1">
            <a:avLst/>
          </a:prstGeom>
          <a:noFill/>
          <a:ln w="15875" cap="flat" cmpd="sng">
            <a:solidFill>
              <a:srgbClr val="6B7684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22" name="Google Shape;222;p5"/>
          <p:cNvSpPr txBox="1"/>
          <p:nvPr/>
        </p:nvSpPr>
        <p:spPr>
          <a:xfrm>
            <a:off x="6720840" y="3127248"/>
            <a:ext cx="54864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④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5"/>
          <p:cNvSpPr/>
          <p:nvPr/>
        </p:nvSpPr>
        <p:spPr>
          <a:xfrm>
            <a:off x="685800" y="4498848"/>
            <a:ext cx="10789920" cy="1572768"/>
          </a:xfrm>
          <a:prstGeom prst="roundRect">
            <a:avLst>
              <a:gd name="adj" fmla="val 3000"/>
            </a:avLst>
          </a:prstGeom>
          <a:noFill/>
          <a:ln w="12700" cap="flat" cmpd="sng">
            <a:solidFill>
              <a:srgbClr val="D8DEE7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5"/>
          <p:cNvSpPr/>
          <p:nvPr/>
        </p:nvSpPr>
        <p:spPr>
          <a:xfrm>
            <a:off x="868680" y="4828032"/>
            <a:ext cx="2487168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5"/>
          <p:cNvSpPr/>
          <p:nvPr/>
        </p:nvSpPr>
        <p:spPr>
          <a:xfrm>
            <a:off x="1014983" y="4946904"/>
            <a:ext cx="411480" cy="41148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5"/>
          <p:cNvSpPr txBox="1"/>
          <p:nvPr/>
        </p:nvSpPr>
        <p:spPr>
          <a:xfrm>
            <a:off x="1014983" y="5056632"/>
            <a:ext cx="219456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이벤트 로그 JSON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5"/>
          <p:cNvSpPr/>
          <p:nvPr/>
        </p:nvSpPr>
        <p:spPr>
          <a:xfrm>
            <a:off x="3538728" y="4828032"/>
            <a:ext cx="2487168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5"/>
          <p:cNvSpPr/>
          <p:nvPr/>
        </p:nvSpPr>
        <p:spPr>
          <a:xfrm>
            <a:off x="3685032" y="4946904"/>
            <a:ext cx="411480" cy="41148"/>
          </a:xfrm>
          <a:prstGeom prst="rect">
            <a:avLst/>
          </a:prstGeom>
          <a:solidFill>
            <a:srgbClr val="B9601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5"/>
          <p:cNvSpPr txBox="1"/>
          <p:nvPr/>
        </p:nvSpPr>
        <p:spPr>
          <a:xfrm>
            <a:off x="3685032" y="5056632"/>
            <a:ext cx="219456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fluentd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5"/>
          <p:cNvSpPr txBox="1"/>
          <p:nvPr/>
        </p:nvSpPr>
        <p:spPr>
          <a:xfrm>
            <a:off x="3685032" y="5276088"/>
            <a:ext cx="2194560" cy="130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1" i="0" u="none" strike="noStrike" cap="none">
                <a:solidFill>
                  <a:srgbClr val="B9601C"/>
                </a:solidFill>
                <a:latin typeface="Malgun Gothic"/>
                <a:ea typeface="Malgun Gothic"/>
                <a:cs typeface="Malgun Gothic"/>
                <a:sym typeface="Malgun Gothic"/>
              </a:rPr>
              <a:t>:24220 (LogDB 전달)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5"/>
          <p:cNvSpPr/>
          <p:nvPr/>
        </p:nvSpPr>
        <p:spPr>
          <a:xfrm>
            <a:off x="6208776" y="4828032"/>
            <a:ext cx="2487168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5"/>
          <p:cNvSpPr/>
          <p:nvPr/>
        </p:nvSpPr>
        <p:spPr>
          <a:xfrm>
            <a:off x="6355080" y="4946904"/>
            <a:ext cx="411480" cy="41148"/>
          </a:xfrm>
          <a:prstGeom prst="rect">
            <a:avLst/>
          </a:prstGeom>
          <a:solidFill>
            <a:srgbClr val="6B4F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5"/>
          <p:cNvSpPr txBox="1"/>
          <p:nvPr/>
        </p:nvSpPr>
        <p:spPr>
          <a:xfrm>
            <a:off x="6355080" y="5056632"/>
            <a:ext cx="2194560" cy="176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LogDB(TimescaleDB)</a:t>
            </a:r>
            <a:endParaRPr sz="115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4" name="Google Shape;234;p5"/>
          <p:cNvSpPr txBox="1"/>
          <p:nvPr/>
        </p:nvSpPr>
        <p:spPr>
          <a:xfrm>
            <a:off x="6355080" y="5276088"/>
            <a:ext cx="2194560" cy="173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1" i="0" u="none" strike="noStrike" cap="none">
                <a:solidFill>
                  <a:srgbClr val="6B4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5432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5"/>
          <p:cNvSpPr txBox="1"/>
          <p:nvPr/>
        </p:nvSpPr>
        <p:spPr>
          <a:xfrm>
            <a:off x="6355080" y="5449824"/>
            <a:ext cx="2194560" cy="143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 테이블 데이터 관리</a:t>
            </a:r>
            <a:endParaRPr sz="8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6" name="Google Shape;236;p5"/>
          <p:cNvSpPr/>
          <p:nvPr/>
        </p:nvSpPr>
        <p:spPr>
          <a:xfrm>
            <a:off x="8878824" y="4828032"/>
            <a:ext cx="2487168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5"/>
          <p:cNvSpPr/>
          <p:nvPr/>
        </p:nvSpPr>
        <p:spPr>
          <a:xfrm>
            <a:off x="9025128" y="4946904"/>
            <a:ext cx="411480" cy="41148"/>
          </a:xfrm>
          <a:prstGeom prst="rect">
            <a:avLst/>
          </a:prstGeom>
          <a:solidFill>
            <a:srgbClr val="0E8AA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5"/>
          <p:cNvSpPr txBox="1"/>
          <p:nvPr/>
        </p:nvSpPr>
        <p:spPr>
          <a:xfrm>
            <a:off x="9025128" y="5056632"/>
            <a:ext cx="2194560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Grafana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5"/>
          <p:cNvSpPr txBox="1"/>
          <p:nvPr/>
        </p:nvSpPr>
        <p:spPr>
          <a:xfrm>
            <a:off x="9025128" y="5276088"/>
            <a:ext cx="2194560" cy="173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1" i="0" u="none" strike="noStrike" cap="none">
                <a:solidFill>
                  <a:srgbClr val="0E8AA8"/>
                </a:solidFill>
                <a:latin typeface="Malgun Gothic"/>
                <a:ea typeface="Malgun Gothic"/>
                <a:cs typeface="Malgun Gothic"/>
                <a:sym typeface="Malgun Gothic"/>
              </a:rPr>
              <a:t>:3000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5"/>
          <p:cNvSpPr txBox="1"/>
          <p:nvPr/>
        </p:nvSpPr>
        <p:spPr>
          <a:xfrm>
            <a:off x="9025128" y="5449824"/>
            <a:ext cx="2194560" cy="15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로그DB 기반 대시보드</a:t>
            </a:r>
            <a:endParaRPr sz="8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41" name="Google Shape;241;p5"/>
          <p:cNvCxnSpPr/>
          <p:nvPr/>
        </p:nvCxnSpPr>
        <p:spPr>
          <a:xfrm>
            <a:off x="3355848" y="5385816"/>
            <a:ext cx="182880" cy="0"/>
          </a:xfrm>
          <a:prstGeom prst="straightConnector1">
            <a:avLst/>
          </a:prstGeom>
          <a:noFill/>
          <a:ln w="19050" cap="flat" cmpd="sng">
            <a:solidFill>
              <a:srgbClr val="B9601C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cxnSp>
        <p:nvCxnSpPr>
          <p:cNvPr id="242" name="Google Shape;242;p5"/>
          <p:cNvCxnSpPr/>
          <p:nvPr/>
        </p:nvCxnSpPr>
        <p:spPr>
          <a:xfrm>
            <a:off x="6025896" y="5385816"/>
            <a:ext cx="182880" cy="0"/>
          </a:xfrm>
          <a:prstGeom prst="straightConnector1">
            <a:avLst/>
          </a:prstGeom>
          <a:noFill/>
          <a:ln w="19050" cap="flat" cmpd="sng">
            <a:solidFill>
              <a:srgbClr val="B9601C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cxnSp>
        <p:nvCxnSpPr>
          <p:cNvPr id="243" name="Google Shape;243;p5"/>
          <p:cNvCxnSpPr/>
          <p:nvPr/>
        </p:nvCxnSpPr>
        <p:spPr>
          <a:xfrm>
            <a:off x="8695944" y="5385816"/>
            <a:ext cx="182880" cy="0"/>
          </a:xfrm>
          <a:prstGeom prst="straightConnector1">
            <a:avLst/>
          </a:prstGeom>
          <a:noFill/>
          <a:ln w="19050" cap="flat" cmpd="sng">
            <a:solidFill>
              <a:srgbClr val="B9601C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44" name="Google Shape;244;p5"/>
          <p:cNvSpPr txBox="1"/>
          <p:nvPr/>
        </p:nvSpPr>
        <p:spPr>
          <a:xfrm>
            <a:off x="685800" y="6163056"/>
            <a:ext cx="9966960" cy="146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 →  ②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저장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(Redis)  →  ③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API(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userId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+ token)  →  ④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검증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·  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서버끼리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HTTP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호출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없이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Redis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토큰만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공유</a:t>
            </a:r>
            <a:endParaRPr sz="95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45" name="Google Shape;245;p5"/>
          <p:cNvCxnSpPr/>
          <p:nvPr/>
        </p:nvCxnSpPr>
        <p:spPr>
          <a:xfrm>
            <a:off x="1668779" y="3063240"/>
            <a:ext cx="1707600" cy="109800"/>
          </a:xfrm>
          <a:prstGeom prst="bentConnector3">
            <a:avLst>
              <a:gd name="adj1" fmla="val 628"/>
            </a:avLst>
          </a:prstGeom>
          <a:noFill/>
          <a:ln w="25400" cap="flat" cmpd="sng">
            <a:solidFill>
              <a:schemeClr val="dk1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46" name="Google Shape;246;p5"/>
          <p:cNvSpPr txBox="1"/>
          <p:nvPr/>
        </p:nvSpPr>
        <p:spPr>
          <a:xfrm>
            <a:off x="685800" y="914400"/>
            <a:ext cx="3286156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2. 시스템 아키텍처</a:t>
            </a:r>
            <a:endParaRPr sz="30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47" name="Google Shape;247;p5"/>
          <p:cNvSpPr txBox="1"/>
          <p:nvPr/>
        </p:nvSpPr>
        <p:spPr>
          <a:xfrm>
            <a:off x="1193125" y="3849624"/>
            <a:ext cx="1883664" cy="15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이벤트 로그 기록</a:t>
            </a:r>
            <a:endParaRPr sz="8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48" name="Google Shape;248;p5"/>
          <p:cNvSpPr/>
          <p:nvPr/>
        </p:nvSpPr>
        <p:spPr>
          <a:xfrm>
            <a:off x="3364992" y="3621024"/>
            <a:ext cx="3145536" cy="640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5"/>
          <p:cNvSpPr/>
          <p:nvPr/>
        </p:nvSpPr>
        <p:spPr>
          <a:xfrm>
            <a:off x="3511296" y="3694176"/>
            <a:ext cx="411480" cy="41148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5"/>
          <p:cNvSpPr txBox="1"/>
          <p:nvPr/>
        </p:nvSpPr>
        <p:spPr>
          <a:xfrm>
            <a:off x="3511296" y="3749040"/>
            <a:ext cx="2852928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BatchServer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5"/>
          <p:cNvSpPr txBox="1"/>
          <p:nvPr/>
        </p:nvSpPr>
        <p:spPr>
          <a:xfrm>
            <a:off x="3511296" y="3950208"/>
            <a:ext cx="2852928" cy="1308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ko-KR" altLang="en-US" sz="850" b="1" dirty="0">
                <a:solidFill>
                  <a:srgbClr val="E0A526"/>
                </a:solidFill>
                <a:latin typeface="Malgun Gothic"/>
                <a:ea typeface="Malgun Gothic"/>
                <a:sym typeface="Malgun Gothic"/>
              </a:rPr>
              <a:t>스케줄링 담당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5"/>
          <p:cNvSpPr txBox="1"/>
          <p:nvPr/>
        </p:nvSpPr>
        <p:spPr>
          <a:xfrm>
            <a:off x="3511296" y="4096512"/>
            <a:ext cx="2852928" cy="15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"/>
              <a:buFont typeface="Arial"/>
              <a:buNone/>
            </a:pPr>
            <a:r>
              <a:rPr lang="en-US" sz="8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거래소</a:t>
            </a:r>
            <a:r>
              <a:rPr lang="en-US" sz="8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8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만료</a:t>
            </a:r>
            <a:r>
              <a:rPr lang="en-US" sz="8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8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메일</a:t>
            </a:r>
            <a:r>
              <a:rPr lang="en-US" sz="8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GC · </a:t>
            </a:r>
            <a:r>
              <a:rPr lang="en-US" sz="8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</a:t>
            </a:r>
            <a:r>
              <a:rPr lang="en-US" sz="8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8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정산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53" name="Google Shape;253;p5"/>
          <p:cNvCxnSpPr/>
          <p:nvPr/>
        </p:nvCxnSpPr>
        <p:spPr>
          <a:xfrm>
            <a:off x="6629400" y="3941064"/>
            <a:ext cx="640080" cy="0"/>
          </a:xfrm>
          <a:prstGeom prst="straightConnector1">
            <a:avLst/>
          </a:prstGeom>
          <a:noFill/>
          <a:ln w="15875" cap="flat" cmpd="sng">
            <a:solidFill>
              <a:srgbClr val="6B7684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cxnSp>
        <p:nvCxnSpPr>
          <p:cNvPr id="254" name="Google Shape;254;p5"/>
          <p:cNvCxnSpPr>
            <a:endCxn id="224" idx="0"/>
          </p:cNvCxnSpPr>
          <p:nvPr/>
        </p:nvCxnSpPr>
        <p:spPr>
          <a:xfrm rot="5400000">
            <a:off x="1979664" y="3451932"/>
            <a:ext cx="1508700" cy="1243500"/>
          </a:xfrm>
          <a:prstGeom prst="bentConnector3">
            <a:avLst>
              <a:gd name="adj1" fmla="val 789"/>
            </a:avLst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6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0" name="Google Shape;260;p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6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AUTH</a:t>
            </a:r>
            <a:endParaRPr/>
          </a:p>
        </p:txBody>
      </p:sp>
      <p:sp>
        <p:nvSpPr>
          <p:cNvPr id="262" name="Google Shape;262;p6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6"/>
          <p:cNvSpPr txBox="1"/>
          <p:nvPr/>
        </p:nvSpPr>
        <p:spPr>
          <a:xfrm>
            <a:off x="685800" y="914400"/>
            <a:ext cx="1088136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2.1  인증 설계 — 커스텀 토큰 방식 + 중복 로그인 차단</a:t>
            </a:r>
            <a:endParaRPr sz="30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5" name="Google Shape;265;p6"/>
          <p:cNvSpPr/>
          <p:nvPr/>
        </p:nvSpPr>
        <p:spPr>
          <a:xfrm>
            <a:off x="548640" y="1810512"/>
            <a:ext cx="7452360" cy="39502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6"/>
          <p:cNvSpPr/>
          <p:nvPr/>
        </p:nvSpPr>
        <p:spPr>
          <a:xfrm>
            <a:off x="685800" y="1965960"/>
            <a:ext cx="1325880" cy="310896"/>
          </a:xfrm>
          <a:prstGeom prst="rect">
            <a:avLst/>
          </a:prstGeom>
          <a:solidFill>
            <a:srgbClr val="EEF2F9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6"/>
          <p:cNvSpPr txBox="1"/>
          <p:nvPr/>
        </p:nvSpPr>
        <p:spPr>
          <a:xfrm>
            <a:off x="685800" y="2039112"/>
            <a:ext cx="13258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기기 A</a:t>
            </a:r>
            <a:endParaRPr/>
          </a:p>
        </p:txBody>
      </p:sp>
      <p:sp>
        <p:nvSpPr>
          <p:cNvPr id="268" name="Google Shape;268;p6"/>
          <p:cNvSpPr/>
          <p:nvPr/>
        </p:nvSpPr>
        <p:spPr>
          <a:xfrm>
            <a:off x="1344168" y="2276856"/>
            <a:ext cx="9144" cy="3127248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6"/>
          <p:cNvSpPr/>
          <p:nvPr/>
        </p:nvSpPr>
        <p:spPr>
          <a:xfrm>
            <a:off x="2148840" y="1965960"/>
            <a:ext cx="1325880" cy="310896"/>
          </a:xfrm>
          <a:prstGeom prst="rect">
            <a:avLst/>
          </a:prstGeom>
          <a:solidFill>
            <a:srgbClr val="EEF2F9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6"/>
          <p:cNvSpPr txBox="1"/>
          <p:nvPr/>
        </p:nvSpPr>
        <p:spPr>
          <a:xfrm>
            <a:off x="2148840" y="2039112"/>
            <a:ext cx="13258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기기 B</a:t>
            </a:r>
            <a:endParaRPr/>
          </a:p>
        </p:txBody>
      </p:sp>
      <p:sp>
        <p:nvSpPr>
          <p:cNvPr id="271" name="Google Shape;271;p6"/>
          <p:cNvSpPr/>
          <p:nvPr/>
        </p:nvSpPr>
        <p:spPr>
          <a:xfrm>
            <a:off x="2807208" y="2276856"/>
            <a:ext cx="9144" cy="3127248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6"/>
          <p:cNvSpPr/>
          <p:nvPr/>
        </p:nvSpPr>
        <p:spPr>
          <a:xfrm>
            <a:off x="3611880" y="1965960"/>
            <a:ext cx="1325880" cy="31089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6"/>
          <p:cNvSpPr txBox="1"/>
          <p:nvPr/>
        </p:nvSpPr>
        <p:spPr>
          <a:xfrm>
            <a:off x="3611880" y="2039112"/>
            <a:ext cx="13258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AccountServer</a:t>
            </a:r>
            <a:endParaRPr/>
          </a:p>
        </p:txBody>
      </p:sp>
      <p:sp>
        <p:nvSpPr>
          <p:cNvPr id="274" name="Google Shape;274;p6"/>
          <p:cNvSpPr/>
          <p:nvPr/>
        </p:nvSpPr>
        <p:spPr>
          <a:xfrm>
            <a:off x="4270248" y="2276856"/>
            <a:ext cx="9144" cy="3127248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6"/>
          <p:cNvSpPr/>
          <p:nvPr/>
        </p:nvSpPr>
        <p:spPr>
          <a:xfrm>
            <a:off x="5074920" y="1965960"/>
            <a:ext cx="1325880" cy="31089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6"/>
          <p:cNvSpPr txBox="1"/>
          <p:nvPr/>
        </p:nvSpPr>
        <p:spPr>
          <a:xfrm>
            <a:off x="5074920" y="2039112"/>
            <a:ext cx="13258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GameServer</a:t>
            </a:r>
            <a:endParaRPr/>
          </a:p>
        </p:txBody>
      </p:sp>
      <p:sp>
        <p:nvSpPr>
          <p:cNvPr id="277" name="Google Shape;277;p6"/>
          <p:cNvSpPr/>
          <p:nvPr/>
        </p:nvSpPr>
        <p:spPr>
          <a:xfrm>
            <a:off x="5733288" y="2276856"/>
            <a:ext cx="9144" cy="3127248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6"/>
          <p:cNvSpPr/>
          <p:nvPr/>
        </p:nvSpPr>
        <p:spPr>
          <a:xfrm>
            <a:off x="6537960" y="1965960"/>
            <a:ext cx="1325880" cy="310896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6"/>
          <p:cNvSpPr txBox="1"/>
          <p:nvPr/>
        </p:nvSpPr>
        <p:spPr>
          <a:xfrm>
            <a:off x="6537960" y="2039112"/>
            <a:ext cx="132588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Redis</a:t>
            </a:r>
            <a:endParaRPr/>
          </a:p>
        </p:txBody>
      </p:sp>
      <p:sp>
        <p:nvSpPr>
          <p:cNvPr id="280" name="Google Shape;280;p6"/>
          <p:cNvSpPr/>
          <p:nvPr/>
        </p:nvSpPr>
        <p:spPr>
          <a:xfrm>
            <a:off x="7196328" y="2276856"/>
            <a:ext cx="9144" cy="3127248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81" name="Google Shape;281;p6"/>
          <p:cNvCxnSpPr/>
          <p:nvPr/>
        </p:nvCxnSpPr>
        <p:spPr>
          <a:xfrm>
            <a:off x="1348740" y="2505456"/>
            <a:ext cx="2926080" cy="0"/>
          </a:xfrm>
          <a:prstGeom prst="straightConnector1">
            <a:avLst/>
          </a:prstGeom>
          <a:noFill/>
          <a:ln w="12700" cap="flat" cmpd="sng">
            <a:solidFill>
              <a:srgbClr val="2F6FE4"/>
            </a:solidFill>
            <a:prstDash val="solid"/>
            <a:round/>
            <a:headEnd type="none" w="sm" len="sm"/>
            <a:tailEnd type="triangl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82" name="Google Shape;282;p6"/>
          <p:cNvSpPr txBox="1"/>
          <p:nvPr/>
        </p:nvSpPr>
        <p:spPr>
          <a:xfrm>
            <a:off x="1348740" y="2350008"/>
            <a:ext cx="292608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POST /login  { email, password }</a:t>
            </a:r>
            <a:endParaRPr/>
          </a:p>
        </p:txBody>
      </p:sp>
      <p:cxnSp>
        <p:nvCxnSpPr>
          <p:cNvPr id="283" name="Google Shape;283;p6"/>
          <p:cNvCxnSpPr/>
          <p:nvPr/>
        </p:nvCxnSpPr>
        <p:spPr>
          <a:xfrm>
            <a:off x="4274820" y="2798064"/>
            <a:ext cx="2926080" cy="0"/>
          </a:xfrm>
          <a:prstGeom prst="straightConnector1">
            <a:avLst/>
          </a:prstGeom>
          <a:noFill/>
          <a:ln w="12700" cap="flat" cmpd="sng">
            <a:solidFill>
              <a:srgbClr val="2F6FE4"/>
            </a:solidFill>
            <a:prstDash val="solid"/>
            <a:round/>
            <a:headEnd type="none" w="sm" len="sm"/>
            <a:tailEnd type="triangl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84" name="Google Shape;284;p6"/>
          <p:cNvSpPr txBox="1"/>
          <p:nvPr/>
        </p:nvSpPr>
        <p:spPr>
          <a:xfrm>
            <a:off x="4274820" y="2642616"/>
            <a:ext cx="292608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 발급 → 저장  auth:token:{uid} = A  (TTL 24h)</a:t>
            </a:r>
            <a:endParaRPr/>
          </a:p>
        </p:txBody>
      </p:sp>
      <p:cxnSp>
        <p:nvCxnSpPr>
          <p:cNvPr id="285" name="Google Shape;285;p6"/>
          <p:cNvCxnSpPr/>
          <p:nvPr/>
        </p:nvCxnSpPr>
        <p:spPr>
          <a:xfrm>
            <a:off x="1348740" y="3218688"/>
            <a:ext cx="4389120" cy="0"/>
          </a:xfrm>
          <a:prstGeom prst="straightConnector1">
            <a:avLst/>
          </a:prstGeom>
          <a:noFill/>
          <a:ln w="12700" cap="flat" cmpd="sng">
            <a:solidFill>
              <a:srgbClr val="6B7684"/>
            </a:solidFill>
            <a:prstDash val="solid"/>
            <a:round/>
            <a:headEnd type="none" w="sm" len="sm"/>
            <a:tailEnd type="triangl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86" name="Google Shape;286;p6"/>
          <p:cNvSpPr txBox="1"/>
          <p:nvPr/>
        </p:nvSpPr>
        <p:spPr>
          <a:xfrm>
            <a:off x="1348740" y="3063240"/>
            <a:ext cx="438912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 API 요청  (userId + token A)</a:t>
            </a:r>
            <a:endParaRPr/>
          </a:p>
        </p:txBody>
      </p:sp>
      <p:cxnSp>
        <p:nvCxnSpPr>
          <p:cNvPr id="287" name="Google Shape;287;p6"/>
          <p:cNvCxnSpPr/>
          <p:nvPr/>
        </p:nvCxnSpPr>
        <p:spPr>
          <a:xfrm>
            <a:off x="5737860" y="3511296"/>
            <a:ext cx="1463040" cy="0"/>
          </a:xfrm>
          <a:prstGeom prst="straightConnector1">
            <a:avLst/>
          </a:prstGeom>
          <a:noFill/>
          <a:ln w="12700" cap="flat" cmpd="sng">
            <a:solidFill>
              <a:srgbClr val="1B9E6F"/>
            </a:solidFill>
            <a:prstDash val="solid"/>
            <a:round/>
            <a:headEnd type="none" w="sm" len="sm"/>
            <a:tailEnd type="triangl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88" name="Google Shape;288;p6"/>
          <p:cNvSpPr txBox="1"/>
          <p:nvPr/>
        </p:nvSpPr>
        <p:spPr>
          <a:xfrm>
            <a:off x="5737860" y="3355848"/>
            <a:ext cx="146304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u="none" strike="noStrike" cap="none">
                <a:solidFill>
                  <a:srgbClr val="1B9E6F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 대조 → 일치</a:t>
            </a:r>
            <a:endParaRPr/>
          </a:p>
        </p:txBody>
      </p:sp>
      <p:cxnSp>
        <p:nvCxnSpPr>
          <p:cNvPr id="289" name="Google Shape;289;p6"/>
          <p:cNvCxnSpPr/>
          <p:nvPr/>
        </p:nvCxnSpPr>
        <p:spPr>
          <a:xfrm>
            <a:off x="2811780" y="3968496"/>
            <a:ext cx="1463040" cy="0"/>
          </a:xfrm>
          <a:prstGeom prst="straightConnector1">
            <a:avLst/>
          </a:prstGeom>
          <a:noFill/>
          <a:ln w="12700" cap="flat" cmpd="sng">
            <a:solidFill>
              <a:srgbClr val="C0392B"/>
            </a:solidFill>
            <a:prstDash val="solid"/>
            <a:round/>
            <a:headEnd type="none" w="sm" len="sm"/>
            <a:tailEnd type="triangl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90" name="Google Shape;290;p6"/>
          <p:cNvSpPr txBox="1"/>
          <p:nvPr/>
        </p:nvSpPr>
        <p:spPr>
          <a:xfrm>
            <a:off x="2811780" y="3813048"/>
            <a:ext cx="146304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u="none" strike="noStrike" cap="none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POST /login  (같은 계정)</a:t>
            </a:r>
            <a:endParaRPr/>
          </a:p>
        </p:txBody>
      </p:sp>
      <p:cxnSp>
        <p:nvCxnSpPr>
          <p:cNvPr id="291" name="Google Shape;291;p6"/>
          <p:cNvCxnSpPr/>
          <p:nvPr/>
        </p:nvCxnSpPr>
        <p:spPr>
          <a:xfrm>
            <a:off x="4274820" y="4261104"/>
            <a:ext cx="2926080" cy="0"/>
          </a:xfrm>
          <a:prstGeom prst="straightConnector1">
            <a:avLst/>
          </a:prstGeom>
          <a:noFill/>
          <a:ln w="12700" cap="flat" cmpd="sng">
            <a:solidFill>
              <a:srgbClr val="C0392B"/>
            </a:solidFill>
            <a:prstDash val="solid"/>
            <a:round/>
            <a:headEnd type="none" w="sm" len="sm"/>
            <a:tailEnd type="triangl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92" name="Google Shape;292;p6"/>
          <p:cNvSpPr txBox="1"/>
          <p:nvPr/>
        </p:nvSpPr>
        <p:spPr>
          <a:xfrm>
            <a:off x="4274820" y="4105656"/>
            <a:ext cx="292608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u="none" strike="noStrike" cap="none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 덮어쓰기  = B</a:t>
            </a:r>
            <a:endParaRPr/>
          </a:p>
        </p:txBody>
      </p:sp>
      <p:cxnSp>
        <p:nvCxnSpPr>
          <p:cNvPr id="293" name="Google Shape;293;p6"/>
          <p:cNvCxnSpPr/>
          <p:nvPr/>
        </p:nvCxnSpPr>
        <p:spPr>
          <a:xfrm>
            <a:off x="1348740" y="4718304"/>
            <a:ext cx="4389120" cy="0"/>
          </a:xfrm>
          <a:prstGeom prst="straightConnector1">
            <a:avLst/>
          </a:prstGeom>
          <a:noFill/>
          <a:ln w="12700" cap="flat" cmpd="sng">
            <a:solidFill>
              <a:srgbClr val="6B7684"/>
            </a:solidFill>
            <a:prstDash val="solid"/>
            <a:round/>
            <a:headEnd type="none" w="sm" len="sm"/>
            <a:tailEnd type="triangl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94" name="Google Shape;294;p6"/>
          <p:cNvSpPr txBox="1"/>
          <p:nvPr/>
        </p:nvSpPr>
        <p:spPr>
          <a:xfrm>
            <a:off x="1348740" y="4562856"/>
            <a:ext cx="438912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다음 요청  (token A)</a:t>
            </a:r>
            <a:endParaRPr/>
          </a:p>
        </p:txBody>
      </p:sp>
      <p:cxnSp>
        <p:nvCxnSpPr>
          <p:cNvPr id="295" name="Google Shape;295;p6"/>
          <p:cNvCxnSpPr/>
          <p:nvPr/>
        </p:nvCxnSpPr>
        <p:spPr>
          <a:xfrm>
            <a:off x="5737860" y="5010912"/>
            <a:ext cx="1463040" cy="0"/>
          </a:xfrm>
          <a:prstGeom prst="straightConnector1">
            <a:avLst/>
          </a:prstGeom>
          <a:noFill/>
          <a:ln w="12700" cap="flat" cmpd="sng">
            <a:solidFill>
              <a:srgbClr val="C0392B"/>
            </a:solidFill>
            <a:prstDash val="solid"/>
            <a:round/>
            <a:headEnd type="none" w="sm" len="sm"/>
            <a:tailEnd type="triangl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96" name="Google Shape;296;p6"/>
          <p:cNvSpPr txBox="1"/>
          <p:nvPr/>
        </p:nvSpPr>
        <p:spPr>
          <a:xfrm>
            <a:off x="5737860" y="4855464"/>
            <a:ext cx="146304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u="none" strike="noStrike" cap="none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대조 → 불일치</a:t>
            </a:r>
            <a:endParaRPr/>
          </a:p>
        </p:txBody>
      </p:sp>
      <p:cxnSp>
        <p:nvCxnSpPr>
          <p:cNvPr id="297" name="Google Shape;297;p6"/>
          <p:cNvCxnSpPr/>
          <p:nvPr/>
        </p:nvCxnSpPr>
        <p:spPr>
          <a:xfrm rot="10800000">
            <a:off x="1348740" y="5303520"/>
            <a:ext cx="4389120" cy="0"/>
          </a:xfrm>
          <a:prstGeom prst="straightConnector1">
            <a:avLst/>
          </a:prstGeom>
          <a:noFill/>
          <a:ln w="12700" cap="flat" cmpd="sng">
            <a:solidFill>
              <a:schemeClr val="accent1"/>
            </a:solidFill>
            <a:prstDash val="dash"/>
            <a:round/>
            <a:headEnd type="none" w="sm" len="sm"/>
            <a:tailEnd type="triangl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98" name="Google Shape;298;p6"/>
          <p:cNvSpPr txBox="1"/>
          <p:nvPr/>
        </p:nvSpPr>
        <p:spPr>
          <a:xfrm>
            <a:off x="1348740" y="5148072"/>
            <a:ext cx="4389120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0" i="0" u="none" strike="noStrike" cap="none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401  InvalidToken(1004)</a:t>
            </a:r>
            <a:endParaRPr/>
          </a:p>
        </p:txBody>
      </p:sp>
      <p:sp>
        <p:nvSpPr>
          <p:cNvPr id="299" name="Google Shape;299;p6"/>
          <p:cNvSpPr txBox="1"/>
          <p:nvPr/>
        </p:nvSpPr>
        <p:spPr>
          <a:xfrm>
            <a:off x="4315968" y="2871216"/>
            <a:ext cx="283464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00" b="0" i="0" u="none" strike="noStrike" cap="none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MySQL user_auth_token 은 계정당 1행 UPSERT</a:t>
            </a:r>
            <a:endParaRPr/>
          </a:p>
        </p:txBody>
      </p:sp>
      <p:sp>
        <p:nvSpPr>
          <p:cNvPr id="300" name="Google Shape;300;p6"/>
          <p:cNvSpPr txBox="1"/>
          <p:nvPr/>
        </p:nvSpPr>
        <p:spPr>
          <a:xfrm>
            <a:off x="2834640" y="4370832"/>
            <a:ext cx="3017520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" b="1" i="0" u="none" strike="noStrike" cap="none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← 이 순간 A 기기의 세션이 끊긴다</a:t>
            </a:r>
            <a:endParaRPr/>
          </a:p>
        </p:txBody>
      </p:sp>
      <p:sp>
        <p:nvSpPr>
          <p:cNvPr id="301" name="Google Shape;301;p6"/>
          <p:cNvSpPr/>
          <p:nvPr/>
        </p:nvSpPr>
        <p:spPr>
          <a:xfrm>
            <a:off x="8183880" y="1810512"/>
            <a:ext cx="3291840" cy="12070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6"/>
          <p:cNvSpPr/>
          <p:nvPr/>
        </p:nvSpPr>
        <p:spPr>
          <a:xfrm>
            <a:off x="8385048" y="1993392"/>
            <a:ext cx="411480" cy="36576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6"/>
          <p:cNvSpPr txBox="1"/>
          <p:nvPr/>
        </p:nvSpPr>
        <p:spPr>
          <a:xfrm>
            <a:off x="8385048" y="2103120"/>
            <a:ext cx="28896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 </a:t>
            </a:r>
            <a:r>
              <a:rPr lang="en-US" sz="1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</a:t>
            </a:r>
            <a:endParaRPr/>
          </a:p>
        </p:txBody>
      </p:sp>
      <p:sp>
        <p:nvSpPr>
          <p:cNvPr id="304" name="Google Shape;304;p6"/>
          <p:cNvSpPr txBox="1"/>
          <p:nvPr/>
        </p:nvSpPr>
        <p:spPr>
          <a:xfrm>
            <a:off x="8385048" y="2322015"/>
            <a:ext cx="2889504" cy="4985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800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hash</a:t>
            </a:r>
            <a:r>
              <a:rPr lang="ko-KR" altLang="en-US" sz="800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altLang="ko-KR" sz="800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=</a:t>
            </a:r>
            <a:r>
              <a:rPr lang="ko-KR" altLang="en-US" sz="800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altLang="ko-KR" sz="800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Base64(“{</a:t>
            </a:r>
            <a:r>
              <a:rPr lang="en-US" altLang="ko-KR" sz="800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userId</a:t>
            </a:r>
            <a:r>
              <a:rPr lang="en-US" altLang="ko-KR" sz="800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}:{timestamp}:{salt}”)</a:t>
            </a:r>
            <a:endParaRPr dirty="0"/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HMAC-SHA256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서명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만료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24시간</a:t>
            </a:r>
            <a:endParaRPr dirty="0"/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SecretKey는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AccountServer만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안다</a:t>
            </a:r>
            <a:endParaRPr dirty="0"/>
          </a:p>
        </p:txBody>
      </p:sp>
      <p:sp>
        <p:nvSpPr>
          <p:cNvPr id="305" name="Google Shape;305;p6"/>
          <p:cNvSpPr/>
          <p:nvPr/>
        </p:nvSpPr>
        <p:spPr>
          <a:xfrm>
            <a:off x="8183880" y="3154680"/>
            <a:ext cx="3291840" cy="12070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6"/>
          <p:cNvSpPr/>
          <p:nvPr/>
        </p:nvSpPr>
        <p:spPr>
          <a:xfrm>
            <a:off x="8385048" y="3337560"/>
            <a:ext cx="41148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6"/>
          <p:cNvSpPr txBox="1"/>
          <p:nvPr/>
        </p:nvSpPr>
        <p:spPr>
          <a:xfrm>
            <a:off x="8385048" y="3447288"/>
            <a:ext cx="28896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새 기기 로그인 - 이전 로그인 기기 토큰 덮어쓰기</a:t>
            </a:r>
            <a:endParaRPr/>
          </a:p>
        </p:txBody>
      </p:sp>
      <p:sp>
        <p:nvSpPr>
          <p:cNvPr id="308" name="Google Shape;308;p6"/>
          <p:cNvSpPr txBox="1"/>
          <p:nvPr/>
        </p:nvSpPr>
        <p:spPr>
          <a:xfrm>
            <a:off x="8385048" y="3637722"/>
            <a:ext cx="2889600" cy="4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user_auth_token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은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계정당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1행 UPSERT</a:t>
            </a:r>
            <a:endParaRPr dirty="0"/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Redis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토큰값을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새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토큰으로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덮어쓴다</a:t>
            </a:r>
            <a:endParaRPr dirty="0"/>
          </a:p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이전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토큰은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대조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불일치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→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다음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80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요청부터</a:t>
            </a:r>
            <a:r>
              <a:rPr lang="en-US" sz="80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401 (</a:t>
            </a:r>
            <a:r>
              <a:rPr lang="en-US" sz="800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로그아웃</a:t>
            </a:r>
            <a:r>
              <a:rPr lang="en-US" sz="800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)</a:t>
            </a:r>
            <a:endParaRPr dirty="0"/>
          </a:p>
        </p:txBody>
      </p:sp>
      <p:sp>
        <p:nvSpPr>
          <p:cNvPr id="309" name="Google Shape;309;p6"/>
          <p:cNvSpPr/>
          <p:nvPr/>
        </p:nvSpPr>
        <p:spPr>
          <a:xfrm>
            <a:off x="8183880" y="4498848"/>
            <a:ext cx="3291840" cy="120700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6"/>
          <p:cNvSpPr/>
          <p:nvPr/>
        </p:nvSpPr>
        <p:spPr>
          <a:xfrm>
            <a:off x="8385048" y="4681728"/>
            <a:ext cx="411480" cy="36576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6"/>
          <p:cNvSpPr txBox="1"/>
          <p:nvPr/>
        </p:nvSpPr>
        <p:spPr>
          <a:xfrm>
            <a:off x="8385048" y="4791456"/>
            <a:ext cx="28896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계정서버, 게임서버는 별개로 동작</a:t>
            </a:r>
            <a:endParaRPr/>
          </a:p>
        </p:txBody>
      </p:sp>
      <p:sp>
        <p:nvSpPr>
          <p:cNvPr id="312" name="Google Shape;312;p6"/>
          <p:cNvSpPr txBox="1"/>
          <p:nvPr/>
        </p:nvSpPr>
        <p:spPr>
          <a:xfrm>
            <a:off x="8419223" y="5018502"/>
            <a:ext cx="2889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두 서버</a:t>
            </a:r>
            <a:r>
              <a:rPr lang="en-US" sz="80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는 redis로 인증 토큰만 공유, 서로 통신하지 않는다.</a:t>
            </a:r>
            <a:endParaRPr/>
          </a:p>
        </p:txBody>
      </p:sp>
      <p:sp>
        <p:nvSpPr>
          <p:cNvPr id="313" name="Google Shape;313;p6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FA67966-0CE8-9EAC-A817-5AD73850F7AA}"/>
              </a:ext>
            </a:extLst>
          </p:cNvPr>
          <p:cNvSpPr/>
          <p:nvPr/>
        </p:nvSpPr>
        <p:spPr>
          <a:xfrm>
            <a:off x="3192231" y="5464881"/>
            <a:ext cx="2156034" cy="21811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중복 로그인 처리 시퀀스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19" name="Google Shape;319;p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7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DATABASE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7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7"/>
          <p:cNvSpPr txBox="1"/>
          <p:nvPr/>
        </p:nvSpPr>
        <p:spPr>
          <a:xfrm>
            <a:off x="685800" y="914400"/>
            <a:ext cx="1088136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3.  데이터베이스 설계</a:t>
            </a:r>
            <a:endParaRPr sz="30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3" name="Google Shape;323;p7"/>
          <p:cNvSpPr/>
          <p:nvPr/>
        </p:nvSpPr>
        <p:spPr>
          <a:xfrm>
            <a:off x="8922890" y="2041451"/>
            <a:ext cx="2487168" cy="39478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7"/>
          <p:cNvSpPr txBox="1"/>
          <p:nvPr/>
        </p:nvSpPr>
        <p:spPr>
          <a:xfrm>
            <a:off x="9105770" y="2224331"/>
            <a:ext cx="212140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MySQL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7"/>
          <p:cNvSpPr txBox="1"/>
          <p:nvPr/>
        </p:nvSpPr>
        <p:spPr>
          <a:xfrm>
            <a:off x="9105770" y="2498651"/>
            <a:ext cx="21214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Account DB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7"/>
          <p:cNvSpPr/>
          <p:nvPr/>
        </p:nvSpPr>
        <p:spPr>
          <a:xfrm>
            <a:off x="9105770" y="2864411"/>
            <a:ext cx="411480" cy="36576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7"/>
          <p:cNvSpPr txBox="1"/>
          <p:nvPr/>
        </p:nvSpPr>
        <p:spPr>
          <a:xfrm>
            <a:off x="9105770" y="3266747"/>
            <a:ext cx="2121408" cy="4167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taskbar_hero_account</a:t>
            </a:r>
            <a:endParaRPr sz="950" b="0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로그인을 위한 유저 계정정보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7"/>
          <p:cNvSpPr/>
          <p:nvPr/>
        </p:nvSpPr>
        <p:spPr>
          <a:xfrm>
            <a:off x="6189748" y="2041450"/>
            <a:ext cx="2487168" cy="394786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7"/>
          <p:cNvSpPr txBox="1"/>
          <p:nvPr/>
        </p:nvSpPr>
        <p:spPr>
          <a:xfrm>
            <a:off x="6372628" y="2224331"/>
            <a:ext cx="212140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rgbClr val="1B9E6F"/>
                </a:solidFill>
                <a:latin typeface="Malgun Gothic"/>
                <a:ea typeface="Malgun Gothic"/>
                <a:cs typeface="Malgun Gothic"/>
                <a:sym typeface="Malgun Gothic"/>
              </a:rPr>
              <a:t>MySQL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7"/>
          <p:cNvSpPr txBox="1"/>
          <p:nvPr/>
        </p:nvSpPr>
        <p:spPr>
          <a:xfrm>
            <a:off x="6372628" y="2498651"/>
            <a:ext cx="21214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Game DB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7"/>
          <p:cNvSpPr/>
          <p:nvPr/>
        </p:nvSpPr>
        <p:spPr>
          <a:xfrm>
            <a:off x="6372628" y="2864411"/>
            <a:ext cx="411480" cy="36576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7"/>
          <p:cNvSpPr txBox="1"/>
          <p:nvPr/>
        </p:nvSpPr>
        <p:spPr>
          <a:xfrm>
            <a:off x="6372628" y="3266747"/>
            <a:ext cx="2121408" cy="8595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taskbar_hero_game</a:t>
            </a:r>
            <a:endParaRPr sz="950" b="0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플레이어 세이브 데이터 전부. 모든 테이블이 user_id로 계정에 매달린다.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7"/>
          <p:cNvSpPr/>
          <p:nvPr/>
        </p:nvSpPr>
        <p:spPr>
          <a:xfrm>
            <a:off x="685800" y="2041451"/>
            <a:ext cx="2487168" cy="2212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7"/>
          <p:cNvSpPr txBox="1"/>
          <p:nvPr/>
        </p:nvSpPr>
        <p:spPr>
          <a:xfrm>
            <a:off x="868680" y="2224331"/>
            <a:ext cx="212140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Redis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7"/>
          <p:cNvSpPr txBox="1"/>
          <p:nvPr/>
        </p:nvSpPr>
        <p:spPr>
          <a:xfrm>
            <a:off x="868680" y="2498651"/>
            <a:ext cx="2121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 관리, 랭킹 정보 캐싱</a:t>
            </a:r>
            <a:endParaRPr sz="14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6" name="Google Shape;336;p7"/>
          <p:cNvSpPr/>
          <p:nvPr/>
        </p:nvSpPr>
        <p:spPr>
          <a:xfrm>
            <a:off x="868680" y="2882699"/>
            <a:ext cx="41148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7"/>
          <p:cNvSpPr txBox="1"/>
          <p:nvPr/>
        </p:nvSpPr>
        <p:spPr>
          <a:xfrm>
            <a:off x="868680" y="3266747"/>
            <a:ext cx="2121300" cy="2340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인증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관리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랭킹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정보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캐싱</a:t>
            </a: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관리</a:t>
            </a:r>
            <a:endParaRPr sz="95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8" name="Google Shape;338;p7"/>
          <p:cNvSpPr/>
          <p:nvPr/>
        </p:nvSpPr>
        <p:spPr>
          <a:xfrm>
            <a:off x="3392424" y="2041451"/>
            <a:ext cx="2487168" cy="22128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7"/>
          <p:cNvSpPr txBox="1"/>
          <p:nvPr/>
        </p:nvSpPr>
        <p:spPr>
          <a:xfrm>
            <a:off x="3575303" y="2224331"/>
            <a:ext cx="2121408" cy="2194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rgbClr val="6B4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TimescaleDB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0" name="Google Shape;340;p7"/>
          <p:cNvSpPr txBox="1"/>
          <p:nvPr/>
        </p:nvSpPr>
        <p:spPr>
          <a:xfrm>
            <a:off x="3575303" y="2498651"/>
            <a:ext cx="21214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 DB(logdb)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1" name="Google Shape;341;p7"/>
          <p:cNvSpPr/>
          <p:nvPr/>
        </p:nvSpPr>
        <p:spPr>
          <a:xfrm>
            <a:off x="3575303" y="2864411"/>
            <a:ext cx="411480" cy="36576"/>
          </a:xfrm>
          <a:prstGeom prst="rect">
            <a:avLst/>
          </a:prstGeom>
          <a:solidFill>
            <a:srgbClr val="6B4F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7"/>
          <p:cNvSpPr txBox="1"/>
          <p:nvPr/>
        </p:nvSpPr>
        <p:spPr>
          <a:xfrm>
            <a:off x="3575303" y="3266747"/>
            <a:ext cx="2121408" cy="7631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fluentd 적재</a:t>
            </a:r>
            <a:endParaRPr sz="950" b="0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7F7F7F"/>
                </a:solidFill>
                <a:latin typeface="Malgun Gothic"/>
                <a:ea typeface="Malgun Gothic"/>
                <a:cs typeface="Malgun Gothic"/>
                <a:sym typeface="Malgun Gothic"/>
              </a:rPr>
              <a:t>Timescale db를 사용하며, 게임 운영을 위한 로그를 관리</a:t>
            </a:r>
            <a:endParaRPr sz="950" b="0" i="0" u="none" strike="noStrike" cap="none">
              <a:solidFill>
                <a:srgbClr val="7F7F7F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endParaRPr sz="9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43" name="Google Shape;343;p7"/>
          <p:cNvSpPr/>
          <p:nvPr/>
        </p:nvSpPr>
        <p:spPr>
          <a:xfrm>
            <a:off x="685800" y="4572000"/>
            <a:ext cx="5257974" cy="14173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7"/>
          <p:cNvSpPr/>
          <p:nvPr/>
        </p:nvSpPr>
        <p:spPr>
          <a:xfrm>
            <a:off x="886968" y="4754880"/>
            <a:ext cx="411480" cy="36576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7"/>
          <p:cNvSpPr txBox="1"/>
          <p:nvPr/>
        </p:nvSpPr>
        <p:spPr>
          <a:xfrm>
            <a:off x="886967" y="4882896"/>
            <a:ext cx="4251289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Master DB -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마스터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데이터는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시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인메모리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캐싱</a:t>
            </a:r>
            <a:endParaRPr sz="1200" b="1" i="0" u="none" strike="noStrike" cap="none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46" name="Google Shape;346;p7"/>
          <p:cNvSpPr txBox="1"/>
          <p:nvPr/>
        </p:nvSpPr>
        <p:spPr>
          <a:xfrm>
            <a:off x="886975" y="5248650"/>
            <a:ext cx="5099100" cy="1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 · 스테이지 · 아이템 등 마스터 27종은 읽기 전용 정의라 기동 시 인메모리에 캐싱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8" name="Google Shape;348;p7" descr="💿 데이터베이스 기본 개념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971973" y="4421537"/>
            <a:ext cx="922718" cy="922718"/>
          </a:xfrm>
          <a:prstGeom prst="rect">
            <a:avLst/>
          </a:prstGeom>
          <a:noFill/>
          <a:ln>
            <a:noFill/>
          </a:ln>
        </p:spPr>
      </p:pic>
      <p:pic>
        <p:nvPicPr>
          <p:cNvPr id="349" name="Google Shape;349;p7" descr="💿 데이터베이스 기본 개념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705115" y="4357942"/>
            <a:ext cx="922718" cy="9227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55" name="Google Shape;355;p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356" name="Google Shape;356;p8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ERD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8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8"/>
          <p:cNvSpPr txBox="1"/>
          <p:nvPr/>
        </p:nvSpPr>
        <p:spPr>
          <a:xfrm>
            <a:off x="685800" y="914400"/>
            <a:ext cx="1088136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3.1  계정, 게임 DB</a:t>
            </a:r>
            <a:endParaRPr sz="30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59" name="Google Shape;359;p8"/>
          <p:cNvSpPr/>
          <p:nvPr/>
        </p:nvSpPr>
        <p:spPr>
          <a:xfrm>
            <a:off x="685800" y="1947672"/>
            <a:ext cx="1783080" cy="132588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8"/>
          <p:cNvSpPr/>
          <p:nvPr/>
        </p:nvSpPr>
        <p:spPr>
          <a:xfrm>
            <a:off x="685800" y="1947672"/>
            <a:ext cx="54864" cy="1325880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8"/>
          <p:cNvSpPr txBox="1"/>
          <p:nvPr/>
        </p:nvSpPr>
        <p:spPr>
          <a:xfrm>
            <a:off x="841248" y="2029968"/>
            <a:ext cx="1536192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game_player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2" name="Google Shape;362;p8"/>
          <p:cNvSpPr txBox="1"/>
          <p:nvPr/>
        </p:nvSpPr>
        <p:spPr>
          <a:xfrm>
            <a:off x="841248" y="2249424"/>
            <a:ext cx="1536192" cy="1154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user_id</a:t>
            </a:r>
            <a:r>
              <a:rPr lang="en-US" sz="750" b="0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 PK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3" name="Google Shape;363;p8"/>
          <p:cNvSpPr/>
          <p:nvPr/>
        </p:nvSpPr>
        <p:spPr>
          <a:xfrm>
            <a:off x="841248" y="2450592"/>
            <a:ext cx="1472184" cy="9144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8"/>
          <p:cNvSpPr txBox="1"/>
          <p:nvPr/>
        </p:nvSpPr>
        <p:spPr>
          <a:xfrm>
            <a:off x="841248" y="2523744"/>
            <a:ext cx="1536192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act · stage · difficulty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max_stage_cleared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inventory_capacity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last_active_at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8"/>
          <p:cNvSpPr/>
          <p:nvPr/>
        </p:nvSpPr>
        <p:spPr>
          <a:xfrm>
            <a:off x="2468880" y="2604211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8"/>
          <p:cNvSpPr/>
          <p:nvPr/>
        </p:nvSpPr>
        <p:spPr>
          <a:xfrm>
            <a:off x="2736799" y="2121408"/>
            <a:ext cx="12801" cy="3771900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8"/>
          <p:cNvSpPr/>
          <p:nvPr/>
        </p:nvSpPr>
        <p:spPr>
          <a:xfrm>
            <a:off x="2743200" y="21150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8"/>
          <p:cNvSpPr/>
          <p:nvPr/>
        </p:nvSpPr>
        <p:spPr>
          <a:xfrm>
            <a:off x="3017520" y="1947672"/>
            <a:ext cx="251460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8"/>
          <p:cNvSpPr/>
          <p:nvPr/>
        </p:nvSpPr>
        <p:spPr>
          <a:xfrm>
            <a:off x="3017520" y="1947672"/>
            <a:ext cx="54864" cy="347472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8"/>
          <p:cNvSpPr txBox="1"/>
          <p:nvPr/>
        </p:nvSpPr>
        <p:spPr>
          <a:xfrm>
            <a:off x="3172968" y="19915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player_character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8"/>
          <p:cNvSpPr txBox="1"/>
          <p:nvPr/>
        </p:nvSpPr>
        <p:spPr>
          <a:xfrm>
            <a:off x="3172968" y="21360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(user_id, character_id)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8"/>
          <p:cNvSpPr/>
          <p:nvPr/>
        </p:nvSpPr>
        <p:spPr>
          <a:xfrm>
            <a:off x="2743200" y="24579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8"/>
          <p:cNvSpPr/>
          <p:nvPr/>
        </p:nvSpPr>
        <p:spPr>
          <a:xfrm>
            <a:off x="3017520" y="2290572"/>
            <a:ext cx="251460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8"/>
          <p:cNvSpPr/>
          <p:nvPr/>
        </p:nvSpPr>
        <p:spPr>
          <a:xfrm>
            <a:off x="3017520" y="22905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8"/>
          <p:cNvSpPr txBox="1"/>
          <p:nvPr/>
        </p:nvSpPr>
        <p:spPr>
          <a:xfrm>
            <a:off x="3172968" y="23344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player_item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6" name="Google Shape;376;p8"/>
          <p:cNvSpPr txBox="1"/>
          <p:nvPr/>
        </p:nvSpPr>
        <p:spPr>
          <a:xfrm>
            <a:off x="3172968" y="24789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player_item_id PK · (user_id, slot) UQ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8"/>
          <p:cNvSpPr/>
          <p:nvPr/>
        </p:nvSpPr>
        <p:spPr>
          <a:xfrm>
            <a:off x="2743200" y="2800807"/>
            <a:ext cx="274319" cy="12801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8"/>
          <p:cNvSpPr/>
          <p:nvPr/>
        </p:nvSpPr>
        <p:spPr>
          <a:xfrm>
            <a:off x="3017520" y="2633472"/>
            <a:ext cx="251460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8"/>
          <p:cNvSpPr/>
          <p:nvPr/>
        </p:nvSpPr>
        <p:spPr>
          <a:xfrm>
            <a:off x="3017520" y="26334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8"/>
          <p:cNvSpPr txBox="1"/>
          <p:nvPr/>
        </p:nvSpPr>
        <p:spPr>
          <a:xfrm>
            <a:off x="3172968" y="26773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player_cube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8"/>
          <p:cNvSpPr txBox="1"/>
          <p:nvPr/>
        </p:nvSpPr>
        <p:spPr>
          <a:xfrm>
            <a:off x="3172968" y="28218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user_id PK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2" name="Google Shape;382;p8"/>
          <p:cNvSpPr/>
          <p:nvPr/>
        </p:nvSpPr>
        <p:spPr>
          <a:xfrm>
            <a:off x="2743200" y="31437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8"/>
          <p:cNvSpPr/>
          <p:nvPr/>
        </p:nvSpPr>
        <p:spPr>
          <a:xfrm>
            <a:off x="3017520" y="2976372"/>
            <a:ext cx="251460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8"/>
          <p:cNvSpPr/>
          <p:nvPr/>
        </p:nvSpPr>
        <p:spPr>
          <a:xfrm>
            <a:off x="3017520" y="29763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8"/>
          <p:cNvSpPr txBox="1"/>
          <p:nvPr/>
        </p:nvSpPr>
        <p:spPr>
          <a:xfrm>
            <a:off x="3172968" y="30202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player_rune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p8"/>
          <p:cNvSpPr txBox="1"/>
          <p:nvPr/>
        </p:nvSpPr>
        <p:spPr>
          <a:xfrm>
            <a:off x="3172968" y="31647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(user_id, rune_code)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p8"/>
          <p:cNvSpPr/>
          <p:nvPr/>
        </p:nvSpPr>
        <p:spPr>
          <a:xfrm>
            <a:off x="2743200" y="34866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8"/>
          <p:cNvSpPr/>
          <p:nvPr/>
        </p:nvSpPr>
        <p:spPr>
          <a:xfrm>
            <a:off x="3017520" y="3319272"/>
            <a:ext cx="251460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8"/>
          <p:cNvSpPr/>
          <p:nvPr/>
        </p:nvSpPr>
        <p:spPr>
          <a:xfrm>
            <a:off x="3017520" y="33192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8"/>
          <p:cNvSpPr txBox="1"/>
          <p:nvPr/>
        </p:nvSpPr>
        <p:spPr>
          <a:xfrm>
            <a:off x="3172968" y="33631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player_buff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1" name="Google Shape;391;p8"/>
          <p:cNvSpPr txBox="1"/>
          <p:nvPr/>
        </p:nvSpPr>
        <p:spPr>
          <a:xfrm>
            <a:off x="3172968" y="35076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(user_id, buff_type)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8"/>
          <p:cNvSpPr/>
          <p:nvPr/>
        </p:nvSpPr>
        <p:spPr>
          <a:xfrm>
            <a:off x="2743200" y="3829507"/>
            <a:ext cx="274319" cy="12801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8"/>
          <p:cNvSpPr/>
          <p:nvPr/>
        </p:nvSpPr>
        <p:spPr>
          <a:xfrm>
            <a:off x="3017520" y="3662172"/>
            <a:ext cx="251460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8"/>
          <p:cNvSpPr/>
          <p:nvPr/>
        </p:nvSpPr>
        <p:spPr>
          <a:xfrm>
            <a:off x="3017520" y="36621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8"/>
          <p:cNvSpPr txBox="1"/>
          <p:nvPr/>
        </p:nvSpPr>
        <p:spPr>
          <a:xfrm>
            <a:off x="3172968" y="37060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player_attendance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p8"/>
          <p:cNvSpPr txBox="1"/>
          <p:nvPr/>
        </p:nvSpPr>
        <p:spPr>
          <a:xfrm>
            <a:off x="3172968" y="38505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user_id PK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8"/>
          <p:cNvSpPr/>
          <p:nvPr/>
        </p:nvSpPr>
        <p:spPr>
          <a:xfrm>
            <a:off x="2743200" y="41724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8"/>
          <p:cNvSpPr/>
          <p:nvPr/>
        </p:nvSpPr>
        <p:spPr>
          <a:xfrm>
            <a:off x="3017520" y="4005072"/>
            <a:ext cx="251460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8"/>
          <p:cNvSpPr/>
          <p:nvPr/>
        </p:nvSpPr>
        <p:spPr>
          <a:xfrm>
            <a:off x="3017520" y="40050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8"/>
          <p:cNvSpPr txBox="1"/>
          <p:nvPr/>
        </p:nvSpPr>
        <p:spPr>
          <a:xfrm>
            <a:off x="3172968" y="40489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player_mail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1" name="Google Shape;401;p8"/>
          <p:cNvSpPr txBox="1"/>
          <p:nvPr/>
        </p:nvSpPr>
        <p:spPr>
          <a:xfrm>
            <a:off x="3172968" y="41934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mail_id PK · user_id IDX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8"/>
          <p:cNvSpPr/>
          <p:nvPr/>
        </p:nvSpPr>
        <p:spPr>
          <a:xfrm>
            <a:off x="2743200" y="45153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8"/>
          <p:cNvSpPr/>
          <p:nvPr/>
        </p:nvSpPr>
        <p:spPr>
          <a:xfrm>
            <a:off x="3017520" y="4347972"/>
            <a:ext cx="251460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8"/>
          <p:cNvSpPr/>
          <p:nvPr/>
        </p:nvSpPr>
        <p:spPr>
          <a:xfrm>
            <a:off x="3017520" y="4347972"/>
            <a:ext cx="54864" cy="347472"/>
          </a:xfrm>
          <a:prstGeom prst="rect">
            <a:avLst/>
          </a:prstGeom>
          <a:solidFill>
            <a:srgbClr val="6B4F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8"/>
          <p:cNvSpPr txBox="1"/>
          <p:nvPr/>
        </p:nvSpPr>
        <p:spPr>
          <a:xfrm>
            <a:off x="3172968" y="43918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trade_listing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8"/>
          <p:cNvSpPr txBox="1"/>
          <p:nvPr/>
        </p:nvSpPr>
        <p:spPr>
          <a:xfrm>
            <a:off x="3172968" y="45363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listing_id PK · (status, item_code, price)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7" name="Google Shape;407;p8"/>
          <p:cNvSpPr/>
          <p:nvPr/>
        </p:nvSpPr>
        <p:spPr>
          <a:xfrm>
            <a:off x="2743200" y="48582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8"/>
          <p:cNvSpPr/>
          <p:nvPr/>
        </p:nvSpPr>
        <p:spPr>
          <a:xfrm>
            <a:off x="3017520" y="4690872"/>
            <a:ext cx="251460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8"/>
          <p:cNvSpPr/>
          <p:nvPr/>
        </p:nvSpPr>
        <p:spPr>
          <a:xfrm>
            <a:off x="3017520" y="46908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8"/>
          <p:cNvSpPr txBox="1"/>
          <p:nvPr/>
        </p:nvSpPr>
        <p:spPr>
          <a:xfrm>
            <a:off x="3172968" y="47347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player_gacha_counter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8"/>
          <p:cNvSpPr txBox="1"/>
          <p:nvPr/>
        </p:nvSpPr>
        <p:spPr>
          <a:xfrm>
            <a:off x="3172968" y="48792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(user_id, gacha_code, grade)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2" name="Google Shape;412;p8"/>
          <p:cNvSpPr/>
          <p:nvPr/>
        </p:nvSpPr>
        <p:spPr>
          <a:xfrm>
            <a:off x="2743200" y="52011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8"/>
          <p:cNvSpPr/>
          <p:nvPr/>
        </p:nvSpPr>
        <p:spPr>
          <a:xfrm>
            <a:off x="3017520" y="5033772"/>
            <a:ext cx="251460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8"/>
          <p:cNvSpPr/>
          <p:nvPr/>
        </p:nvSpPr>
        <p:spPr>
          <a:xfrm>
            <a:off x="3017520" y="50337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8"/>
          <p:cNvSpPr txBox="1"/>
          <p:nvPr/>
        </p:nvSpPr>
        <p:spPr>
          <a:xfrm>
            <a:off x="3172968" y="50776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player_gacha_pull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p8"/>
          <p:cNvSpPr txBox="1"/>
          <p:nvPr/>
        </p:nvSpPr>
        <p:spPr>
          <a:xfrm>
            <a:off x="3172968" y="52221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pull_id PK · (user_id, pull_id)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7" name="Google Shape;417;p8"/>
          <p:cNvSpPr/>
          <p:nvPr/>
        </p:nvSpPr>
        <p:spPr>
          <a:xfrm>
            <a:off x="2743200" y="55440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8"/>
          <p:cNvSpPr/>
          <p:nvPr/>
        </p:nvSpPr>
        <p:spPr>
          <a:xfrm>
            <a:off x="3017520" y="5376672"/>
            <a:ext cx="251460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8"/>
          <p:cNvSpPr/>
          <p:nvPr/>
        </p:nvSpPr>
        <p:spPr>
          <a:xfrm>
            <a:off x="3017520" y="53766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8"/>
          <p:cNvSpPr txBox="1"/>
          <p:nvPr/>
        </p:nvSpPr>
        <p:spPr>
          <a:xfrm>
            <a:off x="3172968" y="54205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boss_rush_record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8"/>
          <p:cNvSpPr txBox="1"/>
          <p:nvPr/>
        </p:nvSpPr>
        <p:spPr>
          <a:xfrm>
            <a:off x="3172968" y="55650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(season_id, user_id)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2" name="Google Shape;422;p8"/>
          <p:cNvSpPr/>
          <p:nvPr/>
        </p:nvSpPr>
        <p:spPr>
          <a:xfrm>
            <a:off x="2743200" y="5886907"/>
            <a:ext cx="274319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8"/>
          <p:cNvSpPr/>
          <p:nvPr/>
        </p:nvSpPr>
        <p:spPr>
          <a:xfrm>
            <a:off x="3017520" y="5719572"/>
            <a:ext cx="251460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8"/>
          <p:cNvSpPr/>
          <p:nvPr/>
        </p:nvSpPr>
        <p:spPr>
          <a:xfrm>
            <a:off x="3017520" y="57195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8"/>
          <p:cNvSpPr txBox="1"/>
          <p:nvPr/>
        </p:nvSpPr>
        <p:spPr>
          <a:xfrm>
            <a:off x="3172968" y="5763463"/>
            <a:ext cx="226771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boss_rush_run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p8"/>
          <p:cNvSpPr txBox="1"/>
          <p:nvPr/>
        </p:nvSpPr>
        <p:spPr>
          <a:xfrm>
            <a:off x="3172968" y="5907938"/>
            <a:ext cx="226771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run_id PK · (user_id, started_at)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8"/>
          <p:cNvSpPr/>
          <p:nvPr/>
        </p:nvSpPr>
        <p:spPr>
          <a:xfrm>
            <a:off x="6080760" y="1947672"/>
            <a:ext cx="237744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8"/>
          <p:cNvSpPr/>
          <p:nvPr/>
        </p:nvSpPr>
        <p:spPr>
          <a:xfrm>
            <a:off x="6080760" y="1947672"/>
            <a:ext cx="54864" cy="347472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8"/>
          <p:cNvSpPr txBox="1"/>
          <p:nvPr/>
        </p:nvSpPr>
        <p:spPr>
          <a:xfrm>
            <a:off x="6236208" y="1991563"/>
            <a:ext cx="213055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player_skill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8"/>
          <p:cNvSpPr txBox="1"/>
          <p:nvPr/>
        </p:nvSpPr>
        <p:spPr>
          <a:xfrm>
            <a:off x="6236208" y="2136038"/>
            <a:ext cx="213055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(user_id, character_id, skill_code)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8"/>
          <p:cNvSpPr/>
          <p:nvPr/>
        </p:nvSpPr>
        <p:spPr>
          <a:xfrm>
            <a:off x="6080760" y="2290572"/>
            <a:ext cx="237744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8"/>
          <p:cNvSpPr/>
          <p:nvPr/>
        </p:nvSpPr>
        <p:spPr>
          <a:xfrm>
            <a:off x="6080760" y="2290572"/>
            <a:ext cx="54864" cy="347472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8"/>
          <p:cNvSpPr txBox="1"/>
          <p:nvPr/>
        </p:nvSpPr>
        <p:spPr>
          <a:xfrm>
            <a:off x="6236208" y="2334463"/>
            <a:ext cx="213055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player_item_equipped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8"/>
          <p:cNvSpPr txBox="1"/>
          <p:nvPr/>
        </p:nvSpPr>
        <p:spPr>
          <a:xfrm>
            <a:off x="6236208" y="2478938"/>
            <a:ext cx="213055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player_item_id PK · UQ(user, char, slot)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5" name="Google Shape;435;p8"/>
          <p:cNvSpPr/>
          <p:nvPr/>
        </p:nvSpPr>
        <p:spPr>
          <a:xfrm>
            <a:off x="6080760" y="4005072"/>
            <a:ext cx="237744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8"/>
          <p:cNvSpPr/>
          <p:nvPr/>
        </p:nvSpPr>
        <p:spPr>
          <a:xfrm>
            <a:off x="6080760" y="40050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8"/>
          <p:cNvSpPr txBox="1"/>
          <p:nvPr/>
        </p:nvSpPr>
        <p:spPr>
          <a:xfrm>
            <a:off x="6236208" y="4048963"/>
            <a:ext cx="213055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player_mail_reward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"/>
          <p:cNvSpPr txBox="1"/>
          <p:nvPr/>
        </p:nvSpPr>
        <p:spPr>
          <a:xfrm>
            <a:off x="6236208" y="4193438"/>
            <a:ext cx="213055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(mail_id, seq)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"/>
          <p:cNvSpPr/>
          <p:nvPr/>
        </p:nvSpPr>
        <p:spPr>
          <a:xfrm>
            <a:off x="6080760" y="5033772"/>
            <a:ext cx="237744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8"/>
          <p:cNvSpPr/>
          <p:nvPr/>
        </p:nvSpPr>
        <p:spPr>
          <a:xfrm>
            <a:off x="6080760" y="50337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8"/>
          <p:cNvSpPr txBox="1"/>
          <p:nvPr/>
        </p:nvSpPr>
        <p:spPr>
          <a:xfrm>
            <a:off x="6236208" y="5077663"/>
            <a:ext cx="213055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player_gacha_pull_item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2" name="Google Shape;442;p8"/>
          <p:cNvSpPr txBox="1"/>
          <p:nvPr/>
        </p:nvSpPr>
        <p:spPr>
          <a:xfrm>
            <a:off x="6236208" y="5222138"/>
            <a:ext cx="213055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(pull_id, seq)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3" name="Google Shape;443;p8"/>
          <p:cNvSpPr/>
          <p:nvPr/>
        </p:nvSpPr>
        <p:spPr>
          <a:xfrm>
            <a:off x="6080760" y="5376672"/>
            <a:ext cx="237744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8"/>
          <p:cNvSpPr/>
          <p:nvPr/>
        </p:nvSpPr>
        <p:spPr>
          <a:xfrm>
            <a:off x="6080760" y="5376672"/>
            <a:ext cx="54864" cy="347472"/>
          </a:xfrm>
          <a:prstGeom prst="rect">
            <a:avLst/>
          </a:prstGeom>
          <a:solidFill>
            <a:srgbClr val="6B4F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8"/>
          <p:cNvSpPr txBox="1"/>
          <p:nvPr/>
        </p:nvSpPr>
        <p:spPr>
          <a:xfrm>
            <a:off x="6236208" y="5420563"/>
            <a:ext cx="213055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boss_rush_season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p8"/>
          <p:cNvSpPr txBox="1"/>
          <p:nvPr/>
        </p:nvSpPr>
        <p:spPr>
          <a:xfrm>
            <a:off x="6236208" y="5565038"/>
            <a:ext cx="213055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season_id PK · start_at UQ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p8"/>
          <p:cNvSpPr/>
          <p:nvPr/>
        </p:nvSpPr>
        <p:spPr>
          <a:xfrm>
            <a:off x="6080760" y="5719572"/>
            <a:ext cx="237744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8"/>
          <p:cNvSpPr/>
          <p:nvPr/>
        </p:nvSpPr>
        <p:spPr>
          <a:xfrm>
            <a:off x="6080760" y="5719572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8"/>
          <p:cNvSpPr txBox="1"/>
          <p:nvPr/>
        </p:nvSpPr>
        <p:spPr>
          <a:xfrm>
            <a:off x="6236208" y="5763463"/>
            <a:ext cx="213055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boss_rush_run_round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0" name="Google Shape;450;p8"/>
          <p:cNvSpPr txBox="1"/>
          <p:nvPr/>
        </p:nvSpPr>
        <p:spPr>
          <a:xfrm>
            <a:off x="6236208" y="5907938"/>
            <a:ext cx="213055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(run_id, round)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1" name="Google Shape;451;p8"/>
          <p:cNvSpPr/>
          <p:nvPr/>
        </p:nvSpPr>
        <p:spPr>
          <a:xfrm>
            <a:off x="5532120" y="2032711"/>
            <a:ext cx="548640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8"/>
          <p:cNvSpPr/>
          <p:nvPr/>
        </p:nvSpPr>
        <p:spPr>
          <a:xfrm>
            <a:off x="5532120" y="2197303"/>
            <a:ext cx="320040" cy="12801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8"/>
          <p:cNvSpPr/>
          <p:nvPr/>
        </p:nvSpPr>
        <p:spPr>
          <a:xfrm>
            <a:off x="5845759" y="2203703"/>
            <a:ext cx="12801" cy="178308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8"/>
          <p:cNvSpPr/>
          <p:nvPr/>
        </p:nvSpPr>
        <p:spPr>
          <a:xfrm>
            <a:off x="5852160" y="2375611"/>
            <a:ext cx="228600" cy="12801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8"/>
          <p:cNvSpPr/>
          <p:nvPr/>
        </p:nvSpPr>
        <p:spPr>
          <a:xfrm>
            <a:off x="5532120" y="2540203"/>
            <a:ext cx="548640" cy="12801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8"/>
          <p:cNvSpPr/>
          <p:nvPr/>
        </p:nvSpPr>
        <p:spPr>
          <a:xfrm>
            <a:off x="5532120" y="4172407"/>
            <a:ext cx="548640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8"/>
          <p:cNvSpPr/>
          <p:nvPr/>
        </p:nvSpPr>
        <p:spPr>
          <a:xfrm>
            <a:off x="5532120" y="5201107"/>
            <a:ext cx="548640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8"/>
          <p:cNvSpPr/>
          <p:nvPr/>
        </p:nvSpPr>
        <p:spPr>
          <a:xfrm>
            <a:off x="5532120" y="5489143"/>
            <a:ext cx="548640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8"/>
          <p:cNvSpPr/>
          <p:nvPr/>
        </p:nvSpPr>
        <p:spPr>
          <a:xfrm>
            <a:off x="5852160" y="5598871"/>
            <a:ext cx="228600" cy="12801"/>
          </a:xfrm>
          <a:prstGeom prst="rect">
            <a:avLst/>
          </a:prstGeom>
          <a:solidFill>
            <a:srgbClr val="6B4F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8"/>
          <p:cNvSpPr/>
          <p:nvPr/>
        </p:nvSpPr>
        <p:spPr>
          <a:xfrm>
            <a:off x="5845759" y="5605272"/>
            <a:ext cx="12801" cy="370332"/>
          </a:xfrm>
          <a:prstGeom prst="rect">
            <a:avLst/>
          </a:prstGeom>
          <a:solidFill>
            <a:srgbClr val="6B4F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8"/>
          <p:cNvSpPr/>
          <p:nvPr/>
        </p:nvSpPr>
        <p:spPr>
          <a:xfrm>
            <a:off x="5532120" y="5969203"/>
            <a:ext cx="320040" cy="12801"/>
          </a:xfrm>
          <a:prstGeom prst="rect">
            <a:avLst/>
          </a:prstGeom>
          <a:solidFill>
            <a:srgbClr val="6B4F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8"/>
          <p:cNvSpPr/>
          <p:nvPr/>
        </p:nvSpPr>
        <p:spPr>
          <a:xfrm>
            <a:off x="5532120" y="5804611"/>
            <a:ext cx="548640" cy="12801"/>
          </a:xfrm>
          <a:prstGeom prst="rect">
            <a:avLst/>
          </a:prstGeom>
          <a:solidFill>
            <a:srgbClr val="9AA5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8"/>
          <p:cNvSpPr/>
          <p:nvPr/>
        </p:nvSpPr>
        <p:spPr>
          <a:xfrm>
            <a:off x="8915400" y="1947672"/>
            <a:ext cx="2560320" cy="15727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8"/>
          <p:cNvSpPr txBox="1"/>
          <p:nvPr/>
        </p:nvSpPr>
        <p:spPr>
          <a:xfrm>
            <a:off x="9098280" y="2084831"/>
            <a:ext cx="2194560" cy="1645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MySQL · Account DB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5" name="Google Shape;465;p8"/>
          <p:cNvSpPr/>
          <p:nvPr/>
        </p:nvSpPr>
        <p:spPr>
          <a:xfrm>
            <a:off x="9098280" y="2304288"/>
            <a:ext cx="219456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8"/>
          <p:cNvSpPr/>
          <p:nvPr/>
        </p:nvSpPr>
        <p:spPr>
          <a:xfrm>
            <a:off x="9098280" y="2304288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8"/>
          <p:cNvSpPr txBox="1"/>
          <p:nvPr/>
        </p:nvSpPr>
        <p:spPr>
          <a:xfrm>
            <a:off x="9253728" y="2348179"/>
            <a:ext cx="194767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users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8" name="Google Shape;468;p8"/>
          <p:cNvSpPr txBox="1"/>
          <p:nvPr/>
        </p:nvSpPr>
        <p:spPr>
          <a:xfrm>
            <a:off x="9253728" y="2492654"/>
            <a:ext cx="194767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user_id</a:t>
            </a:r>
            <a:r>
              <a:rPr lang="en-US" sz="7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PK · email UQ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9" name="Google Shape;469;p8"/>
          <p:cNvSpPr/>
          <p:nvPr/>
        </p:nvSpPr>
        <p:spPr>
          <a:xfrm>
            <a:off x="10189159" y="2651760"/>
            <a:ext cx="12801" cy="182880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8"/>
          <p:cNvSpPr/>
          <p:nvPr/>
        </p:nvSpPr>
        <p:spPr>
          <a:xfrm>
            <a:off x="9098280" y="2834640"/>
            <a:ext cx="2194560" cy="347472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8"/>
          <p:cNvSpPr/>
          <p:nvPr/>
        </p:nvSpPr>
        <p:spPr>
          <a:xfrm>
            <a:off x="9098280" y="2834640"/>
            <a:ext cx="54864" cy="347472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8"/>
          <p:cNvSpPr txBox="1"/>
          <p:nvPr/>
        </p:nvSpPr>
        <p:spPr>
          <a:xfrm>
            <a:off x="9253728" y="2878531"/>
            <a:ext cx="1947672" cy="1554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user_auth_token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8"/>
          <p:cNvSpPr txBox="1"/>
          <p:nvPr/>
        </p:nvSpPr>
        <p:spPr>
          <a:xfrm>
            <a:off x="9253728" y="3023006"/>
            <a:ext cx="1947672" cy="1280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en-US" sz="7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user_id PK · 사용자당 1행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4" name="Google Shape;474;p8"/>
          <p:cNvSpPr/>
          <p:nvPr/>
        </p:nvSpPr>
        <p:spPr>
          <a:xfrm>
            <a:off x="8915400" y="3703323"/>
            <a:ext cx="2560200" cy="132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8"/>
          <p:cNvSpPr txBox="1"/>
          <p:nvPr/>
        </p:nvSpPr>
        <p:spPr>
          <a:xfrm>
            <a:off x="9098280" y="3840480"/>
            <a:ext cx="21945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계정 단위 관계정리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6" name="Google Shape;476;p8"/>
          <p:cNvSpPr/>
          <p:nvPr/>
        </p:nvSpPr>
        <p:spPr>
          <a:xfrm>
            <a:off x="9098280" y="4133087"/>
            <a:ext cx="91440" cy="146304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8"/>
          <p:cNvSpPr txBox="1"/>
          <p:nvPr/>
        </p:nvSpPr>
        <p:spPr>
          <a:xfrm>
            <a:off x="9281160" y="4137659"/>
            <a:ext cx="2011679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계정 공유 — user_id 소유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8" name="Google Shape;478;p8"/>
          <p:cNvSpPr/>
          <p:nvPr/>
        </p:nvSpPr>
        <p:spPr>
          <a:xfrm>
            <a:off x="9098280" y="4389120"/>
            <a:ext cx="91440" cy="146304"/>
          </a:xfrm>
          <a:prstGeom prst="rect">
            <a:avLst/>
          </a:prstGeom>
          <a:solidFill>
            <a:srgbClr val="1B9E6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8"/>
          <p:cNvSpPr txBox="1"/>
          <p:nvPr/>
        </p:nvSpPr>
        <p:spPr>
          <a:xfrm>
            <a:off x="9281160" y="4393692"/>
            <a:ext cx="2011679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캐릭터별 — character_id 종속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8"/>
          <p:cNvSpPr/>
          <p:nvPr/>
        </p:nvSpPr>
        <p:spPr>
          <a:xfrm>
            <a:off x="9098280" y="4645152"/>
            <a:ext cx="91440" cy="146304"/>
          </a:xfrm>
          <a:prstGeom prst="rect">
            <a:avLst/>
          </a:prstGeom>
          <a:solidFill>
            <a:srgbClr val="6B4F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8"/>
          <p:cNvSpPr txBox="1"/>
          <p:nvPr/>
        </p:nvSpPr>
        <p:spPr>
          <a:xfrm>
            <a:off x="9281160" y="4649724"/>
            <a:ext cx="2011679" cy="146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전역 — 계정에 속하지 않음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8"/>
          <p:cNvSpPr/>
          <p:nvPr/>
        </p:nvSpPr>
        <p:spPr>
          <a:xfrm>
            <a:off x="9098280" y="4937760"/>
            <a:ext cx="2194560" cy="9144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9" name="Google Shape;489;p1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10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PRINCIPLES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10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0"/>
          <p:cNvSpPr txBox="1"/>
          <p:nvPr/>
        </p:nvSpPr>
        <p:spPr>
          <a:xfrm>
            <a:off x="685800" y="914400"/>
            <a:ext cx="1088136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3.2 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스키마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설계 시 유의한 것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10"/>
          <p:cNvSpPr/>
          <p:nvPr/>
        </p:nvSpPr>
        <p:spPr>
          <a:xfrm>
            <a:off x="685800" y="2103120"/>
            <a:ext cx="5266944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0"/>
          <p:cNvSpPr/>
          <p:nvPr/>
        </p:nvSpPr>
        <p:spPr>
          <a:xfrm>
            <a:off x="886968" y="2286000"/>
            <a:ext cx="411480" cy="36576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0"/>
          <p:cNvSpPr txBox="1"/>
          <p:nvPr/>
        </p:nvSpPr>
        <p:spPr>
          <a:xfrm>
            <a:off x="886968" y="2414015"/>
            <a:ext cx="48646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JSON </a:t>
            </a:r>
            <a:r>
              <a:rPr lang="en-US" sz="12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컬럼을</a:t>
            </a:r>
            <a:r>
              <a:rPr lang="en-US" sz="12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두지</a:t>
            </a:r>
            <a:r>
              <a:rPr lang="en-US" sz="12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않는다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"/>
          <p:cNvSpPr txBox="1"/>
          <p:nvPr/>
        </p:nvSpPr>
        <p:spPr>
          <a:xfrm>
            <a:off x="886968" y="2761487"/>
            <a:ext cx="4864608" cy="1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제1정규</a:t>
            </a:r>
            <a:r>
              <a:rPr lang="en-US" sz="950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형에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의거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, 한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컬럼당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하나의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데이터만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10"/>
          <p:cNvSpPr/>
          <p:nvPr/>
        </p:nvSpPr>
        <p:spPr>
          <a:xfrm>
            <a:off x="886968" y="3529584"/>
            <a:ext cx="4864608" cy="9144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0"/>
          <p:cNvSpPr txBox="1"/>
          <p:nvPr/>
        </p:nvSpPr>
        <p:spPr>
          <a:xfrm>
            <a:off x="886968" y="3621024"/>
            <a:ext cx="4864608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-US" sz="8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 </a:t>
            </a:r>
            <a:r>
              <a:rPr lang="en-US" sz="8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컬럼에</a:t>
            </a:r>
            <a:r>
              <a:rPr lang="en-US" sz="8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8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뭉쳐</a:t>
            </a:r>
            <a:r>
              <a:rPr lang="en-US" sz="8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8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두면</a:t>
            </a:r>
            <a:r>
              <a:rPr lang="en-US" sz="8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8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조건</a:t>
            </a:r>
            <a:r>
              <a:rPr lang="en-US" sz="8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8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조회</a:t>
            </a:r>
            <a:r>
              <a:rPr lang="en-US" sz="8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8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집계</a:t>
            </a:r>
            <a:r>
              <a:rPr lang="en-US" sz="8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등 </a:t>
            </a:r>
            <a:r>
              <a:rPr lang="en-US" sz="8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이슈</a:t>
            </a:r>
            <a:r>
              <a:rPr lang="en-US" sz="8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8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발생</a:t>
            </a:r>
            <a:r>
              <a:rPr lang="en-US" sz="8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8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가능성</a:t>
            </a:r>
            <a:r>
              <a:rPr lang="en-US" sz="8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8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고려</a:t>
            </a:r>
            <a:endParaRPr sz="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10"/>
          <p:cNvSpPr/>
          <p:nvPr/>
        </p:nvSpPr>
        <p:spPr>
          <a:xfrm>
            <a:off x="685800" y="4160520"/>
            <a:ext cx="5266944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0"/>
          <p:cNvSpPr/>
          <p:nvPr/>
        </p:nvSpPr>
        <p:spPr>
          <a:xfrm>
            <a:off x="886968" y="4343400"/>
            <a:ext cx="41148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0"/>
          <p:cNvSpPr txBox="1"/>
          <p:nvPr/>
        </p:nvSpPr>
        <p:spPr>
          <a:xfrm>
            <a:off x="886968" y="4471416"/>
            <a:ext cx="4864608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시간은</a:t>
            </a:r>
            <a:r>
              <a:rPr lang="en-US" sz="12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전부</a:t>
            </a:r>
            <a:r>
              <a:rPr lang="en-US" sz="12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Unix timestamp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"/>
          <p:cNvSpPr txBox="1"/>
          <p:nvPr/>
        </p:nvSpPr>
        <p:spPr>
          <a:xfrm>
            <a:off x="886968" y="4818888"/>
            <a:ext cx="4864608" cy="19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계정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세이브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등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DB에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저장되는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값은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Unix Timestamp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값으로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통일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"/>
          <p:cNvSpPr/>
          <p:nvPr/>
        </p:nvSpPr>
        <p:spPr>
          <a:xfrm>
            <a:off x="886968" y="5586983"/>
            <a:ext cx="4864608" cy="9144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0"/>
          <p:cNvSpPr txBox="1"/>
          <p:nvPr/>
        </p:nvSpPr>
        <p:spPr>
          <a:xfrm>
            <a:off x="886968" y="5678424"/>
            <a:ext cx="4864608" cy="329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오프라인 보상 · 거래 만료 · 버프 잔여가 같은 기준으로 계산된다.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5" name="Google Shape;505;p10"/>
          <p:cNvSpPr/>
          <p:nvPr/>
        </p:nvSpPr>
        <p:spPr>
          <a:xfrm>
            <a:off x="6208776" y="4160520"/>
            <a:ext cx="5266944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" name="Google Shape;506;p10"/>
          <p:cNvSpPr/>
          <p:nvPr/>
        </p:nvSpPr>
        <p:spPr>
          <a:xfrm>
            <a:off x="6409944" y="4343400"/>
            <a:ext cx="411480" cy="36576"/>
          </a:xfrm>
          <a:prstGeom prst="rect">
            <a:avLst/>
          </a:prstGeom>
          <a:solidFill>
            <a:srgbClr val="6B4FB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0"/>
          <p:cNvSpPr txBox="1"/>
          <p:nvPr/>
        </p:nvSpPr>
        <p:spPr>
          <a:xfrm>
            <a:off x="6409944" y="4471416"/>
            <a:ext cx="4864608" cy="19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인덱스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8" name="Google Shape;508;p10"/>
          <p:cNvSpPr txBox="1"/>
          <p:nvPr/>
        </p:nvSpPr>
        <p:spPr>
          <a:xfrm>
            <a:off x="6409944" y="4818888"/>
            <a:ext cx="4864608" cy="380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서버에서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실행하는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쿼리들을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뽑아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EXPLAIN을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돌려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인덱스를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실제로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타는지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p10"/>
          <p:cNvSpPr/>
          <p:nvPr/>
        </p:nvSpPr>
        <p:spPr>
          <a:xfrm>
            <a:off x="6409944" y="5586983"/>
            <a:ext cx="4864608" cy="9144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10"/>
          <p:cNvSpPr txBox="1"/>
          <p:nvPr/>
        </p:nvSpPr>
        <p:spPr>
          <a:xfrm>
            <a:off x="6409944" y="5678424"/>
            <a:ext cx="4864608" cy="31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결과적으로</a:t>
            </a:r>
            <a:r>
              <a:rPr lang="en-US" sz="9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</a:t>
            </a:r>
            <a:r>
              <a:rPr lang="en-US" sz="9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대기</a:t>
            </a:r>
            <a:r>
              <a:rPr lang="en-US" sz="9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경로에</a:t>
            </a:r>
            <a:r>
              <a:rPr lang="en-US" sz="9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치명적으로</a:t>
            </a:r>
            <a:r>
              <a:rPr lang="en-US" sz="9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느린</a:t>
            </a:r>
            <a:r>
              <a:rPr lang="en-US" sz="9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쿼리는</a:t>
            </a:r>
            <a:r>
              <a:rPr lang="en-US" sz="9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없었다</a:t>
            </a:r>
            <a:r>
              <a:rPr lang="en-US" sz="9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 → docs/공통/쿼리-분석.md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p10"/>
          <p:cNvSpPr/>
          <p:nvPr/>
        </p:nvSpPr>
        <p:spPr>
          <a:xfrm>
            <a:off x="6208776" y="2107695"/>
            <a:ext cx="5266944" cy="192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0"/>
          <p:cNvSpPr/>
          <p:nvPr/>
        </p:nvSpPr>
        <p:spPr>
          <a:xfrm>
            <a:off x="6409969" y="2297725"/>
            <a:ext cx="411600" cy="36600"/>
          </a:xfrm>
          <a:prstGeom prst="rect">
            <a:avLst/>
          </a:prstGeom>
          <a:solidFill>
            <a:srgbClr val="0E8AA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10"/>
          <p:cNvSpPr txBox="1"/>
          <p:nvPr/>
        </p:nvSpPr>
        <p:spPr>
          <a:xfrm>
            <a:off x="6409944" y="2418591"/>
            <a:ext cx="4864608" cy="192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유저정보는</a:t>
            </a:r>
            <a:r>
              <a:rPr lang="en-US" sz="12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기본적으로</a:t>
            </a:r>
            <a:r>
              <a:rPr lang="en-US" sz="12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DB </a:t>
            </a:r>
            <a:r>
              <a:rPr lang="en-US" sz="12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조회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10"/>
          <p:cNvSpPr txBox="1"/>
          <p:nvPr/>
        </p:nvSpPr>
        <p:spPr>
          <a:xfrm>
            <a:off x="6409944" y="2766063"/>
            <a:ext cx="4864608" cy="19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Redis(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캐싱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)에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있는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것은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랭킹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10"/>
          <p:cNvSpPr/>
          <p:nvPr/>
        </p:nvSpPr>
        <p:spPr>
          <a:xfrm>
            <a:off x="6409944" y="3534158"/>
            <a:ext cx="4864608" cy="900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0"/>
          <p:cNvSpPr txBox="1"/>
          <p:nvPr/>
        </p:nvSpPr>
        <p:spPr>
          <a:xfrm>
            <a:off x="6409944" y="3625599"/>
            <a:ext cx="4864608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유저</a:t>
            </a:r>
            <a:r>
              <a:rPr lang="en-US" sz="9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인벤토리</a:t>
            </a:r>
            <a:r>
              <a:rPr lang="en-US" sz="9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정보가</a:t>
            </a:r>
            <a:r>
              <a:rPr lang="en-US" sz="9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수시로</a:t>
            </a:r>
            <a:r>
              <a:rPr lang="en-US" sz="9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바뀌는</a:t>
            </a:r>
            <a:r>
              <a:rPr lang="en-US" sz="9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방치형</a:t>
            </a:r>
            <a:r>
              <a:rPr lang="en-US" sz="9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</a:t>
            </a:r>
            <a:r>
              <a:rPr lang="en-US" sz="9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성격상</a:t>
            </a:r>
            <a:r>
              <a:rPr lang="en-US" sz="9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en-US" sz="9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클라</a:t>
            </a:r>
            <a:r>
              <a:rPr lang="en-US" sz="9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– </a:t>
            </a:r>
            <a:r>
              <a:rPr lang="en-US" sz="9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</a:t>
            </a:r>
            <a:r>
              <a:rPr lang="en-US" sz="9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동기화를</a:t>
            </a:r>
            <a:r>
              <a:rPr lang="en-US" sz="9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위해</a:t>
            </a:r>
            <a:r>
              <a:rPr lang="en-US" sz="9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유저</a:t>
            </a:r>
            <a:r>
              <a:rPr lang="en-US" sz="9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정보를</a:t>
            </a:r>
            <a:r>
              <a:rPr lang="en-US" sz="9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캐싱하지</a:t>
            </a:r>
            <a:r>
              <a:rPr lang="en-US" sz="9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않는다</a:t>
            </a:r>
            <a:r>
              <a:rPr lang="en-US" sz="9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7" name="Google Shape;517;p1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RANKING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3.3  </a:t>
            </a:r>
            <a:r>
              <a:rPr lang="ko-KR" altLang="en-US" sz="3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랭킹 데이터 </a:t>
            </a:r>
            <a:r>
              <a:rPr lang="ko-KR" altLang="en-US" sz="3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캐싱</a:t>
            </a:r>
            <a:r>
              <a:rPr lang="ko-KR" altLang="en-US" sz="3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altLang="ko-KR" sz="3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</a:t>
            </a:r>
            <a:r>
              <a:rPr lang="ko-KR" altLang="en-US" sz="3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시즌제</a:t>
            </a:r>
            <a:r>
              <a:rPr lang="en-US" altLang="ko-KR" sz="3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(</a:t>
            </a:r>
            <a:r>
              <a:rPr lang="ko-KR" altLang="en-US" sz="3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보스러시</a:t>
            </a:r>
            <a:r>
              <a:rPr lang="en-US" altLang="ko-KR" sz="3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) </a:t>
            </a:r>
            <a:r>
              <a:rPr lang="ko-KR" altLang="en-US" sz="3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랭킹 </a:t>
            </a:r>
            <a:r>
              <a:rPr lang="ko-KR" altLang="en-US" sz="3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캐싱</a:t>
            </a:r>
            <a:endParaRPr sz="30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8813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altLang="en-US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시즌제</a:t>
            </a:r>
            <a:r>
              <a:rPr lang="ko-KR" altLang="en-US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컨텐츠에 대한 랭킹 조회는 </a:t>
            </a:r>
            <a:r>
              <a:rPr lang="en-US" altLang="ko-KR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Redis</a:t>
            </a:r>
            <a:r>
              <a:rPr lang="ko-KR" altLang="en-US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에서 </a:t>
            </a:r>
            <a:r>
              <a:rPr lang="ko-KR" altLang="en-US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캐싱</a:t>
            </a:r>
            <a:endParaRPr sz="140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635466" y="1785086"/>
            <a:ext cx="5989320" cy="20299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6634" y="1931390"/>
            <a:ext cx="5586984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alt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신기록 갱신</a:t>
            </a:r>
            <a:r>
              <a:rPr lang="en-US" altLang="ko-KR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-</a:t>
            </a:r>
            <a:r>
              <a:rPr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DB</a:t>
            </a:r>
            <a:r>
              <a:rPr lang="ko-KR" alt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 저장하고 </a:t>
            </a:r>
            <a:r>
              <a:rPr lang="en-US" altLang="ko-KR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Redis</a:t>
            </a:r>
            <a:r>
              <a:rPr lang="ko-KR" alt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 순위 정보를 갱신</a:t>
            </a:r>
            <a:endParaRPr sz="10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91498" y="2187422"/>
            <a:ext cx="1188720" cy="237744"/>
          </a:xfrm>
          <a:prstGeom prst="rect">
            <a:avLst/>
          </a:prstGeom>
          <a:solidFill>
            <a:srgbClr val="EEF2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1498" y="2233142"/>
            <a:ext cx="11887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클라이언트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481286" y="2425166"/>
            <a:ext cx="9144" cy="106070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2308818" y="2187422"/>
            <a:ext cx="11887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308818" y="2233142"/>
            <a:ext cx="11887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 서버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98606" y="2425166"/>
            <a:ext cx="9144" cy="106070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726138" y="2187422"/>
            <a:ext cx="11887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3726138" y="2233142"/>
            <a:ext cx="11887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MySQL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15926" y="2425166"/>
            <a:ext cx="9144" cy="106070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143458" y="2187422"/>
            <a:ext cx="118872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143458" y="2233142"/>
            <a:ext cx="118872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Redis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33246" y="2425166"/>
            <a:ext cx="9144" cy="106070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1485858" y="2662910"/>
            <a:ext cx="1417320" cy="0"/>
          </a:xfrm>
          <a:prstGeom prst="line">
            <a:avLst/>
          </a:prstGeom>
          <a:ln w="12700">
            <a:solidFill>
              <a:srgbClr val="6B768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1485858" y="2507462"/>
            <a:ext cx="141732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클리어 기록 보고 (12.3초)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903178" y="2918942"/>
            <a:ext cx="1417320" cy="0"/>
          </a:xfrm>
          <a:prstGeom prst="line">
            <a:avLst/>
          </a:prstGeom>
          <a:ln w="12700">
            <a:solidFill>
              <a:srgbClr val="2F6FE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903178" y="2763494"/>
            <a:ext cx="141732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기록 저장 — 최고 기록이면 갱신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903178" y="3174974"/>
            <a:ext cx="2834640" cy="0"/>
          </a:xfrm>
          <a:prstGeom prst="line">
            <a:avLst/>
          </a:prstGeom>
          <a:ln w="12700">
            <a:solidFill>
              <a:srgbClr val="E0A5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2903178" y="3019526"/>
            <a:ext cx="2834640" cy="115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 dirty="0" err="1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저장이</a:t>
            </a:r>
            <a:r>
              <a:rPr sz="750" b="0" dirty="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750" b="0" dirty="0" err="1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끝난</a:t>
            </a:r>
            <a:r>
              <a:rPr sz="750" b="0" dirty="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 뒤</a:t>
            </a:r>
            <a:r>
              <a:rPr lang="en-US" sz="750" b="0" dirty="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750" b="0" dirty="0" err="1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캐싱</a:t>
            </a:r>
            <a:r>
              <a:rPr lang="ko-KR" altLang="en-US" sz="750" b="0" dirty="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 데이터 최신화</a:t>
            </a:r>
            <a:endParaRPr sz="750" b="0" dirty="0">
              <a:solidFill>
                <a:srgbClr val="E0A526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51" name="Connector 50"/>
          <p:cNvCxnSpPr/>
          <p:nvPr/>
        </p:nvCxnSpPr>
        <p:spPr>
          <a:xfrm flipH="1">
            <a:off x="1485858" y="3412718"/>
            <a:ext cx="1417320" cy="0"/>
          </a:xfrm>
          <a:prstGeom prst="line">
            <a:avLst/>
          </a:prstGeom>
          <a:ln w="12700">
            <a:solidFill>
              <a:srgbClr val="1B9E6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1485858" y="3257270"/>
            <a:ext cx="141732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>
                <a:solidFill>
                  <a:srgbClr val="1B9E6F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 순위 응답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</a:p>
        </p:txBody>
      </p:sp>
      <p:pic>
        <p:nvPicPr>
          <p:cNvPr id="70" name="그림 69">
            <a:extLst>
              <a:ext uri="{FF2B5EF4-FFF2-40B4-BE49-F238E27FC236}">
                <a16:creationId xmlns:a16="http://schemas.microsoft.com/office/drawing/2014/main" id="{7B4097CF-896E-CEBE-3292-37695F8372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1538" y="1632097"/>
            <a:ext cx="3026287" cy="324543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72" name="Rounded Rectangle 57">
            <a:extLst>
              <a:ext uri="{FF2B5EF4-FFF2-40B4-BE49-F238E27FC236}">
                <a16:creationId xmlns:a16="http://schemas.microsoft.com/office/drawing/2014/main" id="{FBEFCDDA-C1A3-54E1-F6DB-000D8B12341A}"/>
              </a:ext>
            </a:extLst>
          </p:cNvPr>
          <p:cNvSpPr/>
          <p:nvPr/>
        </p:nvSpPr>
        <p:spPr>
          <a:xfrm>
            <a:off x="6993469" y="4967081"/>
            <a:ext cx="4389120" cy="976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`</a:t>
            </a:r>
            <a:endParaRPr dirty="0"/>
          </a:p>
        </p:txBody>
      </p:sp>
      <p:sp>
        <p:nvSpPr>
          <p:cNvPr id="74" name="Rectangle 58">
            <a:extLst>
              <a:ext uri="{FF2B5EF4-FFF2-40B4-BE49-F238E27FC236}">
                <a16:creationId xmlns:a16="http://schemas.microsoft.com/office/drawing/2014/main" id="{7166423F-7E83-2E23-E371-9556EC6B1DB2}"/>
              </a:ext>
            </a:extLst>
          </p:cNvPr>
          <p:cNvSpPr/>
          <p:nvPr/>
        </p:nvSpPr>
        <p:spPr>
          <a:xfrm>
            <a:off x="6967866" y="5006324"/>
            <a:ext cx="45719" cy="90666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6A46F1B-66A3-C45F-9468-EF3932690328}"/>
              </a:ext>
            </a:extLst>
          </p:cNvPr>
          <p:cNvSpPr txBox="1"/>
          <p:nvPr/>
        </p:nvSpPr>
        <p:spPr>
          <a:xfrm>
            <a:off x="7176349" y="5058522"/>
            <a:ext cx="4206240" cy="14619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altLang="en-US" sz="9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클라이언트에서는 현재 페이지의 랭킹만 보인다</a:t>
            </a:r>
            <a:endParaRPr sz="95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ADD7F66A-284E-0BE6-3375-977CF100DE32}"/>
              </a:ext>
            </a:extLst>
          </p:cNvPr>
          <p:cNvSpPr txBox="1"/>
          <p:nvPr/>
        </p:nvSpPr>
        <p:spPr>
          <a:xfrm>
            <a:off x="7176349" y="5259690"/>
            <a:ext cx="4206240" cy="59945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lang="ko-KR" altLang="en-US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클라이언트에서 랭킹 데이터 조회는 </a:t>
            </a:r>
            <a:r>
              <a:rPr lang="ko-KR" altLang="en-US"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페이징</a:t>
            </a:r>
            <a:r>
              <a:rPr lang="ko-KR" altLang="en-US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처리 되어 보인다</a:t>
            </a:r>
            <a:r>
              <a:rPr lang="en-US" altLang="ko-KR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 </a:t>
            </a:r>
            <a:br>
              <a:rPr lang="en-US" altLang="ko-KR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br>
              <a:rPr lang="en-US" altLang="ko-KR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-KR" altLang="en-US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추가로</a:t>
            </a:r>
            <a:r>
              <a:rPr lang="en-US" altLang="ko-KR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스크롤을 통해 화면을 위나 아래로 이동할 경우</a:t>
            </a:r>
            <a:r>
              <a:rPr lang="en-US" altLang="ko-KR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페이징을 새로 처리하여 항상 현재 페이지의 데이터만 보이도록 처리하였다</a:t>
            </a:r>
            <a:r>
              <a:rPr lang="en-US" altLang="ko-KR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80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D0E43FA-1016-0F0A-D107-8EF069B7CD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62162" y="4151000"/>
            <a:ext cx="2464132" cy="219238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759186B-9342-5C55-D6F9-217989809D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6138" y="3933926"/>
            <a:ext cx="1781046" cy="191804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04EAFE2D-8A24-9B05-D7E6-1633A168C890}"/>
              </a:ext>
            </a:extLst>
          </p:cNvPr>
          <p:cNvSpPr/>
          <p:nvPr/>
        </p:nvSpPr>
        <p:spPr>
          <a:xfrm>
            <a:off x="2879710" y="6386416"/>
            <a:ext cx="2068893" cy="21811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인게임</a:t>
            </a:r>
            <a:r>
              <a:rPr lang="ko-KR" altLang="en-US" dirty="0"/>
              <a:t> 보스러시 컨텐츠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GACHA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4.  </a:t>
            </a:r>
            <a:r>
              <a:rPr sz="3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가챠</a:t>
            </a:r>
            <a:endParaRPr sz="30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881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 한 번이 하는 일과 그 순서 — 전부 한 트랜잭션 안에서 일어난다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874520"/>
            <a:ext cx="10789920" cy="14996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05256" y="2020824"/>
            <a:ext cx="54864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</a:t>
            </a:r>
            <a:r>
              <a:rPr 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(10</a:t>
            </a:r>
            <a:r>
              <a:rPr lang="ko-KR" alt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연차</a:t>
            </a:r>
            <a:r>
              <a:rPr lang="en-US" altLang="ko-KR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) </a:t>
            </a:r>
            <a:r>
              <a:rPr lang="ko-KR" alt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요청 시 서버측 트랜잭션</a:t>
            </a:r>
            <a:endParaRPr sz="10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905256" y="2313432"/>
            <a:ext cx="1572768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05256" y="2313432"/>
            <a:ext cx="1572768" cy="45720"/>
          </a:xfrm>
          <a:prstGeom prst="rect">
            <a:avLst/>
          </a:prstGeom>
          <a:solidFill>
            <a:srgbClr val="6B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14984" y="2441448"/>
            <a:ext cx="135331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 비용 차감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" y="2642616"/>
            <a:ext cx="1353312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75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먼저 뺀다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78024" y="2670048"/>
            <a:ext cx="137160" cy="0"/>
          </a:xfrm>
          <a:prstGeom prst="line">
            <a:avLst/>
          </a:prstGeom>
          <a:ln w="12700">
            <a:solidFill>
              <a:srgbClr val="9AA5B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615184" y="2313432"/>
            <a:ext cx="1572768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615184" y="2313432"/>
            <a:ext cx="1572768" cy="45720"/>
          </a:xfrm>
          <a:prstGeom prst="rect">
            <a:avLst/>
          </a:prstGeom>
          <a:solidFill>
            <a:srgbClr val="6B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24912" y="2441448"/>
            <a:ext cx="135331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 </a:t>
            </a:r>
            <a:r>
              <a:rPr sz="9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천장</a:t>
            </a:r>
            <a:r>
              <a:rPr sz="9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</a:t>
            </a:r>
            <a:endParaRPr sz="9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724912" y="2642616"/>
            <a:ext cx="1353312" cy="2734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ko-KR" altLang="en-US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최고 등급 보상을 </a:t>
            </a:r>
            <a:r>
              <a:rPr lang="ko-KR" altLang="en-US" sz="7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못먹은지</a:t>
            </a:r>
            <a:br>
              <a:rPr lang="en-US" altLang="ko-KR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-KR" altLang="en-US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얼마나</a:t>
            </a:r>
            <a:r>
              <a:rPr lang="en-US" altLang="ko-KR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</a:t>
            </a:r>
            <a:r>
              <a:rPr lang="ko-KR" altLang="en-US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횟수</a:t>
            </a:r>
            <a:r>
              <a:rPr lang="en-US" altLang="ko-KR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) </a:t>
            </a:r>
            <a:r>
              <a:rPr lang="ko-KR" altLang="en-US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되었는가</a:t>
            </a:r>
            <a:r>
              <a:rPr lang="en-US" altLang="ko-KR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?</a:t>
            </a:r>
            <a:endParaRPr sz="7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0" name="Connector 19"/>
          <p:cNvCxnSpPr/>
          <p:nvPr/>
        </p:nvCxnSpPr>
        <p:spPr>
          <a:xfrm>
            <a:off x="4187952" y="2670048"/>
            <a:ext cx="137160" cy="0"/>
          </a:xfrm>
          <a:prstGeom prst="line">
            <a:avLst/>
          </a:prstGeom>
          <a:ln w="12700">
            <a:solidFill>
              <a:srgbClr val="9AA5B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325112" y="2313432"/>
            <a:ext cx="1572768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25112" y="2313432"/>
            <a:ext cx="1572768" cy="45720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434840" y="2441448"/>
            <a:ext cx="1353312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 </a:t>
            </a:r>
            <a:r>
              <a:rPr lang="ko-KR" altLang="en-US" sz="9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 진행</a:t>
            </a:r>
            <a:endParaRPr sz="9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434840" y="2642616"/>
            <a:ext cx="1353312" cy="2734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ko-KR" altLang="en-US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배너별 정해진 기획 확률대로</a:t>
            </a:r>
            <a:br>
              <a:rPr lang="en-US" altLang="ko-KR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-KR" altLang="en-US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 진행</a:t>
            </a:r>
            <a:endParaRPr sz="7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5897880" y="2670048"/>
            <a:ext cx="137160" cy="0"/>
          </a:xfrm>
          <a:prstGeom prst="line">
            <a:avLst/>
          </a:prstGeom>
          <a:ln w="12700">
            <a:solidFill>
              <a:srgbClr val="9AA5B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035040" y="2313432"/>
            <a:ext cx="1572768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035040" y="2313432"/>
            <a:ext cx="1572768" cy="45720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44768" y="2441448"/>
            <a:ext cx="135331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④ 10연 </a:t>
            </a:r>
            <a:r>
              <a:rPr sz="9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보장</a:t>
            </a:r>
            <a:endParaRPr sz="9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144768" y="2642616"/>
            <a:ext cx="1353312" cy="2551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en-US" altLang="ko-KR" sz="7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r>
              <a:rPr lang="ko-KR" altLang="en-US" sz="7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</a:t>
            </a:r>
            <a:r>
              <a:rPr lang="en-US" altLang="ko-KR" sz="7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</a:t>
            </a:r>
            <a:r>
              <a:rPr lang="ko-KR" altLang="en-US" sz="7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희귀</a:t>
            </a:r>
            <a:r>
              <a:rPr lang="ko-KR" altLang="en-US" sz="7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등급</a:t>
            </a:r>
            <a:r>
              <a:rPr lang="en-US" altLang="ko-KR" sz="7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) </a:t>
            </a:r>
            <a:r>
              <a:rPr lang="ko-KR" altLang="en-US" sz="7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아이템이</a:t>
            </a:r>
            <a:br>
              <a:rPr lang="en-US" altLang="ko-KR" sz="7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en-US" altLang="ko-KR" sz="7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r>
              <a:rPr lang="ko-KR" altLang="en-US" sz="7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연차 결과에 없다면 강제 포함</a:t>
            </a:r>
            <a:endParaRPr sz="70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30" name="Connector 29"/>
          <p:cNvCxnSpPr/>
          <p:nvPr/>
        </p:nvCxnSpPr>
        <p:spPr>
          <a:xfrm>
            <a:off x="7607808" y="2670048"/>
            <a:ext cx="137160" cy="0"/>
          </a:xfrm>
          <a:prstGeom prst="line">
            <a:avLst/>
          </a:prstGeom>
          <a:ln w="12700">
            <a:solidFill>
              <a:srgbClr val="9AA5B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7744968" y="2313432"/>
            <a:ext cx="1572768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744968" y="2313432"/>
            <a:ext cx="1572768" cy="45720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854696" y="2441448"/>
            <a:ext cx="1353312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⑤ </a:t>
            </a:r>
            <a:r>
              <a:rPr sz="9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가방에</a:t>
            </a:r>
            <a:r>
              <a:rPr sz="9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넣기</a:t>
            </a:r>
            <a:endParaRPr sz="9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854696" y="2642616"/>
            <a:ext cx="1353312" cy="2734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ko-KR" altLang="en-US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 결과를 </a:t>
            </a:r>
            <a:br>
              <a:rPr lang="en-US" altLang="ko-KR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-KR" altLang="en-US" sz="7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유저 인벤토리에 지급</a:t>
            </a:r>
            <a:endParaRPr sz="7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35" name="Connector 34"/>
          <p:cNvCxnSpPr/>
          <p:nvPr/>
        </p:nvCxnSpPr>
        <p:spPr>
          <a:xfrm>
            <a:off x="9317736" y="2670048"/>
            <a:ext cx="137160" cy="0"/>
          </a:xfrm>
          <a:prstGeom prst="line">
            <a:avLst/>
          </a:prstGeom>
          <a:ln w="12700">
            <a:solidFill>
              <a:srgbClr val="9AA5B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9454896" y="2313432"/>
            <a:ext cx="1572768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9454896" y="2313432"/>
            <a:ext cx="1572768" cy="45720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564624" y="2441448"/>
            <a:ext cx="1353312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⑥ </a:t>
            </a:r>
            <a:r>
              <a:rPr lang="ko-KR" altLang="en-US" sz="9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 기록 적재</a:t>
            </a:r>
            <a:endParaRPr sz="9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685800" y="4149912"/>
            <a:ext cx="2587752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85800" y="4149912"/>
            <a:ext cx="45720" cy="1508760"/>
          </a:xfrm>
          <a:prstGeom prst="rect">
            <a:avLst/>
          </a:prstGeom>
          <a:solidFill>
            <a:srgbClr val="6B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68680" y="4277928"/>
            <a:ext cx="2221992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alt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</a:t>
            </a:r>
            <a:r>
              <a:rPr lang="en-US" altLang="ko-KR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(</a:t>
            </a:r>
            <a:r>
              <a:rPr lang="ko-KR" alt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마스터</a:t>
            </a:r>
            <a:r>
              <a:rPr lang="en-US" altLang="ko-KR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)</a:t>
            </a:r>
            <a:r>
              <a:rPr lang="ko-KR" alt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데이터를 통해 배너마다 확률 계산을 달리한다</a:t>
            </a:r>
            <a:r>
              <a:rPr lang="en-US" altLang="ko-KR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10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868680" y="4625400"/>
            <a:ext cx="2221992" cy="10332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요청에는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1연·10연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구분만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담긴다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횟수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가격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보장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등급은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서버의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데이터에서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읽는다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클라이언트가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횟수를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말하면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값의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출처가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두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곳이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된다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419856" y="4149912"/>
            <a:ext cx="2587752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419856" y="4149912"/>
            <a:ext cx="45720" cy="1508760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602736" y="4277928"/>
            <a:ext cx="2221992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돈을</a:t>
            </a:r>
            <a:r>
              <a:rPr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</a:t>
            </a:r>
            <a:r>
              <a:rPr sz="1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보다</a:t>
            </a:r>
            <a:r>
              <a:rPr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먼저</a:t>
            </a:r>
            <a:r>
              <a:rPr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뺀다</a:t>
            </a:r>
            <a:endParaRPr sz="10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3602736" y="4515672"/>
            <a:ext cx="2221992" cy="10015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ko-KR" altLang="en-US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 로직을 돌리기 전에 유저 재화부터 확인하여</a:t>
            </a:r>
            <a:r>
              <a:rPr lang="en-US" altLang="ko-KR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재화가 부족한 경우 뽑기를 하지 않는다</a:t>
            </a:r>
            <a:r>
              <a:rPr lang="en-US" altLang="ko-KR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br>
              <a:rPr lang="en-US" altLang="ko-KR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br>
              <a:rPr lang="en-US" altLang="ko-KR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-KR" altLang="en-US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클라이언트에서도 </a:t>
            </a:r>
            <a:r>
              <a:rPr lang="en-US" altLang="ko-KR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r>
              <a:rPr lang="ko-KR" altLang="en-US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차적으로 막지만</a:t>
            </a:r>
            <a:r>
              <a:rPr lang="en-US" altLang="ko-KR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서버에서도 방어</a:t>
            </a:r>
            <a:r>
              <a:rPr lang="en-US" altLang="ko-KR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8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177992E0-0842-D9BB-FAA0-946349BE5E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9115" y="3693342"/>
            <a:ext cx="2718537" cy="242190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1" name="그림 60">
            <a:extLst>
              <a:ext uri="{FF2B5EF4-FFF2-40B4-BE49-F238E27FC236}">
                <a16:creationId xmlns:a16="http://schemas.microsoft.com/office/drawing/2014/main" id="{C339EB77-E955-57D4-794D-B9A5423115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7154" y="3484057"/>
            <a:ext cx="2516961" cy="222684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80DDA53B-4602-98AC-4C53-84CDBE1AEEC8}"/>
              </a:ext>
            </a:extLst>
          </p:cNvPr>
          <p:cNvSpPr txBox="1"/>
          <p:nvPr/>
        </p:nvSpPr>
        <p:spPr>
          <a:xfrm>
            <a:off x="9564624" y="2639161"/>
            <a:ext cx="1353312" cy="41216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lang="en-US" sz="5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player_gacha_</a:t>
            </a:r>
            <a:r>
              <a:rPr lang="en-US" sz="55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counter</a:t>
            </a:r>
            <a:r>
              <a:rPr lang="en-US" sz="5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: </a:t>
            </a:r>
            <a:r>
              <a:rPr lang="ko-KR" altLang="en-US" sz="5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뽑기별 </a:t>
            </a:r>
            <a:r>
              <a:rPr lang="ko-KR" altLang="en-US" sz="5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천장스택</a:t>
            </a:r>
            <a:br>
              <a:rPr lang="ko-KR" altLang="en-US" sz="5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en-US" altLang="ko-KR" sz="55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player_gacha_pull</a:t>
            </a:r>
            <a:r>
              <a:rPr lang="en-US" altLang="ko-KR" sz="5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: </a:t>
            </a:r>
            <a:r>
              <a:rPr lang="ko-KR" altLang="en-US" sz="5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뽑기별 요청 기록</a:t>
            </a:r>
          </a:p>
          <a:p>
            <a:pPr algn="ctr">
              <a:lnSpc>
                <a:spcPct val="125000"/>
              </a:lnSpc>
            </a:pPr>
            <a:r>
              <a:rPr lang="en-US" altLang="ko-KR" sz="5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player_gacha_pull_item</a:t>
            </a:r>
            <a:r>
              <a:rPr lang="en-US" altLang="ko-KR" sz="5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: </a:t>
            </a:r>
            <a:r>
              <a:rPr lang="ko-KR" altLang="en-US" sz="5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 결과 아이템</a:t>
            </a:r>
            <a:br>
              <a:rPr lang="ko-KR" altLang="en-US" sz="5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endParaRPr lang="ko-KR" altLang="en-US" sz="5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760FA172-2010-54DF-41A0-356A4AA3C878}"/>
              </a:ext>
            </a:extLst>
          </p:cNvPr>
          <p:cNvSpPr/>
          <p:nvPr/>
        </p:nvSpPr>
        <p:spPr>
          <a:xfrm>
            <a:off x="8129991" y="6229321"/>
            <a:ext cx="2156034" cy="21811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인게임</a:t>
            </a:r>
            <a:r>
              <a:rPr lang="ko-KR" altLang="en-US" dirty="0"/>
              <a:t> 뽑기 시스템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CONCURRENCY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5.  </a:t>
            </a:r>
            <a:r>
              <a:rPr sz="3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거래소</a:t>
            </a:r>
            <a:r>
              <a:rPr sz="3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3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구매</a:t>
            </a:r>
            <a:endParaRPr sz="30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7716" y="1499231"/>
            <a:ext cx="6583680" cy="3977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3748" y="1645535"/>
            <a:ext cx="607161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두 사람이 같은 매물을 동시에 눌렀을 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3748" y="1901567"/>
            <a:ext cx="1280160" cy="237744"/>
          </a:xfrm>
          <a:prstGeom prst="rect">
            <a:avLst/>
          </a:prstGeom>
          <a:solidFill>
            <a:srgbClr val="EEF2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53748" y="1947287"/>
            <a:ext cx="128016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구매자 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89256" y="2139311"/>
            <a:ext cx="9144" cy="3008376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362508" y="1901567"/>
            <a:ext cx="1280160" cy="237744"/>
          </a:xfrm>
          <a:prstGeom prst="rect">
            <a:avLst/>
          </a:prstGeom>
          <a:solidFill>
            <a:srgbClr val="EEF2F9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362508" y="1947287"/>
            <a:ext cx="128016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구매자 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98016" y="2139311"/>
            <a:ext cx="9144" cy="3008376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871268" y="1901567"/>
            <a:ext cx="12801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871268" y="1947287"/>
            <a:ext cx="128016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 서버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06776" y="2139311"/>
            <a:ext cx="9144" cy="3008376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380028" y="1901567"/>
            <a:ext cx="1280160" cy="237744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380028" y="1947287"/>
            <a:ext cx="1280160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MySQL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15536" y="2139311"/>
            <a:ext cx="9144" cy="3008376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3" name="Connector 22"/>
          <p:cNvCxnSpPr/>
          <p:nvPr/>
        </p:nvCxnSpPr>
        <p:spPr>
          <a:xfrm>
            <a:off x="1493828" y="2431919"/>
            <a:ext cx="3017520" cy="0"/>
          </a:xfrm>
          <a:prstGeom prst="line">
            <a:avLst/>
          </a:prstGeom>
          <a:ln w="12700">
            <a:solidFill>
              <a:srgbClr val="6B768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493828" y="2276471"/>
            <a:ext cx="301752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매물 살게요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002588" y="2733671"/>
            <a:ext cx="1508760" cy="0"/>
          </a:xfrm>
          <a:prstGeom prst="line">
            <a:avLst/>
          </a:prstGeom>
          <a:ln w="12700">
            <a:solidFill>
              <a:srgbClr val="6B768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002588" y="2578223"/>
            <a:ext cx="150876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(같은 순간) 이 매물 살게요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11348" y="3035423"/>
            <a:ext cx="1508760" cy="0"/>
          </a:xfrm>
          <a:prstGeom prst="line">
            <a:avLst/>
          </a:prstGeom>
          <a:ln w="12700">
            <a:solidFill>
              <a:srgbClr val="2F6FE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11348" y="2879975"/>
            <a:ext cx="150876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A — 아직 판매중일 때만 내 것으로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511348" y="3337175"/>
            <a:ext cx="1508760" cy="0"/>
          </a:xfrm>
          <a:prstGeom prst="line">
            <a:avLst/>
          </a:prstGeom>
          <a:ln w="12700">
            <a:solidFill>
              <a:srgbClr val="1B9E6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11348" y="3181727"/>
            <a:ext cx="150876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>
                <a:solidFill>
                  <a:srgbClr val="1B9E6F"/>
                </a:solidFill>
                <a:latin typeface="Malgun Gothic"/>
                <a:ea typeface="Malgun Gothic"/>
                <a:cs typeface="Malgun Gothic"/>
                <a:sym typeface="Malgun Gothic"/>
              </a:rPr>
              <a:t>1건 바뀜 → A가 차지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11348" y="3638927"/>
            <a:ext cx="1508760" cy="0"/>
          </a:xfrm>
          <a:prstGeom prst="line">
            <a:avLst/>
          </a:prstGeom>
          <a:ln w="12700">
            <a:solidFill>
              <a:srgbClr val="2F6FE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511348" y="3483479"/>
            <a:ext cx="150876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B — 같은 요청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4511348" y="3940679"/>
            <a:ext cx="1508760" cy="0"/>
          </a:xfrm>
          <a:prstGeom prst="line">
            <a:avLst/>
          </a:prstGeom>
          <a:ln w="12700">
            <a:solidFill>
              <a:srgbClr val="C0392B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511348" y="3785231"/>
            <a:ext cx="150876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0건 → 이미 팔렸다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3002588" y="4242431"/>
            <a:ext cx="1508760" cy="0"/>
          </a:xfrm>
          <a:prstGeom prst="line">
            <a:avLst/>
          </a:prstGeom>
          <a:ln w="12700">
            <a:solidFill>
              <a:srgbClr val="C0392B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002588" y="4086983"/>
            <a:ext cx="1508760" cy="1154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 dirty="0" err="1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실패</a:t>
            </a:r>
            <a:r>
              <a:rPr sz="750" b="0" dirty="0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</a:t>
            </a:r>
            <a:r>
              <a:rPr lang="en-US" sz="750" b="0" dirty="0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750" b="0" dirty="0">
                <a:solidFill>
                  <a:srgbClr val="C0392B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이미 판매 완료된 상품</a:t>
            </a:r>
            <a:endParaRPr sz="750" b="0" dirty="0">
              <a:solidFill>
                <a:srgbClr val="C0392B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37" name="Connector 36"/>
          <p:cNvCxnSpPr/>
          <p:nvPr/>
        </p:nvCxnSpPr>
        <p:spPr>
          <a:xfrm>
            <a:off x="4511348" y="4544183"/>
            <a:ext cx="1508760" cy="0"/>
          </a:xfrm>
          <a:prstGeom prst="line">
            <a:avLst/>
          </a:prstGeom>
          <a:ln w="12700">
            <a:solidFill>
              <a:srgbClr val="2F6FE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4511348" y="4388735"/>
            <a:ext cx="150876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A — 골드 차감 · 우편함으로 지급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1493828" y="4845935"/>
            <a:ext cx="3017520" cy="0"/>
          </a:xfrm>
          <a:prstGeom prst="line">
            <a:avLst/>
          </a:prstGeom>
          <a:ln w="12700">
            <a:solidFill>
              <a:srgbClr val="1B9E6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1493828" y="4690487"/>
            <a:ext cx="3017520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0">
                <a:solidFill>
                  <a:srgbClr val="1B9E6F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성공 { 산 아이템은 우편함에 }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64276" y="1499231"/>
            <a:ext cx="40233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7364276" y="1499231"/>
            <a:ext cx="45720" cy="932688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547156" y="1627247"/>
            <a:ext cx="36576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Status </a:t>
            </a:r>
            <a:r>
              <a:rPr lang="ko-KR" alt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값을 검사하여 </a:t>
            </a:r>
            <a:r>
              <a:rPr lang="en-US" altLang="ko-KR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</a:t>
            </a:r>
            <a:r>
              <a:rPr lang="ko-KR" alt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거래가능</a:t>
            </a:r>
            <a:r>
              <a:rPr lang="en-US" altLang="ko-KR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’ </a:t>
            </a:r>
            <a:r>
              <a:rPr lang="ko-KR" alt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 품목만 구매 트랜잭션 진행</a:t>
            </a:r>
            <a:endParaRPr sz="10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7547156" y="1864991"/>
            <a:ext cx="3657600" cy="3213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ko-KR" altLang="en-US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트랜잭션 진입 시 해당 매물의 </a:t>
            </a:r>
            <a:r>
              <a:rPr lang="en-US" altLang="ko-KR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status </a:t>
            </a:r>
            <a:r>
              <a:rPr lang="ko-KR" altLang="en-US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값을 </a:t>
            </a:r>
            <a:r>
              <a:rPr lang="en-US" altLang="ko-KR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‘</a:t>
            </a:r>
            <a:r>
              <a:rPr lang="ko-KR" altLang="en-US" sz="85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거래중</a:t>
            </a:r>
            <a:r>
              <a:rPr lang="en-US" altLang="ko-KR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’ </a:t>
            </a:r>
            <a:r>
              <a:rPr lang="ko-KR" altLang="en-US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상태로 </a:t>
            </a:r>
            <a:r>
              <a:rPr lang="ko-KR" altLang="en-US" sz="85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바꿈으로서</a:t>
            </a:r>
            <a:r>
              <a:rPr lang="ko-KR" altLang="en-US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다른 트랜잭션이 구매를 진행하지 못하도록 막는다</a:t>
            </a:r>
            <a:r>
              <a:rPr lang="en-US" altLang="ko-KR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8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7364276" y="2536836"/>
            <a:ext cx="4023360" cy="9326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7364276" y="2536836"/>
            <a:ext cx="45720" cy="932688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547156" y="2664852"/>
            <a:ext cx="365760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산 </a:t>
            </a:r>
            <a:r>
              <a:rPr sz="1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아이템은</a:t>
            </a:r>
            <a:r>
              <a:rPr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가방이</a:t>
            </a:r>
            <a:r>
              <a:rPr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아니라</a:t>
            </a:r>
            <a:r>
              <a:rPr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0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우편함</a:t>
            </a:r>
            <a:r>
              <a:rPr lang="ko-KR" altLang="en-US" sz="1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으로 지급</a:t>
            </a:r>
            <a:endParaRPr sz="10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7547156" y="2902596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가방이 가득해도 거래는 성립한다. 자리 문제는 우편을 받을 때 따진다.</a:t>
            </a:r>
          </a:p>
        </p:txBody>
      </p:sp>
      <p:pic>
        <p:nvPicPr>
          <p:cNvPr id="63" name="그림 62">
            <a:extLst>
              <a:ext uri="{FF2B5EF4-FFF2-40B4-BE49-F238E27FC236}">
                <a16:creationId xmlns:a16="http://schemas.microsoft.com/office/drawing/2014/main" id="{12ECB7BF-F60D-77D9-F0FC-39EBB74CCF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6904" y="3785231"/>
            <a:ext cx="2001156" cy="231288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9153" name="그림 9152">
            <a:extLst>
              <a:ext uri="{FF2B5EF4-FFF2-40B4-BE49-F238E27FC236}">
                <a16:creationId xmlns:a16="http://schemas.microsoft.com/office/drawing/2014/main" id="{43D82067-7DFB-9DEF-57CE-3595867AD0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5062" y="3592260"/>
            <a:ext cx="1599694" cy="185227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9155" name="직사각형 9154">
            <a:extLst>
              <a:ext uri="{FF2B5EF4-FFF2-40B4-BE49-F238E27FC236}">
                <a16:creationId xmlns:a16="http://schemas.microsoft.com/office/drawing/2014/main" id="{46D1508F-0AF0-7313-1409-967E717FE6A1}"/>
              </a:ext>
            </a:extLst>
          </p:cNvPr>
          <p:cNvSpPr/>
          <p:nvPr/>
        </p:nvSpPr>
        <p:spPr>
          <a:xfrm>
            <a:off x="8740043" y="6150884"/>
            <a:ext cx="2156034" cy="21811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인게임</a:t>
            </a:r>
            <a:r>
              <a:rPr lang="ko-KR" altLang="en-US" dirty="0"/>
              <a:t> 거래소 시스템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9" name="Google Shape;489;p1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10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BATCH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1" name="Google Shape;491;p10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0"/>
          <p:cNvSpPr txBox="1"/>
          <p:nvPr/>
        </p:nvSpPr>
        <p:spPr>
          <a:xfrm>
            <a:off x="685800" y="914400"/>
            <a:ext cx="10881360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6. 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배치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</a:t>
            </a:r>
            <a:r>
              <a:rPr lang="en-US" sz="3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– </a:t>
            </a:r>
            <a:r>
              <a:rPr lang="ko-KR" altLang="en-US" sz="30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스케줄링 작업 담당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3" name="Google Shape;493;p10"/>
          <p:cNvSpPr/>
          <p:nvPr/>
        </p:nvSpPr>
        <p:spPr>
          <a:xfrm>
            <a:off x="685800" y="1710060"/>
            <a:ext cx="5266944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0"/>
          <p:cNvSpPr/>
          <p:nvPr/>
        </p:nvSpPr>
        <p:spPr>
          <a:xfrm>
            <a:off x="886968" y="1892940"/>
            <a:ext cx="411480" cy="36576"/>
          </a:xfrm>
          <a:prstGeom prst="rect">
            <a:avLst/>
          </a:prstGeom>
          <a:solidFill>
            <a:srgbClr val="2F6FE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0"/>
          <p:cNvSpPr txBox="1"/>
          <p:nvPr/>
        </p:nvSpPr>
        <p:spPr>
          <a:xfrm>
            <a:off x="886968" y="2020955"/>
            <a:ext cx="4864608" cy="192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무엇을</a:t>
            </a:r>
            <a:r>
              <a:rPr lang="en-US" sz="12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하나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"/>
          <p:cNvSpPr txBox="1"/>
          <p:nvPr/>
        </p:nvSpPr>
        <p:spPr>
          <a:xfrm>
            <a:off x="886968" y="2368427"/>
            <a:ext cx="4864608" cy="19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거래소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만료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메일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정리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보스러시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시즌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정산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7" name="Google Shape;497;p10"/>
          <p:cNvSpPr/>
          <p:nvPr/>
        </p:nvSpPr>
        <p:spPr>
          <a:xfrm>
            <a:off x="886968" y="3136524"/>
            <a:ext cx="4864608" cy="9144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0"/>
          <p:cNvSpPr txBox="1"/>
          <p:nvPr/>
        </p:nvSpPr>
        <p:spPr>
          <a:xfrm>
            <a:off x="886968" y="3227964"/>
            <a:ext cx="4864608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lang="en-US" sz="8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요청과 무관하게, 정해진 시각이 되면 서버가 스스로 한다.</a:t>
            </a:r>
            <a:endParaRPr sz="8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9" name="Google Shape;499;p10"/>
          <p:cNvSpPr/>
          <p:nvPr/>
        </p:nvSpPr>
        <p:spPr>
          <a:xfrm>
            <a:off x="6239258" y="1710060"/>
            <a:ext cx="5266944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0"/>
          <p:cNvSpPr/>
          <p:nvPr/>
        </p:nvSpPr>
        <p:spPr>
          <a:xfrm>
            <a:off x="6440426" y="1892940"/>
            <a:ext cx="411480" cy="3657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0"/>
          <p:cNvSpPr txBox="1"/>
          <p:nvPr/>
        </p:nvSpPr>
        <p:spPr>
          <a:xfrm>
            <a:off x="6440426" y="2020956"/>
            <a:ext cx="4864608" cy="192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언제</a:t>
            </a:r>
            <a:r>
              <a:rPr lang="en-US" sz="12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도는가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"/>
          <p:cNvSpPr txBox="1"/>
          <p:nvPr/>
        </p:nvSpPr>
        <p:spPr>
          <a:xfrm>
            <a:off x="6440426" y="2368428"/>
            <a:ext cx="4864608" cy="380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매시 00분(거래소 · 메일 · 시간별) · 5분마다(동접) · 매일 05시(일별) · 시즌 종료 시각(정산)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"/>
          <p:cNvSpPr/>
          <p:nvPr/>
        </p:nvSpPr>
        <p:spPr>
          <a:xfrm>
            <a:off x="6440426" y="3136523"/>
            <a:ext cx="4864608" cy="9144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10"/>
          <p:cNvSpPr/>
          <p:nvPr/>
        </p:nvSpPr>
        <p:spPr>
          <a:xfrm>
            <a:off x="685800" y="3964295"/>
            <a:ext cx="10820402" cy="19203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0"/>
          <p:cNvSpPr/>
          <p:nvPr/>
        </p:nvSpPr>
        <p:spPr>
          <a:xfrm>
            <a:off x="886993" y="4154325"/>
            <a:ext cx="411600" cy="36600"/>
          </a:xfrm>
          <a:prstGeom prst="rect">
            <a:avLst/>
          </a:prstGeom>
          <a:solidFill>
            <a:srgbClr val="0E8AA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10"/>
          <p:cNvSpPr txBox="1"/>
          <p:nvPr/>
        </p:nvSpPr>
        <p:spPr>
          <a:xfrm>
            <a:off x="886968" y="4275191"/>
            <a:ext cx="4864608" cy="192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왜 </a:t>
            </a:r>
            <a:r>
              <a:rPr lang="en-US" sz="12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</a:t>
            </a:r>
            <a:r>
              <a:rPr lang="en-US" sz="12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서버에서</a:t>
            </a:r>
            <a:r>
              <a:rPr lang="en-US" sz="12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떼어냈나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4" name="Google Shape;514;p10"/>
          <p:cNvSpPr txBox="1"/>
          <p:nvPr/>
        </p:nvSpPr>
        <p:spPr>
          <a:xfrm>
            <a:off x="886968" y="4622663"/>
            <a:ext cx="10169722" cy="3801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</a:t>
            </a:r>
            <a:r>
              <a:rPr lang="en-US" sz="950" b="0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API</a:t>
            </a:r>
            <a:r>
              <a:rPr lang="en-US" sz="950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950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서버는 </a:t>
            </a:r>
            <a:r>
              <a:rPr lang="en-US" altLang="ko-KR" sz="950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scale-out </a:t>
            </a:r>
            <a:r>
              <a:rPr lang="ko-KR" altLang="en-US" sz="950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하여 여러 대를 띄우기 때문에 스케줄링에 </a:t>
            </a:r>
            <a:r>
              <a:rPr lang="ko-KR" altLang="en-US" sz="950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비적합</a:t>
            </a:r>
            <a:r>
              <a:rPr lang="en-US" altLang="ko-KR" sz="950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+ </a:t>
            </a:r>
            <a:r>
              <a:rPr lang="ko-KR" altLang="en-US" sz="950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스케줄링 연산에 대한 리소스가 게임 서비스에 영향을 미칠 가능성 고려</a:t>
            </a:r>
            <a:r>
              <a:rPr lang="en-US" altLang="ko-KR" sz="950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br>
              <a:rPr lang="en-US" altLang="ko-KR" sz="950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-KR" altLang="en-US" sz="950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별도 스케줄링 작업만 담당하는 서버가 필요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5" name="Google Shape;515;p10"/>
          <p:cNvSpPr/>
          <p:nvPr/>
        </p:nvSpPr>
        <p:spPr>
          <a:xfrm>
            <a:off x="886968" y="5390757"/>
            <a:ext cx="10522060" cy="45719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" name="Google Shape;610;p1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LOOP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1" name="Google Shape;611;p12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12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7.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개발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시 각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단계에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대해</a:t>
            </a:r>
            <a:endParaRPr sz="3000" b="1" i="0" u="none" strike="noStrike" cap="none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13" name="Google Shape;613;p12"/>
          <p:cNvSpPr txBox="1"/>
          <p:nvPr/>
        </p:nvSpPr>
        <p:spPr>
          <a:xfrm>
            <a:off x="685800" y="1536192"/>
            <a:ext cx="10881360" cy="26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ko-KR" alt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아래와 같은 과정을 돌며 서버 개발을 진행</a:t>
            </a:r>
            <a:endParaRPr sz="140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14" name="Google Shape;614;p12"/>
          <p:cNvSpPr/>
          <p:nvPr/>
        </p:nvSpPr>
        <p:spPr>
          <a:xfrm>
            <a:off x="685800" y="214884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2"/>
          <p:cNvSpPr txBox="1"/>
          <p:nvPr/>
        </p:nvSpPr>
        <p:spPr>
          <a:xfrm>
            <a:off x="905256" y="2331720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6" name="Google Shape;616;p12"/>
          <p:cNvSpPr txBox="1"/>
          <p:nvPr/>
        </p:nvSpPr>
        <p:spPr>
          <a:xfrm>
            <a:off x="905256" y="2624328"/>
            <a:ext cx="3017520" cy="2885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</a:t>
            </a:r>
            <a:r>
              <a:rPr lang="ko-KR" altLang="en-US" sz="15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</a:t>
            </a:r>
            <a:r>
              <a:rPr lang="en-US" sz="15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5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요청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7" name="Google Shape;617;p12"/>
          <p:cNvSpPr txBox="1"/>
          <p:nvPr/>
        </p:nvSpPr>
        <p:spPr>
          <a:xfrm>
            <a:off x="905256" y="3017520"/>
            <a:ext cx="3017520" cy="473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design-doc 스킬을 활용,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기능 구현을 위한 문서를 상세히 작성</a:t>
            </a:r>
            <a:endParaRPr sz="11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18" name="Google Shape;618;p12"/>
          <p:cNvSpPr/>
          <p:nvPr/>
        </p:nvSpPr>
        <p:spPr>
          <a:xfrm>
            <a:off x="4370832" y="214884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2"/>
          <p:cNvSpPr txBox="1"/>
          <p:nvPr/>
        </p:nvSpPr>
        <p:spPr>
          <a:xfrm>
            <a:off x="4590288" y="2331720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0" name="Google Shape;620;p12"/>
          <p:cNvSpPr txBox="1"/>
          <p:nvPr/>
        </p:nvSpPr>
        <p:spPr>
          <a:xfrm>
            <a:off x="4590288" y="2624328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검토 · 확정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1" name="Google Shape;621;p12"/>
          <p:cNvSpPr txBox="1"/>
          <p:nvPr/>
        </p:nvSpPr>
        <p:spPr>
          <a:xfrm>
            <a:off x="4590288" y="3017520"/>
            <a:ext cx="3017520" cy="1010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기획서에서 결정되지 않은 이슈를</a:t>
            </a:r>
            <a:endParaRPr sz="11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별도 항목으로 남겨, 구현을 위해</a:t>
            </a:r>
            <a:endParaRPr sz="11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확정해야할 사항들을 재검토</a:t>
            </a:r>
            <a:endParaRPr sz="11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endParaRPr sz="11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22" name="Google Shape;622;p12"/>
          <p:cNvSpPr/>
          <p:nvPr/>
        </p:nvSpPr>
        <p:spPr>
          <a:xfrm>
            <a:off x="8055864" y="214884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12"/>
          <p:cNvSpPr txBox="1"/>
          <p:nvPr/>
        </p:nvSpPr>
        <p:spPr>
          <a:xfrm>
            <a:off x="8275320" y="2331720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4" name="Google Shape;624;p12"/>
          <p:cNvSpPr txBox="1"/>
          <p:nvPr/>
        </p:nvSpPr>
        <p:spPr>
          <a:xfrm>
            <a:off x="8275320" y="2624328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문서대로 구현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5" name="Google Shape;625;p12"/>
          <p:cNvSpPr txBox="1"/>
          <p:nvPr/>
        </p:nvSpPr>
        <p:spPr>
          <a:xfrm>
            <a:off x="8275320" y="3017520"/>
            <a:ext cx="3017520" cy="473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"기획서 5.2를 구현해줘"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=&gt; 기획서 확정 후, 그대로 구현을 진행</a:t>
            </a:r>
            <a:endParaRPr sz="11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26" name="Google Shape;626;p12"/>
          <p:cNvSpPr/>
          <p:nvPr/>
        </p:nvSpPr>
        <p:spPr>
          <a:xfrm>
            <a:off x="685800" y="425196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" name="Google Shape;627;p12"/>
          <p:cNvSpPr txBox="1"/>
          <p:nvPr/>
        </p:nvSpPr>
        <p:spPr>
          <a:xfrm>
            <a:off x="905256" y="4434840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④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8" name="Google Shape;628;p12"/>
          <p:cNvSpPr txBox="1"/>
          <p:nvPr/>
        </p:nvSpPr>
        <p:spPr>
          <a:xfrm>
            <a:off x="905256" y="4727448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빌드 + 실서버 검증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9" name="Google Shape;629;p12"/>
          <p:cNvSpPr txBox="1"/>
          <p:nvPr/>
        </p:nvSpPr>
        <p:spPr>
          <a:xfrm>
            <a:off x="905256" y="5120640"/>
            <a:ext cx="3017520" cy="434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빌드 후 서버를 띄우고 API를 호출,</a:t>
            </a:r>
            <a:b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정상동작까지 확인</a:t>
            </a:r>
            <a:endParaRPr sz="11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30" name="Google Shape;630;p12"/>
          <p:cNvSpPr/>
          <p:nvPr/>
        </p:nvSpPr>
        <p:spPr>
          <a:xfrm>
            <a:off x="4370832" y="425196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12"/>
          <p:cNvSpPr txBox="1"/>
          <p:nvPr/>
        </p:nvSpPr>
        <p:spPr>
          <a:xfrm>
            <a:off x="4590288" y="4434840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2" name="Google Shape;632;p12"/>
          <p:cNvSpPr txBox="1"/>
          <p:nvPr/>
        </p:nvSpPr>
        <p:spPr>
          <a:xfrm>
            <a:off x="4590288" y="4727448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 동기화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3" name="Google Shape;633;p12"/>
          <p:cNvSpPr txBox="1"/>
          <p:nvPr/>
        </p:nvSpPr>
        <p:spPr>
          <a:xfrm>
            <a:off x="4590288" y="5120640"/>
            <a:ext cx="3017520" cy="4732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변경 사항에 대해 관련이 있는 문서는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정합성을 확인하여 동기화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4" name="Google Shape;634;p12"/>
          <p:cNvSpPr/>
          <p:nvPr/>
        </p:nvSpPr>
        <p:spPr>
          <a:xfrm>
            <a:off x="8055864" y="4251960"/>
            <a:ext cx="342900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12"/>
          <p:cNvSpPr txBox="1"/>
          <p:nvPr/>
        </p:nvSpPr>
        <p:spPr>
          <a:xfrm>
            <a:off x="8275320" y="4434840"/>
            <a:ext cx="30632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⑥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6" name="Google Shape;636;p12"/>
          <p:cNvSpPr txBox="1"/>
          <p:nvPr/>
        </p:nvSpPr>
        <p:spPr>
          <a:xfrm>
            <a:off x="8275320" y="4727448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현황판 갱신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7" name="Google Shape;637;p12"/>
          <p:cNvSpPr txBox="1"/>
          <p:nvPr/>
        </p:nvSpPr>
        <p:spPr>
          <a:xfrm>
            <a:off x="8275320" y="5120640"/>
            <a:ext cx="3017520" cy="204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README 체크리스트 최신화</a:t>
            </a:r>
            <a:endParaRPr sz="11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38" name="Google Shape;638;p1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39" name="Google Shape;639;p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1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1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LOOP 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6" name="Google Shape;646;p1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" name="Google Shape;647;p13"/>
          <p:cNvSpPr txBox="1"/>
          <p:nvPr/>
        </p:nvSpPr>
        <p:spPr>
          <a:xfrm>
            <a:off x="685800" y="914400"/>
            <a:ext cx="10881360" cy="57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7.1  ①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기획서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요청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8" name="Google Shape;648;p13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docs/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/&lt;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기능명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&gt;-기획서.md — design-doc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문서작성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커스텀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스킬</a:t>
            </a:r>
            <a:endParaRPr sz="140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49" name="Google Shape;649;p13"/>
          <p:cNvSpPr/>
          <p:nvPr/>
        </p:nvSpPr>
        <p:spPr>
          <a:xfrm>
            <a:off x="685800" y="2103120"/>
            <a:ext cx="10789920" cy="91440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</p:spPr>
        <p:txBody>
          <a:bodyPr spcFirstLastPara="1" wrap="square" lIns="274300" tIns="45700" rIns="182875" bIns="45700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고정 목차 :  개요 · 기능 설명 · 요구사항 · 데이터 모델 · API 명세 · 처리 흐름 · 에러 코드 · 미결 사항 · 참고</a:t>
            </a:r>
            <a:endParaRPr sz="1400" b="0" i="0" u="none" strike="noStrike" cap="none">
              <a:solidFill>
                <a:srgbClr val="E6ECF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0" name="Google Shape;650;p13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51" name="Google Shape;651;p1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653" name="Google Shape;653;p13"/>
          <p:cNvSpPr/>
          <p:nvPr/>
        </p:nvSpPr>
        <p:spPr>
          <a:xfrm>
            <a:off x="685800" y="3360421"/>
            <a:ext cx="509778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"그때 이걸 왜 이렇게 구현했지?"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4" name="Google Shape;654;p13"/>
          <p:cNvSpPr txBox="1"/>
          <p:nvPr/>
        </p:nvSpPr>
        <p:spPr>
          <a:xfrm>
            <a:off x="5783580" y="3589021"/>
            <a:ext cx="5943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lang="en-US" sz="20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5" name="Google Shape;655;p13"/>
          <p:cNvSpPr/>
          <p:nvPr/>
        </p:nvSpPr>
        <p:spPr>
          <a:xfrm>
            <a:off x="6377940" y="3360421"/>
            <a:ext cx="5097780" cy="822960"/>
          </a:xfrm>
          <a:prstGeom prst="roundRect">
            <a:avLst>
              <a:gd name="adj" fmla="val 6000"/>
            </a:avLst>
          </a:prstGeom>
          <a:solidFill>
            <a:srgbClr val="12203A"/>
          </a:solidFill>
          <a:ln>
            <a:noFill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문서를 확인한다.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6" name="Google Shape;656;p13"/>
          <p:cNvSpPr/>
          <p:nvPr/>
        </p:nvSpPr>
        <p:spPr>
          <a:xfrm>
            <a:off x="685800" y="4457700"/>
            <a:ext cx="10789920" cy="1485899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</p:spPr>
        <p:txBody>
          <a:bodyPr spcFirstLastPara="1" wrap="square" lIns="411475" tIns="137150" rIns="411475" bIns="13715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Ex)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소모품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(</a:t>
            </a:r>
            <a:r>
              <a:rPr lang="ko-KR" altLang="en-US" sz="1050" b="1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경험치</a:t>
            </a:r>
            <a:r>
              <a:rPr lang="en-US" altLang="ko-KR" sz="1050" b="1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050" b="1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골드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부스터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)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기획서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altLang="ko-KR" sz="13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"</a:t>
            </a:r>
            <a:r>
              <a:rPr lang="ko-KR" altLang="en-US" sz="13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부스터 </a:t>
            </a:r>
            <a:r>
              <a:rPr lang="en-US" sz="13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버프는</a:t>
            </a:r>
            <a:r>
              <a:rPr lang="en-US" sz="13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3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스테이지</a:t>
            </a:r>
            <a:r>
              <a:rPr lang="en-US" sz="13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3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클리어</a:t>
            </a:r>
            <a:r>
              <a:rPr lang="en-US" sz="13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3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보상에만</a:t>
            </a:r>
            <a:r>
              <a:rPr lang="en-US" sz="13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3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적용된다</a:t>
            </a:r>
            <a:r>
              <a:rPr lang="en-US" sz="13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"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근거</a:t>
            </a:r>
            <a:r>
              <a:rPr lang="en-US" sz="10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: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부스터는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접속해서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직접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스테이지를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도는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플레이를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보상하는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소모품이고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오프라인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보상</a:t>
            </a:r>
            <a:r>
              <a:rPr lang="ko-KR" alt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이나 랭킹 상위권 보상 등은 항상 기획 데이터에 일치하는 보상만을 지급하는 것이 기획상 의도된 것이기 때문이다</a:t>
            </a:r>
            <a:r>
              <a:rPr lang="en-US" altLang="ko-KR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LOOP ②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7.2  ② 검토 · 확정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8813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초안을 그대로 구현하지 않는다 — 결정되지 않은 것을 골라 확정한 뒤에 코드를 시작한다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874520"/>
            <a:ext cx="1078992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05840" y="2331720"/>
            <a:ext cx="288036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005840" y="2331720"/>
            <a:ext cx="54864" cy="868680"/>
          </a:xfrm>
          <a:prstGeom prst="rect">
            <a:avLst/>
          </a:prstGeom>
          <a:solidFill>
            <a:srgbClr val="9AA5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70432" y="2450592"/>
            <a:ext cx="255117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기획서 초안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679192"/>
            <a:ext cx="2551176" cy="3213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고정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목차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맨 뒤 「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미결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사항」에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8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결정이 필요한 내용들을 명시한다</a:t>
            </a:r>
            <a:endParaRPr sz="8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526280" y="2331720"/>
            <a:ext cx="288036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26280" y="2331720"/>
            <a:ext cx="54864" cy="868680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690872" y="2450592"/>
            <a:ext cx="255117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2679192"/>
            <a:ext cx="2551176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그중 구현을 막는 것만 골라낸다 — “이건 지금 정해야 하나?”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2440" y="2084832"/>
            <a:ext cx="30175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2440" y="2084832"/>
            <a:ext cx="54864" cy="658368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57032" y="2203704"/>
            <a:ext cx="268833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432304"/>
            <a:ext cx="2688336" cy="1424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문서에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“(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확정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)”과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그렇게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정한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8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근거를 명시한다</a:t>
            </a:r>
            <a:endParaRPr sz="80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8092440" y="2862072"/>
            <a:ext cx="30175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092440" y="2862072"/>
            <a:ext cx="54864" cy="658368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57032" y="2980944"/>
            <a:ext cx="268833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7032" y="3209544"/>
            <a:ext cx="2688336" cy="1424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미결로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남기</a:t>
            </a:r>
            <a:r>
              <a:rPr lang="ko-KR" altLang="en-US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</a:t>
            </a:r>
            <a:r>
              <a:rPr lang="en-US" altLang="ko-KR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추후에 결정한다</a:t>
            </a:r>
            <a:endParaRPr sz="80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3886200" y="2761488"/>
            <a:ext cx="640080" cy="0"/>
          </a:xfrm>
          <a:prstGeom prst="line">
            <a:avLst/>
          </a:prstGeom>
          <a:ln w="12700">
            <a:solidFill>
              <a:srgbClr val="9AA5B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7406640" y="2414016"/>
            <a:ext cx="685800" cy="347472"/>
          </a:xfrm>
          <a:prstGeom prst="line">
            <a:avLst/>
          </a:prstGeom>
          <a:ln w="12700">
            <a:solidFill>
              <a:srgbClr val="9AA5B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7406640" y="2761488"/>
            <a:ext cx="685800" cy="429768"/>
          </a:xfrm>
          <a:prstGeom prst="line">
            <a:avLst/>
          </a:prstGeom>
          <a:ln w="12700">
            <a:solidFill>
              <a:srgbClr val="9AA5B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05840" y="3383280"/>
            <a:ext cx="64008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기획서 목차에 「미결 사항」 절을 고정해 둔 이유가 이 단계다 — 애매한 것이 문서에 남아 있게 한다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" y="3977640"/>
            <a:ext cx="53035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86968" y="4160520"/>
            <a:ext cx="411480" cy="36576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86968" y="4270248"/>
            <a:ext cx="490118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확정한 예 — 소모품(부스터) 획득 경로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" y="4599432"/>
            <a:ext cx="4901184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“가챠로 지급한다(확정)”  ·  “스테이지 전리품 드롭으로는 지급하지 않는다(확정)”</a:t>
            </a:r>
          </a:p>
          <a:p>
            <a:pPr algn="l">
              <a:lnSpc>
                <a:spcPct val="140000"/>
              </a:lnSpc>
            </a:pPr>
            <a:r>
              <a:rPr sz="85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확정했으니 구현은 가챠 풀에 소모품 코드를 넣는 것으로 끝났다</a:t>
            </a:r>
          </a:p>
          <a:p>
            <a:pPr algn="l">
              <a:lnSpc>
                <a:spcPct val="140000"/>
              </a:lnSpc>
            </a:pPr>
            <a:r>
              <a:rPr sz="85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정하지 않고 넘겼다면 드롭 테이블까지 손대는 작업이 됐을 것이다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3977640"/>
            <a:ext cx="53035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373368" y="4160520"/>
            <a:ext cx="411480" cy="36576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73368" y="4270248"/>
            <a:ext cx="490118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보류한 예 — 부스터 중첩 규칙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599432"/>
            <a:ext cx="4901184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지금은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버프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종류당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소모품이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1종이라 “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누적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연장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+ 값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덮어쓰기”로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충분하다</a:t>
            </a:r>
            <a:endParaRPr sz="8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algn="l">
              <a:lnSpc>
                <a:spcPct val="140000"/>
              </a:lnSpc>
            </a:pP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배율이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다른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상 ·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하위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부스터가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생기면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정책을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다시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정해야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한다</a:t>
            </a:r>
            <a:endParaRPr sz="8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algn="l">
              <a:lnSpc>
                <a:spcPct val="140000"/>
              </a:lnSpc>
            </a:pP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그래서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“2종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이상이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될 때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정한다”를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조건으로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적고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넘어갔다</a:t>
            </a:r>
            <a:endParaRPr sz="8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85800" y="5715000"/>
            <a:ext cx="1078992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확정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전에는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구현을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시작하지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않는다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애매한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채로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시키면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AI가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임의로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정하고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, 그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결정이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문서가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아니라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코드에만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b="1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남는다</a:t>
            </a:r>
            <a:r>
              <a:rPr b="1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" name="Google Shape;663;p14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LOOP ③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14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7.3  ③ 문서대로 구현을 요청한다</a:t>
            </a:r>
            <a:endParaRPr sz="30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66" name="Google Shape;666;p14"/>
          <p:cNvSpPr txBox="1"/>
          <p:nvPr/>
        </p:nvSpPr>
        <p:spPr>
          <a:xfrm>
            <a:off x="685800" y="1536192"/>
            <a:ext cx="6566483" cy="241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 문서와 별개로 코드 작성시 지켜야할 공통 규칙은 CLAUDE.md 에 명시한다.</a:t>
            </a:r>
            <a:endParaRPr sz="140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67" name="Google Shape;667;p14"/>
          <p:cNvSpPr/>
          <p:nvPr/>
        </p:nvSpPr>
        <p:spPr>
          <a:xfrm>
            <a:off x="685800" y="2194560"/>
            <a:ext cx="1078992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14"/>
          <p:cNvSpPr/>
          <p:nvPr/>
        </p:nvSpPr>
        <p:spPr>
          <a:xfrm>
            <a:off x="914400" y="2414016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" name="Google Shape;669;p14"/>
          <p:cNvSpPr txBox="1"/>
          <p:nvPr/>
        </p:nvSpPr>
        <p:spPr>
          <a:xfrm>
            <a:off x="1325880" y="2368296"/>
            <a:ext cx="99669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컨트롤러에는 HTTP 액션 메서드만 두고, 공통 보조는 GameApiControllerBase에 상속으로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0" name="Google Shape;670;p14"/>
          <p:cNvSpPr/>
          <p:nvPr/>
        </p:nvSpPr>
        <p:spPr>
          <a:xfrm>
            <a:off x="685800" y="2999232"/>
            <a:ext cx="1078992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" name="Google Shape;671;p14"/>
          <p:cNvSpPr/>
          <p:nvPr/>
        </p:nvSpPr>
        <p:spPr>
          <a:xfrm>
            <a:off x="914400" y="3218688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14"/>
          <p:cNvSpPr txBox="1"/>
          <p:nvPr/>
        </p:nvSpPr>
        <p:spPr>
          <a:xfrm>
            <a:off x="1325880" y="3172968"/>
            <a:ext cx="99669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서비스 클래스의 모든 메서드에 /// &lt;summary&gt; 주석 필수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3" name="Google Shape;673;p14"/>
          <p:cNvSpPr/>
          <p:nvPr/>
        </p:nvSpPr>
        <p:spPr>
          <a:xfrm>
            <a:off x="685800" y="3803904"/>
            <a:ext cx="1078992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" name="Google Shape;674;p14"/>
          <p:cNvSpPr/>
          <p:nvPr/>
        </p:nvSpPr>
        <p:spPr>
          <a:xfrm>
            <a:off x="914400" y="4023360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" name="Google Shape;675;p14"/>
          <p:cNvSpPr txBox="1"/>
          <p:nvPr/>
        </p:nvSpPr>
        <p:spPr>
          <a:xfrm>
            <a:off x="1325880" y="3977640"/>
            <a:ext cx="9966960" cy="258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DB 결과는 dynamic 금지 =&gt; 스칼라 제네릭 매핑만</a:t>
            </a:r>
            <a:endParaRPr sz="1500" b="0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76" name="Google Shape;676;p14"/>
          <p:cNvSpPr/>
          <p:nvPr/>
        </p:nvSpPr>
        <p:spPr>
          <a:xfrm>
            <a:off x="685800" y="4608576"/>
            <a:ext cx="1078992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14"/>
          <p:cNvSpPr/>
          <p:nvPr/>
        </p:nvSpPr>
        <p:spPr>
          <a:xfrm>
            <a:off x="914400" y="4828032"/>
            <a:ext cx="201168" cy="201168"/>
          </a:xfrm>
          <a:prstGeom prst="ellipse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14"/>
          <p:cNvSpPr txBox="1"/>
          <p:nvPr/>
        </p:nvSpPr>
        <p:spPr>
          <a:xfrm>
            <a:off x="1325880" y="4782312"/>
            <a:ext cx="99669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0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재화 · 아이템 변경은 단일 트랜잭션, 서버 권위(클라이언트 보고 불신)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0" name="Google Shape;680;p14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17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81" name="Google Shape;681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" name="Google Shape;687;p15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LOOP ④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8" name="Google Shape;688;p15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15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7.4  ④ 빌드 + 실서버 검증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0" name="Google Shape;690;p15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구현 후 빌드와 실제 동작 검증을 거쳐야 완료로 인정했다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1" name="Google Shape;691;p15"/>
          <p:cNvSpPr/>
          <p:nvPr/>
        </p:nvSpPr>
        <p:spPr>
          <a:xfrm>
            <a:off x="685800" y="2148840"/>
            <a:ext cx="10789920" cy="100584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</p:spPr>
        <p:txBody>
          <a:bodyPr spcFirstLastPara="1" wrap="square" lIns="274300" tIns="45700" rIns="182875" bIns="45700" anchor="ctr" anchorCtr="0">
            <a:no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0" i="0" u="none" strike="noStrike" cap="none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dotnet build  →  서버 실행  →  기능 테스트  →  결과 확인</a:t>
            </a:r>
            <a:endParaRPr sz="1200" b="0" i="0" u="none" strike="noStrike" cap="none">
              <a:solidFill>
                <a:srgbClr val="E6ECF5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2" name="Google Shape;692;p15"/>
          <p:cNvSpPr/>
          <p:nvPr/>
        </p:nvSpPr>
        <p:spPr>
          <a:xfrm>
            <a:off x="685800" y="3429000"/>
            <a:ext cx="52578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" name="Google Shape;693;p15"/>
          <p:cNvSpPr txBox="1"/>
          <p:nvPr/>
        </p:nvSpPr>
        <p:spPr>
          <a:xfrm>
            <a:off x="905256" y="3611880"/>
            <a:ext cx="4892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규칙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4" name="Google Shape;694;p15"/>
          <p:cNvSpPr txBox="1"/>
          <p:nvPr/>
        </p:nvSpPr>
        <p:spPr>
          <a:xfrm>
            <a:off x="905256" y="3904488"/>
            <a:ext cx="4846320" cy="258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서버는 기능 구현 후 필수적으로 빌드 + 테스트 진행</a:t>
            </a:r>
            <a:endParaRPr sz="15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695" name="Google Shape;695;p15"/>
          <p:cNvSpPr txBox="1"/>
          <p:nvPr/>
        </p:nvSpPr>
        <p:spPr>
          <a:xfrm>
            <a:off x="905256" y="4297680"/>
            <a:ext cx="4846320" cy="204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기능이 기획서에 맞게 구현이 되었는 지 확인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6" name="Google Shape;696;p15"/>
          <p:cNvSpPr/>
          <p:nvPr/>
        </p:nvSpPr>
        <p:spPr>
          <a:xfrm>
            <a:off x="6217920" y="3429000"/>
            <a:ext cx="525780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15"/>
          <p:cNvSpPr txBox="1"/>
          <p:nvPr/>
        </p:nvSpPr>
        <p:spPr>
          <a:xfrm>
            <a:off x="6437376" y="3611880"/>
            <a:ext cx="4892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검증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8" name="Google Shape;698;p15"/>
          <p:cNvSpPr txBox="1"/>
          <p:nvPr/>
        </p:nvSpPr>
        <p:spPr>
          <a:xfrm>
            <a:off x="6437376" y="390448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-US" sz="15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저장소에 붙여 검증한다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9" name="Google Shape;699;p15"/>
          <p:cNvSpPr txBox="1"/>
          <p:nvPr/>
        </p:nvSpPr>
        <p:spPr>
          <a:xfrm>
            <a:off x="6437376" y="4297680"/>
            <a:ext cx="484632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실제 MySQL · Redis에 붙여 API를 호출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결과를 DB에서 직접 대조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테스트로 만든 데이터는 되돌린다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0" name="Google Shape;700;p1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18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01" name="Google Shape;701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Google Shape;706;p1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" name="Google Shape;707;p16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LOOP 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8" name="Google Shape;708;p16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16"/>
          <p:cNvSpPr txBox="1"/>
          <p:nvPr/>
        </p:nvSpPr>
        <p:spPr>
          <a:xfrm>
            <a:off x="685800" y="914400"/>
            <a:ext cx="10881360" cy="57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7.5  ⑤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동기화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– </a:t>
            </a:r>
            <a:r>
              <a:rPr lang="ko-KR" alt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통합 문서와 세부 문서 최신화</a:t>
            </a:r>
            <a:endParaRPr sz="3000" b="1" i="0" u="none" strike="noStrike" cap="none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711" name="Google Shape;711;p16"/>
          <p:cNvGraphicFramePr/>
          <p:nvPr>
            <p:extLst>
              <p:ext uri="{D42A27DB-BD31-4B8C-83A1-F6EECF244321}">
                <p14:modId xmlns:p14="http://schemas.microsoft.com/office/powerpoint/2010/main" val="596285631"/>
              </p:ext>
            </p:extLst>
          </p:nvPr>
        </p:nvGraphicFramePr>
        <p:xfrm>
          <a:off x="685800" y="1837944"/>
          <a:ext cx="10789925" cy="2286050"/>
        </p:xfrm>
        <a:graphic>
          <a:graphicData uri="http://schemas.openxmlformats.org/drawingml/2006/table">
            <a:tbl>
              <a:tblPr firstRow="1">
                <a:noFill/>
                <a:tableStyleId>{117F4239-6CF6-4BE5-99FF-9D92B26D0C97}</a:tableStyleId>
              </a:tblPr>
              <a:tblGrid>
                <a:gridCol w="3931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무엇이 바뀌면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lang="en-US" sz="13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갱신할 문서</a:t>
                      </a:r>
                      <a:endParaRPr sz="1300" b="1" u="none" strike="noStrike" cap="none">
                        <a:solidFill>
                          <a:srgbClr val="FFFFFF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5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엔드포인트 · 요청/응답 필드</a:t>
                      </a:r>
                      <a:endParaRPr sz="1350" b="0" u="none" strike="noStrike" cap="non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docs/공통/api-통합.md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5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DB 테이블 · 컬럼 · 마스터 데이터</a:t>
                      </a:r>
                      <a:endParaRPr sz="1350" b="0" u="none" strike="noStrike" cap="non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docs/공통/db-erd-통합.md  ( + db-schema.sql )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5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에러 코드</a:t>
                      </a:r>
                      <a:endParaRPr sz="1350" b="0" u="none" strike="noStrike" cap="non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docs/공통/error-code-정의.md  +  TaskbarHero.Common/ErrorCode.cs</a:t>
                      </a:r>
                      <a:endParaRPr sz="1350" b="0" u="none" strike="noStrike" cap="non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5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ko-KR" altLang="en-US" sz="13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기능별 흐름</a:t>
                      </a:r>
                      <a:r>
                        <a:rPr lang="en-US" altLang="ko-KR" sz="13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ko-KR" altLang="en-US" sz="13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시퀀스 다이어그램</a:t>
                      </a:r>
                      <a:r>
                        <a:rPr lang="en-US" altLang="ko-KR" sz="13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</a:t>
                      </a:r>
                      <a:endParaRPr sz="1350" b="0" u="none" strike="noStrike" cap="none" dirty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en-US" sz="13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SequenceDiagram/README.md  (</a:t>
                      </a:r>
                      <a:r>
                        <a:rPr lang="en-US" sz="13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기능별</a:t>
                      </a:r>
                      <a:r>
                        <a:rPr lang="en-US" sz="13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Mermaid </a:t>
                      </a:r>
                      <a:r>
                        <a:rPr lang="en-US" sz="13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시퀀스</a:t>
                      </a:r>
                      <a:r>
                        <a:rPr lang="en-US" sz="13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</a:t>
                      </a:r>
                      <a:endParaRPr sz="1400" u="none" strike="noStrike" cap="none" dirty="0"/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12" name="Google Shape;712;p16"/>
          <p:cNvSpPr/>
          <p:nvPr/>
        </p:nvSpPr>
        <p:spPr>
          <a:xfrm>
            <a:off x="685800" y="4353342"/>
            <a:ext cx="10789920" cy="1310358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16"/>
          <p:cNvSpPr txBox="1"/>
          <p:nvPr/>
        </p:nvSpPr>
        <p:spPr>
          <a:xfrm>
            <a:off x="1005840" y="4581941"/>
            <a:ext cx="10149840" cy="8592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ko-KR" altLang="en-US" sz="160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수정사항 발생 시 작업 마무리 후 무조건 문서를 갱신</a:t>
            </a:r>
            <a:endParaRPr lang="en-US" altLang="ko-KR" sz="1400" b="0" i="0" u="none" strike="noStrike" cap="none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ko-KR" altLang="en-US" sz="13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코드를 보지 않고도 현재 작업 상태를 알 수 있도록 문서는 항상 최신화</a:t>
            </a:r>
            <a:endParaRPr lang="en-US" sz="130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문서의</a:t>
            </a:r>
            <a:r>
              <a:rPr lang="en-US" sz="13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3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정합성</a:t>
            </a:r>
            <a:r>
              <a:rPr lang="en-US" sz="13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3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확인은</a:t>
            </a:r>
            <a:r>
              <a:rPr lang="en-US" sz="13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CLAUDE.MD 에</a:t>
            </a:r>
            <a:r>
              <a:rPr lang="ko-KR" altLang="en-US" sz="13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 명시되어 있어 문서를 항상 최신 상태로 유지할 수 있도록 한다</a:t>
            </a:r>
            <a:r>
              <a:rPr lang="en-US" altLang="ko-KR" sz="13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130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14" name="Google Shape;714;p16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19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15" name="Google Shape;715;p1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Google Shape;720;p1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17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DOCS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2" name="Google Shape;722;p17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17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8. 문서 체계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4" name="Google Shape;724;p17"/>
          <p:cNvSpPr txBox="1"/>
          <p:nvPr/>
        </p:nvSpPr>
        <p:spPr>
          <a:xfrm>
            <a:off x="685800" y="1536192"/>
            <a:ext cx="108813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정본은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언제나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docs/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/ —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충돌하면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기획서를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따른다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5" name="Google Shape;725;p1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26" name="Google Shape;726;p1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727" name="Google Shape;727;p17"/>
          <p:cNvSpPr/>
          <p:nvPr/>
        </p:nvSpPr>
        <p:spPr>
          <a:xfrm>
            <a:off x="685800" y="2103120"/>
            <a:ext cx="6400800" cy="4023360"/>
          </a:xfrm>
          <a:prstGeom prst="roundRect">
            <a:avLst>
              <a:gd name="adj" fmla="val 4000"/>
            </a:avLst>
          </a:prstGeom>
          <a:solidFill>
            <a:srgbClr val="12203A"/>
          </a:solidFill>
          <a:ln>
            <a:noFill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17"/>
          <p:cNvSpPr/>
          <p:nvPr/>
        </p:nvSpPr>
        <p:spPr>
          <a:xfrm>
            <a:off x="1234440" y="2606040"/>
            <a:ext cx="12700" cy="267462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9" name="Google Shape;729;p17"/>
          <p:cNvSpPr/>
          <p:nvPr/>
        </p:nvSpPr>
        <p:spPr>
          <a:xfrm>
            <a:off x="1234440" y="27660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17"/>
          <p:cNvSpPr/>
          <p:nvPr/>
        </p:nvSpPr>
        <p:spPr>
          <a:xfrm>
            <a:off x="1234440" y="29946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" name="Google Shape;731;p17"/>
          <p:cNvSpPr/>
          <p:nvPr/>
        </p:nvSpPr>
        <p:spPr>
          <a:xfrm>
            <a:off x="1234440" y="32232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17"/>
          <p:cNvSpPr/>
          <p:nvPr/>
        </p:nvSpPr>
        <p:spPr>
          <a:xfrm>
            <a:off x="1234440" y="34518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" name="Google Shape;733;p17"/>
          <p:cNvSpPr/>
          <p:nvPr/>
        </p:nvSpPr>
        <p:spPr>
          <a:xfrm>
            <a:off x="1234440" y="45948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17"/>
          <p:cNvSpPr/>
          <p:nvPr/>
        </p:nvSpPr>
        <p:spPr>
          <a:xfrm>
            <a:off x="1234440" y="52806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17"/>
          <p:cNvSpPr/>
          <p:nvPr/>
        </p:nvSpPr>
        <p:spPr>
          <a:xfrm>
            <a:off x="1554480" y="3520440"/>
            <a:ext cx="12700" cy="84582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17"/>
          <p:cNvSpPr/>
          <p:nvPr/>
        </p:nvSpPr>
        <p:spPr>
          <a:xfrm>
            <a:off x="1554480" y="36804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" name="Google Shape;737;p17"/>
          <p:cNvSpPr/>
          <p:nvPr/>
        </p:nvSpPr>
        <p:spPr>
          <a:xfrm>
            <a:off x="1554480" y="39090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17"/>
          <p:cNvSpPr/>
          <p:nvPr/>
        </p:nvSpPr>
        <p:spPr>
          <a:xfrm>
            <a:off x="1554480" y="41376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17"/>
          <p:cNvSpPr/>
          <p:nvPr/>
        </p:nvSpPr>
        <p:spPr>
          <a:xfrm>
            <a:off x="1554480" y="43662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17"/>
          <p:cNvSpPr/>
          <p:nvPr/>
        </p:nvSpPr>
        <p:spPr>
          <a:xfrm>
            <a:off x="1554480" y="4663440"/>
            <a:ext cx="12700" cy="38862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17"/>
          <p:cNvSpPr/>
          <p:nvPr/>
        </p:nvSpPr>
        <p:spPr>
          <a:xfrm>
            <a:off x="1554480" y="48234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17"/>
          <p:cNvSpPr/>
          <p:nvPr/>
        </p:nvSpPr>
        <p:spPr>
          <a:xfrm>
            <a:off x="1554480" y="5052060"/>
            <a:ext cx="11430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17"/>
          <p:cNvSpPr txBox="1"/>
          <p:nvPr/>
        </p:nvSpPr>
        <p:spPr>
          <a:xfrm>
            <a:off x="1097280" y="2423160"/>
            <a:ext cx="58064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docs/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4" name="Google Shape;744;p17"/>
          <p:cNvSpPr txBox="1"/>
          <p:nvPr/>
        </p:nvSpPr>
        <p:spPr>
          <a:xfrm>
            <a:off x="1417320" y="2651760"/>
            <a:ext cx="30632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서버-시스템-전체-개요.md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5" name="Google Shape;745;p17"/>
          <p:cNvSpPr txBox="1"/>
          <p:nvPr/>
        </p:nvSpPr>
        <p:spPr>
          <a:xfrm>
            <a:off x="4572000" y="2651760"/>
            <a:ext cx="23317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FB0C6"/>
                </a:solidFill>
                <a:latin typeface="Malgun Gothic"/>
                <a:ea typeface="Malgun Gothic"/>
                <a:cs typeface="Malgun Gothic"/>
                <a:sym typeface="Malgun Gothic"/>
              </a:rPr>
              <a:t># 최상위 진입 문서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6" name="Google Shape;746;p17"/>
          <p:cNvSpPr txBox="1"/>
          <p:nvPr/>
        </p:nvSpPr>
        <p:spPr>
          <a:xfrm>
            <a:off x="1417320" y="2880360"/>
            <a:ext cx="30632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서버-개발-계획.md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7" name="Google Shape;747;p17"/>
          <p:cNvSpPr txBox="1"/>
          <p:nvPr/>
        </p:nvSpPr>
        <p:spPr>
          <a:xfrm>
            <a:off x="4572000" y="2880360"/>
            <a:ext cx="23317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FB0C6"/>
                </a:solidFill>
                <a:latin typeface="Malgun Gothic"/>
                <a:ea typeface="Malgun Gothic"/>
                <a:cs typeface="Malgun Gothic"/>
                <a:sym typeface="Malgun Gothic"/>
              </a:rPr>
              <a:t># 개발 순서 · 일정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8" name="Google Shape;748;p17"/>
          <p:cNvSpPr txBox="1"/>
          <p:nvPr/>
        </p:nvSpPr>
        <p:spPr>
          <a:xfrm>
            <a:off x="1417320" y="3108960"/>
            <a:ext cx="5486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com2us-taskbar-hero-개발환경.md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49" name="Google Shape;749;p17"/>
          <p:cNvSpPr txBox="1"/>
          <p:nvPr/>
        </p:nvSpPr>
        <p:spPr>
          <a:xfrm>
            <a:off x="1417320" y="3337560"/>
            <a:ext cx="30632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rgbClr val="E0A526"/>
                </a:solidFill>
                <a:latin typeface="Consolas"/>
                <a:ea typeface="Consolas"/>
                <a:cs typeface="Consolas"/>
                <a:sym typeface="Consolas"/>
              </a:rPr>
              <a:t>세부/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0" name="Google Shape;750;p17"/>
          <p:cNvSpPr txBox="1"/>
          <p:nvPr/>
        </p:nvSpPr>
        <p:spPr>
          <a:xfrm>
            <a:off x="4572000" y="3337560"/>
            <a:ext cx="23317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★ 정본 — 기능별 기획서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1" name="Google Shape;751;p17"/>
          <p:cNvSpPr txBox="1"/>
          <p:nvPr/>
        </p:nvSpPr>
        <p:spPr>
          <a:xfrm>
            <a:off x="1737360" y="3566160"/>
            <a:ext cx="5166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AEBED4"/>
                </a:solidFill>
                <a:latin typeface="Consolas"/>
                <a:ea typeface="Consolas"/>
                <a:cs typeface="Consolas"/>
                <a:sym typeface="Consolas"/>
              </a:rPr>
              <a:t>account-login · save-data · inventory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2" name="Google Shape;752;p17"/>
          <p:cNvSpPr txBox="1"/>
          <p:nvPr/>
        </p:nvSpPr>
        <p:spPr>
          <a:xfrm>
            <a:off x="1737360" y="3794760"/>
            <a:ext cx="5166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AEBED4"/>
                </a:solidFill>
                <a:latin typeface="Consolas"/>
                <a:ea typeface="Consolas"/>
                <a:cs typeface="Consolas"/>
                <a:sym typeface="Consolas"/>
              </a:rPr>
              <a:t>stage-battle · trade · gacha · mail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3" name="Google Shape;753;p17"/>
          <p:cNvSpPr txBox="1"/>
          <p:nvPr/>
        </p:nvSpPr>
        <p:spPr>
          <a:xfrm>
            <a:off x="1737360" y="4023360"/>
            <a:ext cx="5166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AEBED4"/>
                </a:solidFill>
                <a:latin typeface="Consolas"/>
                <a:ea typeface="Consolas"/>
                <a:cs typeface="Consolas"/>
                <a:sym typeface="Consolas"/>
              </a:rPr>
              <a:t>attendance · growth · offline-reward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4" name="Google Shape;754;p17"/>
          <p:cNvSpPr txBox="1"/>
          <p:nvPr/>
        </p:nvSpPr>
        <p:spPr>
          <a:xfrm>
            <a:off x="1737360" y="4251960"/>
            <a:ext cx="2743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AEBED4"/>
                </a:solidFill>
                <a:latin typeface="Consolas"/>
                <a:ea typeface="Consolas"/>
                <a:cs typeface="Consolas"/>
                <a:sym typeface="Consolas"/>
              </a:rPr>
              <a:t>master-data/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5" name="Google Shape;755;p17"/>
          <p:cNvSpPr txBox="1"/>
          <p:nvPr/>
        </p:nvSpPr>
        <p:spPr>
          <a:xfrm>
            <a:off x="4572000" y="4251960"/>
            <a:ext cx="23317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FB0C6"/>
                </a:solidFill>
                <a:latin typeface="Malgun Gothic"/>
                <a:ea typeface="Malgun Gothic"/>
                <a:cs typeface="Malgun Gothic"/>
                <a:sym typeface="Malgun Gothic"/>
              </a:rPr>
              <a:t># 마스터 값 · 스키마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6" name="Google Shape;756;p17"/>
          <p:cNvSpPr txBox="1"/>
          <p:nvPr/>
        </p:nvSpPr>
        <p:spPr>
          <a:xfrm>
            <a:off x="1417320" y="4480560"/>
            <a:ext cx="30632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공통/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7" name="Google Shape;757;p17"/>
          <p:cNvSpPr txBox="1"/>
          <p:nvPr/>
        </p:nvSpPr>
        <p:spPr>
          <a:xfrm>
            <a:off x="4572000" y="4480560"/>
            <a:ext cx="23317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FB0C6"/>
                </a:solidFill>
                <a:latin typeface="Malgun Gothic"/>
                <a:ea typeface="Malgun Gothic"/>
                <a:cs typeface="Malgun Gothic"/>
                <a:sym typeface="Malgun Gothic"/>
              </a:rPr>
              <a:t>집약 참조본 + 공유 계약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8" name="Google Shape;758;p17"/>
          <p:cNvSpPr txBox="1"/>
          <p:nvPr/>
        </p:nvSpPr>
        <p:spPr>
          <a:xfrm>
            <a:off x="1737360" y="4709160"/>
            <a:ext cx="5166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AEBED4"/>
                </a:solidFill>
                <a:latin typeface="Consolas"/>
                <a:ea typeface="Consolas"/>
                <a:cs typeface="Consolas"/>
                <a:sym typeface="Consolas"/>
              </a:rPr>
              <a:t>api-통합.md · db-erd-통합.md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9" name="Google Shape;759;p17"/>
          <p:cNvSpPr txBox="1"/>
          <p:nvPr/>
        </p:nvSpPr>
        <p:spPr>
          <a:xfrm>
            <a:off x="1737360" y="4937760"/>
            <a:ext cx="516636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AEBED4"/>
                </a:solidFill>
                <a:latin typeface="Consolas"/>
                <a:ea typeface="Consolas"/>
                <a:cs typeface="Consolas"/>
                <a:sym typeface="Consolas"/>
              </a:rPr>
              <a:t>error-code-정의.md · 로깅-규칙.md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0" name="Google Shape;760;p17"/>
          <p:cNvSpPr txBox="1"/>
          <p:nvPr/>
        </p:nvSpPr>
        <p:spPr>
          <a:xfrm>
            <a:off x="1417320" y="5166360"/>
            <a:ext cx="306324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images/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1" name="Google Shape;761;p17"/>
          <p:cNvSpPr txBox="1"/>
          <p:nvPr/>
        </p:nvSpPr>
        <p:spPr>
          <a:xfrm>
            <a:off x="4572000" y="5166360"/>
            <a:ext cx="23317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FB0C6"/>
                </a:solidFill>
                <a:latin typeface="Malgun Gothic"/>
                <a:ea typeface="Malgun Gothic"/>
                <a:cs typeface="Malgun Gothic"/>
                <a:sym typeface="Malgun Gothic"/>
              </a:rPr>
              <a:t># 원작 화면 캡처(기획 근거)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2" name="Google Shape;762;p17"/>
          <p:cNvSpPr/>
          <p:nvPr/>
        </p:nvSpPr>
        <p:spPr>
          <a:xfrm>
            <a:off x="1097280" y="5486400"/>
            <a:ext cx="5806440" cy="12700"/>
          </a:xfrm>
          <a:prstGeom prst="rect">
            <a:avLst/>
          </a:prstGeom>
          <a:solidFill>
            <a:srgbClr val="4A6088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17"/>
          <p:cNvSpPr txBox="1"/>
          <p:nvPr/>
        </p:nvSpPr>
        <p:spPr>
          <a:xfrm>
            <a:off x="1097280" y="5669280"/>
            <a:ext cx="338328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E6ECF5"/>
                </a:solidFill>
                <a:latin typeface="Consolas"/>
                <a:ea typeface="Consolas"/>
                <a:cs typeface="Consolas"/>
                <a:sym typeface="Consolas"/>
              </a:rPr>
              <a:t>SequenceDiagram/README.md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4" name="Google Shape;764;p17"/>
          <p:cNvSpPr txBox="1"/>
          <p:nvPr/>
        </p:nvSpPr>
        <p:spPr>
          <a:xfrm>
            <a:off x="4572000" y="5669280"/>
            <a:ext cx="233172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9FB0C6"/>
                </a:solidFill>
                <a:latin typeface="Malgun Gothic"/>
                <a:ea typeface="Malgun Gothic"/>
                <a:cs typeface="Malgun Gothic"/>
                <a:sym typeface="Malgun Gothic"/>
              </a:rPr>
              <a:t># 기능별 처리 흐름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5" name="Google Shape;765;p17"/>
          <p:cNvSpPr/>
          <p:nvPr/>
        </p:nvSpPr>
        <p:spPr>
          <a:xfrm>
            <a:off x="7482840" y="3086100"/>
            <a:ext cx="4023360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정본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4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docs/세부/ 가 언제나 정본이다. 충돌하면 세부 기획서를 따른다.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6" name="Google Shape;766;p17"/>
          <p:cNvSpPr/>
          <p:nvPr/>
        </p:nvSpPr>
        <p:spPr>
          <a:xfrm>
            <a:off x="7482840" y="4320540"/>
            <a:ext cx="402336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300" tIns="182875" rIns="274300" bIns="182875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ko-KR" altLang="en-US" sz="11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왜 문서를 세부적으로 </a:t>
            </a:r>
            <a:r>
              <a:rPr lang="ko-KR" altLang="en-US" sz="11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구조화했나</a:t>
            </a:r>
            <a:r>
              <a:rPr lang="en-US" altLang="ko-KR" sz="11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?</a:t>
            </a: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ko-KR" altLang="en-US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에이전트가 읽어야 할 문서와 코드를 최소화하기 위해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Google Shape;887;p2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8" name="Google Shape;888;p24"/>
          <p:cNvSpPr txBox="1"/>
          <p:nvPr/>
        </p:nvSpPr>
        <p:spPr>
          <a:xfrm>
            <a:off x="1097280" y="265176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PART 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9" name="Google Shape;889;p24"/>
          <p:cNvSpPr txBox="1"/>
          <p:nvPr/>
        </p:nvSpPr>
        <p:spPr>
          <a:xfrm>
            <a:off x="1097280" y="3108960"/>
            <a:ext cx="10058400" cy="1097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400"/>
              <a:buFont typeface="Arial"/>
              <a:buNone/>
            </a:pPr>
            <a:r>
              <a:rPr lang="en-US" sz="5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클라이언트 (Unity)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0" name="Google Shape;890;p24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25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96" name="Google Shape;896;p25" descr="logo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897" name="Google Shape;897;p25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GAME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8" name="Google Shape;898;p25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9" name="Google Shape;899;p25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9. 게임 소개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0" name="Google Shape;900;p25"/>
          <p:cNvSpPr txBox="1"/>
          <p:nvPr/>
        </p:nvSpPr>
        <p:spPr>
          <a:xfrm>
            <a:off x="685800" y="1536192"/>
            <a:ext cx="1088136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작업표시줄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위 </a:t>
            </a:r>
            <a:r>
              <a:rPr lang="ko-KR" alt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작은 화면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에서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스스로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싸우는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방치형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RPG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1" name="Google Shape;901;p2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2" name="Google Shape;902;p25"/>
          <p:cNvSpPr/>
          <p:nvPr/>
        </p:nvSpPr>
        <p:spPr>
          <a:xfrm>
            <a:off x="685800" y="1965960"/>
            <a:ext cx="5577840" cy="29352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3" name="Google Shape;903;p25" descr="플레이-화면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5840" y="2103120"/>
            <a:ext cx="4937760" cy="2660904"/>
          </a:xfrm>
          <a:prstGeom prst="rect">
            <a:avLst/>
          </a:prstGeom>
          <a:noFill/>
          <a:ln>
            <a:noFill/>
          </a:ln>
        </p:spPr>
      </p:pic>
      <p:sp>
        <p:nvSpPr>
          <p:cNvPr id="904" name="Google Shape;904;p25"/>
          <p:cNvSpPr txBox="1"/>
          <p:nvPr/>
        </p:nvSpPr>
        <p:spPr>
          <a:xfrm>
            <a:off x="685800" y="4974336"/>
            <a:ext cx="55778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플레이 화면 — 가운데 좁은 띠에서 전투, 아래 메뉴 8종은 상시 노출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5" name="Google Shape;905;p25"/>
          <p:cNvSpPr/>
          <p:nvPr/>
        </p:nvSpPr>
        <p:spPr>
          <a:xfrm>
            <a:off x="685800" y="5349240"/>
            <a:ext cx="1298448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6" name="Google Shape;906;p25"/>
          <p:cNvSpPr txBox="1"/>
          <p:nvPr/>
        </p:nvSpPr>
        <p:spPr>
          <a:xfrm>
            <a:off x="685800" y="5394960"/>
            <a:ext cx="129844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기사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최전방 방벽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7" name="Google Shape;907;p25"/>
          <p:cNvSpPr/>
          <p:nvPr/>
        </p:nvSpPr>
        <p:spPr>
          <a:xfrm>
            <a:off x="2112264" y="5349240"/>
            <a:ext cx="1298448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8" name="Google Shape;908;p25"/>
          <p:cNvSpPr txBox="1"/>
          <p:nvPr/>
        </p:nvSpPr>
        <p:spPr>
          <a:xfrm>
            <a:off x="2112264" y="5394960"/>
            <a:ext cx="129844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레인저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원거리 연사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9" name="Google Shape;909;p25"/>
          <p:cNvSpPr/>
          <p:nvPr/>
        </p:nvSpPr>
        <p:spPr>
          <a:xfrm>
            <a:off x="3538728" y="5349240"/>
            <a:ext cx="1298448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0" name="Google Shape;910;p25"/>
          <p:cNvSpPr txBox="1"/>
          <p:nvPr/>
        </p:nvSpPr>
        <p:spPr>
          <a:xfrm>
            <a:off x="3538728" y="5394960"/>
            <a:ext cx="129844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마법사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 스킬 광역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1" name="Google Shape;911;p25"/>
          <p:cNvSpPr/>
          <p:nvPr/>
        </p:nvSpPr>
        <p:spPr>
          <a:xfrm>
            <a:off x="4965192" y="5349240"/>
            <a:ext cx="1298448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2" name="Google Shape;912;p25"/>
          <p:cNvSpPr txBox="1"/>
          <p:nvPr/>
        </p:nvSpPr>
        <p:spPr>
          <a:xfrm>
            <a:off x="4965192" y="5394960"/>
            <a:ext cx="1298448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슬레이어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근접 치명타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3" name="Google Shape;913;p25"/>
          <p:cNvSpPr/>
          <p:nvPr/>
        </p:nvSpPr>
        <p:spPr>
          <a:xfrm>
            <a:off x="6611112" y="1965960"/>
            <a:ext cx="4864608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4" name="Google Shape;914;p25"/>
          <p:cNvSpPr/>
          <p:nvPr/>
        </p:nvSpPr>
        <p:spPr>
          <a:xfrm>
            <a:off x="6812280" y="2240279"/>
            <a:ext cx="91440" cy="91440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" name="Google Shape;915;p25"/>
          <p:cNvSpPr txBox="1"/>
          <p:nvPr/>
        </p:nvSpPr>
        <p:spPr>
          <a:xfrm>
            <a:off x="6976872" y="2066543"/>
            <a:ext cx="4315968" cy="740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전투는 전부 자동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파티 3인이 스스로 전진해 사거리에 든 적을 치고, 스킬은 쿨타임마다 알아서 나간다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6" name="Google Shape;916;p25"/>
          <p:cNvSpPr/>
          <p:nvPr/>
        </p:nvSpPr>
        <p:spPr>
          <a:xfrm>
            <a:off x="6611112" y="2962656"/>
            <a:ext cx="4864608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7" name="Google Shape;917;p25"/>
          <p:cNvSpPr/>
          <p:nvPr/>
        </p:nvSpPr>
        <p:spPr>
          <a:xfrm>
            <a:off x="6812280" y="3236976"/>
            <a:ext cx="91440" cy="91440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8" name="Google Shape;918;p25"/>
          <p:cNvSpPr txBox="1"/>
          <p:nvPr/>
        </p:nvSpPr>
        <p:spPr>
          <a:xfrm>
            <a:off x="6976872" y="3063240"/>
            <a:ext cx="4315968" cy="740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플레이어가 하는 일은 결정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장비 · 스킬 · 룬 · 파티 편성을 고르는 선택이 조작을 대신한다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9" name="Google Shape;919;p25"/>
          <p:cNvSpPr/>
          <p:nvPr/>
        </p:nvSpPr>
        <p:spPr>
          <a:xfrm>
            <a:off x="6611112" y="3959352"/>
            <a:ext cx="4864608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0" name="Google Shape;920;p25"/>
          <p:cNvSpPr/>
          <p:nvPr/>
        </p:nvSpPr>
        <p:spPr>
          <a:xfrm>
            <a:off x="6812280" y="4233672"/>
            <a:ext cx="91440" cy="91440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" name="Google Shape;921;p25"/>
          <p:cNvSpPr txBox="1"/>
          <p:nvPr/>
        </p:nvSpPr>
        <p:spPr>
          <a:xfrm>
            <a:off x="6976872" y="4059936"/>
            <a:ext cx="4315968" cy="740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화면을 가리지 않는다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작업표시줄 위에 얇게 붙는 투명 오버레이 창 · 메뉴 8종은 상시 노출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2" name="Google Shape;922;p25"/>
          <p:cNvSpPr/>
          <p:nvPr/>
        </p:nvSpPr>
        <p:spPr>
          <a:xfrm>
            <a:off x="6611112" y="4956048"/>
            <a:ext cx="4864608" cy="9418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3" name="Google Shape;923;p25"/>
          <p:cNvSpPr/>
          <p:nvPr/>
        </p:nvSpPr>
        <p:spPr>
          <a:xfrm>
            <a:off x="6812280" y="5230368"/>
            <a:ext cx="91440" cy="91440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4" name="Google Shape;924;p25"/>
          <p:cNvSpPr txBox="1"/>
          <p:nvPr/>
        </p:nvSpPr>
        <p:spPr>
          <a:xfrm>
            <a:off x="6976872" y="5056632"/>
            <a:ext cx="4315968" cy="740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꺼 둔 시간도 성장한다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접속하지 않은 동안의 진행을 재접속 시 오프라인 보상으로 정산한다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9" name="Google Shape;929;p26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30" name="Google Shape;930;p26" descr="logo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931" name="Google Shape;931;p26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GAME CONTENT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2" name="Google Shape;932;p26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" name="Google Shape;933;p26"/>
          <p:cNvSpPr txBox="1"/>
          <p:nvPr/>
        </p:nvSpPr>
        <p:spPr>
          <a:xfrm>
            <a:off x="685800" y="914400"/>
            <a:ext cx="3252831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9.1 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컨텐츠</a:t>
            </a:r>
            <a:endParaRPr sz="3000" b="1" i="0" u="none" strike="noStrike" cap="none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34" name="Google Shape;934;p26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5" name="Google Shape;935;p26"/>
          <p:cNvSpPr/>
          <p:nvPr/>
        </p:nvSpPr>
        <p:spPr>
          <a:xfrm>
            <a:off x="685800" y="19659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36" name="Google Shape;936;p26" descr="03-st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6031" y="2075688"/>
            <a:ext cx="1799857" cy="129844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937" name="Google Shape;937;p26"/>
          <p:cNvSpPr txBox="1"/>
          <p:nvPr/>
        </p:nvSpPr>
        <p:spPr>
          <a:xfrm>
            <a:off x="813816" y="3429000"/>
            <a:ext cx="2304287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스테이지 · 보스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지역별 스테이지 자동 진행, Act 보스전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38" name="Google Shape;938;p26"/>
          <p:cNvSpPr/>
          <p:nvPr/>
        </p:nvSpPr>
        <p:spPr>
          <a:xfrm>
            <a:off x="3429000" y="19659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39" name="Google Shape;939;p26" descr="04-inventory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208624" y="2075688"/>
            <a:ext cx="1001071" cy="129844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940" name="Google Shape;940;p26"/>
          <p:cNvSpPr txBox="1"/>
          <p:nvPr/>
        </p:nvSpPr>
        <p:spPr>
          <a:xfrm>
            <a:off x="3557016" y="3429000"/>
            <a:ext cx="2304287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가방 · 창고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장비 · 재료 · 소모품 보관, 칸 확장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1" name="Google Shape;941;p26"/>
          <p:cNvSpPr/>
          <p:nvPr/>
        </p:nvSpPr>
        <p:spPr>
          <a:xfrm>
            <a:off x="6172200" y="19659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2" name="Google Shape;942;p26" descr="07-cub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908732" y="2075688"/>
            <a:ext cx="1087254" cy="129844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943" name="Google Shape;943;p26"/>
          <p:cNvSpPr txBox="1"/>
          <p:nvPr/>
        </p:nvSpPr>
        <p:spPr>
          <a:xfrm>
            <a:off x="6300216" y="3429000"/>
            <a:ext cx="2304287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큐브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합성 · 제작 · 연금술 판매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4" name="Google Shape;944;p26"/>
          <p:cNvSpPr/>
          <p:nvPr/>
        </p:nvSpPr>
        <p:spPr>
          <a:xfrm>
            <a:off x="8915400" y="19659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5" name="Google Shape;945;p26" descr="05-skill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692411" y="2075688"/>
            <a:ext cx="1006297" cy="129844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946" name="Google Shape;946;p26"/>
          <p:cNvSpPr txBox="1"/>
          <p:nvPr/>
        </p:nvSpPr>
        <p:spPr>
          <a:xfrm>
            <a:off x="9043416" y="3429000"/>
            <a:ext cx="2304287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성장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스킬 레벨 · 패시브 · 룬 장착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7" name="Google Shape;947;p26"/>
          <p:cNvSpPr/>
          <p:nvPr/>
        </p:nvSpPr>
        <p:spPr>
          <a:xfrm>
            <a:off x="685800" y="40233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8" name="Google Shape;948;p26" descr="08-gacha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266937" y="4133088"/>
            <a:ext cx="1398044" cy="129844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949" name="Google Shape;949;p26"/>
          <p:cNvSpPr txBox="1"/>
          <p:nvPr/>
        </p:nvSpPr>
        <p:spPr>
          <a:xfrm>
            <a:off x="813816" y="5486400"/>
            <a:ext cx="2304287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배너별 등급 확률 · 천장 보정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0" name="Google Shape;950;p26"/>
          <p:cNvSpPr/>
          <p:nvPr/>
        </p:nvSpPr>
        <p:spPr>
          <a:xfrm>
            <a:off x="3429000" y="40233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2" name="Google Shape;952;p26"/>
          <p:cNvSpPr txBox="1"/>
          <p:nvPr/>
        </p:nvSpPr>
        <p:spPr>
          <a:xfrm>
            <a:off x="3557016" y="5486400"/>
            <a:ext cx="2304287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거래소 · 교역선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유저 간 시세 거래, 교역선 판매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3" name="Google Shape;953;p26"/>
          <p:cNvSpPr/>
          <p:nvPr/>
        </p:nvSpPr>
        <p:spPr>
          <a:xfrm>
            <a:off x="6172200" y="40233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54" name="Google Shape;954;p26" descr="11-attendanc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11326" y="4133088"/>
            <a:ext cx="1482066" cy="1298448"/>
          </a:xfrm>
          <a:prstGeom prst="rect">
            <a:avLst/>
          </a:prstGeom>
          <a:noFill/>
          <a:ln>
            <a:noFill/>
          </a:ln>
        </p:spPr>
      </p:pic>
      <p:sp>
        <p:nvSpPr>
          <p:cNvPr id="955" name="Google Shape;955;p26"/>
          <p:cNvSpPr txBox="1"/>
          <p:nvPr/>
        </p:nvSpPr>
        <p:spPr>
          <a:xfrm>
            <a:off x="6300216" y="5486400"/>
            <a:ext cx="2304287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출석 · 메일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일일 출석 보상, 우편함 수령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6" name="Google Shape;956;p26"/>
          <p:cNvSpPr/>
          <p:nvPr/>
        </p:nvSpPr>
        <p:spPr>
          <a:xfrm>
            <a:off x="8915400" y="4023360"/>
            <a:ext cx="25603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57" name="Google Shape;957;p26" descr="보스러시-랭킹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9521058" y="4133088"/>
            <a:ext cx="1349002" cy="129844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958" name="Google Shape;958;p26"/>
          <p:cNvSpPr txBox="1"/>
          <p:nvPr/>
        </p:nvSpPr>
        <p:spPr>
          <a:xfrm>
            <a:off x="9043416" y="5486400"/>
            <a:ext cx="2304287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경쟁 · 보스러시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보스 5종 연속 클리어 · 주간 시즌 랭킹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2C23C3D-5B99-AAF8-4D13-F41B013C9EF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28348" y="4090052"/>
            <a:ext cx="1160682" cy="134148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" name="Google Shape;963;p2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4" name="Google Shape;964;p27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WORKFLOW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5" name="Google Shape;965;p27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6" name="Google Shape;966;p27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10.  Claude AI를 이용한 유니티 클라이언트 개발</a:t>
            </a:r>
            <a:endParaRPr sz="30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67" name="Google Shape;967;p2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68" name="Google Shape;968;p2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969" name="Google Shape;969;p27"/>
          <p:cNvSpPr txBox="1"/>
          <p:nvPr/>
        </p:nvSpPr>
        <p:spPr>
          <a:xfrm>
            <a:off x="685800" y="1536192"/>
            <a:ext cx="10881360" cy="1894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서버 프로그래머로서 익숙하지 않은 클라이언트 개발에 대해 Claude와 함께 개발하였고, 주로 아래와 같이 자동화하여 효율적으로 작업</a:t>
            </a:r>
            <a:endParaRPr sz="110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0" name="Google Shape;970;p27"/>
          <p:cNvSpPr/>
          <p:nvPr/>
        </p:nvSpPr>
        <p:spPr>
          <a:xfrm>
            <a:off x="685800" y="1965960"/>
            <a:ext cx="3474720" cy="4069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" name="Google Shape;971;p27"/>
          <p:cNvSpPr/>
          <p:nvPr/>
        </p:nvSpPr>
        <p:spPr>
          <a:xfrm>
            <a:off x="914400" y="2148840"/>
            <a:ext cx="3017520" cy="1737360"/>
          </a:xfrm>
          <a:prstGeom prst="roundRect">
            <a:avLst>
              <a:gd name="adj" fmla="val 3000"/>
            </a:avLst>
          </a:prstGeom>
          <a:solidFill>
            <a:srgbClr val="12203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72" name="Google Shape;972;p27" descr="sound_panel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14400" y="2149403"/>
            <a:ext cx="3017519" cy="1736234"/>
          </a:xfrm>
          <a:prstGeom prst="rect">
            <a:avLst/>
          </a:prstGeom>
          <a:noFill/>
          <a:ln>
            <a:noFill/>
          </a:ln>
        </p:spPr>
      </p:pic>
      <p:sp>
        <p:nvSpPr>
          <p:cNvPr id="973" name="Google Shape;973;p27"/>
          <p:cNvSpPr txBox="1"/>
          <p:nvPr/>
        </p:nvSpPr>
        <p:spPr>
          <a:xfrm>
            <a:off x="914400" y="3931920"/>
            <a:ext cx="3017520" cy="15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사운드 리소스 관리 문서 — ID · 길이 · 생성 · 적용 현황</a:t>
            </a:r>
            <a:endParaRPr sz="90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4" name="Google Shape;974;p27"/>
          <p:cNvSpPr txBox="1"/>
          <p:nvPr/>
        </p:nvSpPr>
        <p:spPr>
          <a:xfrm>
            <a:off x="914400" y="4206240"/>
            <a:ext cx="3017520" cy="2169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사운드 · BGM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5" name="Google Shape;975;p27"/>
          <p:cNvSpPr txBox="1"/>
          <p:nvPr/>
        </p:nvSpPr>
        <p:spPr>
          <a:xfrm>
            <a:off x="1638556" y="4251960"/>
            <a:ext cx="2293364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11장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6" name="Google Shape;976;p27"/>
          <p:cNvSpPr/>
          <p:nvPr/>
        </p:nvSpPr>
        <p:spPr>
          <a:xfrm>
            <a:off x="914400" y="46634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7" name="Google Shape;977;p27"/>
          <p:cNvSpPr txBox="1"/>
          <p:nvPr/>
        </p:nvSpPr>
        <p:spPr>
          <a:xfrm>
            <a:off x="914400" y="4800600"/>
            <a:ext cx="3017520" cy="79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10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Stable Audio AI 모델을 사용하여 사운드 리소스 생성</a:t>
            </a:r>
            <a:endParaRPr sz="10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사운드 생성 후, 클라이언트의 Assets/Sounds/ 경로에 사운드 종류별로 정리</a:t>
            </a:r>
            <a:endParaRPr sz="105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78" name="Google Shape;978;p27"/>
          <p:cNvSpPr/>
          <p:nvPr/>
        </p:nvSpPr>
        <p:spPr>
          <a:xfrm>
            <a:off x="4343400" y="1965960"/>
            <a:ext cx="3474720" cy="4069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" name="Google Shape;979;p27"/>
          <p:cNvSpPr/>
          <p:nvPr/>
        </p:nvSpPr>
        <p:spPr>
          <a:xfrm>
            <a:off x="4572000" y="2148840"/>
            <a:ext cx="3017520" cy="1737360"/>
          </a:xfrm>
          <a:prstGeom prst="roundRect">
            <a:avLst>
              <a:gd name="adj" fmla="val 3000"/>
            </a:avLst>
          </a:prstGeom>
          <a:solidFill>
            <a:srgbClr val="12203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80" name="Google Shape;980;p2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572000" y="2457450"/>
            <a:ext cx="3017520" cy="1120140"/>
          </a:xfrm>
          <a:prstGeom prst="rect">
            <a:avLst/>
          </a:prstGeom>
          <a:noFill/>
          <a:ln>
            <a:noFill/>
          </a:ln>
        </p:spPr>
      </p:pic>
      <p:sp>
        <p:nvSpPr>
          <p:cNvPr id="981" name="Google Shape;981;p27"/>
          <p:cNvSpPr txBox="1"/>
          <p:nvPr/>
        </p:nvSpPr>
        <p:spPr>
          <a:xfrm>
            <a:off x="4572000" y="3931920"/>
            <a:ext cx="3017520" cy="15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인게임에 적용된 몬스터들</a:t>
            </a:r>
            <a:endParaRPr sz="90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82" name="Google Shape;982;p27"/>
          <p:cNvSpPr txBox="1"/>
          <p:nvPr/>
        </p:nvSpPr>
        <p:spPr>
          <a:xfrm>
            <a:off x="4572000" y="4206240"/>
            <a:ext cx="3017520" cy="2169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</a:t>
            </a:r>
            <a:endParaRPr sz="14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83" name="Google Shape;983;p27"/>
          <p:cNvSpPr txBox="1"/>
          <p:nvPr/>
        </p:nvSpPr>
        <p:spPr>
          <a:xfrm>
            <a:off x="7063586" y="4251960"/>
            <a:ext cx="525933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12장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4" name="Google Shape;984;p27"/>
          <p:cNvSpPr/>
          <p:nvPr/>
        </p:nvSpPr>
        <p:spPr>
          <a:xfrm>
            <a:off x="4572000" y="46634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5" name="Google Shape;985;p27"/>
          <p:cNvSpPr txBox="1"/>
          <p:nvPr/>
        </p:nvSpPr>
        <p:spPr>
          <a:xfrm>
            <a:off x="4572000" y="4800600"/>
            <a:ext cx="3017520" cy="853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이름과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외형에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대해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프롬프트를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입력하여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컨셉에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맞는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외형을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자동으로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결정</a:t>
            </a:r>
            <a:endParaRPr sz="105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몬스터를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어떤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지역의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몇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스테이지에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스폰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시키는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것까지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확정하여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인게임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적용을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자동화</a:t>
            </a:r>
            <a:endParaRPr sz="105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86" name="Google Shape;986;p27"/>
          <p:cNvSpPr/>
          <p:nvPr/>
        </p:nvSpPr>
        <p:spPr>
          <a:xfrm>
            <a:off x="8001000" y="1965960"/>
            <a:ext cx="3474720" cy="4069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7" name="Google Shape;987;p27"/>
          <p:cNvSpPr/>
          <p:nvPr/>
        </p:nvSpPr>
        <p:spPr>
          <a:xfrm>
            <a:off x="8229600" y="2148840"/>
            <a:ext cx="3017520" cy="1737360"/>
          </a:xfrm>
          <a:prstGeom prst="roundRect">
            <a:avLst>
              <a:gd name="adj" fmla="val 3000"/>
            </a:avLst>
          </a:prstGeom>
          <a:solidFill>
            <a:srgbClr val="12203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88" name="Google Shape;988;p2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444204" y="2148840"/>
            <a:ext cx="2588311" cy="1737360"/>
          </a:xfrm>
          <a:prstGeom prst="rect">
            <a:avLst/>
          </a:prstGeom>
          <a:noFill/>
          <a:ln>
            <a:noFill/>
          </a:ln>
        </p:spPr>
      </p:pic>
      <p:sp>
        <p:nvSpPr>
          <p:cNvPr id="989" name="Google Shape;989;p27"/>
          <p:cNvSpPr txBox="1"/>
          <p:nvPr/>
        </p:nvSpPr>
        <p:spPr>
          <a:xfrm>
            <a:off x="8229600" y="3931920"/>
            <a:ext cx="3017520" cy="15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AI를 통해 제작된 아이템 아이콘들</a:t>
            </a:r>
            <a:endParaRPr sz="90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90" name="Google Shape;990;p27"/>
          <p:cNvSpPr txBox="1"/>
          <p:nvPr/>
        </p:nvSpPr>
        <p:spPr>
          <a:xfrm>
            <a:off x="8229600" y="4206240"/>
            <a:ext cx="3017520" cy="236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아이템</a:t>
            </a:r>
            <a:endParaRPr sz="1400" b="1" i="0" u="none" strike="noStrike" cap="none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91" name="Google Shape;991;p27"/>
          <p:cNvSpPr txBox="1"/>
          <p:nvPr/>
        </p:nvSpPr>
        <p:spPr>
          <a:xfrm>
            <a:off x="10641406" y="4251960"/>
            <a:ext cx="605713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 13장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2" name="Google Shape;992;p27"/>
          <p:cNvSpPr/>
          <p:nvPr/>
        </p:nvSpPr>
        <p:spPr>
          <a:xfrm>
            <a:off x="8229600" y="4663440"/>
            <a:ext cx="457200" cy="27432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3" name="Google Shape;993;p27"/>
          <p:cNvSpPr txBox="1"/>
          <p:nvPr/>
        </p:nvSpPr>
        <p:spPr>
          <a:xfrm>
            <a:off x="8229600" y="4800600"/>
            <a:ext cx="3017520" cy="10663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등급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슬롯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규칙대로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코드가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픽셀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아트풍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아이콘을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생성한다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105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master-item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스킬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한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번에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정본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아이콘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DB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item_{code}.png </a:t>
            </a:r>
            <a:r>
              <a:rPr lang="ko-KR" altLang="en-US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아이콘명을 사용하여 인게임에서 </a:t>
            </a:r>
            <a:r>
              <a:rPr lang="en-US" altLang="ko-KR" sz="105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item_code</a:t>
            </a:r>
            <a:r>
              <a:rPr lang="ko-KR" altLang="en-US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 자동 연결</a:t>
            </a:r>
            <a:endParaRPr sz="105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8" name="Google Shape;998;p28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9" name="Google Shape;999;p2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00" name="Google Shape;1000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1001" name="Google Shape;1001;p28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SOUND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2" name="Google Shape;1002;p28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3" name="Google Shape;1003;p28"/>
          <p:cNvSpPr txBox="1"/>
          <p:nvPr/>
        </p:nvSpPr>
        <p:spPr>
          <a:xfrm>
            <a:off x="685800" y="914400"/>
            <a:ext cx="1088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11.  사운드 리소스 생성 및 관리 - Stable Audio 모델 활용</a:t>
            </a:r>
            <a:endParaRPr sz="30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04" name="Google Shape;1004;p28"/>
          <p:cNvSpPr txBox="1"/>
          <p:nvPr/>
        </p:nvSpPr>
        <p:spPr>
          <a:xfrm>
            <a:off x="685800" y="1536192"/>
            <a:ext cx="10881360" cy="26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BGM ·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징글부터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UI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클릭음까지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75종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외부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음원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없이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텍스트→오디오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모델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Stable Audio(stable-audio-2.5)로 </a:t>
            </a:r>
            <a:r>
              <a:rPr lang="ko-KR" alt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생성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5" name="Google Shape;1005;p28"/>
          <p:cNvSpPr/>
          <p:nvPr/>
        </p:nvSpPr>
        <p:spPr>
          <a:xfrm>
            <a:off x="685800" y="1993392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4850" tIns="45700" rIns="54850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ko-KR" altLang="en-US" sz="800" b="1" dirty="0">
                <a:solidFill>
                  <a:srgbClr val="1B2430"/>
                </a:solidFill>
                <a:latin typeface="Malgun Gothic"/>
                <a:ea typeface="Malgun Gothic"/>
                <a:sym typeface="Malgun Gothic"/>
              </a:rPr>
              <a:t>기획문서 기반으로 현재 게임에 필요한 사운드 리소스 정리문서 작성 요청</a:t>
            </a:r>
            <a:endParaRPr sz="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6" name="Google Shape;1006;p28"/>
          <p:cNvSpPr txBox="1"/>
          <p:nvPr/>
        </p:nvSpPr>
        <p:spPr>
          <a:xfrm>
            <a:off x="2258568" y="2267712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7" name="Google Shape;1007;p28"/>
          <p:cNvSpPr/>
          <p:nvPr/>
        </p:nvSpPr>
        <p:spPr>
          <a:xfrm>
            <a:off x="2529230" y="1993392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4850" tIns="45700" rIns="54850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 algn="ctr">
              <a:lnSpc>
                <a:spcPct val="120000"/>
              </a:lnSpc>
              <a:buSzPts val="1050"/>
            </a:pPr>
            <a:r>
              <a:rPr lang="ko-KR" altLang="en-US" sz="8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사운드 정리문서</a:t>
            </a:r>
            <a:br>
              <a:rPr lang="ko-KR" altLang="en-US" sz="10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/>
                <a:ea typeface="Malgun Gothic"/>
                <a:cs typeface="Malgun Gothic"/>
                <a:sym typeface="Malgun Gothic"/>
              </a:rPr>
              <a:t>(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사운드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/>
                <a:ea typeface="Malgun Gothic"/>
                <a:cs typeface="Malgun Gothic"/>
                <a:sym typeface="Malgun Gothic"/>
              </a:rPr>
              <a:t>-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/>
                <a:ea typeface="Malgun Gothic"/>
                <a:cs typeface="Malgun Gothic"/>
                <a:sym typeface="Malgun Gothic"/>
              </a:rPr>
              <a:t>리소스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/>
                <a:ea typeface="Malgun Gothic"/>
                <a:cs typeface="Malgun Gothic"/>
                <a:sym typeface="Malgun Gothic"/>
              </a:rPr>
              <a:t>-</a:t>
            </a:r>
            <a:r>
              <a:rPr lang="ko-KR" altLang="en-US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/>
                <a:ea typeface="Malgun Gothic"/>
                <a:cs typeface="Malgun Gothic"/>
                <a:sym typeface="Malgun Gothic"/>
              </a:rPr>
              <a:t>정의</a:t>
            </a:r>
            <a:r>
              <a:rPr lang="en-US" altLang="ko-KR" sz="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/>
                <a:ea typeface="Malgun Gothic"/>
                <a:cs typeface="Malgun Gothic"/>
                <a:sym typeface="Malgun Gothic"/>
              </a:rPr>
              <a:t>.md)</a:t>
            </a:r>
            <a:r>
              <a:rPr lang="ko-KR" altLang="en-US" sz="8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</a:t>
            </a:r>
            <a:endParaRPr lang="ko-KR" altLang="en-US" sz="800" dirty="0"/>
          </a:p>
          <a:p>
            <a:pPr lvl="0" algn="ctr">
              <a:lnSpc>
                <a:spcPct val="120000"/>
              </a:lnSpc>
              <a:buSzPts val="1050"/>
            </a:pPr>
            <a:r>
              <a:rPr lang="ko-KR" altLang="en-US" sz="8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생성 </a:t>
            </a:r>
            <a:r>
              <a:rPr lang="en-US" altLang="ko-KR" sz="8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ko-KR" altLang="en-US" sz="8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인게임</a:t>
            </a:r>
            <a:r>
              <a:rPr lang="ko-KR" altLang="en-US" sz="8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br>
              <a:rPr lang="ko-KR" altLang="en-US" sz="8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-KR" altLang="en-US" sz="8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적용여부 명시</a:t>
            </a:r>
            <a:endParaRPr lang="ko-KR" altLang="en-US" sz="800" dirty="0"/>
          </a:p>
        </p:txBody>
      </p:sp>
      <p:sp>
        <p:nvSpPr>
          <p:cNvPr id="1008" name="Google Shape;1008;p28"/>
          <p:cNvSpPr txBox="1"/>
          <p:nvPr/>
        </p:nvSpPr>
        <p:spPr>
          <a:xfrm>
            <a:off x="4101998" y="2267712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9" name="Google Shape;1009;p28"/>
          <p:cNvSpPr/>
          <p:nvPr/>
        </p:nvSpPr>
        <p:spPr>
          <a:xfrm>
            <a:off x="4372660" y="1993392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4850" tIns="45700" rIns="54850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 algn="ctr">
              <a:lnSpc>
                <a:spcPct val="120000"/>
              </a:lnSpc>
              <a:buSzPts val="1050"/>
            </a:pPr>
            <a:r>
              <a:rPr lang="ko-KR" altLang="en-US" sz="10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사운드 생성요청</a:t>
            </a:r>
            <a:br>
              <a:rPr lang="en-US" altLang="ko-KR" sz="10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en-US" altLang="ko-KR" sz="7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/>
                <a:ea typeface="Malgun Gothic"/>
                <a:cs typeface="Malgun Gothic"/>
                <a:sym typeface="Malgun Gothic"/>
              </a:rPr>
              <a:t>ex) </a:t>
            </a:r>
            <a:r>
              <a:rPr lang="ko-KR" altLang="en-US" sz="7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사운드 정리문서 확인해서 아직 생성 안된 사운드 생성해줘</a:t>
            </a:r>
            <a:endParaRPr sz="750" b="0" i="0" u="none" strike="noStrike" cap="none" dirty="0">
              <a:solidFill>
                <a:schemeClr val="tx1">
                  <a:lumMod val="50000"/>
                  <a:lumOff val="50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0" name="Google Shape;1010;p28"/>
          <p:cNvSpPr txBox="1"/>
          <p:nvPr/>
        </p:nvSpPr>
        <p:spPr>
          <a:xfrm>
            <a:off x="5945428" y="2267712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1" name="Google Shape;1011;p28"/>
          <p:cNvSpPr/>
          <p:nvPr/>
        </p:nvSpPr>
        <p:spPr>
          <a:xfrm>
            <a:off x="6216091" y="1993392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4850" tIns="45700" rIns="54850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 algn="ctr">
              <a:lnSpc>
                <a:spcPct val="120000"/>
              </a:lnSpc>
              <a:buSzPts val="1050"/>
            </a:pPr>
            <a:r>
              <a:rPr lang="ko-KR" altLang="en-US" sz="10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문서에 명시된 대로</a:t>
            </a:r>
          </a:p>
          <a:p>
            <a:pPr lvl="0" algn="ctr">
              <a:lnSpc>
                <a:spcPct val="120000"/>
              </a:lnSpc>
              <a:buSzPts val="1050"/>
            </a:pPr>
            <a:r>
              <a:rPr lang="en-US" altLang="ko-KR" sz="10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generate_sound.py </a:t>
            </a:r>
            <a:r>
              <a:rPr lang="ko-KR" altLang="en-US" sz="10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호출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2" name="Google Shape;1012;p28"/>
          <p:cNvSpPr txBox="1"/>
          <p:nvPr/>
        </p:nvSpPr>
        <p:spPr>
          <a:xfrm>
            <a:off x="7788859" y="2267712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3" name="Google Shape;1013;p28"/>
          <p:cNvSpPr/>
          <p:nvPr/>
        </p:nvSpPr>
        <p:spPr>
          <a:xfrm>
            <a:off x="8059521" y="1993392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4850" tIns="45700" rIns="54850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 algn="ctr">
              <a:lnSpc>
                <a:spcPct val="120000"/>
              </a:lnSpc>
              <a:buSzPts val="1050"/>
            </a:pPr>
            <a:r>
              <a:rPr lang="ko-KR" altLang="en-US" sz="10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생성된 사운드</a:t>
            </a:r>
            <a:br>
              <a:rPr lang="ko-KR" altLang="en-US" sz="10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ko-KR" altLang="en-US" sz="10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길이 </a:t>
            </a:r>
            <a:r>
              <a:rPr lang="en-US" altLang="ko-KR" sz="10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ko-KR" altLang="en-US" sz="10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크기 검증</a:t>
            </a:r>
            <a:endParaRPr lang="ko-KR" altLang="en-US" dirty="0"/>
          </a:p>
        </p:txBody>
      </p:sp>
      <p:sp>
        <p:nvSpPr>
          <p:cNvPr id="1014" name="Google Shape;1014;p28"/>
          <p:cNvSpPr txBox="1"/>
          <p:nvPr/>
        </p:nvSpPr>
        <p:spPr>
          <a:xfrm>
            <a:off x="9632289" y="2267712"/>
            <a:ext cx="274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1" i="0" u="none" strike="noStrike" cap="none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5" name="Google Shape;1015;p28"/>
          <p:cNvSpPr/>
          <p:nvPr/>
        </p:nvSpPr>
        <p:spPr>
          <a:xfrm>
            <a:off x="9902952" y="1993392"/>
            <a:ext cx="1572768" cy="960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54850" tIns="45700" rIns="54850" bIns="45700" anchor="ctr" anchorCtr="0">
            <a:no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ko-KR" altLang="en-US" sz="1050" b="1" dirty="0" err="1">
                <a:solidFill>
                  <a:srgbClr val="1B2430"/>
                </a:solidFill>
                <a:latin typeface="Malgun Gothic"/>
                <a:ea typeface="Malgun Gothic"/>
                <a:sym typeface="Malgun Gothic"/>
              </a:rPr>
              <a:t>인게임</a:t>
            </a:r>
            <a:r>
              <a:rPr lang="ko-KR" altLang="en-US" sz="1050" b="1" dirty="0">
                <a:solidFill>
                  <a:srgbClr val="1B2430"/>
                </a:solidFill>
                <a:latin typeface="Malgun Gothic"/>
                <a:ea typeface="Malgun Gothic"/>
                <a:sym typeface="Malgun Gothic"/>
              </a:rPr>
              <a:t> 적용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016" name="Google Shape;1016;p28"/>
          <p:cNvGraphicFramePr/>
          <p:nvPr>
            <p:extLst>
              <p:ext uri="{D42A27DB-BD31-4B8C-83A1-F6EECF244321}">
                <p14:modId xmlns:p14="http://schemas.microsoft.com/office/powerpoint/2010/main" val="2006685083"/>
              </p:ext>
            </p:extLst>
          </p:nvPr>
        </p:nvGraphicFramePr>
        <p:xfrm>
          <a:off x="685770" y="3579887"/>
          <a:ext cx="10789950" cy="786375"/>
        </p:xfrm>
        <a:graphic>
          <a:graphicData uri="http://schemas.openxmlformats.org/drawingml/2006/table">
            <a:tbl>
              <a:tblPr firstRow="1">
                <a:noFill/>
                <a:tableStyleId>{117F4239-6CF6-4BE5-99FF-9D92B26D0C97}</a:tableStyleId>
              </a:tblPr>
              <a:tblGrid>
                <a:gridCol w="1188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344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73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972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84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구분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1" u="none" strike="noStrike" cap="none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BGM</a:t>
                      </a:r>
                      <a:endParaRPr sz="1400" u="none" strike="noStrike" cap="none" dirty="0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UI · 시스템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전투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성장 · 편의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가챠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보스러시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합계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ko-KR" altLang="en-US" sz="1150" b="1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sym typeface="Malgun Gothic"/>
                        </a:rPr>
                        <a:t>사운드 종류</a:t>
                      </a:r>
                      <a:endParaRPr sz="1400" u="none" strike="noStrike" cap="none" dirty="0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10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21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26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50"/>
                        <a:buFont typeface="Arial"/>
                        <a:buNone/>
                      </a:pPr>
                      <a:r>
                        <a:rPr lang="en-US" sz="11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5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 dirty="0">
                          <a:solidFill>
                            <a:srgbClr val="2F6FE4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75</a:t>
                      </a:r>
                      <a:endParaRPr sz="1400" u="none" strike="noStrike" cap="none" dirty="0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017" name="Google Shape;1017;p28"/>
          <p:cNvSpPr/>
          <p:nvPr/>
        </p:nvSpPr>
        <p:spPr>
          <a:xfrm>
            <a:off x="685770" y="4640596"/>
            <a:ext cx="10789800" cy="1200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8" name="Google Shape;1018;p28"/>
          <p:cNvSpPr txBox="1"/>
          <p:nvPr/>
        </p:nvSpPr>
        <p:spPr>
          <a:xfrm>
            <a:off x="960090" y="4841759"/>
            <a:ext cx="10241400" cy="9344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사운드</a:t>
            </a:r>
            <a:r>
              <a:rPr lang="en-US" sz="130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30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생성</a:t>
            </a:r>
            <a:r>
              <a:rPr lang="en-US" sz="130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30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도구</a:t>
            </a:r>
            <a:r>
              <a:rPr lang="en-US" sz="130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tools/poe-sfx/generate_sound.py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11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모델은</a:t>
            </a:r>
            <a:r>
              <a:rPr lang="en-US" sz="11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Stability </a:t>
            </a:r>
            <a:r>
              <a:rPr lang="en-US" sz="11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AI의</a:t>
            </a:r>
            <a:r>
              <a:rPr lang="en-US" sz="11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Stable Audio 2.5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Poe의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OpenAI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호환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API로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호출한다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목록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(TSV)을 </a:t>
            </a:r>
            <a:r>
              <a:rPr lang="en-US" sz="11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4개씩 </a:t>
            </a:r>
            <a:r>
              <a:rPr lang="en-US" sz="11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병렬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돌리고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이미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있는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파일은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건너뛴다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11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 </a:t>
            </a:r>
            <a:r>
              <a:rPr lang="en-US" sz="11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트랙이</a:t>
            </a:r>
            <a:r>
              <a:rPr lang="en-US" sz="11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Stable </a:t>
            </a:r>
            <a:r>
              <a:rPr lang="en-US" sz="11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Audio로</a:t>
            </a:r>
            <a:r>
              <a:rPr lang="en-US" sz="11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만든</a:t>
            </a:r>
            <a:r>
              <a:rPr lang="en-US" sz="11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오리지널</a:t>
            </a:r>
            <a:r>
              <a:rPr lang="en-US" sz="11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오디오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3" name="Google Shape;1023;p30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24" name="Google Shape;1024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1025" name="Google Shape;1025;p30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FOLDER LAYOUT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6" name="Google Shape;1026;p30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7" name="Google Shape;1027;p30"/>
          <p:cNvSpPr txBox="1"/>
          <p:nvPr/>
        </p:nvSpPr>
        <p:spPr>
          <a:xfrm>
            <a:off x="685800" y="914400"/>
            <a:ext cx="108813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11.1  사운드 리소스 관리 — 사운드 종류별 정리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9" name="Google Shape;1029;p30"/>
          <p:cNvSpPr/>
          <p:nvPr/>
        </p:nvSpPr>
        <p:spPr>
          <a:xfrm>
            <a:off x="1222696" y="1800446"/>
            <a:ext cx="6400800" cy="42702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0" name="Google Shape;1030;p30"/>
          <p:cNvSpPr txBox="1"/>
          <p:nvPr/>
        </p:nvSpPr>
        <p:spPr>
          <a:xfrm>
            <a:off x="1451296" y="1955894"/>
            <a:ext cx="5943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com2us-taskbar-hero-client/Assets/Sound/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78947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Stable Audio로 만든 mp3는 전부 이 아래에만 놓인다 · 오른쪽 숫자 = 실제 파일 수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1" name="Google Shape;1031;p30"/>
          <p:cNvSpPr txBox="1"/>
          <p:nvPr/>
        </p:nvSpPr>
        <p:spPr>
          <a:xfrm>
            <a:off x="1451296" y="2413094"/>
            <a:ext cx="1920240" cy="30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Assets/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└─ Sound/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├─ BGM/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└─ SFX/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├─ UI/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├─ System/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├─ Battle/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│  ├─ Common/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│  ├─ Knight/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│  ├─ Archer/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│  ├─ Mage/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│  ├─ Slayer/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│  └─ Monster/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├─ Growth/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├─ Gacha/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0" i="0" u="none" strike="noStrike" cap="none">
                <a:solidFill>
                  <a:srgbClr val="1B2430"/>
                </a:solidFill>
                <a:latin typeface="Consolas"/>
                <a:ea typeface="Consolas"/>
                <a:cs typeface="Consolas"/>
                <a:sym typeface="Consolas"/>
              </a:rPr>
              <a:t>      └─ BossRush/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2" name="Google Shape;1032;p30"/>
          <p:cNvSpPr txBox="1"/>
          <p:nvPr/>
        </p:nvSpPr>
        <p:spPr>
          <a:xfrm>
            <a:off x="3371536" y="2413094"/>
            <a:ext cx="411480" cy="30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75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65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57894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50"/>
              <a:buFont typeface="Arial"/>
              <a:buNone/>
            </a:pPr>
            <a:r>
              <a:rPr lang="en-US" sz="9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3" name="Google Shape;1033;p30"/>
          <p:cNvSpPr txBox="1"/>
          <p:nvPr/>
        </p:nvSpPr>
        <p:spPr>
          <a:xfrm>
            <a:off x="3920176" y="2413094"/>
            <a:ext cx="3474720" cy="304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생성한 mp3가 놓이는 유일한 자리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배경음 루프 90초 · 연출 징글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효과음 1~2초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버튼 · 패널 · 모달 공통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타이틀 · 계정 · 씬 전환 · 캐릭터 생성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여기만 한 단계 더 — 직업별로 나눈다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입장 · 피격 · 사망 · 레벨업 · 보상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기사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레인저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마법사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슬레이어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 · 보스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인벤토리 · 스킬 · 룬 · 큐브 · 메일 · 출석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뽑기 시전 · 슬롯 공개 · 등급 연출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6666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en-US" sz="9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포탈 · 도전 시작 · 신기록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4" name="Google Shape;1034;p3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5E2D926-12D7-ACD9-E451-E7A8F61430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6367" y="2309328"/>
            <a:ext cx="2168554" cy="276414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592817E5-932D-A49E-376A-D545D09B4900}"/>
              </a:ext>
            </a:extLst>
          </p:cNvPr>
          <p:cNvSpPr/>
          <p:nvPr/>
        </p:nvSpPr>
        <p:spPr>
          <a:xfrm>
            <a:off x="8767633" y="5242980"/>
            <a:ext cx="1706022" cy="21811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인게임</a:t>
            </a:r>
            <a:r>
              <a:rPr lang="ko-KR" altLang="en-US" dirty="0"/>
              <a:t> 볼륨 조절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p3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5" name="Google Shape;1065;p3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HARNESS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6" name="Google Shape;1066;p31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7" name="Google Shape;1067;p31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12. 개발용 하네스 씬 구성</a:t>
            </a:r>
            <a:endParaRPr sz="30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068" name="Google Shape;1068;p31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인게임 전투를 개발하기 위한 개발용 씬</a:t>
            </a:r>
            <a:endParaRPr sz="1400" b="0" i="0" u="none" strike="noStrike" cap="none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069" name="Google Shape;1069;p31" descr="BattleDevScen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44971" y="2057400"/>
            <a:ext cx="5093738" cy="3017520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5098"/>
              </a:srgbClr>
            </a:outerShdw>
          </a:effectLst>
        </p:spPr>
      </p:pic>
      <p:sp>
        <p:nvSpPr>
          <p:cNvPr id="1070" name="Google Shape;1070;p31"/>
          <p:cNvSpPr txBox="1"/>
          <p:nvPr/>
        </p:nvSpPr>
        <p:spPr>
          <a:xfrm>
            <a:off x="685800" y="5166360"/>
            <a:ext cx="5212080" cy="211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BattleDevScene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파티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4인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스탯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스킬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쿨다운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소환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선택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기능 포함</a:t>
            </a:r>
            <a:endParaRPr sz="110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071" name="Google Shape;1071;p31" descr="AnimDevScen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19881" y="2057400"/>
            <a:ext cx="5191037" cy="3017520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5098"/>
              </a:srgbClr>
            </a:outerShdw>
          </a:effectLst>
        </p:spPr>
      </p:pic>
      <p:sp>
        <p:nvSpPr>
          <p:cNvPr id="1072" name="Google Shape;1072;p31"/>
          <p:cNvSpPr txBox="1"/>
          <p:nvPr/>
        </p:nvSpPr>
        <p:spPr>
          <a:xfrm>
            <a:off x="6309360" y="51663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AnimDevScene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클립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목록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직업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/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성별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전환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무기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강화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단계별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이펙트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4" name="Google Shape;1074;p31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27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75" name="Google Shape;1075;p3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Google Shape;1080;p32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1" name="Google Shape;1081;p32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28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82" name="Google Shape;1082;p3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1083" name="Google Shape;1083;p3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HARNESS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4" name="Google Shape;1084;p32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5" name="Google Shape;1085;p32"/>
          <p:cNvSpPr txBox="1"/>
          <p:nvPr/>
        </p:nvSpPr>
        <p:spPr>
          <a:xfrm>
            <a:off x="685800" y="914400"/>
            <a:ext cx="10881360" cy="57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12.1 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BattleDevScene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– </a:t>
            </a:r>
            <a:r>
              <a:rPr lang="ko-KR" alt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인게임</a:t>
            </a:r>
            <a:r>
              <a:rPr lang="ko-KR" alt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전투 시스템 개발용 </a:t>
            </a:r>
            <a:r>
              <a:rPr lang="ko-KR" alt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하네스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6" name="Google Shape;1086;p32"/>
          <p:cNvSpPr txBox="1"/>
          <p:nvPr/>
        </p:nvSpPr>
        <p:spPr>
          <a:xfrm>
            <a:off x="685800" y="1536192"/>
            <a:ext cx="1088136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스테이지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진입을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거치지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않고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전투만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실행하는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씬 (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메뉴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TaskbarHero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/씬 · Alt+5 ·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빌드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미등록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1" name="Google Shape;1091;p32"/>
          <p:cNvSpPr/>
          <p:nvPr/>
        </p:nvSpPr>
        <p:spPr>
          <a:xfrm>
            <a:off x="1508760" y="4992657"/>
            <a:ext cx="5709097" cy="149958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2" name="Google Shape;1092;p32"/>
          <p:cNvSpPr txBox="1"/>
          <p:nvPr/>
        </p:nvSpPr>
        <p:spPr>
          <a:xfrm>
            <a:off x="1719072" y="5138961"/>
            <a:ext cx="5282069" cy="12795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Arial"/>
                <a:sym typeface="Malgun Gothic"/>
              </a:rPr>
              <a:t>BattleDevScene</a:t>
            </a:r>
            <a:r>
              <a:rPr lang="ko-KR" alt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Arial"/>
                <a:sym typeface="Malgun Gothic"/>
              </a:rPr>
              <a:t> </a:t>
            </a:r>
            <a:r>
              <a:rPr lang="ko-KR" altLang="en-US" sz="1050" b="1" dirty="0">
                <a:solidFill>
                  <a:srgbClr val="2F6FE4"/>
                </a:solidFill>
                <a:latin typeface="Malgun Gothic"/>
                <a:ea typeface="Malgun Gothic"/>
                <a:sym typeface="Malgun Gothic"/>
              </a:rPr>
              <a:t>을 추가한 이유</a:t>
            </a:r>
            <a:endParaRPr sz="105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ko-KR" altLang="en-US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 전투 시스템 개발 초기</a:t>
            </a:r>
            <a:r>
              <a:rPr lang="en-US" altLang="ko-KR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각 캐릭터별 스킬 </a:t>
            </a:r>
            <a:r>
              <a:rPr lang="ko-KR" altLang="en-US" sz="105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쿨타임과</a:t>
            </a:r>
            <a:r>
              <a:rPr lang="ko-KR" altLang="en-US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전투의 전체적인 느낌을 확인하기 위해</a:t>
            </a:r>
            <a:endParaRPr sz="105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ko-KR" alt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 뭉침 시 </a:t>
            </a:r>
            <a:r>
              <a:rPr lang="en-US" altLang="ko-KR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Y</a:t>
            </a:r>
            <a:r>
              <a:rPr lang="ko-KR" alt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축 흩어짐이나 데미지 표시 시스템 등</a:t>
            </a:r>
            <a:r>
              <a:rPr lang="en-US" altLang="ko-KR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전투와 관련된 시스템 적용 후 빠른 확인을 위해</a:t>
            </a:r>
            <a:endParaRPr lang="en-US" altLang="ko-KR" sz="105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>
              <a:lnSpc>
                <a:spcPct val="132000"/>
              </a:lnSpc>
              <a:buSzPts val="1050"/>
            </a:pPr>
            <a:r>
              <a:rPr lang="en-US" altLang="ko-KR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</a:t>
            </a:r>
            <a:r>
              <a:rPr lang="ko-KR" altLang="en-US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새로운 스킬 추가 시</a:t>
            </a:r>
            <a:r>
              <a:rPr lang="en-US" altLang="ko-KR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05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인게임</a:t>
            </a:r>
            <a:r>
              <a:rPr lang="ko-KR" altLang="en-US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연출</a:t>
            </a:r>
            <a:r>
              <a:rPr lang="en-US" altLang="ko-KR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</a:t>
            </a:r>
            <a:r>
              <a:rPr lang="ko-KR" altLang="en-US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카메라 흔들림</a:t>
            </a:r>
            <a:r>
              <a:rPr lang="en-US" altLang="ko-KR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05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넉백</a:t>
            </a:r>
            <a:r>
              <a:rPr lang="ko-KR" altLang="en-US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등</a:t>
            </a:r>
            <a:r>
              <a:rPr lang="en-US" altLang="ko-KR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)</a:t>
            </a:r>
            <a:r>
              <a:rPr lang="ko-KR" altLang="en-US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을 확인하기 위해</a:t>
            </a:r>
            <a:endParaRPr sz="105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D1B60B7-61C8-4A43-184B-570724C576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1187" y="2085160"/>
            <a:ext cx="2270428" cy="364966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D147EC4-768F-6D6A-1348-97749E9504A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6728" y="1875946"/>
            <a:ext cx="4828333" cy="269197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F5272364-729D-C272-1204-CD4EA3A6DC15}"/>
              </a:ext>
            </a:extLst>
          </p:cNvPr>
          <p:cNvSpPr/>
          <p:nvPr/>
        </p:nvSpPr>
        <p:spPr>
          <a:xfrm>
            <a:off x="2410619" y="4680450"/>
            <a:ext cx="3424629" cy="21811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전투시스템 개발용 </a:t>
            </a:r>
            <a:r>
              <a:rPr lang="en-US" altLang="ko-KR" dirty="0" err="1"/>
              <a:t>BattleDevScene</a:t>
            </a:r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7DD46A7-42F5-C944-FE2B-BCFECAE9DBAA}"/>
              </a:ext>
            </a:extLst>
          </p:cNvPr>
          <p:cNvSpPr/>
          <p:nvPr/>
        </p:nvSpPr>
        <p:spPr>
          <a:xfrm>
            <a:off x="8177809" y="5825672"/>
            <a:ext cx="1777184" cy="21811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씬 좌측 개발용 패널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Google Shape;1105;p33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6" name="Google Shape;1106;p33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29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07" name="Google Shape;1107;p3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1108" name="Google Shape;1108;p3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HARNESS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9" name="Google Shape;1109;p33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0" name="Google Shape;1110;p33"/>
          <p:cNvSpPr txBox="1"/>
          <p:nvPr/>
        </p:nvSpPr>
        <p:spPr>
          <a:xfrm>
            <a:off x="685800" y="914400"/>
            <a:ext cx="10881360" cy="57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12.2 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AnimDevScene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–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모션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이펙트 확인용 </a:t>
            </a:r>
            <a:r>
              <a:rPr lang="ko-KR" alt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하네스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1" name="Google Shape;1111;p33"/>
          <p:cNvSpPr txBox="1"/>
          <p:nvPr/>
        </p:nvSpPr>
        <p:spPr>
          <a:xfrm>
            <a:off x="685800" y="1536192"/>
            <a:ext cx="10881360" cy="26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한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명만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세우고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배경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조명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전투를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뺀 씬 (Alt+6 · </a:t>
            </a:r>
            <a:r>
              <a:rPr lang="ko-KR" alt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빌드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미</a:t>
            </a:r>
            <a:r>
              <a:rPr lang="ko-KR" altLang="en-US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포함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12" name="Google Shape;1112;p33" descr="image.png"/>
          <p:cNvPicPr preferRelativeResize="0"/>
          <p:nvPr/>
        </p:nvPicPr>
        <p:blipFill rotWithShape="1">
          <a:blip r:embed="rId4">
            <a:alphaModFix/>
          </a:blip>
          <a:srcRect t="6800"/>
          <a:stretch/>
        </p:blipFill>
        <p:spPr>
          <a:xfrm>
            <a:off x="635466" y="2405881"/>
            <a:ext cx="5760720" cy="3120963"/>
          </a:xfrm>
          <a:prstGeom prst="rect">
            <a:avLst/>
          </a:prstGeom>
          <a:noFill/>
          <a:ln w="9525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116" name="Google Shape;1116;p33"/>
          <p:cNvSpPr/>
          <p:nvPr/>
        </p:nvSpPr>
        <p:spPr>
          <a:xfrm>
            <a:off x="6720840" y="1920240"/>
            <a:ext cx="4754880" cy="12382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7" name="Google Shape;1117;p33"/>
          <p:cNvSpPr txBox="1"/>
          <p:nvPr/>
        </p:nvSpPr>
        <p:spPr>
          <a:xfrm>
            <a:off x="6949440" y="2066543"/>
            <a:ext cx="4297680" cy="8937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왼쪽</a:t>
            </a:r>
            <a:r>
              <a:rPr lang="en-US" sz="12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</a:t>
            </a:r>
            <a:r>
              <a:rPr lang="en-US" sz="12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애니메이션</a:t>
            </a:r>
            <a:r>
              <a:rPr lang="en-US" sz="12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목록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10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프리팹</a:t>
            </a:r>
            <a:r>
              <a:rPr lang="ko-KR" altLang="en-US" sz="10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재생가능한 애니메이션을 좌측에 나열</a:t>
            </a:r>
            <a:endParaRPr lang="en-US" altLang="ko-KR" sz="1050" b="1" i="0" u="none" strike="noStrike" cap="none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목록에서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고른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뒤 </a:t>
            </a:r>
            <a:r>
              <a:rPr lang="en-US" sz="10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캐릭터를</a:t>
            </a:r>
            <a:r>
              <a:rPr lang="en-US" sz="10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클릭하면</a:t>
            </a:r>
            <a:r>
              <a:rPr lang="en-US" sz="10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그 </a:t>
            </a:r>
            <a:r>
              <a:rPr lang="en-US" sz="10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클립이</a:t>
            </a:r>
            <a:r>
              <a:rPr lang="en-US" sz="10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재생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된다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분노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돌진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캐스트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홀드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화살비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내려찍기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특수</a:t>
            </a:r>
            <a:r>
              <a:rPr lang="en-US" sz="10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모션</a:t>
            </a:r>
            <a:r>
              <a:rPr lang="en-US" sz="10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</a:t>
            </a:r>
            <a:r>
              <a:rPr lang="en-US" sz="10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0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노출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8" name="Google Shape;1118;p33"/>
          <p:cNvSpPr/>
          <p:nvPr/>
        </p:nvSpPr>
        <p:spPr>
          <a:xfrm>
            <a:off x="6720840" y="3390258"/>
            <a:ext cx="475488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9" name="Google Shape;1119;p33"/>
          <p:cNvSpPr txBox="1"/>
          <p:nvPr/>
        </p:nvSpPr>
        <p:spPr>
          <a:xfrm>
            <a:off x="6949440" y="3536562"/>
            <a:ext cx="429768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위 — 직업 · 성별 전환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기사 · 궁수 · 마법사 · 슬레이어 × 남 · 여를 눌러 </a:t>
            </a:r>
            <a:r>
              <a:rPr lang="en-US" sz="10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 모션을 비교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0" name="Google Shape;1120;p33"/>
          <p:cNvSpPr/>
          <p:nvPr/>
        </p:nvSpPr>
        <p:spPr>
          <a:xfrm>
            <a:off x="6720840" y="4441818"/>
            <a:ext cx="4754880" cy="13716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1" name="Google Shape;1121;p33"/>
          <p:cNvSpPr txBox="1"/>
          <p:nvPr/>
        </p:nvSpPr>
        <p:spPr>
          <a:xfrm>
            <a:off x="6949440" y="4588122"/>
            <a:ext cx="429768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오른쪽 — 무기 강화 +0~+10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단계를 누르면 </a:t>
            </a:r>
            <a:r>
              <a:rPr lang="en-US" sz="10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잔상 색 · 무기에 서린 빛 · 반짝임</a:t>
            </a:r>
            <a:r>
              <a:rPr lang="en-US" sz="10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 즉시 바뀐다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lang="en-US" sz="10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직업을 바꿔도 단계는 유지 — 같은 +7을 검 · 활 · 지팡이로 비교한다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684A473-F4E6-4037-5BD4-46E202B54CFD}"/>
              </a:ext>
            </a:extLst>
          </p:cNvPr>
          <p:cNvSpPr/>
          <p:nvPr/>
        </p:nvSpPr>
        <p:spPr>
          <a:xfrm>
            <a:off x="1803511" y="5617525"/>
            <a:ext cx="3424629" cy="21811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MCP</a:t>
            </a:r>
            <a:r>
              <a:rPr lang="ko-KR" altLang="en-US" dirty="0"/>
              <a:t> 작업용 </a:t>
            </a:r>
            <a:r>
              <a:rPr lang="en-US" altLang="ko-KR" dirty="0" err="1"/>
              <a:t>AnimDevScene</a:t>
            </a:r>
            <a:r>
              <a:rPr lang="ko-KR" altLang="en-US" dirty="0"/>
              <a:t> 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Google Shape;1126;p3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7" name="Google Shape;1127;p34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PIPELINE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8" name="Google Shape;1128;p34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9" name="Google Shape;1129;p34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12.3 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몬스터를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요청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한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줄로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-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스테이지별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작업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자동화</a:t>
            </a:r>
            <a:endParaRPr sz="3000" b="1" i="0" u="none" strike="noStrike" cap="none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31" name="Google Shape;1131;p34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2" name="Google Shape;1132;p34"/>
          <p:cNvSpPr/>
          <p:nvPr/>
        </p:nvSpPr>
        <p:spPr>
          <a:xfrm>
            <a:off x="1320492" y="1745485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3" name="Google Shape;1133;p34"/>
          <p:cNvSpPr txBox="1"/>
          <p:nvPr/>
        </p:nvSpPr>
        <p:spPr>
          <a:xfrm>
            <a:off x="1434792" y="1951225"/>
            <a:ext cx="115606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4" name="Google Shape;1134;p34"/>
          <p:cNvSpPr txBox="1"/>
          <p:nvPr/>
        </p:nvSpPr>
        <p:spPr>
          <a:xfrm>
            <a:off x="1434792" y="2385565"/>
            <a:ext cx="1156062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입력 해석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5" name="Google Shape;1135;p34"/>
          <p:cNvSpPr/>
          <p:nvPr/>
        </p:nvSpPr>
        <p:spPr>
          <a:xfrm>
            <a:off x="2888034" y="1745485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6" name="Google Shape;1136;p34"/>
          <p:cNvSpPr txBox="1"/>
          <p:nvPr/>
        </p:nvSpPr>
        <p:spPr>
          <a:xfrm>
            <a:off x="3002334" y="1951225"/>
            <a:ext cx="115606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7" name="Google Shape;1137;p34"/>
          <p:cNvSpPr txBox="1"/>
          <p:nvPr/>
        </p:nvSpPr>
        <p:spPr>
          <a:xfrm>
            <a:off x="3002334" y="2385565"/>
            <a:ext cx="1156062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능력치 · 외형 결정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8" name="Google Shape;1138;p34"/>
          <p:cNvSpPr/>
          <p:nvPr/>
        </p:nvSpPr>
        <p:spPr>
          <a:xfrm>
            <a:off x="4455576" y="1745485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9" name="Google Shape;1139;p34"/>
          <p:cNvSpPr txBox="1"/>
          <p:nvPr/>
        </p:nvSpPr>
        <p:spPr>
          <a:xfrm>
            <a:off x="4569876" y="1951225"/>
            <a:ext cx="115606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0" name="Google Shape;1140;p34"/>
          <p:cNvSpPr txBox="1"/>
          <p:nvPr/>
        </p:nvSpPr>
        <p:spPr>
          <a:xfrm>
            <a:off x="4569876" y="2385565"/>
            <a:ext cx="1156062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ko-KR" altLang="en-US" sz="11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마스터데이터 반영</a:t>
            </a:r>
            <a:br>
              <a:rPr lang="en-US" altLang="ko-KR" sz="11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</a:br>
            <a:r>
              <a:rPr lang="en-US" altLang="ko-KR" sz="10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(</a:t>
            </a:r>
            <a:r>
              <a:rPr lang="ko-KR" altLang="en-US" sz="10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능력치</a:t>
            </a:r>
            <a:r>
              <a:rPr lang="en-US" altLang="ko-KR" sz="10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0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스테이지</a:t>
            </a:r>
            <a:r>
              <a:rPr lang="en-US" altLang="ko-KR" sz="105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)</a:t>
            </a:r>
            <a:endParaRPr sz="105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1" name="Google Shape;1141;p34"/>
          <p:cNvSpPr/>
          <p:nvPr/>
        </p:nvSpPr>
        <p:spPr>
          <a:xfrm>
            <a:off x="6023118" y="1745485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2" name="Google Shape;1142;p34"/>
          <p:cNvSpPr txBox="1"/>
          <p:nvPr/>
        </p:nvSpPr>
        <p:spPr>
          <a:xfrm>
            <a:off x="6137418" y="1951225"/>
            <a:ext cx="115606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④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3" name="Google Shape;1143;p34"/>
          <p:cNvSpPr txBox="1"/>
          <p:nvPr/>
        </p:nvSpPr>
        <p:spPr>
          <a:xfrm>
            <a:off x="6137418" y="2385565"/>
            <a:ext cx="1156062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프리팹 생성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4" name="Google Shape;1144;p34"/>
          <p:cNvSpPr/>
          <p:nvPr/>
        </p:nvSpPr>
        <p:spPr>
          <a:xfrm>
            <a:off x="7590660" y="1745485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5" name="Google Shape;1145;p34"/>
          <p:cNvSpPr txBox="1"/>
          <p:nvPr/>
        </p:nvSpPr>
        <p:spPr>
          <a:xfrm>
            <a:off x="7704960" y="1951225"/>
            <a:ext cx="115606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6" name="Google Shape;1146;p34"/>
          <p:cNvSpPr txBox="1"/>
          <p:nvPr/>
        </p:nvSpPr>
        <p:spPr>
          <a:xfrm>
            <a:off x="7704960" y="2385565"/>
            <a:ext cx="1156062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인게임 전투 적용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7" name="Google Shape;1147;p34"/>
          <p:cNvSpPr/>
          <p:nvPr/>
        </p:nvSpPr>
        <p:spPr>
          <a:xfrm>
            <a:off x="9158202" y="1745485"/>
            <a:ext cx="1384662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8" name="Google Shape;1148;p34"/>
          <p:cNvSpPr txBox="1"/>
          <p:nvPr/>
        </p:nvSpPr>
        <p:spPr>
          <a:xfrm>
            <a:off x="9272502" y="1951225"/>
            <a:ext cx="1156062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⑥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9" name="Google Shape;1149;p34"/>
          <p:cNvSpPr txBox="1"/>
          <p:nvPr/>
        </p:nvSpPr>
        <p:spPr>
          <a:xfrm>
            <a:off x="9272502" y="2385565"/>
            <a:ext cx="1156062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검증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0" name="Google Shape;1150;p34"/>
          <p:cNvSpPr txBox="1"/>
          <p:nvPr/>
        </p:nvSpPr>
        <p:spPr>
          <a:xfrm>
            <a:off x="2705154" y="2294125"/>
            <a:ext cx="1828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1" name="Google Shape;1151;p34"/>
          <p:cNvSpPr txBox="1"/>
          <p:nvPr/>
        </p:nvSpPr>
        <p:spPr>
          <a:xfrm>
            <a:off x="4272696" y="2294125"/>
            <a:ext cx="1828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2" name="Google Shape;1152;p34"/>
          <p:cNvSpPr txBox="1"/>
          <p:nvPr/>
        </p:nvSpPr>
        <p:spPr>
          <a:xfrm>
            <a:off x="5840238" y="2294125"/>
            <a:ext cx="1828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3" name="Google Shape;1153;p34"/>
          <p:cNvSpPr txBox="1"/>
          <p:nvPr/>
        </p:nvSpPr>
        <p:spPr>
          <a:xfrm>
            <a:off x="7407780" y="2294125"/>
            <a:ext cx="1828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4" name="Google Shape;1154;p34"/>
          <p:cNvSpPr txBox="1"/>
          <p:nvPr/>
        </p:nvSpPr>
        <p:spPr>
          <a:xfrm>
            <a:off x="8975322" y="2294125"/>
            <a:ext cx="18288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9AA5B4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5" name="Google Shape;1155;p34"/>
          <p:cNvSpPr/>
          <p:nvPr/>
        </p:nvSpPr>
        <p:spPr>
          <a:xfrm>
            <a:off x="1320492" y="3711445"/>
            <a:ext cx="4519746" cy="9144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</p:spPr>
        <p:txBody>
          <a:bodyPr spcFirstLastPara="1" wrap="square" lIns="137150" tIns="91425" rIns="137150" bIns="91425" anchor="ctr" anchorCtr="0">
            <a:no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2203A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 도구(CLI)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6" name="Google Shape;1156;p34"/>
          <p:cNvSpPr/>
          <p:nvPr/>
        </p:nvSpPr>
        <p:spPr>
          <a:xfrm>
            <a:off x="1411932" y="3528565"/>
            <a:ext cx="4336866" cy="1905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7" name="Google Shape;1157;p34"/>
          <p:cNvSpPr/>
          <p:nvPr/>
        </p:nvSpPr>
        <p:spPr>
          <a:xfrm>
            <a:off x="1411932" y="3345685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8" name="Google Shape;1158;p34"/>
          <p:cNvSpPr/>
          <p:nvPr/>
        </p:nvSpPr>
        <p:spPr>
          <a:xfrm>
            <a:off x="5729748" y="3345685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9" name="Google Shape;1159;p34"/>
          <p:cNvSpPr/>
          <p:nvPr/>
        </p:nvSpPr>
        <p:spPr>
          <a:xfrm>
            <a:off x="3570840" y="3528565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0" name="Google Shape;1160;p34"/>
          <p:cNvSpPr/>
          <p:nvPr/>
        </p:nvSpPr>
        <p:spPr>
          <a:xfrm>
            <a:off x="6023118" y="3711445"/>
            <a:ext cx="2952204" cy="91440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</p:spPr>
        <p:txBody>
          <a:bodyPr spcFirstLastPara="1" wrap="square" lIns="137150" tIns="91425" rIns="137150" bIns="91425" anchor="ctr" anchorCtr="0">
            <a:no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12203A"/>
                </a:solidFill>
                <a:latin typeface="Malgun Gothic"/>
                <a:ea typeface="Malgun Gothic"/>
                <a:cs typeface="Malgun Gothic"/>
                <a:sym typeface="Malgun Gothic"/>
              </a:rPr>
              <a:t>④⑤ Unity MCP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1" name="Google Shape;1161;p34"/>
          <p:cNvSpPr/>
          <p:nvPr/>
        </p:nvSpPr>
        <p:spPr>
          <a:xfrm>
            <a:off x="6114558" y="3528565"/>
            <a:ext cx="2769324" cy="1905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2" name="Google Shape;1162;p34"/>
          <p:cNvSpPr/>
          <p:nvPr/>
        </p:nvSpPr>
        <p:spPr>
          <a:xfrm>
            <a:off x="6114558" y="3345685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3" name="Google Shape;1163;p34"/>
          <p:cNvSpPr/>
          <p:nvPr/>
        </p:nvSpPr>
        <p:spPr>
          <a:xfrm>
            <a:off x="8864832" y="3345685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4" name="Google Shape;1164;p34"/>
          <p:cNvSpPr/>
          <p:nvPr/>
        </p:nvSpPr>
        <p:spPr>
          <a:xfrm>
            <a:off x="7489695" y="3528565"/>
            <a:ext cx="19050" cy="18288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65" name="Google Shape;1165;p3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1132;p34">
            <a:extLst>
              <a:ext uri="{FF2B5EF4-FFF2-40B4-BE49-F238E27FC236}">
                <a16:creationId xmlns:a16="http://schemas.microsoft.com/office/drawing/2014/main" id="{2FF8E808-FDBD-ABE5-8928-F06529F81B56}"/>
              </a:ext>
            </a:extLst>
          </p:cNvPr>
          <p:cNvSpPr/>
          <p:nvPr/>
        </p:nvSpPr>
        <p:spPr>
          <a:xfrm>
            <a:off x="975375" y="5019449"/>
            <a:ext cx="10424334" cy="114950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" name="Google Shape;1130;p34">
            <a:extLst>
              <a:ext uri="{FF2B5EF4-FFF2-40B4-BE49-F238E27FC236}">
                <a16:creationId xmlns:a16="http://schemas.microsoft.com/office/drawing/2014/main" id="{30C8A13F-E574-4A08-4ACA-19C36B0DD292}"/>
              </a:ext>
            </a:extLst>
          </p:cNvPr>
          <p:cNvSpPr txBox="1"/>
          <p:nvPr/>
        </p:nvSpPr>
        <p:spPr>
          <a:xfrm>
            <a:off x="1566199" y="5731458"/>
            <a:ext cx="9784105" cy="2308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20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"</a:t>
            </a:r>
            <a:r>
              <a:rPr lang="en-US" sz="120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검은</a:t>
            </a:r>
            <a:r>
              <a:rPr lang="en-US" sz="120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갑옷의</a:t>
            </a:r>
            <a:r>
              <a:rPr lang="en-US" sz="120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스켈레톤</a:t>
            </a:r>
            <a:r>
              <a:rPr lang="en-US" sz="120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기사</a:t>
            </a:r>
            <a:r>
              <a:rPr lang="en-US" sz="120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20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만들어줘</a:t>
            </a:r>
            <a:r>
              <a:rPr lang="en-US" sz="120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20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그리고</a:t>
            </a:r>
            <a:r>
              <a:rPr lang="en-US" sz="120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2지역 5스테이지에 4마리 </a:t>
            </a:r>
            <a:r>
              <a:rPr lang="ko-KR" altLang="en-US" sz="120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등장시켜줘</a:t>
            </a:r>
            <a:r>
              <a:rPr lang="en-US" sz="120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” → </a:t>
            </a:r>
            <a:r>
              <a:rPr lang="ko-KR" altLang="en-US" sz="12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별도 작업 </a:t>
            </a:r>
            <a:r>
              <a:rPr lang="ko-KR" altLang="en-US" sz="1200" b="1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필요없이</a:t>
            </a:r>
            <a:r>
              <a:rPr lang="ko-KR" altLang="en-US" sz="12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에이전트가 </a:t>
            </a:r>
            <a:r>
              <a:rPr lang="ko-KR" altLang="en-US" sz="1200" b="1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헤메지</a:t>
            </a:r>
            <a:r>
              <a:rPr lang="ko-KR" altLang="en-US" sz="12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않고 작업진행</a:t>
            </a:r>
            <a:endParaRPr sz="1200" b="1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110;p33">
            <a:extLst>
              <a:ext uri="{FF2B5EF4-FFF2-40B4-BE49-F238E27FC236}">
                <a16:creationId xmlns:a16="http://schemas.microsoft.com/office/drawing/2014/main" id="{1AA36052-D064-3261-015E-0EC192C1ED2C}"/>
              </a:ext>
            </a:extLst>
          </p:cNvPr>
          <p:cNvSpPr txBox="1"/>
          <p:nvPr/>
        </p:nvSpPr>
        <p:spPr>
          <a:xfrm>
            <a:off x="1097280" y="5178549"/>
            <a:ext cx="10881360" cy="34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ko-KR" altLang="en-US" sz="1800" b="1" dirty="0"/>
              <a:t>실제 작업 요청</a:t>
            </a:r>
            <a:endParaRPr sz="1800"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9C8782A2-A30A-7E98-B03F-4C6ADEE8E2A7}"/>
              </a:ext>
            </a:extLst>
          </p:cNvPr>
          <p:cNvSpPr/>
          <p:nvPr/>
        </p:nvSpPr>
        <p:spPr>
          <a:xfrm>
            <a:off x="1195431" y="5731458"/>
            <a:ext cx="281031" cy="230832"/>
          </a:xfrm>
          <a:prstGeom prst="rightArrow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0" name="Google Shape;1170;p3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1" name="Google Shape;1171;p35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PIPELINE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2" name="Google Shape;1172;p35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3" name="Google Shape;1173;p35"/>
          <p:cNvSpPr txBox="1"/>
          <p:nvPr/>
        </p:nvSpPr>
        <p:spPr>
          <a:xfrm>
            <a:off x="685800" y="914400"/>
            <a:ext cx="10881360" cy="57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12.4 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외형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자동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결정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4" name="Google Shape;1174;p35"/>
          <p:cNvSpPr txBox="1"/>
          <p:nvPr/>
        </p:nvSpPr>
        <p:spPr>
          <a:xfrm>
            <a:off x="685800" y="1536192"/>
            <a:ext cx="10881360" cy="26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ko-KR" alt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적당한 외형과 능력치를 자동 결정</a:t>
            </a:r>
            <a:r>
              <a:rPr lang="en-US" altLang="ko-KR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최종 확인은 사람이 직접</a:t>
            </a:r>
            <a:endParaRPr sz="140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77" name="Google Shape;1177;p35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78" name="Google Shape;1178;p3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1206;p37" descr="몬스터-자동화-외형확정.png">
            <a:extLst>
              <a:ext uri="{FF2B5EF4-FFF2-40B4-BE49-F238E27FC236}">
                <a16:creationId xmlns:a16="http://schemas.microsoft.com/office/drawing/2014/main" id="{DBDEBFB7-DBAC-934C-90D6-1F0069E9F9C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0995" y="2284919"/>
            <a:ext cx="5897880" cy="331968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Google Shape;1208;p37">
            <a:extLst>
              <a:ext uri="{FF2B5EF4-FFF2-40B4-BE49-F238E27FC236}">
                <a16:creationId xmlns:a16="http://schemas.microsoft.com/office/drawing/2014/main" id="{603D2C7A-F0F5-7283-9958-91A9DE15D719}"/>
              </a:ext>
            </a:extLst>
          </p:cNvPr>
          <p:cNvSpPr/>
          <p:nvPr/>
        </p:nvSpPr>
        <p:spPr>
          <a:xfrm>
            <a:off x="7102106" y="2641201"/>
            <a:ext cx="4663440" cy="271308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" name="Google Shape;1176;p35">
            <a:extLst>
              <a:ext uri="{FF2B5EF4-FFF2-40B4-BE49-F238E27FC236}">
                <a16:creationId xmlns:a16="http://schemas.microsoft.com/office/drawing/2014/main" id="{3F75887F-0884-78E7-8A26-67665AE6767A}"/>
              </a:ext>
            </a:extLst>
          </p:cNvPr>
          <p:cNvSpPr txBox="1"/>
          <p:nvPr/>
        </p:nvSpPr>
        <p:spPr>
          <a:xfrm>
            <a:off x="7435442" y="2869467"/>
            <a:ext cx="3886200" cy="1952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왼쪽</a:t>
            </a:r>
            <a:r>
              <a:rPr lang="en-US" sz="12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</a:t>
            </a:r>
            <a:r>
              <a:rPr lang="ko-KR" altLang="en-US" sz="12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기존 </a:t>
            </a:r>
            <a:r>
              <a:rPr lang="en-US" sz="12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</a:t>
            </a:r>
            <a:r>
              <a:rPr lang="en-US" sz="12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목록</a:t>
            </a:r>
            <a:endParaRPr sz="1250" b="1" i="0" u="none" strike="noStrike" cap="none" dirty="0">
              <a:solidFill>
                <a:srgbClr val="2F6FE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코드·이름·hp·atk와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15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기본 능력치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대비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편차</a:t>
            </a:r>
            <a:endParaRPr sz="115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가운데</a:t>
            </a:r>
            <a:r>
              <a:rPr lang="en-US" sz="12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</a:t>
            </a:r>
            <a:r>
              <a:rPr lang="en-US" sz="12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외형</a:t>
            </a:r>
            <a:r>
              <a:rPr lang="en-US" sz="12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프리뷰</a:t>
            </a:r>
            <a:endParaRPr sz="1250" b="1" i="0" u="none" strike="noStrike" cap="none" dirty="0">
              <a:solidFill>
                <a:srgbClr val="2F6FE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고른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몬스터의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프리팹을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렌더링</a:t>
            </a:r>
            <a:endParaRPr sz="115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오른쪽</a:t>
            </a:r>
            <a:r>
              <a:rPr lang="en-US" sz="12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</a:t>
            </a:r>
            <a:r>
              <a:rPr lang="en-US" sz="12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능력치</a:t>
            </a:r>
            <a:r>
              <a:rPr lang="en-US" sz="12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2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외형</a:t>
            </a:r>
            <a:r>
              <a:rPr lang="en-US" sz="12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ko-KR" altLang="en-US" sz="1250" b="1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최종</a:t>
            </a:r>
            <a:r>
              <a:rPr lang="ko-KR" altLang="en-US" sz="12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결정</a:t>
            </a:r>
            <a:endParaRPr sz="1250" b="1" i="0" u="none" strike="noStrike" cap="none" dirty="0">
              <a:solidFill>
                <a:srgbClr val="2F6FE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[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추천값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채우기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] ·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레시피와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시드가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고른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파</a:t>
            </a:r>
            <a:r>
              <a:rPr lang="ko-KR" alt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츠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목록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[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외형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재생성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] · [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프리팹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저장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]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49C5537-8BA1-FD11-658B-42ACA6E625D5}"/>
              </a:ext>
            </a:extLst>
          </p:cNvPr>
          <p:cNvSpPr/>
          <p:nvPr/>
        </p:nvSpPr>
        <p:spPr>
          <a:xfrm>
            <a:off x="2077620" y="5678015"/>
            <a:ext cx="3424629" cy="21811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MCP</a:t>
            </a:r>
            <a:r>
              <a:rPr lang="ko-KR" altLang="en-US" dirty="0"/>
              <a:t> 작업용 </a:t>
            </a:r>
            <a:r>
              <a:rPr lang="en-US" altLang="ko-KR" dirty="0" err="1"/>
              <a:t>CharacterDevScene</a:t>
            </a:r>
            <a:r>
              <a:rPr lang="ko-KR" altLang="en-US" dirty="0"/>
              <a:t> 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Google Shape;1183;p36"/>
          <p:cNvSpPr/>
          <p:nvPr/>
        </p:nvSpPr>
        <p:spPr>
          <a:xfrm>
            <a:off x="0" y="-1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4" name="Google Shape;1184;p36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PIPELINE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5" name="Google Shape;1185;p36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6" name="Google Shape;1186;p36"/>
          <p:cNvSpPr txBox="1"/>
          <p:nvPr/>
        </p:nvSpPr>
        <p:spPr>
          <a:xfrm>
            <a:off x="685800" y="914400"/>
            <a:ext cx="10881360" cy="57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12.5  </a:t>
            </a:r>
            <a:r>
              <a:rPr lang="ko-KR" alt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 외형 작업 자동화 결과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7" name="Google Shape;1187;p36"/>
          <p:cNvSpPr txBox="1"/>
          <p:nvPr/>
        </p:nvSpPr>
        <p:spPr>
          <a:xfrm>
            <a:off x="685800" y="1536192"/>
            <a:ext cx="10881360" cy="26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현재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게임의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12종(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일반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7 +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Act별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보스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5)이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이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파이프라인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결과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물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88" name="Google Shape;1188;p36" descr="몬스터-자동생성-전투.png"/>
          <p:cNvPicPr preferRelativeResize="0"/>
          <p:nvPr/>
        </p:nvPicPr>
        <p:blipFill rotWithShape="1">
          <a:blip r:embed="rId3">
            <a:alphaModFix/>
          </a:blip>
          <a:srcRect l="36124"/>
          <a:stretch/>
        </p:blipFill>
        <p:spPr>
          <a:xfrm>
            <a:off x="912239" y="2462855"/>
            <a:ext cx="4850363" cy="2464752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5098"/>
              </a:srgbClr>
            </a:outerShdw>
          </a:effectLst>
        </p:spPr>
      </p:pic>
      <p:sp>
        <p:nvSpPr>
          <p:cNvPr id="1193" name="Google Shape;1193;p36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94" name="Google Shape;1194;p3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1229;p38">
            <a:extLst>
              <a:ext uri="{FF2B5EF4-FFF2-40B4-BE49-F238E27FC236}">
                <a16:creationId xmlns:a16="http://schemas.microsoft.com/office/drawing/2014/main" id="{25476C41-D864-F2E8-8203-FA422B40591A}"/>
              </a:ext>
            </a:extLst>
          </p:cNvPr>
          <p:cNvSpPr/>
          <p:nvPr/>
        </p:nvSpPr>
        <p:spPr>
          <a:xfrm>
            <a:off x="6271612" y="2239319"/>
            <a:ext cx="5411067" cy="31904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" name="Google Shape;1190;p36" descr="몬스터-자동생성-라인업.png">
            <a:extLst>
              <a:ext uri="{FF2B5EF4-FFF2-40B4-BE49-F238E27FC236}">
                <a16:creationId xmlns:a16="http://schemas.microsoft.com/office/drawing/2014/main" id="{2E1E436F-B155-3813-3709-C9D5C285B56F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439968" y="2763028"/>
            <a:ext cx="5074360" cy="188366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AF01AF96-05C5-ACB9-23EA-C92955C8F985}"/>
              </a:ext>
            </a:extLst>
          </p:cNvPr>
          <p:cNvSpPr/>
          <p:nvPr/>
        </p:nvSpPr>
        <p:spPr>
          <a:xfrm>
            <a:off x="7818041" y="2444689"/>
            <a:ext cx="2318211" cy="21811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몬스터 외형 자동화 결과물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841B542-4EB5-4D05-7C8F-A33912D72FAE}"/>
              </a:ext>
            </a:extLst>
          </p:cNvPr>
          <p:cNvSpPr/>
          <p:nvPr/>
        </p:nvSpPr>
        <p:spPr>
          <a:xfrm>
            <a:off x="1764934" y="5103694"/>
            <a:ext cx="3144971" cy="21811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생성된 몬스터가 실제 전투에 등장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Google Shape;1218;p38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9" name="Google Shape;1219;p3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20" name="Google Shape;1220;p3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1221" name="Google Shape;1221;p38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RESULT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2" name="Google Shape;1222;p38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3" name="Google Shape;1223;p38"/>
          <p:cNvSpPr txBox="1"/>
          <p:nvPr/>
        </p:nvSpPr>
        <p:spPr>
          <a:xfrm>
            <a:off x="685800" y="914400"/>
            <a:ext cx="10881360" cy="57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13.  </a:t>
            </a:r>
            <a:r>
              <a:rPr lang="en-US" sz="30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아이템</a:t>
            </a: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생성 자동화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25" name="Google Shape;1225;p38" descr="아이템-아이콘-생성물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1389" y="1878295"/>
            <a:ext cx="6035040" cy="4050917"/>
          </a:xfrm>
          <a:prstGeom prst="rect">
            <a:avLst/>
          </a:prstGeom>
          <a:noFill/>
          <a:ln w="9525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26" name="Google Shape;1226;p38"/>
          <p:cNvSpPr txBox="1"/>
          <p:nvPr/>
        </p:nvSpPr>
        <p:spPr>
          <a:xfrm>
            <a:off x="1151389" y="5974807"/>
            <a:ext cx="603504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프로젝트의 아이템 아이콘 96종 전부 — 무기 · 방어구 · 재료 · 소모품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9" name="Google Shape;1229;p38"/>
          <p:cNvSpPr/>
          <p:nvPr/>
        </p:nvSpPr>
        <p:spPr>
          <a:xfrm>
            <a:off x="7821562" y="2051340"/>
            <a:ext cx="2806118" cy="365999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CDCC26B-A7E7-DE9E-F200-EF03F16A3F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0172" y="2504957"/>
            <a:ext cx="1990537" cy="262931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1DC53027-72D5-1AB4-6A0D-F8A780C23AF8}"/>
              </a:ext>
            </a:extLst>
          </p:cNvPr>
          <p:cNvSpPr/>
          <p:nvPr/>
        </p:nvSpPr>
        <p:spPr>
          <a:xfrm>
            <a:off x="8347722" y="2169092"/>
            <a:ext cx="1753798" cy="21811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ko-KR" altLang="en-US" dirty="0" err="1"/>
              <a:t>인게임</a:t>
            </a:r>
            <a:r>
              <a:rPr lang="ko-KR" altLang="en-US" dirty="0"/>
              <a:t> 적용된 모습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13.1  아이템 한 종을 추가하는 5단계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8813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master-item </a:t>
            </a:r>
            <a:r>
              <a:rPr sz="14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스킬</a:t>
            </a:r>
            <a:r>
              <a:rPr sz="14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(.</a:t>
            </a:r>
            <a:r>
              <a:rPr sz="14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</a:t>
            </a:r>
            <a:r>
              <a:rPr sz="14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/skills/master-item)</a:t>
            </a:r>
            <a:r>
              <a:rPr lang="ko-KR" altLang="en-US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에서 아래의 고정된 순서대로 작업 진행</a:t>
            </a:r>
            <a:endParaRPr sz="140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85800" y="1874520"/>
            <a:ext cx="6675120" cy="4069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05256" y="2112264"/>
            <a:ext cx="45720" cy="566928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2075688"/>
            <a:ext cx="1600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① 입력 해석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2093976"/>
            <a:ext cx="23774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이름 · 종류 · 등급만 받는다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295144"/>
            <a:ext cx="6071616" cy="4510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ko-KR" altLang="en-US"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아이템의 요구레벨과 가격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level_req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base_price는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등급에서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파생</a:t>
            </a:r>
            <a:endParaRPr sz="78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algn="l">
              <a:lnSpc>
                <a:spcPct val="130000"/>
              </a:lnSpc>
            </a:pP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능력치는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같은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슬롯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등급의</a:t>
            </a:r>
            <a:r>
              <a:rPr lang="en-US"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마스터 데이터를 참조하여 클래스에 맞게</a:t>
            </a:r>
            <a:r>
              <a:rPr lang="en-US" altLang="ko-KR"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</a:t>
            </a:r>
            <a:r>
              <a:rPr lang="ko-KR" altLang="en-US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기사 </a:t>
            </a:r>
            <a:r>
              <a:rPr lang="en-US" altLang="ko-KR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</a:t>
            </a:r>
            <a:r>
              <a:rPr lang="ko-KR" altLang="en-US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체력</a:t>
            </a:r>
            <a:r>
              <a:rPr lang="en-US" altLang="ko-KR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방어력</a:t>
            </a:r>
            <a:r>
              <a:rPr lang="en-US" altLang="ko-KR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78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슬레이어</a:t>
            </a:r>
            <a:r>
              <a:rPr lang="ko-KR" altLang="en-US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altLang="ko-KR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</a:t>
            </a:r>
            <a:r>
              <a:rPr lang="ko-KR" altLang="en-US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공격력</a:t>
            </a:r>
            <a:r>
              <a:rPr lang="en-US" altLang="ko-KR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치명타</a:t>
            </a:r>
            <a:r>
              <a:rPr lang="en-US" altLang="ko-KR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) </a:t>
            </a:r>
            <a:r>
              <a:rPr lang="ko-KR" altLang="en-US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특화 능력치를 올려주는 식으로 반영한다</a:t>
            </a:r>
            <a:r>
              <a:rPr lang="en-US" altLang="ko-KR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 </a:t>
            </a:r>
            <a:endParaRPr sz="78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051560" y="2752344"/>
            <a:ext cx="6071616" cy="914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05256" y="2862072"/>
            <a:ext cx="45720" cy="566928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51560" y="2825496"/>
            <a:ext cx="1600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② 마스터 데이터 추가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843784"/>
            <a:ext cx="23774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master_item_tool.py add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044952"/>
            <a:ext cx="607161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정본 두 곳에 코드 순서대로 삽입 — master-data-값.md (A)(B) 표 · schema.sql</a:t>
            </a:r>
          </a:p>
          <a:p>
            <a:pPr algn="l">
              <a:lnSpc>
                <a:spcPct val="130000"/>
              </a:lnSpc>
            </a:pPr>
            <a:r>
              <a:rPr sz="78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반영 직후 자동 재검증 + 아이콘 작업 지시서(item-icon-manifest.json) 출력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3502152"/>
            <a:ext cx="6071616" cy="914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05256" y="3611880"/>
            <a:ext cx="45720" cy="566928"/>
          </a:xfrm>
          <a:prstGeom prst="rect">
            <a:avLst/>
          </a:prstGeom>
          <a:solidFill>
            <a:srgbClr val="6B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3575304"/>
            <a:ext cx="1600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③ 아이콘 생성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3593592"/>
            <a:ext cx="23774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dirty="0">
                <a:solidFill>
                  <a:srgbClr val="6B4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pixel-item-icons </a:t>
            </a:r>
            <a:r>
              <a:rPr sz="800" b="1" dirty="0" err="1">
                <a:solidFill>
                  <a:srgbClr val="6B4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스킬</a:t>
            </a:r>
            <a:endParaRPr sz="800" b="1" dirty="0">
              <a:solidFill>
                <a:srgbClr val="6B4FB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51560" y="3794760"/>
            <a:ext cx="6071616" cy="2949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ko-KR" altLang="en-US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해석된 입력대로 아이콘 이미지를 생성한다</a:t>
            </a:r>
            <a:r>
              <a:rPr lang="en-US" altLang="ko-KR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78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algn="l">
              <a:lnSpc>
                <a:spcPct val="130000"/>
              </a:lnSpc>
            </a:pP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투명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배경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여백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색 </a:t>
            </a:r>
            <a:r>
              <a:rPr lang="ko-KR" altLang="en-US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등을 검사한다</a:t>
            </a:r>
            <a:r>
              <a:rPr lang="en-US" altLang="ko-KR" sz="78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파일명은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아이템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이름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그대로</a:t>
            </a:r>
            <a:endParaRPr sz="78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051560" y="4251960"/>
            <a:ext cx="6071616" cy="914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905256" y="4361688"/>
            <a:ext cx="45720" cy="566928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51560" y="4325112"/>
            <a:ext cx="1600200" cy="161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④ </a:t>
            </a:r>
            <a:r>
              <a:rPr lang="ko-KR" altLang="en-US" sz="10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이미지 이름 수정</a:t>
            </a:r>
            <a:endParaRPr sz="105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697480" y="4343400"/>
            <a:ext cx="23774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master_item_tool.py link-icons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" y="4544568"/>
            <a:ext cx="6071616" cy="2949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&lt;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이름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&gt;.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png</a:t>
            </a: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→ item_{code}.png 로 </a:t>
            </a:r>
            <a:r>
              <a:rPr sz="78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옮긴다</a:t>
            </a:r>
            <a:endParaRPr sz="78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algn="l">
              <a:lnSpc>
                <a:spcPct val="130000"/>
              </a:lnSpc>
            </a:pPr>
            <a:r>
              <a:rPr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ko-KR" altLang="en-US"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클라이언트 </a:t>
            </a:r>
            <a:r>
              <a:rPr lang="en-US" altLang="ko-KR"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Assets </a:t>
            </a:r>
            <a:r>
              <a:rPr lang="ko-KR" altLang="en-US"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폴더로 이동하여 인게임에서 사용할 수 있도록 한다</a:t>
            </a:r>
            <a:r>
              <a:rPr lang="en-US" altLang="ko-KR" sz="78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78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1051560" y="5001768"/>
            <a:ext cx="6071616" cy="9144"/>
          </a:xfrm>
          <a:prstGeom prst="rect">
            <a:avLst/>
          </a:prstGeom>
          <a:solidFill>
            <a:srgbClr val="D8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05256" y="5111496"/>
            <a:ext cx="45720" cy="566928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51560" y="5074920"/>
            <a:ext cx="160020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⑤ 검증 · 인게임 반영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5093208"/>
            <a:ext cx="2377440" cy="1645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 dirty="0">
                <a:solidFill>
                  <a:srgbClr val="1B9E6F"/>
                </a:solidFill>
                <a:latin typeface="Malgun Gothic"/>
                <a:ea typeface="Malgun Gothic"/>
                <a:cs typeface="Malgun Gothic"/>
                <a:sym typeface="Malgun Gothic"/>
              </a:rPr>
              <a:t>verify → Unity </a:t>
            </a:r>
            <a:r>
              <a:rPr sz="800" b="1" dirty="0" err="1">
                <a:solidFill>
                  <a:srgbClr val="1B9E6F"/>
                </a:solidFill>
                <a:latin typeface="Malgun Gothic"/>
                <a:ea typeface="Malgun Gothic"/>
                <a:cs typeface="Malgun Gothic"/>
                <a:sym typeface="Malgun Gothic"/>
              </a:rPr>
              <a:t>메뉴</a:t>
            </a:r>
            <a:endParaRPr sz="800" b="1" dirty="0">
              <a:solidFill>
                <a:srgbClr val="1B9E6F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051560" y="5294376"/>
            <a:ext cx="607161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8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verify 오류 0 · 경고 0 확인(아이콘 존재까지)</a:t>
            </a:r>
          </a:p>
          <a:p>
            <a:pPr algn="l">
              <a:lnSpc>
                <a:spcPct val="130000"/>
              </a:lnSpc>
            </a:pPr>
            <a:r>
              <a:rPr sz="78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유니티 「마스터 데이터 최신화(DB→JSON)」가 schema 재적용 · 클라 JSON 번들 ·</a:t>
            </a:r>
          </a:p>
          <a:p>
            <a:pPr algn="l">
              <a:lnSpc>
                <a:spcPct val="130000"/>
              </a:lnSpc>
            </a:pPr>
            <a:r>
              <a:rPr sz="78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아이템 아이콘 DB 재생성까지 이어서 수행한다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74280" y="1879092"/>
            <a:ext cx="3931920" cy="10193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7775448" y="2061972"/>
            <a:ext cx="411480" cy="3657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775448" y="2171700"/>
            <a:ext cx="3529584" cy="1692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ko-KR" altLang="en-US" sz="11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아이템은 무조건 스킬로만 작업한다</a:t>
            </a:r>
            <a:r>
              <a:rPr lang="en-US" altLang="ko-KR" sz="11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11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775448" y="2519172"/>
            <a:ext cx="3529584" cy="34426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파일을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직접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편집하면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문서가 어긋날 수 있다</a:t>
            </a:r>
            <a:r>
              <a:rPr lang="en-US" altLang="ko-KR"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</a:p>
          <a:p>
            <a:pPr algn="l">
              <a:lnSpc>
                <a:spcPct val="140000"/>
              </a:lnSpc>
            </a:pPr>
            <a:endParaRPr sz="8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85800" y="6053328"/>
            <a:ext cx="10789920" cy="153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요청은</a:t>
            </a:r>
            <a:r>
              <a:rPr sz="10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“</a:t>
            </a:r>
            <a:r>
              <a:rPr lang="ko-KR" altLang="en-US" sz="10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종말의</a:t>
            </a:r>
            <a:r>
              <a:rPr sz="10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000" b="1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대도끼</a:t>
            </a:r>
            <a:r>
              <a:rPr sz="10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sz="1000" b="1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전설</a:t>
            </a:r>
            <a:r>
              <a:rPr sz="10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000" b="1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등급</a:t>
            </a:r>
            <a:r>
              <a:rPr sz="10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000" b="1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슬레이어</a:t>
            </a:r>
            <a:r>
              <a:rPr sz="10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000" b="1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무기</a:t>
            </a:r>
            <a:r>
              <a:rPr sz="10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” 한 줄 — </a:t>
            </a:r>
            <a:r>
              <a:rPr sz="1000" b="1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나머지는</a:t>
            </a:r>
            <a:r>
              <a:rPr sz="10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000" b="1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도구가</a:t>
            </a:r>
            <a:r>
              <a:rPr sz="10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000" b="1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강제한</a:t>
            </a:r>
            <a:r>
              <a:rPr sz="10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000" b="1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순서대로</a:t>
            </a:r>
            <a:r>
              <a:rPr sz="10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000" b="1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돈다</a:t>
            </a:r>
            <a:r>
              <a:rPr sz="1000" b="1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34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27FF7CB0-49D0-3448-A537-6C5FD67D1B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8501" y="3065932"/>
            <a:ext cx="2343477" cy="237205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46" name="직사각형 45">
            <a:extLst>
              <a:ext uri="{FF2B5EF4-FFF2-40B4-BE49-F238E27FC236}">
                <a16:creationId xmlns:a16="http://schemas.microsoft.com/office/drawing/2014/main" id="{6C173C76-73F2-0B8B-7E15-5F2E0D561978}"/>
              </a:ext>
            </a:extLst>
          </p:cNvPr>
          <p:cNvSpPr/>
          <p:nvPr/>
        </p:nvSpPr>
        <p:spPr>
          <a:xfrm>
            <a:off x="8215859" y="5550988"/>
            <a:ext cx="2649643" cy="218114"/>
          </a:xfrm>
          <a:prstGeom prst="rect">
            <a:avLst/>
          </a:prstGeom>
          <a:noFill/>
          <a:ln w="9525" cap="flat" cmpd="sng" algn="ctr">
            <a:solidFill>
              <a:schemeClr val="accent4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생성된 </a:t>
            </a:r>
            <a:r>
              <a:rPr lang="en-US" altLang="ko-KR" dirty="0"/>
              <a:t>‘</a:t>
            </a:r>
            <a:r>
              <a:rPr lang="ko-KR" altLang="en-US" dirty="0" err="1"/>
              <a:t>슬레이어</a:t>
            </a:r>
            <a:r>
              <a:rPr lang="en-US" altLang="ko-KR" dirty="0"/>
              <a:t>‘ </a:t>
            </a:r>
            <a:r>
              <a:rPr lang="ko-KR" altLang="en-US" dirty="0"/>
              <a:t>전설무기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Google Shape;772;p1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" name="Google Shape;773;p18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BALANCE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4" name="Google Shape;774;p18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" name="Google Shape;775;p18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14.  밸런스 수치 조절 하네스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7" name="Google Shape;777;p18"/>
          <p:cNvSpPr txBox="1"/>
          <p:nvPr/>
        </p:nvSpPr>
        <p:spPr>
          <a:xfrm>
            <a:off x="685800" y="1647472"/>
            <a:ext cx="10789920" cy="519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"</a:t>
            </a:r>
            <a:r>
              <a:rPr lang="en-US" sz="16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몬스터</a:t>
            </a:r>
            <a:r>
              <a:rPr lang="en-US" sz="16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6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체력을</a:t>
            </a:r>
            <a:r>
              <a:rPr lang="en-US" sz="16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6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얼마로</a:t>
            </a:r>
            <a:r>
              <a:rPr lang="en-US" sz="16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6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둘까"는</a:t>
            </a:r>
            <a:r>
              <a:rPr lang="en-US" sz="16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6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수치상 정할 수는 있어도</a:t>
            </a:r>
            <a:r>
              <a:rPr lang="en-US" altLang="ko-KR" sz="16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6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인게임에서의 체감은 별개</a:t>
            </a:r>
            <a:endParaRPr lang="en-US" sz="1600" b="1" i="0" u="none" strike="noStrike" cap="none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ko-KR" alt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전투는 클라이언트에서 이뤄지기 때문에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lang="ko-KR" alt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던전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클리어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시간을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알려면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1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게임을 켜고 직접 시간을 </a:t>
            </a:r>
            <a:r>
              <a:rPr lang="ko-KR" altLang="en-US" sz="110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재야했다</a:t>
            </a:r>
            <a:r>
              <a:rPr lang="en-US" altLang="ko-KR" sz="11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8" name="Google Shape;778;p18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35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79" name="Google Shape;779;p1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780" name="Google Shape;780;p18"/>
          <p:cNvSpPr txBox="1"/>
          <p:nvPr/>
        </p:nvSpPr>
        <p:spPr>
          <a:xfrm>
            <a:off x="1033943" y="2837588"/>
            <a:ext cx="293405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n-US" sz="1600" b="1" i="0" u="none" strike="noStrike" cap="none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기준이</a:t>
            </a:r>
            <a:r>
              <a:rPr lang="en-US" sz="1600" b="1" i="0" u="none" strike="noStrike" cap="none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600" b="1" i="0" u="none" strike="noStrike" cap="none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없는</a:t>
            </a:r>
            <a:r>
              <a:rPr lang="en-US" sz="1600" b="1" i="0" u="none" strike="noStrike" cap="none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600" b="1" i="0" u="none" strike="noStrike" cap="none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명령은</a:t>
            </a:r>
            <a:r>
              <a:rPr lang="en-US" sz="1600" b="1" i="0" u="none" strike="noStrike" cap="none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600" b="1" i="0" u="none" strike="noStrike" cap="none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</a:t>
            </a:r>
            <a:r>
              <a:rPr lang="en-US" sz="1600" b="1" i="0" u="none" strike="noStrike" cap="none" dirty="0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600" b="1" i="0" u="none" strike="noStrike" cap="none" dirty="0" err="1">
                <a:solidFill>
                  <a:srgbClr val="FF0000"/>
                </a:solidFill>
                <a:latin typeface="Malgun Gothic"/>
                <a:ea typeface="Malgun Gothic"/>
                <a:cs typeface="Malgun Gothic"/>
                <a:sym typeface="Malgun Gothic"/>
              </a:rPr>
              <a:t>낭비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1" name="Google Shape;781;p18"/>
          <p:cNvSpPr/>
          <p:nvPr/>
        </p:nvSpPr>
        <p:spPr>
          <a:xfrm>
            <a:off x="1033943" y="3260084"/>
            <a:ext cx="5166360" cy="91020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" name="Google Shape;782;p18"/>
          <p:cNvSpPr txBox="1"/>
          <p:nvPr/>
        </p:nvSpPr>
        <p:spPr>
          <a:xfrm>
            <a:off x="1445423" y="3381115"/>
            <a:ext cx="43434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‘지금 난이도가 너무 쉬운데, 좀 더 난이도 있게 만들어줘.’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3" name="Google Shape;783;p18"/>
          <p:cNvSpPr/>
          <p:nvPr/>
        </p:nvSpPr>
        <p:spPr>
          <a:xfrm>
            <a:off x="1445423" y="3712928"/>
            <a:ext cx="731520" cy="1270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18"/>
          <p:cNvSpPr txBox="1"/>
          <p:nvPr/>
        </p:nvSpPr>
        <p:spPr>
          <a:xfrm>
            <a:off x="1445423" y="3755855"/>
            <a:ext cx="4343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 dirty="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너무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어려워지거나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인게임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전투에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변화가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거의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없음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5" name="Google Shape;785;p18"/>
          <p:cNvSpPr/>
          <p:nvPr/>
        </p:nvSpPr>
        <p:spPr>
          <a:xfrm>
            <a:off x="1033943" y="4433873"/>
            <a:ext cx="5166360" cy="88923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82875" tIns="91425" rIns="18287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18"/>
          <p:cNvSpPr txBox="1"/>
          <p:nvPr/>
        </p:nvSpPr>
        <p:spPr>
          <a:xfrm>
            <a:off x="1445423" y="4530805"/>
            <a:ext cx="43434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lang="en-US" sz="125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‘보스 공격력이 너무 강한데, 지금보다는 쉽게 만들어줘.’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7" name="Google Shape;787;p18"/>
          <p:cNvSpPr/>
          <p:nvPr/>
        </p:nvSpPr>
        <p:spPr>
          <a:xfrm>
            <a:off x="1395089" y="4863848"/>
            <a:ext cx="731520" cy="12700"/>
          </a:xfrm>
          <a:prstGeom prst="rect">
            <a:avLst/>
          </a:prstGeom>
          <a:solidFill>
            <a:srgbClr val="D8DEE7"/>
          </a:solidFill>
          <a:ln>
            <a:noFill/>
          </a:ln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18"/>
          <p:cNvSpPr txBox="1"/>
          <p:nvPr/>
        </p:nvSpPr>
        <p:spPr>
          <a:xfrm>
            <a:off x="1395089" y="4951912"/>
            <a:ext cx="4343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 dirty="0">
                <a:solidFill>
                  <a:srgbClr val="E0A526"/>
                </a:solidFill>
                <a:latin typeface="Malgun Gothic"/>
                <a:ea typeface="Malgun Gothic"/>
                <a:cs typeface="Malgun Gothic"/>
                <a:sym typeface="Malgun Gothic"/>
              </a:rPr>
              <a:t>→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보스가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너무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약해져서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잡몹과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똑같이</a:t>
            </a:r>
            <a:r>
              <a:rPr lang="en-US" sz="12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2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변함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D305E0B-36B7-AF80-23E9-831A4BEDAB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4202" y="2599242"/>
            <a:ext cx="2895899" cy="277814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" name="Google Shape;1072;p31">
            <a:extLst>
              <a:ext uri="{FF2B5EF4-FFF2-40B4-BE49-F238E27FC236}">
                <a16:creationId xmlns:a16="http://schemas.microsoft.com/office/drawing/2014/main" id="{ECA50994-9696-17D4-111E-3202FBA67822}"/>
              </a:ext>
            </a:extLst>
          </p:cNvPr>
          <p:cNvSpPr txBox="1"/>
          <p:nvPr/>
        </p:nvSpPr>
        <p:spPr>
          <a:xfrm>
            <a:off x="7251304" y="5604907"/>
            <a:ext cx="2641693" cy="211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ko-KR" altLang="en-US" sz="1100" dirty="0">
                <a:solidFill>
                  <a:srgbClr val="6B7684"/>
                </a:solidFill>
                <a:latin typeface="Malgun Gothic"/>
                <a:ea typeface="Malgun Gothic"/>
                <a:sym typeface="Malgun Gothic"/>
              </a:rPr>
              <a:t>지역 보스들의 </a:t>
            </a:r>
            <a:r>
              <a:rPr lang="ko-KR" altLang="en-US" sz="1100" dirty="0" err="1">
                <a:solidFill>
                  <a:srgbClr val="6B7684"/>
                </a:solidFill>
                <a:latin typeface="Malgun Gothic"/>
                <a:ea typeface="Malgun Gothic"/>
                <a:sym typeface="Malgun Gothic"/>
              </a:rPr>
              <a:t>밸런싱은</a:t>
            </a:r>
            <a:r>
              <a:rPr lang="ko-KR" altLang="en-US" sz="1100" dirty="0">
                <a:solidFill>
                  <a:srgbClr val="6B7684"/>
                </a:solidFill>
                <a:latin typeface="Malgun Gothic"/>
                <a:ea typeface="Malgun Gothic"/>
                <a:sym typeface="Malgun Gothic"/>
              </a:rPr>
              <a:t> 특히나 어렵다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Google Shape;793;p1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4" name="Google Shape;794;p19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BALANCE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5" name="Google Shape;795;p19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" name="Google Shape;796;p19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14.1  스크립트로만 구현한 인게임 전투 하네스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7" name="Google Shape;797;p19"/>
          <p:cNvSpPr txBox="1"/>
          <p:nvPr/>
        </p:nvSpPr>
        <p:spPr>
          <a:xfrm>
            <a:off x="685800" y="1536192"/>
            <a:ext cx="10881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tools/balance_sim.py — 유니티를 켜지 않고, 시뮬레이션 만으로 인게임 전투 시뮬레이션 진행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798" name="Google Shape;798;p19"/>
          <p:cNvGraphicFramePr/>
          <p:nvPr>
            <p:extLst>
              <p:ext uri="{D42A27DB-BD31-4B8C-83A1-F6EECF244321}">
                <p14:modId xmlns:p14="http://schemas.microsoft.com/office/powerpoint/2010/main" val="1174724790"/>
              </p:ext>
            </p:extLst>
          </p:nvPr>
        </p:nvGraphicFramePr>
        <p:xfrm>
          <a:off x="685800" y="1861349"/>
          <a:ext cx="10789950" cy="2286050"/>
        </p:xfrm>
        <a:graphic>
          <a:graphicData uri="http://schemas.openxmlformats.org/drawingml/2006/table">
            <a:tbl>
              <a:tblPr firstRow="1">
                <a:noFill/>
                <a:tableStyleId>{117F4239-6CF6-4BE5-99FF-9D92B26D0C97}</a:tableStyleId>
              </a:tblPr>
              <a:tblGrid>
                <a:gridCol w="2377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씬 하네스 (BattleDevScene 등)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밸런스 시뮬레이터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5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lang="en-US" sz="12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무엇을 잘라냈나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lang="en-US" sz="12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로그인 · 스테이지 진입 · 게임 흐름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lang="en-US" sz="12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거기에 더해 Unity · 렌더링 · 실시간</a:t>
                      </a:r>
                      <a:endParaRPr sz="1250" b="0" u="none" strike="noStrike" cap="non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5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lang="en-US" sz="12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무엇이 필요한가</a:t>
                      </a:r>
                      <a:endParaRPr sz="1250" b="0" u="none" strike="noStrike" cap="non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lang="en-US" sz="12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전투 화면 + 전투 상황 확인용 UI</a:t>
                      </a:r>
                      <a:endParaRPr sz="1250" b="0" u="none" strike="noStrike" cap="non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lang="en-US" sz="12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전투 규칙과 수치만</a:t>
                      </a:r>
                      <a:endParaRPr sz="1250" b="0" u="none" strike="noStrike" cap="none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5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lang="en-US" sz="12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누가 읽나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lang="en-US" sz="12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사람이</a:t>
                      </a:r>
                      <a:r>
                        <a:rPr lang="en-US" sz="12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눈으로</a:t>
                      </a:r>
                      <a:r>
                        <a:rPr lang="en-US" sz="12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(</a:t>
                      </a:r>
                      <a:r>
                        <a:rPr lang="en-US" sz="12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타격감</a:t>
                      </a:r>
                      <a:r>
                        <a:rPr lang="en-US" sz="12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</a:t>
                      </a:r>
                      <a:r>
                        <a:rPr lang="en-US" sz="12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외형</a:t>
                      </a:r>
                      <a:r>
                        <a:rPr lang="en-US" sz="12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</a:t>
                      </a:r>
                      <a:endParaRPr sz="1400" u="none" strike="noStrike" cap="none" dirty="0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lang="en-US" sz="12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기계가 수치로 (초 · %)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50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lang="en-US" sz="12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한 판 도는 비용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lang="en-US" sz="12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에디터</a:t>
                      </a:r>
                      <a:r>
                        <a:rPr lang="en-US" sz="12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켜고</a:t>
                      </a:r>
                      <a:r>
                        <a:rPr lang="en-US" sz="12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플레이</a:t>
                      </a:r>
                      <a:r>
                        <a:rPr lang="en-US" sz="12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모드</a:t>
                      </a:r>
                      <a:r>
                        <a:rPr lang="en-US" sz="12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진입</a:t>
                      </a:r>
                      <a:endParaRPr sz="1400" u="none" strike="noStrike" cap="none" dirty="0"/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50"/>
                        <a:buFont typeface="Arial"/>
                        <a:buNone/>
                      </a:pPr>
                      <a:r>
                        <a:rPr lang="ko-KR" altLang="en-US" sz="12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파이썬 스크립트 실행</a:t>
                      </a:r>
                      <a:endParaRPr sz="1250" b="0" u="none" strike="noStrike" cap="none" dirty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99" name="Google Shape;799;p19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00" name="Google Shape;800;p1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525105" y="5029200"/>
            <a:ext cx="3180786" cy="1325880"/>
          </a:xfrm>
          <a:prstGeom prst="rect">
            <a:avLst/>
          </a:prstGeom>
          <a:noFill/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801" name="Google Shape;801;p1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980211" y="5029200"/>
            <a:ext cx="5656204" cy="1325880"/>
          </a:xfrm>
          <a:prstGeom prst="rect">
            <a:avLst/>
          </a:prstGeom>
          <a:noFill/>
          <a:ln w="12700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802" name="Google Shape;802;p1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803" name="Google Shape;803;p19"/>
          <p:cNvSpPr/>
          <p:nvPr/>
        </p:nvSpPr>
        <p:spPr>
          <a:xfrm>
            <a:off x="685800" y="4297680"/>
            <a:ext cx="10789920" cy="640080"/>
          </a:xfrm>
          <a:prstGeom prst="roundRect">
            <a:avLst>
              <a:gd name="adj" fmla="val 6000"/>
            </a:avLst>
          </a:prstGeom>
          <a:solidFill>
            <a:srgbClr val="EEF2F8"/>
          </a:solidFill>
          <a:ln>
            <a:noFill/>
          </a:ln>
        </p:spPr>
        <p:txBody>
          <a:bodyPr spcFirstLastPara="1" wrap="square" lIns="365750" tIns="137150" rIns="365750" bIns="137150" anchor="ctr" anchorCtr="0">
            <a:no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왜 </a:t>
            </a:r>
            <a:r>
              <a:rPr lang="en-US" sz="130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필요할까</a:t>
            </a:r>
            <a:r>
              <a:rPr lang="en-US" sz="13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?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  =&gt;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유니티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환경에서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측정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시,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유니티를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실행하고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클리어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시간을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측정하는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과정이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굉장히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오래걸림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+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유니티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MCP를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통한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환경에서의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측정도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굉장히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1" i="0" u="none" strike="noStrike" cap="none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부정확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하여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토큰만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낭비하는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일이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5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많아짐</a:t>
            </a:r>
            <a:r>
              <a:rPr lang="en-US" sz="115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Google Shape;808;p2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" name="Google Shape;809;p20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BALANCE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0" name="Google Shape;810;p20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" name="Google Shape;811;p20"/>
          <p:cNvSpPr txBox="1"/>
          <p:nvPr/>
        </p:nvSpPr>
        <p:spPr>
          <a:xfrm>
            <a:off x="685800" y="914400"/>
            <a:ext cx="10881360" cy="577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14.2  </a:t>
            </a:r>
            <a:r>
              <a:rPr lang="ko-KR" altLang="en-US" sz="3000" b="1" i="0" u="none" strike="noStrike" cap="none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시뮬레이션에 필요한 수치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2" name="Google Shape;812;p20"/>
          <p:cNvSpPr txBox="1"/>
          <p:nvPr/>
        </p:nvSpPr>
        <p:spPr>
          <a:xfrm>
            <a:off x="685800" y="1536192"/>
            <a:ext cx="10881360" cy="26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ko-KR" alt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 게임과 유사한 환경 재현을 위해 실제 수치들을 읽고 시뮬레이션에 반영</a:t>
            </a:r>
            <a:endParaRPr sz="140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graphicFrame>
        <p:nvGraphicFramePr>
          <p:cNvPr id="813" name="Google Shape;813;p20"/>
          <p:cNvGraphicFramePr/>
          <p:nvPr/>
        </p:nvGraphicFramePr>
        <p:xfrm>
          <a:off x="777240" y="1870845"/>
          <a:ext cx="10789925" cy="1890025"/>
        </p:xfrm>
        <a:graphic>
          <a:graphicData uri="http://schemas.openxmlformats.org/drawingml/2006/table">
            <a:tbl>
              <a:tblPr firstRow="1">
                <a:noFill/>
                <a:tableStyleId>{117F4239-6CF6-4BE5-99FF-9D92B26D0C97}</a:tableStyleId>
              </a:tblPr>
              <a:tblGrid>
                <a:gridCol w="5120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669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076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대상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출처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7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마스터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수치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(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몬스터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스폰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직업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레벨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스킬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계수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아이템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강화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룬)</a:t>
                      </a:r>
                      <a:endParaRPr sz="1400" u="none" strike="noStrike" cap="none" dirty="0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서버의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마스터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데이터</a:t>
                      </a:r>
                      <a:endParaRPr sz="1200" b="0" u="none" strike="noStrike" cap="none" dirty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7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전투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상수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(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스폰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주기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동시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상한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이동속도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피해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배수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 ·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파티별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사거리</a:t>
                      </a:r>
                      <a:endParaRPr sz="1200" b="0" u="none" strike="noStrike" cap="none" dirty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유니티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클라이언트의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전투관련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상수</a:t>
                      </a:r>
                      <a:endParaRPr sz="1200" b="0" u="none" strike="noStrike" cap="none" dirty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7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스킬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모션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길이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광역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판정</a:t>
                      </a:r>
                      <a:r>
                        <a:rPr lang="en-US" sz="12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2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반경</a:t>
                      </a:r>
                      <a:endParaRPr sz="1200" b="0" u="none" strike="noStrike" cap="none" dirty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00"/>
                        <a:buFont typeface="Arial"/>
                        <a:buNone/>
                      </a:pPr>
                      <a:r>
                        <a:rPr lang="en-US" sz="10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Assets/Prefabs/Effects/*.</a:t>
                      </a:r>
                      <a:r>
                        <a:rPr lang="en-US" sz="10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prefab의</a:t>
                      </a:r>
                      <a:r>
                        <a:rPr lang="en-US" sz="10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0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프레임</a:t>
                      </a:r>
                      <a:r>
                        <a:rPr lang="en-US" sz="10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수 · fps · </a:t>
                      </a:r>
                      <a:r>
                        <a:rPr lang="en-US" sz="10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스케일</a:t>
                      </a:r>
                      <a:r>
                        <a:rPr lang="en-US" sz="10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+ </a:t>
                      </a:r>
                      <a:r>
                        <a:rPr lang="en-US" sz="10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스킬</a:t>
                      </a:r>
                      <a:r>
                        <a:rPr lang="en-US" sz="10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0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이펙트의</a:t>
                      </a:r>
                      <a:r>
                        <a:rPr lang="en-US" sz="100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00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타격범위</a:t>
                      </a:r>
                      <a:endParaRPr sz="1000" b="0" u="none" strike="noStrike" cap="none" dirty="0">
                        <a:solidFill>
                          <a:srgbClr val="1B2430"/>
                        </a:solidFill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14" name="Google Shape;814;p2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37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15" name="Google Shape;815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89063" y="4095535"/>
            <a:ext cx="3279710" cy="2105185"/>
          </a:xfrm>
          <a:prstGeom prst="rect">
            <a:avLst/>
          </a:prstGeom>
          <a:noFill/>
          <a:ln>
            <a:noFill/>
          </a:ln>
          <a:effectLst>
            <a:outerShdw blurRad="190500" algn="tl" rotWithShape="0">
              <a:srgbClr val="000000">
                <a:alpha val="70196"/>
              </a:srgbClr>
            </a:outerShdw>
          </a:effectLst>
        </p:spPr>
      </p:pic>
      <p:pic>
        <p:nvPicPr>
          <p:cNvPr id="816" name="Google Shape;816;p20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p2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21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en-US" sz="1200" b="1" i="0" u="none" strike="noStrike" cap="none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BALANCE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3" name="Google Shape;823;p21"/>
          <p:cNvSpPr/>
          <p:nvPr/>
        </p:nvSpPr>
        <p:spPr>
          <a:xfrm>
            <a:off x="685800" y="749808"/>
            <a:ext cx="822960" cy="50292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4" name="Google Shape;824;p21"/>
          <p:cNvSpPr txBox="1"/>
          <p:nvPr/>
        </p:nvSpPr>
        <p:spPr>
          <a:xfrm>
            <a:off x="685800" y="914400"/>
            <a:ext cx="10881360" cy="516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-US" sz="3000" b="1" i="0" u="none" strike="noStrike" cap="none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14.3  실제 밸런싱 작업 활용 예시</a:t>
            </a:r>
            <a:endParaRPr sz="3000" b="1" i="0" u="none" strike="noStrike" cap="none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25" name="Google Shape;825;p21"/>
          <p:cNvSpPr txBox="1"/>
          <p:nvPr/>
        </p:nvSpPr>
        <p:spPr>
          <a:xfrm>
            <a:off x="685800" y="1536192"/>
            <a:ext cx="10881360" cy="241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명령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: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신규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계정이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아무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투자도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않은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상태로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1지역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보스를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1분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내외로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아슬아슬하게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클리어하도록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밸런스를</a:t>
            </a:r>
            <a:r>
              <a:rPr lang="en-US" sz="14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4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조정해줘</a:t>
            </a:r>
            <a:endParaRPr sz="1400" b="0" i="0" u="none" strike="noStrike" cap="none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826" name="Google Shape;826;p21" descr="1-10-스테이지-리밸런싱-결과.gif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39433" y="2011680"/>
            <a:ext cx="2927773" cy="4160520"/>
          </a:xfrm>
          <a:prstGeom prst="rect">
            <a:avLst/>
          </a:prstGeom>
          <a:noFill/>
          <a:ln w="9525" cap="flat" cmpd="sng">
            <a:solidFill>
              <a:srgbClr val="D8DEE7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827" name="Google Shape;827;p21"/>
          <p:cNvSpPr txBox="1"/>
          <p:nvPr/>
        </p:nvSpPr>
        <p:spPr>
          <a:xfrm>
            <a:off x="914400" y="6263640"/>
            <a:ext cx="5577840" cy="211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1지역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보스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암흑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마법사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) — </a:t>
            </a:r>
            <a:r>
              <a:rPr lang="en-US" sz="11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52.6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초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클리어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최저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100" b="0" i="0" u="none" strike="noStrike" cap="none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체력</a:t>
            </a:r>
            <a:r>
              <a:rPr lang="en-US" sz="1100" b="0" i="0" u="none" strike="noStrike" cap="none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23%  (3.7배속)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828" name="Google Shape;828;p21"/>
          <p:cNvGraphicFramePr/>
          <p:nvPr>
            <p:extLst>
              <p:ext uri="{D42A27DB-BD31-4B8C-83A1-F6EECF244321}">
                <p14:modId xmlns:p14="http://schemas.microsoft.com/office/powerpoint/2010/main" val="4151951893"/>
              </p:ext>
            </p:extLst>
          </p:nvPr>
        </p:nvGraphicFramePr>
        <p:xfrm>
          <a:off x="6037556" y="2208374"/>
          <a:ext cx="5128191" cy="2633450"/>
        </p:xfrm>
        <a:graphic>
          <a:graphicData uri="http://schemas.openxmlformats.org/drawingml/2006/table">
            <a:tbl>
              <a:tblPr firstRow="1">
                <a:noFill/>
                <a:tableStyleId>{117F4239-6CF6-4BE5-99FF-9D92B26D0C97}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21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endParaRPr sz="1800" u="none" strike="noStrike" cap="none" dirty="0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리밸런싱 전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ko-KR" altLang="en-US" sz="1100" b="1" u="none" strike="noStrike" cap="none" dirty="0" err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sym typeface="Malgun Gothic"/>
                        </a:rPr>
                        <a:t>리밸런싱</a:t>
                      </a:r>
                      <a:r>
                        <a:rPr lang="ko-KR" altLang="en-US" sz="1100" b="1" u="none" strike="noStrike" cap="none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sym typeface="Malgun Gothic"/>
                        </a:rPr>
                        <a:t> 후</a:t>
                      </a:r>
                      <a:endParaRPr sz="1400" u="none" strike="noStrike" cap="none" dirty="0"/>
                    </a:p>
                  </a:txBody>
                  <a:tcPr marL="100575" marR="73150" marT="36575" marB="36575" anchor="ctr"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1지역 일반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15~27초 · 체력 62~100%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30~50초 · 85% → 46%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lang="en-US" sz="10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1-10 </a:t>
                      </a:r>
                      <a:r>
                        <a:rPr lang="en-US" sz="10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보스</a:t>
                      </a:r>
                      <a:r>
                        <a:rPr lang="en-US" sz="10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10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기사</a:t>
                      </a:r>
                      <a:r>
                        <a:rPr lang="en-US" sz="10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</a:t>
                      </a:r>
                      <a:endParaRPr sz="1400" u="none" strike="noStrike" cap="none" dirty="0"/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lang="en-US" sz="10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35.6초 </a:t>
                      </a:r>
                      <a:r>
                        <a:rPr lang="en-US" sz="10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전멸</a:t>
                      </a:r>
                      <a:r>
                        <a:rPr lang="en-US" sz="10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(</a:t>
                      </a:r>
                      <a:r>
                        <a:rPr lang="en-US" sz="10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패배</a:t>
                      </a:r>
                      <a:r>
                        <a:rPr lang="en-US" sz="10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)</a:t>
                      </a:r>
                      <a:endParaRPr sz="1400" u="none" strike="noStrike" cap="none" dirty="0"/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lang="en-US" sz="10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60.6초 </a:t>
                      </a:r>
                      <a:r>
                        <a:rPr lang="en-US" sz="10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클리어</a:t>
                      </a:r>
                      <a:r>
                        <a:rPr lang="en-US" sz="10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· </a:t>
                      </a:r>
                      <a:r>
                        <a:rPr lang="en-US" sz="10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최저</a:t>
                      </a:r>
                      <a:r>
                        <a:rPr lang="en-US" sz="10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23%</a:t>
                      </a:r>
                      <a:endParaRPr sz="1400" u="none" strike="noStrike" cap="none" dirty="0"/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1-10 보스(타직업)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24~31초 · 편차 큼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lang="en-US" sz="10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46~61초 · 23~66%</a:t>
                      </a:r>
                      <a:endParaRPr sz="1400" u="none" strike="noStrike" cap="none" dirty="0"/>
                    </a:p>
                  </a:txBody>
                  <a:tcPr marL="100575" marR="73150" marT="36575" marB="3657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투자 요구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lang="en-US" sz="1050" b="0" u="none" strike="noStrike" cap="none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없음(1지역 내내 여유)</a:t>
                      </a:r>
                      <a:endParaRPr sz="1400" u="none" strike="noStrike" cap="none"/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050"/>
                        <a:buFont typeface="Arial"/>
                        <a:buNone/>
                      </a:pPr>
                      <a:r>
                        <a:rPr lang="en-US" sz="10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2지역 </a:t>
                      </a:r>
                      <a:r>
                        <a:rPr lang="en-US" sz="10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중반부터</a:t>
                      </a:r>
                      <a:r>
                        <a:rPr lang="en-US" sz="1050" b="0" u="none" strike="noStrike" cap="none" dirty="0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 </a:t>
                      </a:r>
                      <a:r>
                        <a:rPr lang="en-US" sz="1050" b="0" u="none" strike="noStrike" cap="none" dirty="0" err="1">
                          <a:solidFill>
                            <a:srgbClr val="1B2430"/>
                          </a:solidFill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장비작·스킬작</a:t>
                      </a:r>
                      <a:endParaRPr sz="1400" u="none" strike="noStrike" cap="none" dirty="0"/>
                    </a:p>
                  </a:txBody>
                  <a:tcPr marL="100575" marR="73150" marT="36575" marB="36575" anchor="ctr">
                    <a:solidFill>
                      <a:srgbClr val="EEF2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30" name="Google Shape;830;p21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38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31" name="Google Shape;831;p2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939244" y="1"/>
            <a:ext cx="1252451" cy="58040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ounded Rectangle 37">
            <a:extLst>
              <a:ext uri="{FF2B5EF4-FFF2-40B4-BE49-F238E27FC236}">
                <a16:creationId xmlns:a16="http://schemas.microsoft.com/office/drawing/2014/main" id="{FBCC0081-5830-7EFC-0285-7E78B4C48028}"/>
              </a:ext>
            </a:extLst>
          </p:cNvPr>
          <p:cNvSpPr/>
          <p:nvPr/>
        </p:nvSpPr>
        <p:spPr>
          <a:xfrm>
            <a:off x="6713490" y="5120279"/>
            <a:ext cx="3931920" cy="95634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Google Shape;829;p21">
            <a:extLst>
              <a:ext uri="{FF2B5EF4-FFF2-40B4-BE49-F238E27FC236}">
                <a16:creationId xmlns:a16="http://schemas.microsoft.com/office/drawing/2014/main" id="{97152816-1B84-E33B-565E-024C06EC0081}"/>
              </a:ext>
            </a:extLst>
          </p:cNvPr>
          <p:cNvSpPr txBox="1"/>
          <p:nvPr/>
        </p:nvSpPr>
        <p:spPr>
          <a:xfrm>
            <a:off x="6863443" y="5551305"/>
            <a:ext cx="3632014" cy="403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치명타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몹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흩어짐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등에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의한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변수가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있으나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실제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전투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시간을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비교적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정확히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맞출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수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있게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sz="1050" b="1" i="0" u="none" strike="noStrike" cap="none" dirty="0" err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되었다</a:t>
            </a:r>
            <a:r>
              <a:rPr lang="en-US" sz="1050" b="1" i="0" u="none" strike="noStrike" cap="none" dirty="0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. </a:t>
            </a:r>
            <a:endParaRPr sz="1050" b="1" i="0" u="none" strike="noStrike" cap="none" dirty="0">
              <a:solidFill>
                <a:srgbClr val="2F6FE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110;p33">
            <a:extLst>
              <a:ext uri="{FF2B5EF4-FFF2-40B4-BE49-F238E27FC236}">
                <a16:creationId xmlns:a16="http://schemas.microsoft.com/office/drawing/2014/main" id="{61F605C6-D36B-41CB-DA30-2711218C5AF8}"/>
              </a:ext>
            </a:extLst>
          </p:cNvPr>
          <p:cNvSpPr txBox="1"/>
          <p:nvPr/>
        </p:nvSpPr>
        <p:spPr>
          <a:xfrm>
            <a:off x="6764042" y="5235042"/>
            <a:ext cx="1712216" cy="269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ko-KR" altLang="en-US" b="1" dirty="0"/>
              <a:t>결과</a:t>
            </a:r>
            <a:endParaRPr b="1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9244" y="1"/>
            <a:ext cx="1252451" cy="5804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2F6FE4"/>
                </a:solidFill>
                <a:latin typeface="Malgun Gothic"/>
                <a:ea typeface="Malgun Gothic"/>
                <a:cs typeface="Malgun Gothic"/>
                <a:sym typeface="Malgun Gothic"/>
              </a:rPr>
              <a:t>AI WORKFLOW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749808"/>
            <a:ext cx="822960" cy="54864"/>
          </a:xfrm>
          <a:prstGeom prst="rect">
            <a:avLst/>
          </a:prstGeom>
          <a:solidFill>
            <a:srgbClr val="E0A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914400"/>
            <a:ext cx="108813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15.  AI 활용 정리 — 무엇을 줄이고 무엇을 맡겼나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1088136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더 </a:t>
            </a:r>
            <a:r>
              <a:rPr sz="14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좋은</a:t>
            </a:r>
            <a:r>
              <a:rPr sz="14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프롬프트를</a:t>
            </a:r>
            <a:r>
              <a:rPr sz="14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찾기보다</a:t>
            </a:r>
            <a:r>
              <a:rPr sz="14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sz="14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AI가</a:t>
            </a:r>
            <a:r>
              <a:rPr sz="14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읽어야</a:t>
            </a:r>
            <a:r>
              <a:rPr sz="14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할 </a:t>
            </a:r>
            <a:r>
              <a:rPr sz="14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것을</a:t>
            </a:r>
            <a:r>
              <a:rPr sz="14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4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줄이고</a:t>
            </a:r>
            <a:r>
              <a:rPr lang="en-US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AI</a:t>
            </a:r>
            <a:r>
              <a:rPr lang="ko-KR" altLang="en-US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가 판단하게 하지 않고 도구</a:t>
            </a:r>
            <a:r>
              <a:rPr lang="en-US" altLang="ko-KR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(</a:t>
            </a:r>
            <a:r>
              <a:rPr lang="ko-KR" altLang="en-US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하네스</a:t>
            </a:r>
            <a:r>
              <a:rPr lang="en-US" altLang="ko-KR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)</a:t>
            </a:r>
            <a:r>
              <a:rPr lang="ko-KR" altLang="en-US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를 줘서 병목을 없앤다</a:t>
            </a:r>
            <a:r>
              <a:rPr lang="en-US" altLang="ko-KR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140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85800" y="1874520"/>
            <a:ext cx="3474720" cy="1874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86968" y="2057400"/>
            <a:ext cx="411480" cy="36576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86968" y="2167128"/>
            <a:ext cx="307238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읽어야 할 문서를 줄였다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2532888"/>
            <a:ext cx="3072384" cy="97905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en-US"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API </a:t>
            </a:r>
            <a:r>
              <a:rPr lang="ko-KR" altLang="en-US"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도메인별 문서 정리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— docs/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세부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/&lt;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기능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&gt;-기획서.md</a:t>
            </a:r>
          </a:p>
          <a:p>
            <a:pPr algn="l">
              <a:lnSpc>
                <a:spcPct val="145000"/>
              </a:lnSpc>
            </a:pP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여러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기능에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걸친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계약은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docs/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공통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네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문서에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집약</a:t>
            </a:r>
            <a:endParaRPr sz="90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algn="l">
              <a:lnSpc>
                <a:spcPct val="145000"/>
              </a:lnSpc>
            </a:pP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그래서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요청이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“이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기획서대로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구현해줘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” 한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줄로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끝난다</a:t>
            </a:r>
            <a:endParaRPr lang="en-US" sz="90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>
              <a:lnSpc>
                <a:spcPct val="145000"/>
              </a:lnSpc>
            </a:pPr>
            <a:r>
              <a:rPr lang="en-US" altLang="ko-KR" sz="9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ko-KR" altLang="en-US" sz="9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계층 </a:t>
            </a:r>
            <a:r>
              <a:rPr lang="en-US" altLang="ko-KR" sz="9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ko-KR" altLang="en-US" sz="9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파일 위치 </a:t>
            </a:r>
            <a:r>
              <a:rPr lang="en-US" altLang="ko-KR" sz="9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ko-KR" altLang="en-US" sz="9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이름 규칙을 </a:t>
            </a:r>
            <a:r>
              <a:rPr lang="en-US" altLang="ko-KR" sz="9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CLAUDE.md</a:t>
            </a:r>
            <a:r>
              <a:rPr lang="ko-KR" altLang="en-US" sz="9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 고정</a:t>
            </a:r>
          </a:p>
          <a:p>
            <a:pPr>
              <a:lnSpc>
                <a:spcPct val="145000"/>
              </a:lnSpc>
            </a:pPr>
            <a:r>
              <a:rPr lang="en-US" altLang="ko-KR" sz="9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lang="ko-KR" altLang="en-US" sz="90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새 기능이 어디에 들어갈지 찾아 헤매지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3734" y="1874520"/>
            <a:ext cx="3474720" cy="1874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594902" y="2057400"/>
            <a:ext cx="411480" cy="36576"/>
          </a:xfrm>
          <a:prstGeom prst="rect">
            <a:avLst/>
          </a:prstGeom>
          <a:solidFill>
            <a:srgbClr val="1B9E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94902" y="2167128"/>
            <a:ext cx="307238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사람이</a:t>
            </a:r>
            <a:r>
              <a:rPr sz="12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2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확인하던</a:t>
            </a:r>
            <a:r>
              <a:rPr sz="12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2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것을</a:t>
            </a:r>
            <a:r>
              <a:rPr sz="120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20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줄였다</a:t>
            </a:r>
            <a:endParaRPr sz="120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594902" y="2532888"/>
            <a:ext cx="3072384" cy="7782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빌드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+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실서버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API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호출을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통과해야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완료로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인정</a:t>
            </a:r>
            <a:endParaRPr sz="90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algn="l">
              <a:lnSpc>
                <a:spcPct val="145000"/>
              </a:lnSpc>
            </a:pP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유니티는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MCP로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직접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열어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확인한다</a:t>
            </a:r>
            <a:endParaRPr sz="90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  <a:p>
            <a:pPr algn="l">
              <a:lnSpc>
                <a:spcPct val="145000"/>
              </a:lnSpc>
            </a:pP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·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밸런스는</a:t>
            </a:r>
            <a:r>
              <a:rPr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9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시뮬레이터</a:t>
            </a:r>
            <a:r>
              <a:rPr lang="ko-KR" altLang="en-US"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를 이용하여 클리어 여부와 클리어 시간을 테스트하여 밸런스를 조정한다</a:t>
            </a:r>
            <a:r>
              <a:rPr lang="en-US" altLang="ko-KR" sz="9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.</a:t>
            </a:r>
            <a:endParaRPr sz="90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85800" y="3977640"/>
            <a:ext cx="6675120" cy="1554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F6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86968" y="4160520"/>
            <a:ext cx="411480" cy="36576"/>
          </a:xfrm>
          <a:prstGeom prst="rect">
            <a:avLst/>
          </a:prstGeom>
          <a:solidFill>
            <a:srgbClr val="2F6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86968" y="4270248"/>
            <a:ext cx="627278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Unity MCP — </a:t>
            </a:r>
            <a:r>
              <a:rPr sz="115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AI가</a:t>
            </a:r>
            <a:r>
              <a:rPr sz="11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15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에디터를</a:t>
            </a:r>
            <a:r>
              <a:rPr sz="11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15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직접</a:t>
            </a:r>
            <a:r>
              <a:rPr sz="1150" b="1" dirty="0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1150" b="1" dirty="0" err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연다</a:t>
            </a:r>
            <a:endParaRPr sz="1150" b="1" dirty="0">
              <a:solidFill>
                <a:srgbClr val="1B2430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905256" y="4617720"/>
            <a:ext cx="1133856" cy="310896"/>
          </a:xfrm>
          <a:prstGeom prst="round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05256" y="469087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씬 열기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039112" y="4773168"/>
            <a:ext cx="109728" cy="0"/>
          </a:xfrm>
          <a:prstGeom prst="line">
            <a:avLst/>
          </a:prstGeom>
          <a:ln w="12700">
            <a:solidFill>
              <a:srgbClr val="9AA5B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148840" y="4617720"/>
            <a:ext cx="1133856" cy="310896"/>
          </a:xfrm>
          <a:prstGeom prst="round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148840" y="469087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플레이 진입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282696" y="4773168"/>
            <a:ext cx="109728" cy="0"/>
          </a:xfrm>
          <a:prstGeom prst="line">
            <a:avLst/>
          </a:prstGeom>
          <a:ln w="12700">
            <a:solidFill>
              <a:srgbClr val="9AA5B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392424" y="4617720"/>
            <a:ext cx="1133856" cy="310896"/>
          </a:xfrm>
          <a:prstGeom prst="round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392424" y="469087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코드 실행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26280" y="4773168"/>
            <a:ext cx="109728" cy="0"/>
          </a:xfrm>
          <a:prstGeom prst="line">
            <a:avLst/>
          </a:prstGeom>
          <a:ln w="12700">
            <a:solidFill>
              <a:srgbClr val="9AA5B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636008" y="4617720"/>
            <a:ext cx="1133856" cy="310896"/>
          </a:xfrm>
          <a:prstGeom prst="round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636008" y="469087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상태 · 스크린샷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769864" y="4773168"/>
            <a:ext cx="109728" cy="0"/>
          </a:xfrm>
          <a:prstGeom prst="line">
            <a:avLst/>
          </a:prstGeom>
          <a:ln w="12700">
            <a:solidFill>
              <a:srgbClr val="9AA5B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5879592" y="4617720"/>
            <a:ext cx="1133856" cy="310896"/>
          </a:xfrm>
          <a:prstGeom prst="round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5879592" y="4690872"/>
            <a:ext cx="1133856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종료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5256" y="5056632"/>
            <a:ext cx="6236208" cy="1424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하네스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씬(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BattleDev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AnimDev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CharacterDev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)이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진입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단계를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줄여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,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로그인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스테이지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진입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없이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전투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모션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외형만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켜서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바로</a:t>
            </a:r>
            <a:r>
              <a:rPr sz="80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0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확인</a:t>
            </a:r>
            <a:endParaRPr sz="80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8062743" y="1883664"/>
            <a:ext cx="39319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263911" y="2066544"/>
            <a:ext cx="411480" cy="36576"/>
          </a:xfrm>
          <a:prstGeom prst="rect">
            <a:avLst/>
          </a:prstGeom>
          <a:solidFill>
            <a:srgbClr val="6B4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263911" y="2176272"/>
            <a:ext cx="3529584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50" b="1">
                <a:solidFill>
                  <a:srgbClr val="1B2430"/>
                </a:solidFill>
                <a:latin typeface="Malgun Gothic"/>
                <a:ea typeface="Malgun Gothic"/>
                <a:cs typeface="Malgun Gothic"/>
                <a:sym typeface="Malgun Gothic"/>
              </a:rPr>
              <a:t>반복 작업은 커스텀 스킬로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82199" y="2523744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6B4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design-doc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88623" y="2523744"/>
            <a:ext cx="238658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고정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목차로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기획서를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쓴다</a:t>
            </a:r>
            <a:endParaRPr sz="8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282199" y="2807208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6B4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master-item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88622" y="2807208"/>
            <a:ext cx="2530959" cy="1308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정본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아이콘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· DB · </a:t>
            </a:r>
            <a:r>
              <a:rPr lang="ko-KR" altLang="en-US"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마스터 데이터 수정까지 한번에</a:t>
            </a:r>
            <a:endParaRPr sz="8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282199" y="3090672"/>
            <a:ext cx="105156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6B4FBF"/>
                </a:solidFill>
                <a:latin typeface="Malgun Gothic"/>
                <a:ea typeface="Malgun Gothic"/>
                <a:cs typeface="Malgun Gothic"/>
                <a:sym typeface="Malgun Gothic"/>
              </a:rPr>
              <a:t>rebalance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88623" y="3090672"/>
            <a:ext cx="2386584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측정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→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조정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→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재측정을</a:t>
            </a:r>
            <a:r>
              <a:rPr sz="850" b="0" dirty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 한 </a:t>
            </a:r>
            <a:r>
              <a:rPr sz="850" b="0" dirty="0" err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요청으로</a:t>
            </a:r>
            <a:endParaRPr sz="850" b="0" dirty="0">
              <a:solidFill>
                <a:srgbClr val="6B7684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85800" y="5715000"/>
            <a:ext cx="1078992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사람이 남긴 일은 「확정」과 「채택」뿐이다 — 기획서의 확정 문구, 몬스터 외형 채택, 밸런스 목표치.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39</a:t>
            </a:r>
          </a:p>
        </p:txBody>
      </p:sp>
      <p:pic>
        <p:nvPicPr>
          <p:cNvPr id="50" name="Google Shape;170;p4">
            <a:extLst>
              <a:ext uri="{FF2B5EF4-FFF2-40B4-BE49-F238E27FC236}">
                <a16:creationId xmlns:a16="http://schemas.microsoft.com/office/drawing/2014/main" id="{15DD05BB-9201-B96F-785B-F9881A5472E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506204" y="3977640"/>
            <a:ext cx="2968516" cy="1664900"/>
          </a:xfrm>
          <a:prstGeom prst="roundRect">
            <a:avLst>
              <a:gd name="adj" fmla="val 8594"/>
            </a:avLst>
          </a:prstGeom>
          <a:solidFill>
            <a:srgbClr val="ECECEC"/>
          </a:solidFill>
          <a:ln>
            <a:noFill/>
          </a:ln>
          <a:effectLst>
            <a:reflection stA="38000" endPos="28000" dist="5000" dir="5400000" sy="-100000" algn="bl" rotWithShape="0"/>
          </a:effectLst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6">
          <a:extLst>
            <a:ext uri="{FF2B5EF4-FFF2-40B4-BE49-F238E27FC236}">
              <a16:creationId xmlns:a16="http://schemas.microsoft.com/office/drawing/2014/main" id="{96121B7E-C3C9-D33A-1E29-78B4476AF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Google Shape;1257;p40">
            <a:extLst>
              <a:ext uri="{FF2B5EF4-FFF2-40B4-BE49-F238E27FC236}">
                <a16:creationId xmlns:a16="http://schemas.microsoft.com/office/drawing/2014/main" id="{514A8EA2-935F-A18D-4009-31726DE3F16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8" name="Google Shape;1258;p40">
            <a:extLst>
              <a:ext uri="{FF2B5EF4-FFF2-40B4-BE49-F238E27FC236}">
                <a16:creationId xmlns:a16="http://schemas.microsoft.com/office/drawing/2014/main" id="{0D913BA3-E9DE-ABDA-6247-06705F33A272}"/>
              </a:ext>
            </a:extLst>
          </p:cNvPr>
          <p:cNvSpPr txBox="1"/>
          <p:nvPr/>
        </p:nvSpPr>
        <p:spPr>
          <a:xfrm>
            <a:off x="1097280" y="2743200"/>
            <a:ext cx="10058400" cy="8463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ko-KR" altLang="en-US" sz="4400" b="1" i="0" u="none" strike="noStrike" cap="none" dirty="0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시연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9" name="Google Shape;1259;p40">
            <a:extLst>
              <a:ext uri="{FF2B5EF4-FFF2-40B4-BE49-F238E27FC236}">
                <a16:creationId xmlns:a16="http://schemas.microsoft.com/office/drawing/2014/main" id="{D466E96D-992C-5B13-417D-E970EBF9D560}"/>
              </a:ext>
            </a:extLst>
          </p:cNvPr>
          <p:cNvSpPr/>
          <p:nvPr/>
        </p:nvSpPr>
        <p:spPr>
          <a:xfrm>
            <a:off x="1143000" y="3794760"/>
            <a:ext cx="1463040" cy="45720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0" name="Google Shape;1260;p40">
            <a:extLst>
              <a:ext uri="{FF2B5EF4-FFF2-40B4-BE49-F238E27FC236}">
                <a16:creationId xmlns:a16="http://schemas.microsoft.com/office/drawing/2014/main" id="{52E84F83-DB2A-A19C-4A9A-5B33B9074679}"/>
              </a:ext>
            </a:extLst>
          </p:cNvPr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40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562503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7" name="Google Shape;1257;p4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8" name="Google Shape;1258;p40"/>
          <p:cNvSpPr txBox="1"/>
          <p:nvPr/>
        </p:nvSpPr>
        <p:spPr>
          <a:xfrm>
            <a:off x="1097280" y="274320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1" i="0" u="none" strike="noStrike" cap="none">
                <a:solidFill>
                  <a:srgbClr val="FFFFFF"/>
                </a:solidFill>
                <a:latin typeface="Malgun Gothic"/>
                <a:ea typeface="Malgun Gothic"/>
                <a:cs typeface="Malgun Gothic"/>
                <a:sym typeface="Malgun Gothic"/>
              </a:rPr>
              <a:t>감사합니다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9" name="Google Shape;1259;p40"/>
          <p:cNvSpPr/>
          <p:nvPr/>
        </p:nvSpPr>
        <p:spPr>
          <a:xfrm>
            <a:off x="1143000" y="3794760"/>
            <a:ext cx="1463040" cy="45720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0" name="Google Shape;1260;p40"/>
          <p:cNvSpPr txBox="1"/>
          <p:nvPr/>
        </p:nvSpPr>
        <p:spPr>
          <a:xfrm>
            <a:off x="10972800" y="6355080"/>
            <a:ext cx="758952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6B7684"/>
                </a:solidFill>
                <a:latin typeface="Malgun Gothic"/>
                <a:ea typeface="Malgun Gothic"/>
                <a:cs typeface="Malgun Gothic"/>
                <a:sym typeface="Malgun Gothic"/>
              </a:rPr>
              <a:t>41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582</TotalTime>
  <Words>4550</Words>
  <Application>Microsoft Office PowerPoint</Application>
  <PresentationFormat>와이드스크린</PresentationFormat>
  <Paragraphs>786</Paragraphs>
  <Slides>41</Slides>
  <Notes>37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41</vt:i4>
      </vt:variant>
    </vt:vector>
  </HeadingPairs>
  <TitlesOfParts>
    <vt:vector size="46" baseType="lpstr">
      <vt:lpstr>Malgun Gothic</vt:lpstr>
      <vt:lpstr>Arial</vt:lpstr>
      <vt:lpstr>Calibri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com2usholdings602</cp:lastModifiedBy>
  <cp:revision>262</cp:revision>
  <dcterms:created xsi:type="dcterms:W3CDTF">2013-01-27T09:14:16Z</dcterms:created>
  <dcterms:modified xsi:type="dcterms:W3CDTF">2026-09-08T09:04:03Z</dcterms:modified>
</cp:coreProperties>
</file>