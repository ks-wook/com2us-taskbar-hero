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45" roundtripDataSignature="AMtx7mgCRww6nI7F+hy6a6H2zZCjtqjd9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920BB19-57F9-4C89-9F9F-E896671911AF}">
  <a:tblStyle styleId="{0920BB19-57F9-4C89-9F9F-E896671911AF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6" name="Google Shape;17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" name="Google Shape;42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8" name="Google Shape;54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3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5" name="Google Shape;56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6" name="Google Shape;566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8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0" name="Google Shape;5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8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0" name="Google Shape;610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4" name="Google Shape;624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6" name="Google Shape;676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7" name="Google Shape;697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2" name="Google Shape;712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5" name="Google Shape;725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0" name="Google Shape;740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7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9" name="Google Shape;769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9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1" name="Google Shape;791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9" name="Google Shape;799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3" name="Google Shape;833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5" name="Shape 8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Google Shape;86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7" name="Google Shape;86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2" name="Google Shape;902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5" name="Shape 9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6" name="Google Shape;926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7" name="Google Shape;927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7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9" name="Google Shape;959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2" name="Shape 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Google Shape;98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4" name="Google Shape;98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3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5" name="Google Shape;1005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7" name="Shape 10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" name="Google Shape;1048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9" name="Google Shape;1049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0" name="Shape 10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1" name="Google Shape;106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2" name="Google Shape;106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6" name="Shape 1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Google Shape;1077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8" name="Google Shape;1078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5" name="Shape 10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7" name="Google Shape;1097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2" name="Shape 1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Google Shape;1113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4" name="Google Shape;1114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4" name="Shape 1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" name="Google Shape;1135;p4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6" name="Google Shape;1136;p4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4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4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4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4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4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4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4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4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4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4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4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4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4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4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4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4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4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4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4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4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4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4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4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4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4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4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5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5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5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5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5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5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5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5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5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5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5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5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5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5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5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4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4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4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4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1.png"/><Relationship Id="rId4" Type="http://schemas.openxmlformats.org/officeDocument/2006/relationships/image" Target="../media/image6.png"/><Relationship Id="rId5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png"/><Relationship Id="rId4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0.gif"/><Relationship Id="rId4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image15.png"/><Relationship Id="rId5" Type="http://schemas.openxmlformats.org/officeDocument/2006/relationships/image" Target="../media/image19.png"/><Relationship Id="rId6" Type="http://schemas.openxmlformats.org/officeDocument/2006/relationships/image" Target="../media/image14.png"/><Relationship Id="rId7" Type="http://schemas.openxmlformats.org/officeDocument/2006/relationships/image" Target="../media/image16.png"/><Relationship Id="rId8" Type="http://schemas.openxmlformats.org/officeDocument/2006/relationships/image" Target="../media/image18.png"/><Relationship Id="rId9" Type="http://schemas.openxmlformats.org/officeDocument/2006/relationships/image" Target="../media/image12.png"/><Relationship Id="rId10" Type="http://schemas.openxmlformats.org/officeDocument/2006/relationships/image" Target="../media/image9.png"/><Relationship Id="rId11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7.png"/><Relationship Id="rId4" Type="http://schemas.openxmlformats.org/officeDocument/2006/relationships/image" Target="../media/image24.png"/><Relationship Id="rId5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.png"/><Relationship Id="rId4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.png"/><Relationship Id="rId4" Type="http://schemas.openxmlformats.org/officeDocument/2006/relationships/image" Target="../media/image2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6.png"/><Relationship Id="rId4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9.png"/><Relationship Id="rId4" Type="http://schemas.openxmlformats.org/officeDocument/2006/relationships/image" Target="../media/image13.png"/><Relationship Id="rId5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.png"/><Relationship Id="rId4" Type="http://schemas.openxmlformats.org/officeDocument/2006/relationships/image" Target="../media/image2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.png"/><Relationship Id="rId4" Type="http://schemas.openxmlformats.org/officeDocument/2006/relationships/image" Target="../media/image23.png"/><Relationship Id="rId5" Type="http://schemas.openxmlformats.org/officeDocument/2006/relationships/image" Target="../media/image2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914400" y="1409387"/>
            <a:ext cx="10058400" cy="10662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 컴투스 지니어스 8기 과제발표</a:t>
            </a:r>
            <a:endParaRPr b="1" i="0" sz="24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테크코어실 백엔드기술팀 </a:t>
            </a:r>
            <a:endParaRPr b="1" i="0" sz="1800" u="none" cap="none" strike="noStrike">
              <a:solidFill>
                <a:srgbClr val="E0A526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인턴 권순욱</a:t>
            </a:r>
            <a:endParaRPr b="1" i="0" sz="1500" u="none" cap="none" strike="noStrike">
              <a:solidFill>
                <a:srgbClr val="E0A52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914400" y="3311665"/>
            <a:ext cx="10241280" cy="16977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방치형 게임(Com2us Taskbar Hero)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4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3" name="Google Shape;93;p1"/>
          <p:cNvSpPr/>
          <p:nvPr/>
        </p:nvSpPr>
        <p:spPr>
          <a:xfrm>
            <a:off x="1005840" y="4160520"/>
            <a:ext cx="1463040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/>
          </a:p>
        </p:txBody>
      </p:sp>
      <p:pic>
        <p:nvPicPr>
          <p:cNvPr id="95" name="Google Shape;9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CONTENTS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목차</a:t>
            </a:r>
            <a:endParaRPr b="1" i="0" sz="3000" u="none" cap="none" strike="noStrik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/>
          </a:p>
        </p:txBody>
      </p:sp>
      <p:pic>
        <p:nvPicPr>
          <p:cNvPr id="105" name="Google Shape;105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2"/>
          <p:cNvSpPr/>
          <p:nvPr/>
        </p:nvSpPr>
        <p:spPr>
          <a:xfrm>
            <a:off x="685800" y="2011680"/>
            <a:ext cx="5166360" cy="416052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182875" spcFirstLastPara="1" rIns="18287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1097280" y="2377440"/>
            <a:ext cx="4343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제1부 — 서버</a:t>
            </a:r>
            <a:endParaRPr/>
          </a:p>
        </p:txBody>
      </p:sp>
      <p:sp>
        <p:nvSpPr>
          <p:cNvPr id="108" name="Google Shape;108;p2"/>
          <p:cNvSpPr txBox="1"/>
          <p:nvPr/>
        </p:nvSpPr>
        <p:spPr>
          <a:xfrm>
            <a:off x="1097280" y="3172968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/>
          </a:p>
        </p:txBody>
      </p:sp>
      <p:sp>
        <p:nvSpPr>
          <p:cNvPr id="109" name="Google Shape;109;p2"/>
          <p:cNvSpPr txBox="1"/>
          <p:nvPr/>
        </p:nvSpPr>
        <p:spPr>
          <a:xfrm>
            <a:off x="1645920" y="3172968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시스템 아키텍처</a:t>
            </a:r>
            <a:endParaRPr/>
          </a:p>
        </p:txBody>
      </p:sp>
      <p:sp>
        <p:nvSpPr>
          <p:cNvPr id="110" name="Google Shape;110;p2"/>
          <p:cNvSpPr txBox="1"/>
          <p:nvPr/>
        </p:nvSpPr>
        <p:spPr>
          <a:xfrm>
            <a:off x="1097280" y="3941063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/>
          </a:p>
        </p:txBody>
      </p:sp>
      <p:sp>
        <p:nvSpPr>
          <p:cNvPr id="111" name="Google Shape;111;p2"/>
          <p:cNvSpPr txBox="1"/>
          <p:nvPr/>
        </p:nvSpPr>
        <p:spPr>
          <a:xfrm>
            <a:off x="1645920" y="3941063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 개발 방식</a:t>
            </a:r>
            <a:endParaRPr/>
          </a:p>
        </p:txBody>
      </p:sp>
      <p:sp>
        <p:nvSpPr>
          <p:cNvPr id="112" name="Google Shape;112;p2"/>
          <p:cNvSpPr txBox="1"/>
          <p:nvPr/>
        </p:nvSpPr>
        <p:spPr>
          <a:xfrm>
            <a:off x="1097280" y="4325112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/>
          </a:p>
        </p:txBody>
      </p:sp>
      <p:sp>
        <p:nvSpPr>
          <p:cNvPr id="113" name="Google Shape;113;p2"/>
          <p:cNvSpPr txBox="1"/>
          <p:nvPr/>
        </p:nvSpPr>
        <p:spPr>
          <a:xfrm>
            <a:off x="1645920" y="4325112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 시 각 단계에 대해</a:t>
            </a:r>
            <a:endParaRPr/>
          </a:p>
        </p:txBody>
      </p:sp>
      <p:sp>
        <p:nvSpPr>
          <p:cNvPr id="114" name="Google Shape;114;p2"/>
          <p:cNvSpPr txBox="1"/>
          <p:nvPr/>
        </p:nvSpPr>
        <p:spPr>
          <a:xfrm>
            <a:off x="1097280" y="4709160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/>
          </a:p>
        </p:txBody>
      </p:sp>
      <p:sp>
        <p:nvSpPr>
          <p:cNvPr id="115" name="Google Shape;115;p2"/>
          <p:cNvSpPr txBox="1"/>
          <p:nvPr/>
        </p:nvSpPr>
        <p:spPr>
          <a:xfrm>
            <a:off x="1645920" y="4709160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 체계</a:t>
            </a:r>
            <a:endParaRPr/>
          </a:p>
        </p:txBody>
      </p:sp>
      <p:sp>
        <p:nvSpPr>
          <p:cNvPr id="116" name="Google Shape;116;p2"/>
          <p:cNvSpPr txBox="1"/>
          <p:nvPr/>
        </p:nvSpPr>
        <p:spPr>
          <a:xfrm>
            <a:off x="1097280" y="5093208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/>
          </a:p>
        </p:txBody>
      </p:sp>
      <p:sp>
        <p:nvSpPr>
          <p:cNvPr id="117" name="Google Shape;117;p2"/>
          <p:cNvSpPr txBox="1"/>
          <p:nvPr/>
        </p:nvSpPr>
        <p:spPr>
          <a:xfrm>
            <a:off x="1645920" y="5093208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밸런스 수치를 잡기 위한 과정</a:t>
            </a:r>
            <a:endParaRPr/>
          </a:p>
        </p:txBody>
      </p:sp>
      <p:sp>
        <p:nvSpPr>
          <p:cNvPr id="118" name="Google Shape;118;p2"/>
          <p:cNvSpPr/>
          <p:nvPr/>
        </p:nvSpPr>
        <p:spPr>
          <a:xfrm>
            <a:off x="6309360" y="2011680"/>
            <a:ext cx="5166360" cy="306324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182875" spcFirstLastPara="1" rIns="18287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2"/>
          <p:cNvSpPr txBox="1"/>
          <p:nvPr/>
        </p:nvSpPr>
        <p:spPr>
          <a:xfrm>
            <a:off x="6720840" y="2377440"/>
            <a:ext cx="4343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제2부 — 클라이언트(Unity)</a:t>
            </a:r>
            <a:endParaRPr/>
          </a:p>
        </p:txBody>
      </p:sp>
      <p:sp>
        <p:nvSpPr>
          <p:cNvPr id="120" name="Google Shape;120;p2"/>
          <p:cNvSpPr txBox="1"/>
          <p:nvPr/>
        </p:nvSpPr>
        <p:spPr>
          <a:xfrm>
            <a:off x="6720840" y="2852928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  <a:endParaRPr/>
          </a:p>
        </p:txBody>
      </p:sp>
      <p:sp>
        <p:nvSpPr>
          <p:cNvPr id="121" name="Google Shape;121;p2"/>
          <p:cNvSpPr txBox="1"/>
          <p:nvPr/>
        </p:nvSpPr>
        <p:spPr>
          <a:xfrm>
            <a:off x="7269480" y="2852928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 소개</a:t>
            </a:r>
            <a:endParaRPr/>
          </a:p>
        </p:txBody>
      </p:sp>
      <p:sp>
        <p:nvSpPr>
          <p:cNvPr id="122" name="Google Shape;122;p2"/>
          <p:cNvSpPr txBox="1"/>
          <p:nvPr/>
        </p:nvSpPr>
        <p:spPr>
          <a:xfrm>
            <a:off x="6720840" y="3282696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r>
            <a:endParaRPr/>
          </a:p>
        </p:txBody>
      </p:sp>
      <p:sp>
        <p:nvSpPr>
          <p:cNvPr id="123" name="Google Shape;123;p2"/>
          <p:cNvSpPr txBox="1"/>
          <p:nvPr/>
        </p:nvSpPr>
        <p:spPr>
          <a:xfrm>
            <a:off x="7269480" y="3282696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AI를 </a:t>
            </a:r>
            <a:r>
              <a:rPr lang="en-US" sz="12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</a:t>
            </a:r>
            <a:r>
              <a:rPr b="0" lang="en-US" sz="12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용한 유니티 클라이언트 개발</a:t>
            </a:r>
            <a:endParaRPr b="0" sz="125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4" name="Google Shape;124;p2"/>
          <p:cNvSpPr txBox="1"/>
          <p:nvPr/>
        </p:nvSpPr>
        <p:spPr>
          <a:xfrm>
            <a:off x="6720840" y="3712464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r>
            <a:endParaRPr/>
          </a:p>
        </p:txBody>
      </p:sp>
      <p:sp>
        <p:nvSpPr>
          <p:cNvPr id="125" name="Google Shape;125;p2"/>
          <p:cNvSpPr txBox="1"/>
          <p:nvPr/>
        </p:nvSpPr>
        <p:spPr>
          <a:xfrm>
            <a:off x="7269480" y="3712464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사운드 리소스 </a:t>
            </a:r>
            <a:r>
              <a:rPr lang="en-US" sz="12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생성 및 관리</a:t>
            </a:r>
            <a:endParaRPr b="0" sz="125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6" name="Google Shape;126;p2"/>
          <p:cNvSpPr txBox="1"/>
          <p:nvPr/>
        </p:nvSpPr>
        <p:spPr>
          <a:xfrm>
            <a:off x="1097280" y="2788920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1" sz="1250">
              <a:solidFill>
                <a:srgbClr val="E0A52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7" name="Google Shape;127;p2"/>
          <p:cNvSpPr txBox="1"/>
          <p:nvPr/>
        </p:nvSpPr>
        <p:spPr>
          <a:xfrm>
            <a:off x="1645920" y="2788920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프로젝트 개요</a:t>
            </a:r>
            <a:endParaRPr b="0" sz="125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8" name="Google Shape;128;p2"/>
          <p:cNvSpPr txBox="1"/>
          <p:nvPr/>
        </p:nvSpPr>
        <p:spPr>
          <a:xfrm>
            <a:off x="1097280" y="5477256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/>
          </a:p>
        </p:txBody>
      </p:sp>
      <p:sp>
        <p:nvSpPr>
          <p:cNvPr id="129" name="Google Shape;129;p2"/>
          <p:cNvSpPr txBox="1"/>
          <p:nvPr/>
        </p:nvSpPr>
        <p:spPr>
          <a:xfrm>
            <a:off x="1645920" y="5477256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 관리</a:t>
            </a:r>
            <a:endParaRPr/>
          </a:p>
        </p:txBody>
      </p:sp>
      <p:sp>
        <p:nvSpPr>
          <p:cNvPr id="130" name="Google Shape;130;p2"/>
          <p:cNvSpPr txBox="1"/>
          <p:nvPr/>
        </p:nvSpPr>
        <p:spPr>
          <a:xfrm>
            <a:off x="1097280" y="5861304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/>
          </a:p>
        </p:txBody>
      </p:sp>
      <p:sp>
        <p:nvSpPr>
          <p:cNvPr id="131" name="Google Shape;131;p2"/>
          <p:cNvSpPr txBox="1"/>
          <p:nvPr/>
        </p:nvSpPr>
        <p:spPr>
          <a:xfrm>
            <a:off x="1645920" y="5861304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아이템 생성 자동화</a:t>
            </a:r>
            <a:endParaRPr/>
          </a:p>
        </p:txBody>
      </p:sp>
      <p:sp>
        <p:nvSpPr>
          <p:cNvPr id="132" name="Google Shape;132;p2"/>
          <p:cNvSpPr txBox="1"/>
          <p:nvPr/>
        </p:nvSpPr>
        <p:spPr>
          <a:xfrm>
            <a:off x="6720840" y="4142232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13</a:t>
            </a:r>
            <a:endParaRPr/>
          </a:p>
        </p:txBody>
      </p:sp>
      <p:sp>
        <p:nvSpPr>
          <p:cNvPr id="133" name="Google Shape;133;p2"/>
          <p:cNvSpPr txBox="1"/>
          <p:nvPr/>
        </p:nvSpPr>
        <p:spPr>
          <a:xfrm>
            <a:off x="7269480" y="4142232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개발용 하네스 씬 구성</a:t>
            </a:r>
            <a:endParaRPr/>
          </a:p>
        </p:txBody>
      </p:sp>
      <p:sp>
        <p:nvSpPr>
          <p:cNvPr id="134" name="Google Shape;134;p2"/>
          <p:cNvSpPr txBox="1"/>
          <p:nvPr/>
        </p:nvSpPr>
        <p:spPr>
          <a:xfrm>
            <a:off x="6720840" y="4572000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14</a:t>
            </a:r>
            <a:endParaRPr/>
          </a:p>
        </p:txBody>
      </p:sp>
      <p:sp>
        <p:nvSpPr>
          <p:cNvPr id="135" name="Google Shape;135;p2"/>
          <p:cNvSpPr txBox="1"/>
          <p:nvPr/>
        </p:nvSpPr>
        <p:spPr>
          <a:xfrm>
            <a:off x="7269480" y="4572000"/>
            <a:ext cx="3794760" cy="2153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아이템 아이콘 절차적 생성</a:t>
            </a:r>
            <a:endParaRPr b="0" sz="125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6" name="Google Shape;136;p2"/>
          <p:cNvSpPr txBox="1"/>
          <p:nvPr/>
        </p:nvSpPr>
        <p:spPr>
          <a:xfrm>
            <a:off x="1097280" y="3557015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1" sz="1250">
              <a:solidFill>
                <a:srgbClr val="E0A52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7" name="Google Shape;137;p2"/>
          <p:cNvSpPr txBox="1"/>
          <p:nvPr/>
        </p:nvSpPr>
        <p:spPr>
          <a:xfrm>
            <a:off x="1645920" y="3557015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데이터베이스 설계</a:t>
            </a:r>
            <a:endParaRPr b="0" sz="125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3"/>
          <p:cNvSpPr txBox="1"/>
          <p:nvPr/>
        </p:nvSpPr>
        <p:spPr>
          <a:xfrm>
            <a:off x="1097280" y="265176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PART 1</a:t>
            </a:r>
            <a:endParaRPr/>
          </a:p>
        </p:txBody>
      </p:sp>
      <p:sp>
        <p:nvSpPr>
          <p:cNvPr id="144" name="Google Shape;144;p3"/>
          <p:cNvSpPr txBox="1"/>
          <p:nvPr/>
        </p:nvSpPr>
        <p:spPr>
          <a:xfrm>
            <a:off x="1097280" y="3108960"/>
            <a:ext cx="100584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40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</a:t>
            </a:r>
            <a:endParaRPr/>
          </a:p>
        </p:txBody>
      </p:sp>
      <p:sp>
        <p:nvSpPr>
          <p:cNvPr id="145" name="Google Shape;145;p3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/>
          </a:p>
        </p:txBody>
      </p:sp>
      <p:pic>
        <p:nvPicPr>
          <p:cNvPr id="146" name="Google Shape;146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4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OVERVIEW</a:t>
            </a:r>
            <a:endParaRPr/>
          </a:p>
        </p:txBody>
      </p:sp>
      <p:sp>
        <p:nvSpPr>
          <p:cNvPr id="153" name="Google Shape;153;p4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1. 프로젝트 개요</a:t>
            </a:r>
            <a:endParaRPr b="1" sz="30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5" name="Google Shape;155;p4"/>
          <p:cNvSpPr/>
          <p:nvPr/>
        </p:nvSpPr>
        <p:spPr>
          <a:xfrm>
            <a:off x="685800" y="2148840"/>
            <a:ext cx="2971800" cy="155448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4"/>
          <p:cNvSpPr txBox="1"/>
          <p:nvPr/>
        </p:nvSpPr>
        <p:spPr>
          <a:xfrm>
            <a:off x="905256" y="233172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</a:t>
            </a:r>
            <a:endParaRPr/>
          </a:p>
        </p:txBody>
      </p:sp>
      <p:sp>
        <p:nvSpPr>
          <p:cNvPr id="157" name="Google Shape;157;p4"/>
          <p:cNvSpPr txBox="1"/>
          <p:nvPr/>
        </p:nvSpPr>
        <p:spPr>
          <a:xfrm>
            <a:off x="905256" y="2624328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AccountServer</a:t>
            </a:r>
            <a:endParaRPr/>
          </a:p>
        </p:txBody>
      </p:sp>
      <p:sp>
        <p:nvSpPr>
          <p:cNvPr id="158" name="Google Shape;158;p4"/>
          <p:cNvSpPr txBox="1"/>
          <p:nvPr/>
        </p:nvSpPr>
        <p:spPr>
          <a:xfrm>
            <a:off x="905256" y="3017520"/>
            <a:ext cx="2560320" cy="2047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계정 · 인증 서비스</a:t>
            </a:r>
            <a:endParaRPr b="0" sz="11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9" name="Google Shape;159;p4"/>
          <p:cNvSpPr/>
          <p:nvPr/>
        </p:nvSpPr>
        <p:spPr>
          <a:xfrm>
            <a:off x="3977639" y="2148840"/>
            <a:ext cx="2971800" cy="155448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4"/>
          <p:cNvSpPr txBox="1"/>
          <p:nvPr/>
        </p:nvSpPr>
        <p:spPr>
          <a:xfrm>
            <a:off x="4197095" y="233172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</a:t>
            </a:r>
            <a:endParaRPr/>
          </a:p>
        </p:txBody>
      </p:sp>
      <p:sp>
        <p:nvSpPr>
          <p:cNvPr id="161" name="Google Shape;161;p4"/>
          <p:cNvSpPr txBox="1"/>
          <p:nvPr/>
        </p:nvSpPr>
        <p:spPr>
          <a:xfrm>
            <a:off x="4197095" y="2624328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GameServer</a:t>
            </a:r>
            <a:endParaRPr/>
          </a:p>
        </p:txBody>
      </p:sp>
      <p:sp>
        <p:nvSpPr>
          <p:cNvPr id="162" name="Google Shape;162;p4"/>
          <p:cNvSpPr txBox="1"/>
          <p:nvPr/>
        </p:nvSpPr>
        <p:spPr>
          <a:xfrm>
            <a:off x="4197095" y="3017520"/>
            <a:ext cx="2560320" cy="4732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 컨텐츠 제공</a:t>
            </a:r>
            <a:endParaRPr b="0" sz="11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스테이지 · 인벤토리 · 거래소 · 가챠 …</a:t>
            </a:r>
            <a:endParaRPr/>
          </a:p>
        </p:txBody>
      </p:sp>
      <p:sp>
        <p:nvSpPr>
          <p:cNvPr id="163" name="Google Shape;163;p4"/>
          <p:cNvSpPr/>
          <p:nvPr/>
        </p:nvSpPr>
        <p:spPr>
          <a:xfrm>
            <a:off x="7269480" y="2148840"/>
            <a:ext cx="2971800" cy="155448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4"/>
          <p:cNvSpPr txBox="1"/>
          <p:nvPr/>
        </p:nvSpPr>
        <p:spPr>
          <a:xfrm>
            <a:off x="7488936" y="233172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공유</a:t>
            </a:r>
            <a:endParaRPr/>
          </a:p>
        </p:txBody>
      </p:sp>
      <p:sp>
        <p:nvSpPr>
          <p:cNvPr id="165" name="Google Shape;165;p4"/>
          <p:cNvSpPr txBox="1"/>
          <p:nvPr/>
        </p:nvSpPr>
        <p:spPr>
          <a:xfrm>
            <a:off x="7488936" y="2624328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TaskbarHero.Common</a:t>
            </a:r>
            <a:endParaRPr b="1" sz="15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6" name="Google Shape;166;p4"/>
          <p:cNvSpPr txBox="1"/>
          <p:nvPr/>
        </p:nvSpPr>
        <p:spPr>
          <a:xfrm>
            <a:off x="7488936" y="3017520"/>
            <a:ext cx="2560320" cy="4732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클라, 서버간 </a:t>
            </a:r>
            <a:r>
              <a:rPr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공유 클래스</a:t>
            </a:r>
            <a:endParaRPr sz="11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Ex)</a:t>
            </a:r>
            <a:r>
              <a:rPr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Dto, 에러코드…</a:t>
            </a:r>
            <a:endParaRPr b="0" sz="11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7" name="Google Shape;167;p4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/>
          </a:p>
        </p:txBody>
      </p:sp>
      <p:pic>
        <p:nvPicPr>
          <p:cNvPr id="168" name="Google Shape;16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3977640"/>
            <a:ext cx="3837594" cy="1664900"/>
          </a:xfrm>
          <a:prstGeom prst="rect">
            <a:avLst/>
          </a:prstGeom>
          <a:noFill/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69" name="Google Shape;169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80594" y="3977640"/>
            <a:ext cx="3068410" cy="1664900"/>
          </a:xfrm>
          <a:prstGeom prst="rect">
            <a:avLst/>
          </a:prstGeom>
          <a:noFill/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70" name="Google Shape;170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06204" y="3977640"/>
            <a:ext cx="2968516" cy="1664900"/>
          </a:xfrm>
          <a:prstGeom prst="roundRect">
            <a:avLst>
              <a:gd fmla="val 8594" name="adj"/>
            </a:avLst>
          </a:prstGeom>
          <a:solidFill>
            <a:srgbClr val="ECECEC"/>
          </a:solidFill>
          <a:ln>
            <a:noFill/>
          </a:ln>
          <a:effectLst>
            <a:reflection blurRad="0" dir="5400000" dist="5000" endA="0" endPos="28000" kx="0" rotWithShape="0" algn="bl" stA="38000" stPos="0" sy="-100000" ky="0"/>
          </a:effectLst>
        </p:spPr>
      </p:pic>
      <p:pic>
        <p:nvPicPr>
          <p:cNvPr id="171" name="Google Shape;171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4"/>
          <p:cNvSpPr txBox="1"/>
          <p:nvPr/>
        </p:nvSpPr>
        <p:spPr>
          <a:xfrm>
            <a:off x="685800" y="5779700"/>
            <a:ext cx="3837594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원작 스팀 게임 TBH : 태스크바 히어로</a:t>
            </a:r>
            <a:endParaRPr/>
          </a:p>
        </p:txBody>
      </p:sp>
      <p:sp>
        <p:nvSpPr>
          <p:cNvPr id="173" name="Google Shape;173;p4"/>
          <p:cNvSpPr txBox="1"/>
          <p:nvPr/>
        </p:nvSpPr>
        <p:spPr>
          <a:xfrm>
            <a:off x="4980594" y="5779700"/>
            <a:ext cx="649412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모작 : Com2us Taskbar Hero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5"/>
          <p:cNvSpPr/>
          <p:nvPr/>
        </p:nvSpPr>
        <p:spPr>
          <a:xfrm>
            <a:off x="21356" y="9"/>
            <a:ext cx="12192000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.png" id="180" name="Google Shape;18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5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ARCHITECTURE</a:t>
            </a:r>
            <a:endParaRPr/>
          </a:p>
        </p:txBody>
      </p:sp>
      <p:sp>
        <p:nvSpPr>
          <p:cNvPr id="182" name="Google Shape;182;p5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5"/>
          <p:cNvSpPr txBox="1"/>
          <p:nvPr/>
        </p:nvSpPr>
        <p:spPr>
          <a:xfrm>
            <a:off x="685800" y="914400"/>
            <a:ext cx="3286156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2. 시스템 아키텍처</a:t>
            </a:r>
            <a:endParaRPr b="1" sz="30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4" name="Google Shape;184;p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/>
          </a:p>
        </p:txBody>
      </p:sp>
      <p:sp>
        <p:nvSpPr>
          <p:cNvPr id="185" name="Google Shape;185;p5"/>
          <p:cNvSpPr/>
          <p:nvPr/>
        </p:nvSpPr>
        <p:spPr>
          <a:xfrm>
            <a:off x="685800" y="2240280"/>
            <a:ext cx="1965960" cy="788146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5"/>
          <p:cNvSpPr/>
          <p:nvPr/>
        </p:nvSpPr>
        <p:spPr>
          <a:xfrm>
            <a:off x="832104" y="2359152"/>
            <a:ext cx="411480" cy="41148"/>
          </a:xfrm>
          <a:prstGeom prst="rect">
            <a:avLst/>
          </a:prstGeom>
          <a:solidFill>
            <a:srgbClr val="6B768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5"/>
          <p:cNvSpPr txBox="1"/>
          <p:nvPr/>
        </p:nvSpPr>
        <p:spPr>
          <a:xfrm>
            <a:off x="832104" y="2468880"/>
            <a:ext cx="1673351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Unity 클라이언트</a:t>
            </a:r>
            <a:endParaRPr/>
          </a:p>
        </p:txBody>
      </p:sp>
      <p:sp>
        <p:nvSpPr>
          <p:cNvPr id="188" name="Google Shape;188;p5"/>
          <p:cNvSpPr/>
          <p:nvPr/>
        </p:nvSpPr>
        <p:spPr>
          <a:xfrm>
            <a:off x="3246120" y="1828800"/>
            <a:ext cx="3383280" cy="2468880"/>
          </a:xfrm>
          <a:prstGeom prst="roundRect">
            <a:avLst>
              <a:gd fmla="val 3000" name="adj"/>
            </a:avLst>
          </a:prstGeom>
          <a:noFill/>
          <a:ln cap="flat" cmpd="sng" w="12700">
            <a:solidFill>
              <a:srgbClr val="D8DEE7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5"/>
          <p:cNvSpPr txBox="1"/>
          <p:nvPr/>
        </p:nvSpPr>
        <p:spPr>
          <a:xfrm>
            <a:off x="3364991" y="1892807"/>
            <a:ext cx="3145536" cy="1461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애플리케이션 서버</a:t>
            </a:r>
            <a:endParaRPr b="1" sz="9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0" name="Google Shape;190;p5"/>
          <p:cNvSpPr/>
          <p:nvPr/>
        </p:nvSpPr>
        <p:spPr>
          <a:xfrm>
            <a:off x="3364992" y="2157984"/>
            <a:ext cx="3145536" cy="987552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5"/>
          <p:cNvSpPr/>
          <p:nvPr/>
        </p:nvSpPr>
        <p:spPr>
          <a:xfrm>
            <a:off x="3511296" y="2276856"/>
            <a:ext cx="411480" cy="41148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5"/>
          <p:cNvSpPr txBox="1"/>
          <p:nvPr/>
        </p:nvSpPr>
        <p:spPr>
          <a:xfrm>
            <a:off x="3511296" y="2386584"/>
            <a:ext cx="285292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AccountServer</a:t>
            </a:r>
            <a:endParaRPr/>
          </a:p>
        </p:txBody>
      </p:sp>
      <p:sp>
        <p:nvSpPr>
          <p:cNvPr id="193" name="Google Shape;193;p5"/>
          <p:cNvSpPr txBox="1"/>
          <p:nvPr/>
        </p:nvSpPr>
        <p:spPr>
          <a:xfrm>
            <a:off x="3511296" y="2606039"/>
            <a:ext cx="2852928" cy="1737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:5160</a:t>
            </a:r>
            <a:endParaRPr/>
          </a:p>
        </p:txBody>
      </p:sp>
      <p:sp>
        <p:nvSpPr>
          <p:cNvPr id="194" name="Google Shape;194;p5"/>
          <p:cNvSpPr txBox="1"/>
          <p:nvPr/>
        </p:nvSpPr>
        <p:spPr>
          <a:xfrm>
            <a:off x="3511296" y="2779776"/>
            <a:ext cx="2852928" cy="1435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계정 생성 · 로그인 · 토큰 발급(TTL 24h)</a:t>
            </a:r>
            <a:endParaRPr/>
          </a:p>
        </p:txBody>
      </p:sp>
      <p:sp>
        <p:nvSpPr>
          <p:cNvPr id="195" name="Google Shape;195;p5"/>
          <p:cNvSpPr/>
          <p:nvPr/>
        </p:nvSpPr>
        <p:spPr>
          <a:xfrm>
            <a:off x="3364992" y="3236976"/>
            <a:ext cx="3145536" cy="987552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5"/>
          <p:cNvSpPr/>
          <p:nvPr/>
        </p:nvSpPr>
        <p:spPr>
          <a:xfrm>
            <a:off x="3511296" y="3355848"/>
            <a:ext cx="411480" cy="41148"/>
          </a:xfrm>
          <a:prstGeom prst="rect">
            <a:avLst/>
          </a:prstGeom>
          <a:solidFill>
            <a:srgbClr val="1B9E6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5"/>
          <p:cNvSpPr txBox="1"/>
          <p:nvPr/>
        </p:nvSpPr>
        <p:spPr>
          <a:xfrm>
            <a:off x="3511296" y="3465576"/>
            <a:ext cx="285292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GameServer</a:t>
            </a:r>
            <a:endParaRPr/>
          </a:p>
        </p:txBody>
      </p:sp>
      <p:sp>
        <p:nvSpPr>
          <p:cNvPr id="198" name="Google Shape;198;p5"/>
          <p:cNvSpPr txBox="1"/>
          <p:nvPr/>
        </p:nvSpPr>
        <p:spPr>
          <a:xfrm>
            <a:off x="3511296" y="3685032"/>
            <a:ext cx="2852928" cy="1737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1B9E6F"/>
                </a:solidFill>
                <a:latin typeface="Malgun Gothic"/>
                <a:ea typeface="Malgun Gothic"/>
                <a:cs typeface="Malgun Gothic"/>
                <a:sym typeface="Malgun Gothic"/>
              </a:rPr>
              <a:t>:5247</a:t>
            </a:r>
            <a:endParaRPr/>
          </a:p>
        </p:txBody>
      </p:sp>
      <p:sp>
        <p:nvSpPr>
          <p:cNvPr id="199" name="Google Shape;199;p5"/>
          <p:cNvSpPr txBox="1"/>
          <p:nvPr/>
        </p:nvSpPr>
        <p:spPr>
          <a:xfrm>
            <a:off x="3511296" y="3858768"/>
            <a:ext cx="28530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 진행도 load, 게임 콘텐츠 진행</a:t>
            </a:r>
            <a:endParaRPr b="0" sz="8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0" name="Google Shape;200;p5"/>
          <p:cNvSpPr/>
          <p:nvPr/>
        </p:nvSpPr>
        <p:spPr>
          <a:xfrm>
            <a:off x="7269480" y="1828800"/>
            <a:ext cx="4206240" cy="2468880"/>
          </a:xfrm>
          <a:prstGeom prst="roundRect">
            <a:avLst>
              <a:gd fmla="val 3000" name="adj"/>
            </a:avLst>
          </a:prstGeom>
          <a:noFill/>
          <a:ln cap="flat" cmpd="sng" w="12700">
            <a:solidFill>
              <a:srgbClr val="D8DEE7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5"/>
          <p:cNvSpPr txBox="1"/>
          <p:nvPr/>
        </p:nvSpPr>
        <p:spPr>
          <a:xfrm>
            <a:off x="7383780" y="1912908"/>
            <a:ext cx="3968496" cy="1461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Database</a:t>
            </a:r>
            <a:endParaRPr b="1" sz="9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2" name="Google Shape;202;p5"/>
          <p:cNvSpPr/>
          <p:nvPr/>
        </p:nvSpPr>
        <p:spPr>
          <a:xfrm>
            <a:off x="7397496" y="2135124"/>
            <a:ext cx="3968496" cy="987552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5"/>
          <p:cNvSpPr/>
          <p:nvPr/>
        </p:nvSpPr>
        <p:spPr>
          <a:xfrm>
            <a:off x="7543800" y="2253996"/>
            <a:ext cx="411480" cy="411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5"/>
          <p:cNvSpPr txBox="1"/>
          <p:nvPr/>
        </p:nvSpPr>
        <p:spPr>
          <a:xfrm>
            <a:off x="7543800" y="2363724"/>
            <a:ext cx="3675887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Cache(Redis 8.2)</a:t>
            </a:r>
            <a:endParaRPr b="1" sz="12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5" name="Google Shape;205;p5"/>
          <p:cNvSpPr txBox="1"/>
          <p:nvPr/>
        </p:nvSpPr>
        <p:spPr>
          <a:xfrm>
            <a:off x="7543800" y="2583179"/>
            <a:ext cx="3675887" cy="130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C0392B"/>
                </a:solidFill>
                <a:latin typeface="Malgun Gothic"/>
                <a:ea typeface="Malgun Gothic"/>
                <a:cs typeface="Malgun Gothic"/>
                <a:sym typeface="Malgun Gothic"/>
              </a:rPr>
              <a:t>:</a:t>
            </a:r>
            <a:r>
              <a:rPr b="1" lang="en-US" sz="850">
                <a:solidFill>
                  <a:srgbClr val="C0392B"/>
                </a:solidFill>
                <a:latin typeface="Malgun Gothic"/>
                <a:ea typeface="Malgun Gothic"/>
                <a:cs typeface="Malgun Gothic"/>
                <a:sym typeface="Malgun Gothic"/>
              </a:rPr>
              <a:t>36379</a:t>
            </a:r>
            <a:endParaRPr/>
          </a:p>
        </p:txBody>
      </p:sp>
      <p:sp>
        <p:nvSpPr>
          <p:cNvPr id="206" name="Google Shape;206;p5"/>
          <p:cNvSpPr txBox="1"/>
          <p:nvPr/>
        </p:nvSpPr>
        <p:spPr>
          <a:xfrm>
            <a:off x="7543800" y="2756916"/>
            <a:ext cx="3675887" cy="3030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auth:token:{userId} </a:t>
            </a:r>
            <a:r>
              <a:rPr lang="en-US" sz="8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유저 로그인 인증 토큰</a:t>
            </a:r>
            <a:endParaRPr sz="8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랭킹 데이터 캐싱</a:t>
            </a:r>
            <a:endParaRPr b="0" sz="8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7" name="Google Shape;207;p5"/>
          <p:cNvSpPr/>
          <p:nvPr/>
        </p:nvSpPr>
        <p:spPr>
          <a:xfrm>
            <a:off x="7388352" y="3236976"/>
            <a:ext cx="3968496" cy="987552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5"/>
          <p:cNvSpPr/>
          <p:nvPr/>
        </p:nvSpPr>
        <p:spPr>
          <a:xfrm>
            <a:off x="7534656" y="3355848"/>
            <a:ext cx="411480" cy="41148"/>
          </a:xfrm>
          <a:prstGeom prst="rect">
            <a:avLst/>
          </a:prstGeom>
          <a:solidFill>
            <a:srgbClr val="2A5C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5"/>
          <p:cNvSpPr txBox="1"/>
          <p:nvPr/>
        </p:nvSpPr>
        <p:spPr>
          <a:xfrm>
            <a:off x="7534656" y="3465576"/>
            <a:ext cx="3675887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Database (MySQL 8.4)</a:t>
            </a:r>
            <a:endParaRPr b="1" sz="12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0" name="Google Shape;210;p5"/>
          <p:cNvSpPr txBox="1"/>
          <p:nvPr/>
        </p:nvSpPr>
        <p:spPr>
          <a:xfrm>
            <a:off x="7534656" y="3685032"/>
            <a:ext cx="3675887" cy="130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2A5C9A"/>
                </a:solidFill>
                <a:latin typeface="Malgun Gothic"/>
                <a:ea typeface="Malgun Gothic"/>
                <a:cs typeface="Malgun Gothic"/>
                <a:sym typeface="Malgun Gothic"/>
              </a:rPr>
              <a:t>:</a:t>
            </a:r>
            <a:r>
              <a:rPr b="1" lang="en-US" sz="850">
                <a:solidFill>
                  <a:srgbClr val="2A5C9A"/>
                </a:solidFill>
                <a:latin typeface="Malgun Gothic"/>
                <a:ea typeface="Malgun Gothic"/>
                <a:cs typeface="Malgun Gothic"/>
                <a:sym typeface="Malgun Gothic"/>
              </a:rPr>
              <a:t>33306 · SqlKata + Dapper</a:t>
            </a:r>
            <a:endParaRPr/>
          </a:p>
        </p:txBody>
      </p:sp>
      <p:sp>
        <p:nvSpPr>
          <p:cNvPr id="211" name="Google Shape;211;p5"/>
          <p:cNvSpPr txBox="1"/>
          <p:nvPr/>
        </p:nvSpPr>
        <p:spPr>
          <a:xfrm>
            <a:off x="7534656" y="3819111"/>
            <a:ext cx="3675887" cy="3810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taskbar_hero_account</a:t>
            </a:r>
            <a:r>
              <a:rPr b="0" lang="en-US" sz="7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– 사용자 계정 관리</a:t>
            </a:r>
            <a:endParaRPr b="0" sz="70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t</a:t>
            </a:r>
            <a:r>
              <a:rPr b="0" lang="en-US" sz="7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askbar_hero_game – 게임 컨텐츠 관련 관리</a:t>
            </a:r>
            <a:endParaRPr b="0" sz="70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t</a:t>
            </a:r>
            <a:r>
              <a:rPr b="0" lang="en-US" sz="7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askbar_hero_master – 게임 마스터 데이터</a:t>
            </a:r>
            <a:endParaRPr b="0" sz="70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12" name="Google Shape;212;p5"/>
          <p:cNvCxnSpPr/>
          <p:nvPr/>
        </p:nvCxnSpPr>
        <p:spPr>
          <a:xfrm>
            <a:off x="2651760" y="2651760"/>
            <a:ext cx="713232" cy="0"/>
          </a:xfrm>
          <a:prstGeom prst="straightConnector1">
            <a:avLst/>
          </a:prstGeom>
          <a:noFill/>
          <a:ln cap="flat" cmpd="sng" w="15875">
            <a:solidFill>
              <a:srgbClr val="6B7684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13" name="Google Shape;213;p5"/>
          <p:cNvSpPr txBox="1"/>
          <p:nvPr/>
        </p:nvSpPr>
        <p:spPr>
          <a:xfrm>
            <a:off x="2697480" y="2395728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</a:t>
            </a:r>
            <a:endParaRPr/>
          </a:p>
        </p:txBody>
      </p:sp>
      <p:sp>
        <p:nvSpPr>
          <p:cNvPr id="214" name="Google Shape;214;p5"/>
          <p:cNvSpPr txBox="1"/>
          <p:nvPr/>
        </p:nvSpPr>
        <p:spPr>
          <a:xfrm>
            <a:off x="2697480" y="3474720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③</a:t>
            </a:r>
            <a:endParaRPr/>
          </a:p>
        </p:txBody>
      </p:sp>
      <p:cxnSp>
        <p:nvCxnSpPr>
          <p:cNvPr id="215" name="Google Shape;215;p5"/>
          <p:cNvCxnSpPr/>
          <p:nvPr/>
        </p:nvCxnSpPr>
        <p:spPr>
          <a:xfrm>
            <a:off x="6629400" y="2651760"/>
            <a:ext cx="640080" cy="0"/>
          </a:xfrm>
          <a:prstGeom prst="straightConnector1">
            <a:avLst/>
          </a:prstGeom>
          <a:noFill/>
          <a:ln cap="flat" cmpd="sng" w="15875">
            <a:solidFill>
              <a:srgbClr val="6B7684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16" name="Google Shape;216;p5"/>
          <p:cNvSpPr txBox="1"/>
          <p:nvPr/>
        </p:nvSpPr>
        <p:spPr>
          <a:xfrm>
            <a:off x="6720840" y="2395728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</a:t>
            </a:r>
            <a:endParaRPr/>
          </a:p>
        </p:txBody>
      </p:sp>
      <p:cxnSp>
        <p:nvCxnSpPr>
          <p:cNvPr id="217" name="Google Shape;217;p5"/>
          <p:cNvCxnSpPr/>
          <p:nvPr/>
        </p:nvCxnSpPr>
        <p:spPr>
          <a:xfrm>
            <a:off x="6629400" y="3730752"/>
            <a:ext cx="640080" cy="0"/>
          </a:xfrm>
          <a:prstGeom prst="straightConnector1">
            <a:avLst/>
          </a:prstGeom>
          <a:noFill/>
          <a:ln cap="flat" cmpd="sng" w="15875">
            <a:solidFill>
              <a:srgbClr val="6B7684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18" name="Google Shape;218;p5"/>
          <p:cNvSpPr txBox="1"/>
          <p:nvPr/>
        </p:nvSpPr>
        <p:spPr>
          <a:xfrm>
            <a:off x="6720840" y="3474720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④</a:t>
            </a:r>
            <a:endParaRPr/>
          </a:p>
        </p:txBody>
      </p:sp>
      <p:sp>
        <p:nvSpPr>
          <p:cNvPr id="219" name="Google Shape;219;p5"/>
          <p:cNvSpPr/>
          <p:nvPr/>
        </p:nvSpPr>
        <p:spPr>
          <a:xfrm>
            <a:off x="685800" y="4498848"/>
            <a:ext cx="10789920" cy="1572768"/>
          </a:xfrm>
          <a:prstGeom prst="roundRect">
            <a:avLst>
              <a:gd fmla="val 3000" name="adj"/>
            </a:avLst>
          </a:prstGeom>
          <a:noFill/>
          <a:ln cap="flat" cmpd="sng" w="12700">
            <a:solidFill>
              <a:srgbClr val="D8DEE7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5"/>
          <p:cNvSpPr/>
          <p:nvPr/>
        </p:nvSpPr>
        <p:spPr>
          <a:xfrm>
            <a:off x="868680" y="4828032"/>
            <a:ext cx="2487168" cy="1115568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5"/>
          <p:cNvSpPr/>
          <p:nvPr/>
        </p:nvSpPr>
        <p:spPr>
          <a:xfrm>
            <a:off x="1014983" y="4946904"/>
            <a:ext cx="411480" cy="41148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5"/>
          <p:cNvSpPr txBox="1"/>
          <p:nvPr/>
        </p:nvSpPr>
        <p:spPr>
          <a:xfrm>
            <a:off x="1014983" y="5056632"/>
            <a:ext cx="2194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이벤트 로그 JSON</a:t>
            </a:r>
            <a:endParaRPr/>
          </a:p>
        </p:txBody>
      </p:sp>
      <p:sp>
        <p:nvSpPr>
          <p:cNvPr id="223" name="Google Shape;223;p5"/>
          <p:cNvSpPr txBox="1"/>
          <p:nvPr/>
        </p:nvSpPr>
        <p:spPr>
          <a:xfrm>
            <a:off x="1014983" y="5276088"/>
            <a:ext cx="2194560" cy="1737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GameServer/logs/event/</a:t>
            </a:r>
            <a:endParaRPr/>
          </a:p>
        </p:txBody>
      </p:sp>
      <p:sp>
        <p:nvSpPr>
          <p:cNvPr id="224" name="Google Shape;224;p5"/>
          <p:cNvSpPr/>
          <p:nvPr/>
        </p:nvSpPr>
        <p:spPr>
          <a:xfrm>
            <a:off x="3538728" y="4828032"/>
            <a:ext cx="2487168" cy="1115568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5"/>
          <p:cNvSpPr/>
          <p:nvPr/>
        </p:nvSpPr>
        <p:spPr>
          <a:xfrm>
            <a:off x="3685032" y="4946904"/>
            <a:ext cx="411480" cy="41148"/>
          </a:xfrm>
          <a:prstGeom prst="rect">
            <a:avLst/>
          </a:prstGeom>
          <a:solidFill>
            <a:srgbClr val="B9601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5"/>
          <p:cNvSpPr txBox="1"/>
          <p:nvPr/>
        </p:nvSpPr>
        <p:spPr>
          <a:xfrm>
            <a:off x="3685032" y="5056632"/>
            <a:ext cx="2194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fluentd</a:t>
            </a:r>
            <a:endParaRPr/>
          </a:p>
        </p:txBody>
      </p:sp>
      <p:sp>
        <p:nvSpPr>
          <p:cNvPr id="227" name="Google Shape;227;p5"/>
          <p:cNvSpPr txBox="1"/>
          <p:nvPr/>
        </p:nvSpPr>
        <p:spPr>
          <a:xfrm>
            <a:off x="3685032" y="5276088"/>
            <a:ext cx="2194560" cy="130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B9601C"/>
                </a:solidFill>
                <a:latin typeface="Malgun Gothic"/>
                <a:ea typeface="Malgun Gothic"/>
                <a:cs typeface="Malgun Gothic"/>
                <a:sym typeface="Malgun Gothic"/>
              </a:rPr>
              <a:t>:24220 (LogDB 쿼리 전달)</a:t>
            </a:r>
            <a:endParaRPr/>
          </a:p>
        </p:txBody>
      </p:sp>
      <p:sp>
        <p:nvSpPr>
          <p:cNvPr id="228" name="Google Shape;228;p5"/>
          <p:cNvSpPr/>
          <p:nvPr/>
        </p:nvSpPr>
        <p:spPr>
          <a:xfrm>
            <a:off x="6208776" y="4828032"/>
            <a:ext cx="2487168" cy="1115568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5"/>
          <p:cNvSpPr/>
          <p:nvPr/>
        </p:nvSpPr>
        <p:spPr>
          <a:xfrm>
            <a:off x="6355080" y="4946904"/>
            <a:ext cx="411480" cy="41148"/>
          </a:xfrm>
          <a:prstGeom prst="rect">
            <a:avLst/>
          </a:prstGeom>
          <a:solidFill>
            <a:srgbClr val="6B4FB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5"/>
          <p:cNvSpPr txBox="1"/>
          <p:nvPr/>
        </p:nvSpPr>
        <p:spPr>
          <a:xfrm>
            <a:off x="6355080" y="5056632"/>
            <a:ext cx="2194560" cy="176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LogDB(TimescaleDB</a:t>
            </a:r>
            <a:endParaRPr b="1" sz="115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1" name="Google Shape;231;p5"/>
          <p:cNvSpPr txBox="1"/>
          <p:nvPr/>
        </p:nvSpPr>
        <p:spPr>
          <a:xfrm>
            <a:off x="6355080" y="5276088"/>
            <a:ext cx="2194560" cy="1737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6B4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5432</a:t>
            </a:r>
            <a:endParaRPr/>
          </a:p>
        </p:txBody>
      </p:sp>
      <p:sp>
        <p:nvSpPr>
          <p:cNvPr id="232" name="Google Shape;232;p5"/>
          <p:cNvSpPr txBox="1"/>
          <p:nvPr/>
        </p:nvSpPr>
        <p:spPr>
          <a:xfrm>
            <a:off x="6355080" y="5449824"/>
            <a:ext cx="2194560" cy="1435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 테이블 데이터 </a:t>
            </a:r>
            <a:r>
              <a:rPr lang="en-US" sz="8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관리</a:t>
            </a:r>
            <a:endParaRPr b="0" sz="8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3" name="Google Shape;233;p5"/>
          <p:cNvSpPr/>
          <p:nvPr/>
        </p:nvSpPr>
        <p:spPr>
          <a:xfrm>
            <a:off x="8878824" y="4828032"/>
            <a:ext cx="2487168" cy="1115568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5"/>
          <p:cNvSpPr/>
          <p:nvPr/>
        </p:nvSpPr>
        <p:spPr>
          <a:xfrm>
            <a:off x="9025128" y="4946904"/>
            <a:ext cx="411480" cy="41148"/>
          </a:xfrm>
          <a:prstGeom prst="rect">
            <a:avLst/>
          </a:prstGeom>
          <a:solidFill>
            <a:srgbClr val="0E8A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5"/>
          <p:cNvSpPr txBox="1"/>
          <p:nvPr/>
        </p:nvSpPr>
        <p:spPr>
          <a:xfrm>
            <a:off x="9025128" y="5056632"/>
            <a:ext cx="2194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Grafana</a:t>
            </a:r>
            <a:endParaRPr/>
          </a:p>
        </p:txBody>
      </p:sp>
      <p:sp>
        <p:nvSpPr>
          <p:cNvPr id="236" name="Google Shape;236;p5"/>
          <p:cNvSpPr txBox="1"/>
          <p:nvPr/>
        </p:nvSpPr>
        <p:spPr>
          <a:xfrm>
            <a:off x="9025128" y="5276088"/>
            <a:ext cx="2194560" cy="1737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0E8AA8"/>
                </a:solidFill>
                <a:latin typeface="Malgun Gothic"/>
                <a:ea typeface="Malgun Gothic"/>
                <a:cs typeface="Malgun Gothic"/>
                <a:sym typeface="Malgun Gothic"/>
              </a:rPr>
              <a:t>:3000</a:t>
            </a:r>
            <a:endParaRPr/>
          </a:p>
        </p:txBody>
      </p:sp>
      <p:sp>
        <p:nvSpPr>
          <p:cNvPr id="237" name="Google Shape;237;p5"/>
          <p:cNvSpPr txBox="1"/>
          <p:nvPr/>
        </p:nvSpPr>
        <p:spPr>
          <a:xfrm>
            <a:off x="9025128" y="5449824"/>
            <a:ext cx="2194560" cy="1435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데이터소스 · 대시보드</a:t>
            </a:r>
            <a:endParaRPr b="0" sz="8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38" name="Google Shape;238;p5"/>
          <p:cNvCxnSpPr/>
          <p:nvPr/>
        </p:nvCxnSpPr>
        <p:spPr>
          <a:xfrm>
            <a:off x="3355848" y="5385816"/>
            <a:ext cx="182880" cy="0"/>
          </a:xfrm>
          <a:prstGeom prst="straightConnector1">
            <a:avLst/>
          </a:prstGeom>
          <a:noFill/>
          <a:ln cap="flat" cmpd="sng" w="19050">
            <a:solidFill>
              <a:srgbClr val="B9601C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239" name="Google Shape;239;p5"/>
          <p:cNvCxnSpPr/>
          <p:nvPr/>
        </p:nvCxnSpPr>
        <p:spPr>
          <a:xfrm>
            <a:off x="6025896" y="5385816"/>
            <a:ext cx="182880" cy="0"/>
          </a:xfrm>
          <a:prstGeom prst="straightConnector1">
            <a:avLst/>
          </a:prstGeom>
          <a:noFill/>
          <a:ln cap="flat" cmpd="sng" w="19050">
            <a:solidFill>
              <a:srgbClr val="B9601C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240" name="Google Shape;240;p5"/>
          <p:cNvCxnSpPr/>
          <p:nvPr/>
        </p:nvCxnSpPr>
        <p:spPr>
          <a:xfrm>
            <a:off x="8695944" y="5385816"/>
            <a:ext cx="182880" cy="0"/>
          </a:xfrm>
          <a:prstGeom prst="straightConnector1">
            <a:avLst/>
          </a:prstGeom>
          <a:noFill/>
          <a:ln cap="flat" cmpd="sng" w="19050">
            <a:solidFill>
              <a:srgbClr val="B9601C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241" name="Google Shape;241;p5"/>
          <p:cNvCxnSpPr/>
          <p:nvPr/>
        </p:nvCxnSpPr>
        <p:spPr>
          <a:xfrm>
            <a:off x="4023360" y="4224528"/>
            <a:ext cx="0" cy="164592"/>
          </a:xfrm>
          <a:prstGeom prst="straightConnector1">
            <a:avLst/>
          </a:prstGeom>
          <a:noFill/>
          <a:ln cap="flat" cmpd="sng" w="19050">
            <a:solidFill>
              <a:srgbClr val="B9601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242" name="Google Shape;242;p5"/>
          <p:cNvCxnSpPr/>
          <p:nvPr/>
        </p:nvCxnSpPr>
        <p:spPr>
          <a:xfrm rot="10800000">
            <a:off x="2112264" y="4389120"/>
            <a:ext cx="1911096" cy="0"/>
          </a:xfrm>
          <a:prstGeom prst="straightConnector1">
            <a:avLst/>
          </a:prstGeom>
          <a:noFill/>
          <a:ln cap="flat" cmpd="sng" w="19050">
            <a:solidFill>
              <a:srgbClr val="B9601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243" name="Google Shape;243;p5"/>
          <p:cNvCxnSpPr/>
          <p:nvPr/>
        </p:nvCxnSpPr>
        <p:spPr>
          <a:xfrm>
            <a:off x="2112264" y="4389120"/>
            <a:ext cx="0" cy="438912"/>
          </a:xfrm>
          <a:prstGeom prst="straightConnector1">
            <a:avLst/>
          </a:prstGeom>
          <a:noFill/>
          <a:ln cap="flat" cmpd="sng" w="19050">
            <a:solidFill>
              <a:srgbClr val="B9601C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44" name="Google Shape;244;p5"/>
          <p:cNvSpPr txBox="1"/>
          <p:nvPr/>
        </p:nvSpPr>
        <p:spPr>
          <a:xfrm>
            <a:off x="685800" y="6163056"/>
            <a:ext cx="9966960" cy="1461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 로그인  →  ② 토큰 저장(Redis)  →  ③ 게임 API(userId + token 헤더)  →  ④ 토큰 검증   ·   두 서버는 서로 HTTP 호출하지 않고 Redis의 토큰만 공유</a:t>
            </a:r>
            <a:endParaRPr b="0" sz="9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45" name="Google Shape;245;p5"/>
          <p:cNvCxnSpPr/>
          <p:nvPr/>
        </p:nvCxnSpPr>
        <p:spPr>
          <a:xfrm>
            <a:off x="1668779" y="3063240"/>
            <a:ext cx="1707600" cy="667500"/>
          </a:xfrm>
          <a:prstGeom prst="bentConnector3">
            <a:avLst>
              <a:gd fmla="val 628" name="adj1"/>
            </a:avLst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46" name="Google Shape;246;p5"/>
          <p:cNvSpPr txBox="1"/>
          <p:nvPr/>
        </p:nvSpPr>
        <p:spPr>
          <a:xfrm>
            <a:off x="685800" y="914400"/>
            <a:ext cx="3286156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2. 시스템 아키텍처</a:t>
            </a:r>
            <a:endParaRPr b="1" sz="30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47" name="Google Shape;247;p5"/>
          <p:cNvSpPr txBox="1"/>
          <p:nvPr/>
        </p:nvSpPr>
        <p:spPr>
          <a:xfrm>
            <a:off x="2140472" y="4213975"/>
            <a:ext cx="10134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 관련 로그 기록</a:t>
            </a:r>
            <a:endParaRPr b="0" sz="8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53" name="Google Shape;253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7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DATABASE</a:t>
            </a:r>
            <a:endParaRPr/>
          </a:p>
        </p:txBody>
      </p:sp>
      <p:sp>
        <p:nvSpPr>
          <p:cNvPr id="255" name="Google Shape;255;p7"/>
          <p:cNvSpPr/>
          <p:nvPr/>
        </p:nvSpPr>
        <p:spPr>
          <a:xfrm>
            <a:off x="685800" y="749808"/>
            <a:ext cx="822960" cy="54864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7"/>
          <p:cNvSpPr txBox="1"/>
          <p:nvPr/>
        </p:nvSpPr>
        <p:spPr>
          <a:xfrm>
            <a:off x="685800" y="914400"/>
            <a:ext cx="1088136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3.  데이터베이스 설계</a:t>
            </a:r>
            <a:endParaRPr b="1" sz="30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57" name="Google Shape;257;p7"/>
          <p:cNvSpPr/>
          <p:nvPr/>
        </p:nvSpPr>
        <p:spPr>
          <a:xfrm>
            <a:off x="8922890" y="2041451"/>
            <a:ext cx="2487168" cy="3947868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7"/>
          <p:cNvSpPr txBox="1"/>
          <p:nvPr/>
        </p:nvSpPr>
        <p:spPr>
          <a:xfrm>
            <a:off x="9105770" y="2224331"/>
            <a:ext cx="212140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MySQL</a:t>
            </a:r>
            <a:endParaRPr/>
          </a:p>
        </p:txBody>
      </p:sp>
      <p:sp>
        <p:nvSpPr>
          <p:cNvPr id="259" name="Google Shape;259;p7"/>
          <p:cNvSpPr txBox="1"/>
          <p:nvPr/>
        </p:nvSpPr>
        <p:spPr>
          <a:xfrm>
            <a:off x="9105770" y="2498651"/>
            <a:ext cx="212140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Account DB</a:t>
            </a:r>
            <a:endParaRPr/>
          </a:p>
        </p:txBody>
      </p:sp>
      <p:sp>
        <p:nvSpPr>
          <p:cNvPr id="260" name="Google Shape;260;p7"/>
          <p:cNvSpPr/>
          <p:nvPr/>
        </p:nvSpPr>
        <p:spPr>
          <a:xfrm>
            <a:off x="9105770" y="2864411"/>
            <a:ext cx="411480" cy="36576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7"/>
          <p:cNvSpPr txBox="1"/>
          <p:nvPr/>
        </p:nvSpPr>
        <p:spPr>
          <a:xfrm>
            <a:off x="9105770" y="3010715"/>
            <a:ext cx="212140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테이블 2개</a:t>
            </a:r>
            <a:endParaRPr/>
          </a:p>
        </p:txBody>
      </p:sp>
      <p:sp>
        <p:nvSpPr>
          <p:cNvPr id="262" name="Google Shape;262;p7"/>
          <p:cNvSpPr txBox="1"/>
          <p:nvPr/>
        </p:nvSpPr>
        <p:spPr>
          <a:xfrm>
            <a:off x="9105770" y="3266747"/>
            <a:ext cx="2121408" cy="8595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taskbar_hero_account</a:t>
            </a:r>
            <a:endParaRPr b="0" sz="95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계정 신원과 발급 토큰의 영속 사본. users · user_auth_token 둘뿐이다.</a:t>
            </a:r>
            <a:endParaRPr/>
          </a:p>
        </p:txBody>
      </p:sp>
      <p:sp>
        <p:nvSpPr>
          <p:cNvPr id="263" name="Google Shape;263;p7"/>
          <p:cNvSpPr/>
          <p:nvPr/>
        </p:nvSpPr>
        <p:spPr>
          <a:xfrm>
            <a:off x="6189748" y="2041450"/>
            <a:ext cx="2487168" cy="3947869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7"/>
          <p:cNvSpPr txBox="1"/>
          <p:nvPr/>
        </p:nvSpPr>
        <p:spPr>
          <a:xfrm>
            <a:off x="6372628" y="2224331"/>
            <a:ext cx="212140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1B9E6F"/>
                </a:solidFill>
                <a:latin typeface="Malgun Gothic"/>
                <a:ea typeface="Malgun Gothic"/>
                <a:cs typeface="Malgun Gothic"/>
                <a:sym typeface="Malgun Gothic"/>
              </a:rPr>
              <a:t>MySQL</a:t>
            </a:r>
            <a:endParaRPr/>
          </a:p>
        </p:txBody>
      </p:sp>
      <p:sp>
        <p:nvSpPr>
          <p:cNvPr id="265" name="Google Shape;265;p7"/>
          <p:cNvSpPr txBox="1"/>
          <p:nvPr/>
        </p:nvSpPr>
        <p:spPr>
          <a:xfrm>
            <a:off x="6372628" y="2498651"/>
            <a:ext cx="212140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Game DB</a:t>
            </a:r>
            <a:endParaRPr/>
          </a:p>
        </p:txBody>
      </p:sp>
      <p:sp>
        <p:nvSpPr>
          <p:cNvPr id="266" name="Google Shape;266;p7"/>
          <p:cNvSpPr/>
          <p:nvPr/>
        </p:nvSpPr>
        <p:spPr>
          <a:xfrm>
            <a:off x="6372628" y="2864411"/>
            <a:ext cx="411480" cy="36576"/>
          </a:xfrm>
          <a:prstGeom prst="rect">
            <a:avLst/>
          </a:prstGeom>
          <a:solidFill>
            <a:srgbClr val="1B9E6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7"/>
          <p:cNvSpPr txBox="1"/>
          <p:nvPr/>
        </p:nvSpPr>
        <p:spPr>
          <a:xfrm>
            <a:off x="6372628" y="3010715"/>
            <a:ext cx="212140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B9E6F"/>
                </a:solidFill>
                <a:latin typeface="Malgun Gothic"/>
                <a:ea typeface="Malgun Gothic"/>
                <a:cs typeface="Malgun Gothic"/>
                <a:sym typeface="Malgun Gothic"/>
              </a:rPr>
              <a:t>테이블 19개</a:t>
            </a:r>
            <a:endParaRPr/>
          </a:p>
        </p:txBody>
      </p:sp>
      <p:sp>
        <p:nvSpPr>
          <p:cNvPr id="268" name="Google Shape;268;p7"/>
          <p:cNvSpPr txBox="1"/>
          <p:nvPr/>
        </p:nvSpPr>
        <p:spPr>
          <a:xfrm>
            <a:off x="6372628" y="3266747"/>
            <a:ext cx="2121408" cy="8595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taskbar_hero_game</a:t>
            </a:r>
            <a:endParaRPr b="0" sz="95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플레이어 세이브 데이터 전부. 모든 테이블이 user_id로 계정에 매달린다.</a:t>
            </a:r>
            <a:endParaRPr/>
          </a:p>
        </p:txBody>
      </p:sp>
      <p:sp>
        <p:nvSpPr>
          <p:cNvPr id="269" name="Google Shape;269;p7"/>
          <p:cNvSpPr/>
          <p:nvPr/>
        </p:nvSpPr>
        <p:spPr>
          <a:xfrm>
            <a:off x="685800" y="2041451"/>
            <a:ext cx="2487168" cy="2212848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7"/>
          <p:cNvSpPr txBox="1"/>
          <p:nvPr/>
        </p:nvSpPr>
        <p:spPr>
          <a:xfrm>
            <a:off x="868680" y="2224331"/>
            <a:ext cx="212140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C0392B"/>
                </a:solidFill>
                <a:latin typeface="Malgun Gothic"/>
                <a:ea typeface="Malgun Gothic"/>
                <a:cs typeface="Malgun Gothic"/>
                <a:sym typeface="Malgun Gothic"/>
              </a:rPr>
              <a:t>Redis</a:t>
            </a:r>
            <a:endParaRPr/>
          </a:p>
        </p:txBody>
      </p:sp>
      <p:sp>
        <p:nvSpPr>
          <p:cNvPr id="271" name="Google Shape;271;p7"/>
          <p:cNvSpPr txBox="1"/>
          <p:nvPr/>
        </p:nvSpPr>
        <p:spPr>
          <a:xfrm>
            <a:off x="868680" y="2498651"/>
            <a:ext cx="2121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토큰 관리, 랭킹 정보 캐싱</a:t>
            </a:r>
            <a:endParaRPr b="1" sz="14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72" name="Google Shape;272;p7"/>
          <p:cNvSpPr/>
          <p:nvPr/>
        </p:nvSpPr>
        <p:spPr>
          <a:xfrm>
            <a:off x="868680" y="2882699"/>
            <a:ext cx="41148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7"/>
          <p:cNvSpPr txBox="1"/>
          <p:nvPr/>
        </p:nvSpPr>
        <p:spPr>
          <a:xfrm>
            <a:off x="868680" y="3010715"/>
            <a:ext cx="212140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C039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키 5종</a:t>
            </a:r>
            <a:endParaRPr/>
          </a:p>
        </p:txBody>
      </p:sp>
      <p:sp>
        <p:nvSpPr>
          <p:cNvPr id="274" name="Google Shape;274;p7"/>
          <p:cNvSpPr txBox="1"/>
          <p:nvPr/>
        </p:nvSpPr>
        <p:spPr>
          <a:xfrm>
            <a:off x="868680" y="3266747"/>
            <a:ext cx="2121300" cy="38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auth:token · rank:bossrush</a:t>
            </a:r>
            <a:endParaRPr b="0" sz="95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인증 토큰 관리, 랭킹 </a:t>
            </a:r>
            <a:r>
              <a:rPr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정보</a:t>
            </a: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캐싱 관리</a:t>
            </a:r>
            <a:endParaRPr b="0" sz="9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75" name="Google Shape;275;p7"/>
          <p:cNvSpPr/>
          <p:nvPr/>
        </p:nvSpPr>
        <p:spPr>
          <a:xfrm>
            <a:off x="3392424" y="2041451"/>
            <a:ext cx="2487168" cy="2212848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7"/>
          <p:cNvSpPr txBox="1"/>
          <p:nvPr/>
        </p:nvSpPr>
        <p:spPr>
          <a:xfrm>
            <a:off x="3575303" y="2224331"/>
            <a:ext cx="212140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6B4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TimescaleDB</a:t>
            </a:r>
            <a:endParaRPr/>
          </a:p>
        </p:txBody>
      </p:sp>
      <p:sp>
        <p:nvSpPr>
          <p:cNvPr id="277" name="Google Shape;277;p7"/>
          <p:cNvSpPr txBox="1"/>
          <p:nvPr/>
        </p:nvSpPr>
        <p:spPr>
          <a:xfrm>
            <a:off x="3575303" y="2498651"/>
            <a:ext cx="212140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 DB(logdb)</a:t>
            </a:r>
            <a:endParaRPr/>
          </a:p>
        </p:txBody>
      </p:sp>
      <p:sp>
        <p:nvSpPr>
          <p:cNvPr id="278" name="Google Shape;278;p7"/>
          <p:cNvSpPr/>
          <p:nvPr/>
        </p:nvSpPr>
        <p:spPr>
          <a:xfrm>
            <a:off x="3575303" y="2864411"/>
            <a:ext cx="411480" cy="36576"/>
          </a:xfrm>
          <a:prstGeom prst="rect">
            <a:avLst/>
          </a:prstGeom>
          <a:solidFill>
            <a:srgbClr val="6B4FB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7"/>
          <p:cNvSpPr txBox="1"/>
          <p:nvPr/>
        </p:nvSpPr>
        <p:spPr>
          <a:xfrm>
            <a:off x="3575303" y="3010715"/>
            <a:ext cx="212140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6B4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테이블 31개</a:t>
            </a:r>
            <a:endParaRPr/>
          </a:p>
        </p:txBody>
      </p:sp>
      <p:sp>
        <p:nvSpPr>
          <p:cNvPr id="280" name="Google Shape;280;p7"/>
          <p:cNvSpPr txBox="1"/>
          <p:nvPr/>
        </p:nvSpPr>
        <p:spPr>
          <a:xfrm>
            <a:off x="3575303" y="3266747"/>
            <a:ext cx="2121408" cy="7631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fluentd 적재</a:t>
            </a:r>
            <a:endParaRPr b="0" sz="95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Timescale db를 사용하며, 게임 운영을 위한 로그를 관리</a:t>
            </a:r>
            <a:endParaRPr b="0" sz="950">
              <a:solidFill>
                <a:srgbClr val="7F7F7F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sz="9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1" name="Google Shape;281;p7"/>
          <p:cNvSpPr/>
          <p:nvPr/>
        </p:nvSpPr>
        <p:spPr>
          <a:xfrm>
            <a:off x="685800" y="4572000"/>
            <a:ext cx="5257974" cy="141732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7"/>
          <p:cNvSpPr/>
          <p:nvPr/>
        </p:nvSpPr>
        <p:spPr>
          <a:xfrm>
            <a:off x="886968" y="4754880"/>
            <a:ext cx="411480" cy="36576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7"/>
          <p:cNvSpPr txBox="1"/>
          <p:nvPr/>
        </p:nvSpPr>
        <p:spPr>
          <a:xfrm>
            <a:off x="886968" y="4882896"/>
            <a:ext cx="3136392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마스터 데이터는 서버 실행 시 인메모리 캐싱</a:t>
            </a:r>
            <a:endParaRPr b="1" sz="12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4" name="Google Shape;284;p7"/>
          <p:cNvSpPr txBox="1"/>
          <p:nvPr/>
        </p:nvSpPr>
        <p:spPr>
          <a:xfrm>
            <a:off x="886975" y="5248650"/>
            <a:ext cx="5099100" cy="1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 · 스테이지 · 아이템 등 마스터 27종은 읽기 전용 정의라 기동 시 인메모리</a:t>
            </a:r>
            <a:r>
              <a:rPr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 캐싱</a:t>
            </a:r>
            <a:endParaRPr/>
          </a:p>
        </p:txBody>
      </p:sp>
      <p:sp>
        <p:nvSpPr>
          <p:cNvPr id="285" name="Google Shape;285;p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/>
          </a:p>
        </p:txBody>
      </p:sp>
      <p:pic>
        <p:nvPicPr>
          <p:cNvPr descr="💿 데이터베이스 기본 개념" id="286" name="Google Shape;286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971973" y="4421537"/>
            <a:ext cx="922718" cy="92271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💿 데이터베이스 기본 개념" id="287" name="Google Shape;287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05115" y="4357942"/>
            <a:ext cx="922718" cy="9227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93" name="Google Shape;29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8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ERD</a:t>
            </a:r>
            <a:endParaRPr/>
          </a:p>
        </p:txBody>
      </p:sp>
      <p:sp>
        <p:nvSpPr>
          <p:cNvPr id="295" name="Google Shape;295;p8"/>
          <p:cNvSpPr/>
          <p:nvPr/>
        </p:nvSpPr>
        <p:spPr>
          <a:xfrm>
            <a:off x="685800" y="749808"/>
            <a:ext cx="822960" cy="54864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8"/>
          <p:cNvSpPr txBox="1"/>
          <p:nvPr/>
        </p:nvSpPr>
        <p:spPr>
          <a:xfrm>
            <a:off x="685800" y="914400"/>
            <a:ext cx="1088136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3.1  계정, 게임 DB — 계정 2 + 게임 19 테이블</a:t>
            </a:r>
            <a:endParaRPr b="1" sz="30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97" name="Google Shape;297;p8"/>
          <p:cNvSpPr/>
          <p:nvPr/>
        </p:nvSpPr>
        <p:spPr>
          <a:xfrm>
            <a:off x="685800" y="1947672"/>
            <a:ext cx="1783080" cy="13258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8"/>
          <p:cNvSpPr/>
          <p:nvPr/>
        </p:nvSpPr>
        <p:spPr>
          <a:xfrm>
            <a:off x="685800" y="1947672"/>
            <a:ext cx="54864" cy="1325880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8"/>
          <p:cNvSpPr txBox="1"/>
          <p:nvPr/>
        </p:nvSpPr>
        <p:spPr>
          <a:xfrm>
            <a:off x="841248" y="2029968"/>
            <a:ext cx="153619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game_player</a:t>
            </a:r>
            <a:endParaRPr/>
          </a:p>
        </p:txBody>
      </p:sp>
      <p:sp>
        <p:nvSpPr>
          <p:cNvPr id="300" name="Google Shape;300;p8"/>
          <p:cNvSpPr txBox="1"/>
          <p:nvPr/>
        </p:nvSpPr>
        <p:spPr>
          <a:xfrm>
            <a:off x="841248" y="2249424"/>
            <a:ext cx="1536192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user_id  PK · 계정당 1행</a:t>
            </a:r>
            <a:endParaRPr/>
          </a:p>
        </p:txBody>
      </p:sp>
      <p:sp>
        <p:nvSpPr>
          <p:cNvPr id="301" name="Google Shape;301;p8"/>
          <p:cNvSpPr/>
          <p:nvPr/>
        </p:nvSpPr>
        <p:spPr>
          <a:xfrm>
            <a:off x="841248" y="2450592"/>
            <a:ext cx="1472184" cy="9144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8"/>
          <p:cNvSpPr txBox="1"/>
          <p:nvPr/>
        </p:nvSpPr>
        <p:spPr>
          <a:xfrm>
            <a:off x="841248" y="2523744"/>
            <a:ext cx="1536192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act · stage · difficulty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max_stage_cleared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inventory_capacity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last_active_at</a:t>
            </a:r>
            <a:endParaRPr/>
          </a:p>
        </p:txBody>
      </p:sp>
      <p:sp>
        <p:nvSpPr>
          <p:cNvPr id="303" name="Google Shape;303;p8"/>
          <p:cNvSpPr/>
          <p:nvPr/>
        </p:nvSpPr>
        <p:spPr>
          <a:xfrm>
            <a:off x="2468880" y="2604211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8"/>
          <p:cNvSpPr/>
          <p:nvPr/>
        </p:nvSpPr>
        <p:spPr>
          <a:xfrm>
            <a:off x="2736799" y="2121408"/>
            <a:ext cx="12801" cy="3771900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8"/>
          <p:cNvSpPr/>
          <p:nvPr/>
        </p:nvSpPr>
        <p:spPr>
          <a:xfrm>
            <a:off x="2743200" y="21150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8"/>
          <p:cNvSpPr/>
          <p:nvPr/>
        </p:nvSpPr>
        <p:spPr>
          <a:xfrm>
            <a:off x="3017520" y="1947672"/>
            <a:ext cx="2514600" cy="3474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8"/>
          <p:cNvSpPr/>
          <p:nvPr/>
        </p:nvSpPr>
        <p:spPr>
          <a:xfrm>
            <a:off x="3017520" y="1947672"/>
            <a:ext cx="54864" cy="347472"/>
          </a:xfrm>
          <a:prstGeom prst="rect">
            <a:avLst/>
          </a:prstGeom>
          <a:solidFill>
            <a:srgbClr val="1B9E6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8"/>
          <p:cNvSpPr txBox="1"/>
          <p:nvPr/>
        </p:nvSpPr>
        <p:spPr>
          <a:xfrm>
            <a:off x="3172968" y="19915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player_character</a:t>
            </a:r>
            <a:endParaRPr/>
          </a:p>
        </p:txBody>
      </p:sp>
      <p:sp>
        <p:nvSpPr>
          <p:cNvPr id="309" name="Google Shape;309;p8"/>
          <p:cNvSpPr txBox="1"/>
          <p:nvPr/>
        </p:nvSpPr>
        <p:spPr>
          <a:xfrm>
            <a:off x="3172968" y="21360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(user_id, character_id)</a:t>
            </a:r>
            <a:endParaRPr/>
          </a:p>
        </p:txBody>
      </p:sp>
      <p:sp>
        <p:nvSpPr>
          <p:cNvPr id="310" name="Google Shape;310;p8"/>
          <p:cNvSpPr/>
          <p:nvPr/>
        </p:nvSpPr>
        <p:spPr>
          <a:xfrm>
            <a:off x="2743200" y="24579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8"/>
          <p:cNvSpPr/>
          <p:nvPr/>
        </p:nvSpPr>
        <p:spPr>
          <a:xfrm>
            <a:off x="3017520" y="2290572"/>
            <a:ext cx="2514600" cy="3474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8"/>
          <p:cNvSpPr/>
          <p:nvPr/>
        </p:nvSpPr>
        <p:spPr>
          <a:xfrm>
            <a:off x="3017520" y="22905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8"/>
          <p:cNvSpPr txBox="1"/>
          <p:nvPr/>
        </p:nvSpPr>
        <p:spPr>
          <a:xfrm>
            <a:off x="3172968" y="23344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player_item</a:t>
            </a:r>
            <a:endParaRPr/>
          </a:p>
        </p:txBody>
      </p:sp>
      <p:sp>
        <p:nvSpPr>
          <p:cNvPr id="314" name="Google Shape;314;p8"/>
          <p:cNvSpPr txBox="1"/>
          <p:nvPr/>
        </p:nvSpPr>
        <p:spPr>
          <a:xfrm>
            <a:off x="3172968" y="24789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player_item_id PK · (user_id, slot) UQ</a:t>
            </a:r>
            <a:endParaRPr/>
          </a:p>
        </p:txBody>
      </p:sp>
      <p:sp>
        <p:nvSpPr>
          <p:cNvPr id="315" name="Google Shape;315;p8"/>
          <p:cNvSpPr/>
          <p:nvPr/>
        </p:nvSpPr>
        <p:spPr>
          <a:xfrm>
            <a:off x="2743200" y="2800807"/>
            <a:ext cx="274319" cy="12801"/>
          </a:xfrm>
          <a:prstGeom prst="rect">
            <a:avLst/>
          </a:prstGeom>
          <a:solidFill>
            <a:srgbClr val="1B9E6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8"/>
          <p:cNvSpPr/>
          <p:nvPr/>
        </p:nvSpPr>
        <p:spPr>
          <a:xfrm>
            <a:off x="3017520" y="2633472"/>
            <a:ext cx="2514600" cy="3474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8"/>
          <p:cNvSpPr/>
          <p:nvPr/>
        </p:nvSpPr>
        <p:spPr>
          <a:xfrm>
            <a:off x="3017520" y="26334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"/>
          <p:cNvSpPr txBox="1"/>
          <p:nvPr/>
        </p:nvSpPr>
        <p:spPr>
          <a:xfrm>
            <a:off x="3172968" y="26773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player_cube</a:t>
            </a:r>
            <a:endParaRPr/>
          </a:p>
        </p:txBody>
      </p:sp>
      <p:sp>
        <p:nvSpPr>
          <p:cNvPr id="319" name="Google Shape;319;p8"/>
          <p:cNvSpPr txBox="1"/>
          <p:nvPr/>
        </p:nvSpPr>
        <p:spPr>
          <a:xfrm>
            <a:off x="3172968" y="28218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user_id PK</a:t>
            </a:r>
            <a:endParaRPr/>
          </a:p>
        </p:txBody>
      </p:sp>
      <p:sp>
        <p:nvSpPr>
          <p:cNvPr id="320" name="Google Shape;320;p8"/>
          <p:cNvSpPr/>
          <p:nvPr/>
        </p:nvSpPr>
        <p:spPr>
          <a:xfrm>
            <a:off x="2743200" y="31437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8"/>
          <p:cNvSpPr/>
          <p:nvPr/>
        </p:nvSpPr>
        <p:spPr>
          <a:xfrm>
            <a:off x="3017520" y="2976372"/>
            <a:ext cx="2514600" cy="3474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8"/>
          <p:cNvSpPr/>
          <p:nvPr/>
        </p:nvSpPr>
        <p:spPr>
          <a:xfrm>
            <a:off x="3017520" y="29763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"/>
          <p:cNvSpPr txBox="1"/>
          <p:nvPr/>
        </p:nvSpPr>
        <p:spPr>
          <a:xfrm>
            <a:off x="3172968" y="30202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player_rune</a:t>
            </a:r>
            <a:endParaRPr/>
          </a:p>
        </p:txBody>
      </p:sp>
      <p:sp>
        <p:nvSpPr>
          <p:cNvPr id="324" name="Google Shape;324;p8"/>
          <p:cNvSpPr txBox="1"/>
          <p:nvPr/>
        </p:nvSpPr>
        <p:spPr>
          <a:xfrm>
            <a:off x="3172968" y="31647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(user_id, rune_code)</a:t>
            </a:r>
            <a:endParaRPr/>
          </a:p>
        </p:txBody>
      </p:sp>
      <p:sp>
        <p:nvSpPr>
          <p:cNvPr id="325" name="Google Shape;325;p8"/>
          <p:cNvSpPr/>
          <p:nvPr/>
        </p:nvSpPr>
        <p:spPr>
          <a:xfrm>
            <a:off x="2743200" y="34866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8"/>
          <p:cNvSpPr/>
          <p:nvPr/>
        </p:nvSpPr>
        <p:spPr>
          <a:xfrm>
            <a:off x="3017520" y="3319272"/>
            <a:ext cx="2514600" cy="3474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8"/>
          <p:cNvSpPr/>
          <p:nvPr/>
        </p:nvSpPr>
        <p:spPr>
          <a:xfrm>
            <a:off x="3017520" y="33192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8"/>
          <p:cNvSpPr txBox="1"/>
          <p:nvPr/>
        </p:nvSpPr>
        <p:spPr>
          <a:xfrm>
            <a:off x="3172968" y="33631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player_buff</a:t>
            </a:r>
            <a:endParaRPr/>
          </a:p>
        </p:txBody>
      </p:sp>
      <p:sp>
        <p:nvSpPr>
          <p:cNvPr id="329" name="Google Shape;329;p8"/>
          <p:cNvSpPr txBox="1"/>
          <p:nvPr/>
        </p:nvSpPr>
        <p:spPr>
          <a:xfrm>
            <a:off x="3172968" y="35076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(user_id, buff_type)</a:t>
            </a:r>
            <a:endParaRPr/>
          </a:p>
        </p:txBody>
      </p:sp>
      <p:sp>
        <p:nvSpPr>
          <p:cNvPr id="330" name="Google Shape;330;p8"/>
          <p:cNvSpPr/>
          <p:nvPr/>
        </p:nvSpPr>
        <p:spPr>
          <a:xfrm>
            <a:off x="2743200" y="3829507"/>
            <a:ext cx="274319" cy="12801"/>
          </a:xfrm>
          <a:prstGeom prst="rect">
            <a:avLst/>
          </a:prstGeom>
          <a:solidFill>
            <a:srgbClr val="1B9E6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8"/>
          <p:cNvSpPr/>
          <p:nvPr/>
        </p:nvSpPr>
        <p:spPr>
          <a:xfrm>
            <a:off x="3017520" y="3662172"/>
            <a:ext cx="2514600" cy="3474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8"/>
          <p:cNvSpPr/>
          <p:nvPr/>
        </p:nvSpPr>
        <p:spPr>
          <a:xfrm>
            <a:off x="3017520" y="36621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8"/>
          <p:cNvSpPr txBox="1"/>
          <p:nvPr/>
        </p:nvSpPr>
        <p:spPr>
          <a:xfrm>
            <a:off x="3172968" y="37060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player_attendance</a:t>
            </a:r>
            <a:endParaRPr/>
          </a:p>
        </p:txBody>
      </p:sp>
      <p:sp>
        <p:nvSpPr>
          <p:cNvPr id="334" name="Google Shape;334;p8"/>
          <p:cNvSpPr txBox="1"/>
          <p:nvPr/>
        </p:nvSpPr>
        <p:spPr>
          <a:xfrm>
            <a:off x="3172968" y="38505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user_id PK</a:t>
            </a:r>
            <a:endParaRPr/>
          </a:p>
        </p:txBody>
      </p:sp>
      <p:sp>
        <p:nvSpPr>
          <p:cNvPr id="335" name="Google Shape;335;p8"/>
          <p:cNvSpPr/>
          <p:nvPr/>
        </p:nvSpPr>
        <p:spPr>
          <a:xfrm>
            <a:off x="2743200" y="41724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8"/>
          <p:cNvSpPr/>
          <p:nvPr/>
        </p:nvSpPr>
        <p:spPr>
          <a:xfrm>
            <a:off x="3017520" y="4005072"/>
            <a:ext cx="2514600" cy="3474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"/>
          <p:cNvSpPr/>
          <p:nvPr/>
        </p:nvSpPr>
        <p:spPr>
          <a:xfrm>
            <a:off x="3017520" y="40050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8"/>
          <p:cNvSpPr txBox="1"/>
          <p:nvPr/>
        </p:nvSpPr>
        <p:spPr>
          <a:xfrm>
            <a:off x="3172968" y="40489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player_mail</a:t>
            </a:r>
            <a:endParaRPr/>
          </a:p>
        </p:txBody>
      </p:sp>
      <p:sp>
        <p:nvSpPr>
          <p:cNvPr id="339" name="Google Shape;339;p8"/>
          <p:cNvSpPr txBox="1"/>
          <p:nvPr/>
        </p:nvSpPr>
        <p:spPr>
          <a:xfrm>
            <a:off x="3172968" y="41934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mail_id PK · user_id IDX</a:t>
            </a:r>
            <a:endParaRPr/>
          </a:p>
        </p:txBody>
      </p:sp>
      <p:sp>
        <p:nvSpPr>
          <p:cNvPr id="340" name="Google Shape;340;p8"/>
          <p:cNvSpPr/>
          <p:nvPr/>
        </p:nvSpPr>
        <p:spPr>
          <a:xfrm>
            <a:off x="2743200" y="45153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8"/>
          <p:cNvSpPr/>
          <p:nvPr/>
        </p:nvSpPr>
        <p:spPr>
          <a:xfrm>
            <a:off x="3017520" y="4347972"/>
            <a:ext cx="2514600" cy="3474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8"/>
          <p:cNvSpPr/>
          <p:nvPr/>
        </p:nvSpPr>
        <p:spPr>
          <a:xfrm>
            <a:off x="3017520" y="4347972"/>
            <a:ext cx="54864" cy="347472"/>
          </a:xfrm>
          <a:prstGeom prst="rect">
            <a:avLst/>
          </a:prstGeom>
          <a:solidFill>
            <a:srgbClr val="6B4FB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8"/>
          <p:cNvSpPr txBox="1"/>
          <p:nvPr/>
        </p:nvSpPr>
        <p:spPr>
          <a:xfrm>
            <a:off x="3172968" y="43918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trade_listing</a:t>
            </a:r>
            <a:endParaRPr/>
          </a:p>
        </p:txBody>
      </p:sp>
      <p:sp>
        <p:nvSpPr>
          <p:cNvPr id="344" name="Google Shape;344;p8"/>
          <p:cNvSpPr txBox="1"/>
          <p:nvPr/>
        </p:nvSpPr>
        <p:spPr>
          <a:xfrm>
            <a:off x="3172968" y="45363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listing_id PK · (status, item_code, price)</a:t>
            </a:r>
            <a:endParaRPr/>
          </a:p>
        </p:txBody>
      </p:sp>
      <p:sp>
        <p:nvSpPr>
          <p:cNvPr id="345" name="Google Shape;345;p8"/>
          <p:cNvSpPr/>
          <p:nvPr/>
        </p:nvSpPr>
        <p:spPr>
          <a:xfrm>
            <a:off x="2743200" y="48582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8"/>
          <p:cNvSpPr/>
          <p:nvPr/>
        </p:nvSpPr>
        <p:spPr>
          <a:xfrm>
            <a:off x="3017520" y="4690872"/>
            <a:ext cx="2514600" cy="3474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8"/>
          <p:cNvSpPr/>
          <p:nvPr/>
        </p:nvSpPr>
        <p:spPr>
          <a:xfrm>
            <a:off x="3017520" y="46908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8"/>
          <p:cNvSpPr txBox="1"/>
          <p:nvPr/>
        </p:nvSpPr>
        <p:spPr>
          <a:xfrm>
            <a:off x="3172968" y="47347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player_gacha_counter</a:t>
            </a:r>
            <a:endParaRPr/>
          </a:p>
        </p:txBody>
      </p:sp>
      <p:sp>
        <p:nvSpPr>
          <p:cNvPr id="349" name="Google Shape;349;p8"/>
          <p:cNvSpPr txBox="1"/>
          <p:nvPr/>
        </p:nvSpPr>
        <p:spPr>
          <a:xfrm>
            <a:off x="3172968" y="48792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(user_id, gacha_code, grade)</a:t>
            </a:r>
            <a:endParaRPr/>
          </a:p>
        </p:txBody>
      </p:sp>
      <p:sp>
        <p:nvSpPr>
          <p:cNvPr id="350" name="Google Shape;350;p8"/>
          <p:cNvSpPr/>
          <p:nvPr/>
        </p:nvSpPr>
        <p:spPr>
          <a:xfrm>
            <a:off x="2743200" y="52011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8"/>
          <p:cNvSpPr/>
          <p:nvPr/>
        </p:nvSpPr>
        <p:spPr>
          <a:xfrm>
            <a:off x="3017520" y="5033772"/>
            <a:ext cx="2514600" cy="3474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8"/>
          <p:cNvSpPr/>
          <p:nvPr/>
        </p:nvSpPr>
        <p:spPr>
          <a:xfrm>
            <a:off x="3017520" y="50337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8"/>
          <p:cNvSpPr txBox="1"/>
          <p:nvPr/>
        </p:nvSpPr>
        <p:spPr>
          <a:xfrm>
            <a:off x="3172968" y="50776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player_gacha_pull</a:t>
            </a:r>
            <a:endParaRPr/>
          </a:p>
        </p:txBody>
      </p:sp>
      <p:sp>
        <p:nvSpPr>
          <p:cNvPr id="354" name="Google Shape;354;p8"/>
          <p:cNvSpPr txBox="1"/>
          <p:nvPr/>
        </p:nvSpPr>
        <p:spPr>
          <a:xfrm>
            <a:off x="3172968" y="52221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pull_id PK · (user_id, pull_id)</a:t>
            </a:r>
            <a:endParaRPr/>
          </a:p>
        </p:txBody>
      </p:sp>
      <p:sp>
        <p:nvSpPr>
          <p:cNvPr id="355" name="Google Shape;355;p8"/>
          <p:cNvSpPr/>
          <p:nvPr/>
        </p:nvSpPr>
        <p:spPr>
          <a:xfrm>
            <a:off x="2743200" y="55440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8"/>
          <p:cNvSpPr/>
          <p:nvPr/>
        </p:nvSpPr>
        <p:spPr>
          <a:xfrm>
            <a:off x="3017520" y="5376672"/>
            <a:ext cx="2514600" cy="3474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8"/>
          <p:cNvSpPr/>
          <p:nvPr/>
        </p:nvSpPr>
        <p:spPr>
          <a:xfrm>
            <a:off x="3017520" y="53766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8"/>
          <p:cNvSpPr txBox="1"/>
          <p:nvPr/>
        </p:nvSpPr>
        <p:spPr>
          <a:xfrm>
            <a:off x="3172968" y="54205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boss_rush_record</a:t>
            </a:r>
            <a:endParaRPr/>
          </a:p>
        </p:txBody>
      </p:sp>
      <p:sp>
        <p:nvSpPr>
          <p:cNvPr id="359" name="Google Shape;359;p8"/>
          <p:cNvSpPr txBox="1"/>
          <p:nvPr/>
        </p:nvSpPr>
        <p:spPr>
          <a:xfrm>
            <a:off x="3172968" y="55650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(season_id, user_id)</a:t>
            </a:r>
            <a:endParaRPr/>
          </a:p>
        </p:txBody>
      </p:sp>
      <p:sp>
        <p:nvSpPr>
          <p:cNvPr id="360" name="Google Shape;360;p8"/>
          <p:cNvSpPr/>
          <p:nvPr/>
        </p:nvSpPr>
        <p:spPr>
          <a:xfrm>
            <a:off x="2743200" y="58869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8"/>
          <p:cNvSpPr/>
          <p:nvPr/>
        </p:nvSpPr>
        <p:spPr>
          <a:xfrm>
            <a:off x="3017520" y="5719572"/>
            <a:ext cx="2514600" cy="3474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8"/>
          <p:cNvSpPr/>
          <p:nvPr/>
        </p:nvSpPr>
        <p:spPr>
          <a:xfrm>
            <a:off x="3017520" y="57195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8"/>
          <p:cNvSpPr txBox="1"/>
          <p:nvPr/>
        </p:nvSpPr>
        <p:spPr>
          <a:xfrm>
            <a:off x="3172968" y="57634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boss_rush_run</a:t>
            </a:r>
            <a:endParaRPr/>
          </a:p>
        </p:txBody>
      </p:sp>
      <p:sp>
        <p:nvSpPr>
          <p:cNvPr id="364" name="Google Shape;364;p8"/>
          <p:cNvSpPr txBox="1"/>
          <p:nvPr/>
        </p:nvSpPr>
        <p:spPr>
          <a:xfrm>
            <a:off x="3172968" y="59079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run_id PK · (user_id, started_at)</a:t>
            </a:r>
            <a:endParaRPr/>
          </a:p>
        </p:txBody>
      </p:sp>
      <p:sp>
        <p:nvSpPr>
          <p:cNvPr id="365" name="Google Shape;365;p8"/>
          <p:cNvSpPr/>
          <p:nvPr/>
        </p:nvSpPr>
        <p:spPr>
          <a:xfrm>
            <a:off x="6080760" y="1947672"/>
            <a:ext cx="2377440" cy="3474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8"/>
          <p:cNvSpPr/>
          <p:nvPr/>
        </p:nvSpPr>
        <p:spPr>
          <a:xfrm>
            <a:off x="6080760" y="1947672"/>
            <a:ext cx="54864" cy="347472"/>
          </a:xfrm>
          <a:prstGeom prst="rect">
            <a:avLst/>
          </a:prstGeom>
          <a:solidFill>
            <a:srgbClr val="1B9E6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8"/>
          <p:cNvSpPr txBox="1"/>
          <p:nvPr/>
        </p:nvSpPr>
        <p:spPr>
          <a:xfrm>
            <a:off x="6236208" y="1991563"/>
            <a:ext cx="2130552" cy="155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player_skill</a:t>
            </a:r>
            <a:endParaRPr/>
          </a:p>
        </p:txBody>
      </p:sp>
      <p:sp>
        <p:nvSpPr>
          <p:cNvPr id="368" name="Google Shape;368;p8"/>
          <p:cNvSpPr txBox="1"/>
          <p:nvPr/>
        </p:nvSpPr>
        <p:spPr>
          <a:xfrm>
            <a:off x="6236208" y="2136038"/>
            <a:ext cx="2130552" cy="128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(user_id, character_id, skill_code)</a:t>
            </a:r>
            <a:endParaRPr/>
          </a:p>
        </p:txBody>
      </p:sp>
      <p:sp>
        <p:nvSpPr>
          <p:cNvPr id="369" name="Google Shape;369;p8"/>
          <p:cNvSpPr/>
          <p:nvPr/>
        </p:nvSpPr>
        <p:spPr>
          <a:xfrm>
            <a:off x="6080760" y="2290572"/>
            <a:ext cx="2377440" cy="3474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8"/>
          <p:cNvSpPr/>
          <p:nvPr/>
        </p:nvSpPr>
        <p:spPr>
          <a:xfrm>
            <a:off x="6080760" y="2290572"/>
            <a:ext cx="54864" cy="347472"/>
          </a:xfrm>
          <a:prstGeom prst="rect">
            <a:avLst/>
          </a:prstGeom>
          <a:solidFill>
            <a:srgbClr val="1B9E6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8"/>
          <p:cNvSpPr txBox="1"/>
          <p:nvPr/>
        </p:nvSpPr>
        <p:spPr>
          <a:xfrm>
            <a:off x="6236208" y="2334463"/>
            <a:ext cx="2130552" cy="155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player_item_equipped</a:t>
            </a:r>
            <a:endParaRPr/>
          </a:p>
        </p:txBody>
      </p:sp>
      <p:sp>
        <p:nvSpPr>
          <p:cNvPr id="372" name="Google Shape;372;p8"/>
          <p:cNvSpPr txBox="1"/>
          <p:nvPr/>
        </p:nvSpPr>
        <p:spPr>
          <a:xfrm>
            <a:off x="6236208" y="2478938"/>
            <a:ext cx="2130552" cy="128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player_item_id PK · UQ(user, char, slot)</a:t>
            </a:r>
            <a:endParaRPr/>
          </a:p>
        </p:txBody>
      </p:sp>
      <p:sp>
        <p:nvSpPr>
          <p:cNvPr id="373" name="Google Shape;373;p8"/>
          <p:cNvSpPr/>
          <p:nvPr/>
        </p:nvSpPr>
        <p:spPr>
          <a:xfrm>
            <a:off x="6080760" y="4005072"/>
            <a:ext cx="2377440" cy="3474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8"/>
          <p:cNvSpPr/>
          <p:nvPr/>
        </p:nvSpPr>
        <p:spPr>
          <a:xfrm>
            <a:off x="6080760" y="40050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8"/>
          <p:cNvSpPr txBox="1"/>
          <p:nvPr/>
        </p:nvSpPr>
        <p:spPr>
          <a:xfrm>
            <a:off x="6236208" y="4048963"/>
            <a:ext cx="2130552" cy="155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player_mail_reward</a:t>
            </a:r>
            <a:endParaRPr/>
          </a:p>
        </p:txBody>
      </p:sp>
      <p:sp>
        <p:nvSpPr>
          <p:cNvPr id="376" name="Google Shape;376;p8"/>
          <p:cNvSpPr txBox="1"/>
          <p:nvPr/>
        </p:nvSpPr>
        <p:spPr>
          <a:xfrm>
            <a:off x="6236208" y="4193438"/>
            <a:ext cx="2130552" cy="128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(mail_id, seq)</a:t>
            </a:r>
            <a:endParaRPr/>
          </a:p>
        </p:txBody>
      </p:sp>
      <p:sp>
        <p:nvSpPr>
          <p:cNvPr id="377" name="Google Shape;377;p8"/>
          <p:cNvSpPr/>
          <p:nvPr/>
        </p:nvSpPr>
        <p:spPr>
          <a:xfrm>
            <a:off x="6080760" y="5033772"/>
            <a:ext cx="2377440" cy="3474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8"/>
          <p:cNvSpPr/>
          <p:nvPr/>
        </p:nvSpPr>
        <p:spPr>
          <a:xfrm>
            <a:off x="6080760" y="50337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8"/>
          <p:cNvSpPr txBox="1"/>
          <p:nvPr/>
        </p:nvSpPr>
        <p:spPr>
          <a:xfrm>
            <a:off x="6236208" y="5077663"/>
            <a:ext cx="2130552" cy="155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player_gacha_pull_item</a:t>
            </a:r>
            <a:endParaRPr/>
          </a:p>
        </p:txBody>
      </p:sp>
      <p:sp>
        <p:nvSpPr>
          <p:cNvPr id="380" name="Google Shape;380;p8"/>
          <p:cNvSpPr txBox="1"/>
          <p:nvPr/>
        </p:nvSpPr>
        <p:spPr>
          <a:xfrm>
            <a:off x="6236208" y="5222138"/>
            <a:ext cx="2130552" cy="128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(pull_id, seq)</a:t>
            </a:r>
            <a:endParaRPr/>
          </a:p>
        </p:txBody>
      </p:sp>
      <p:sp>
        <p:nvSpPr>
          <p:cNvPr id="381" name="Google Shape;381;p8"/>
          <p:cNvSpPr/>
          <p:nvPr/>
        </p:nvSpPr>
        <p:spPr>
          <a:xfrm>
            <a:off x="6080760" y="5376672"/>
            <a:ext cx="2377440" cy="3474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8"/>
          <p:cNvSpPr/>
          <p:nvPr/>
        </p:nvSpPr>
        <p:spPr>
          <a:xfrm>
            <a:off x="6080760" y="5376672"/>
            <a:ext cx="54864" cy="347472"/>
          </a:xfrm>
          <a:prstGeom prst="rect">
            <a:avLst/>
          </a:prstGeom>
          <a:solidFill>
            <a:srgbClr val="6B4FB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8"/>
          <p:cNvSpPr txBox="1"/>
          <p:nvPr/>
        </p:nvSpPr>
        <p:spPr>
          <a:xfrm>
            <a:off x="6236208" y="5420563"/>
            <a:ext cx="2130552" cy="155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boss_rush_season</a:t>
            </a:r>
            <a:endParaRPr/>
          </a:p>
        </p:txBody>
      </p:sp>
      <p:sp>
        <p:nvSpPr>
          <p:cNvPr id="384" name="Google Shape;384;p8"/>
          <p:cNvSpPr txBox="1"/>
          <p:nvPr/>
        </p:nvSpPr>
        <p:spPr>
          <a:xfrm>
            <a:off x="6236208" y="5565038"/>
            <a:ext cx="2130552" cy="128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season_id PK · start_at UQ</a:t>
            </a:r>
            <a:endParaRPr/>
          </a:p>
        </p:txBody>
      </p:sp>
      <p:sp>
        <p:nvSpPr>
          <p:cNvPr id="385" name="Google Shape;385;p8"/>
          <p:cNvSpPr/>
          <p:nvPr/>
        </p:nvSpPr>
        <p:spPr>
          <a:xfrm>
            <a:off x="6080760" y="5719572"/>
            <a:ext cx="2377440" cy="3474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8"/>
          <p:cNvSpPr/>
          <p:nvPr/>
        </p:nvSpPr>
        <p:spPr>
          <a:xfrm>
            <a:off x="6080760" y="57195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8"/>
          <p:cNvSpPr txBox="1"/>
          <p:nvPr/>
        </p:nvSpPr>
        <p:spPr>
          <a:xfrm>
            <a:off x="6236208" y="5763463"/>
            <a:ext cx="2130552" cy="155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boss_rush_run_round</a:t>
            </a:r>
            <a:endParaRPr/>
          </a:p>
        </p:txBody>
      </p:sp>
      <p:sp>
        <p:nvSpPr>
          <p:cNvPr id="388" name="Google Shape;388;p8"/>
          <p:cNvSpPr txBox="1"/>
          <p:nvPr/>
        </p:nvSpPr>
        <p:spPr>
          <a:xfrm>
            <a:off x="6236208" y="5907938"/>
            <a:ext cx="2130552" cy="128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(run_id, round)</a:t>
            </a:r>
            <a:endParaRPr/>
          </a:p>
        </p:txBody>
      </p:sp>
      <p:sp>
        <p:nvSpPr>
          <p:cNvPr id="389" name="Google Shape;389;p8"/>
          <p:cNvSpPr/>
          <p:nvPr/>
        </p:nvSpPr>
        <p:spPr>
          <a:xfrm>
            <a:off x="5532120" y="2032711"/>
            <a:ext cx="548640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8"/>
          <p:cNvSpPr/>
          <p:nvPr/>
        </p:nvSpPr>
        <p:spPr>
          <a:xfrm>
            <a:off x="5532120" y="2197303"/>
            <a:ext cx="320040" cy="12801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8"/>
          <p:cNvSpPr/>
          <p:nvPr/>
        </p:nvSpPr>
        <p:spPr>
          <a:xfrm>
            <a:off x="5845759" y="2203703"/>
            <a:ext cx="12801" cy="178308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8"/>
          <p:cNvSpPr/>
          <p:nvPr/>
        </p:nvSpPr>
        <p:spPr>
          <a:xfrm>
            <a:off x="5852160" y="2375611"/>
            <a:ext cx="228600" cy="12801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8"/>
          <p:cNvSpPr/>
          <p:nvPr/>
        </p:nvSpPr>
        <p:spPr>
          <a:xfrm>
            <a:off x="5532120" y="2540203"/>
            <a:ext cx="548640" cy="12801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8"/>
          <p:cNvSpPr/>
          <p:nvPr/>
        </p:nvSpPr>
        <p:spPr>
          <a:xfrm>
            <a:off x="5532120" y="4172407"/>
            <a:ext cx="548640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8"/>
          <p:cNvSpPr/>
          <p:nvPr/>
        </p:nvSpPr>
        <p:spPr>
          <a:xfrm>
            <a:off x="5532120" y="5201107"/>
            <a:ext cx="548640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8"/>
          <p:cNvSpPr/>
          <p:nvPr/>
        </p:nvSpPr>
        <p:spPr>
          <a:xfrm>
            <a:off x="5532120" y="5489143"/>
            <a:ext cx="548640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8"/>
          <p:cNvSpPr/>
          <p:nvPr/>
        </p:nvSpPr>
        <p:spPr>
          <a:xfrm>
            <a:off x="5852160" y="5598871"/>
            <a:ext cx="228600" cy="12801"/>
          </a:xfrm>
          <a:prstGeom prst="rect">
            <a:avLst/>
          </a:prstGeom>
          <a:solidFill>
            <a:srgbClr val="6B4FB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8"/>
          <p:cNvSpPr/>
          <p:nvPr/>
        </p:nvSpPr>
        <p:spPr>
          <a:xfrm>
            <a:off x="5845759" y="5605272"/>
            <a:ext cx="12801" cy="370332"/>
          </a:xfrm>
          <a:prstGeom prst="rect">
            <a:avLst/>
          </a:prstGeom>
          <a:solidFill>
            <a:srgbClr val="6B4FB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8"/>
          <p:cNvSpPr/>
          <p:nvPr/>
        </p:nvSpPr>
        <p:spPr>
          <a:xfrm>
            <a:off x="5532120" y="5969203"/>
            <a:ext cx="320040" cy="12801"/>
          </a:xfrm>
          <a:prstGeom prst="rect">
            <a:avLst/>
          </a:prstGeom>
          <a:solidFill>
            <a:srgbClr val="6B4FB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8"/>
          <p:cNvSpPr/>
          <p:nvPr/>
        </p:nvSpPr>
        <p:spPr>
          <a:xfrm>
            <a:off x="5532120" y="5804611"/>
            <a:ext cx="548640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8"/>
          <p:cNvSpPr/>
          <p:nvPr/>
        </p:nvSpPr>
        <p:spPr>
          <a:xfrm>
            <a:off x="8915400" y="1947672"/>
            <a:ext cx="2560320" cy="1572768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8"/>
          <p:cNvSpPr txBox="1"/>
          <p:nvPr/>
        </p:nvSpPr>
        <p:spPr>
          <a:xfrm>
            <a:off x="9098280" y="2084831"/>
            <a:ext cx="21945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MySQL · Account DB</a:t>
            </a:r>
            <a:endParaRPr/>
          </a:p>
        </p:txBody>
      </p:sp>
      <p:sp>
        <p:nvSpPr>
          <p:cNvPr id="403" name="Google Shape;403;p8"/>
          <p:cNvSpPr/>
          <p:nvPr/>
        </p:nvSpPr>
        <p:spPr>
          <a:xfrm>
            <a:off x="9098280" y="2304288"/>
            <a:ext cx="2194560" cy="3474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8"/>
          <p:cNvSpPr/>
          <p:nvPr/>
        </p:nvSpPr>
        <p:spPr>
          <a:xfrm>
            <a:off x="9098280" y="2304288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8"/>
          <p:cNvSpPr txBox="1"/>
          <p:nvPr/>
        </p:nvSpPr>
        <p:spPr>
          <a:xfrm>
            <a:off x="9253728" y="2348179"/>
            <a:ext cx="1947672" cy="155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users</a:t>
            </a:r>
            <a:endParaRPr/>
          </a:p>
        </p:txBody>
      </p:sp>
      <p:sp>
        <p:nvSpPr>
          <p:cNvPr id="406" name="Google Shape;406;p8"/>
          <p:cNvSpPr txBox="1"/>
          <p:nvPr/>
        </p:nvSpPr>
        <p:spPr>
          <a:xfrm>
            <a:off x="9253728" y="2492654"/>
            <a:ext cx="1947672" cy="128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user_id PK · email UQ</a:t>
            </a:r>
            <a:endParaRPr/>
          </a:p>
        </p:txBody>
      </p:sp>
      <p:sp>
        <p:nvSpPr>
          <p:cNvPr id="407" name="Google Shape;407;p8"/>
          <p:cNvSpPr/>
          <p:nvPr/>
        </p:nvSpPr>
        <p:spPr>
          <a:xfrm>
            <a:off x="10189159" y="2651760"/>
            <a:ext cx="12801" cy="182880"/>
          </a:xfrm>
          <a:prstGeom prst="rect">
            <a:avLst/>
          </a:prstGeom>
          <a:solidFill>
            <a:srgbClr val="1B9E6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8"/>
          <p:cNvSpPr/>
          <p:nvPr/>
        </p:nvSpPr>
        <p:spPr>
          <a:xfrm>
            <a:off x="9098280" y="2834640"/>
            <a:ext cx="2194560" cy="3474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8"/>
          <p:cNvSpPr/>
          <p:nvPr/>
        </p:nvSpPr>
        <p:spPr>
          <a:xfrm>
            <a:off x="9098280" y="2834640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8"/>
          <p:cNvSpPr txBox="1"/>
          <p:nvPr/>
        </p:nvSpPr>
        <p:spPr>
          <a:xfrm>
            <a:off x="9253728" y="2878531"/>
            <a:ext cx="1947672" cy="155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user_auth_token</a:t>
            </a:r>
            <a:endParaRPr/>
          </a:p>
        </p:txBody>
      </p:sp>
      <p:sp>
        <p:nvSpPr>
          <p:cNvPr id="411" name="Google Shape;411;p8"/>
          <p:cNvSpPr txBox="1"/>
          <p:nvPr/>
        </p:nvSpPr>
        <p:spPr>
          <a:xfrm>
            <a:off x="9253728" y="3023006"/>
            <a:ext cx="1947672" cy="128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user_id PK · 사용자당 1행</a:t>
            </a:r>
            <a:endParaRPr/>
          </a:p>
        </p:txBody>
      </p:sp>
      <p:sp>
        <p:nvSpPr>
          <p:cNvPr id="412" name="Google Shape;412;p8"/>
          <p:cNvSpPr txBox="1"/>
          <p:nvPr/>
        </p:nvSpPr>
        <p:spPr>
          <a:xfrm>
            <a:off x="9098280" y="3255264"/>
            <a:ext cx="21945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users.user_id = 게임 DB 전 테이블의 user_id</a:t>
            </a:r>
            <a:endParaRPr/>
          </a:p>
        </p:txBody>
      </p:sp>
      <p:sp>
        <p:nvSpPr>
          <p:cNvPr id="413" name="Google Shape;413;p8"/>
          <p:cNvSpPr/>
          <p:nvPr/>
        </p:nvSpPr>
        <p:spPr>
          <a:xfrm>
            <a:off x="8915400" y="3703323"/>
            <a:ext cx="2560200" cy="13260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8"/>
          <p:cNvSpPr txBox="1"/>
          <p:nvPr/>
        </p:nvSpPr>
        <p:spPr>
          <a:xfrm>
            <a:off x="9098280" y="3840480"/>
            <a:ext cx="21945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계정 단위 관계정리</a:t>
            </a:r>
            <a:endParaRPr/>
          </a:p>
        </p:txBody>
      </p:sp>
      <p:sp>
        <p:nvSpPr>
          <p:cNvPr id="415" name="Google Shape;415;p8"/>
          <p:cNvSpPr/>
          <p:nvPr/>
        </p:nvSpPr>
        <p:spPr>
          <a:xfrm>
            <a:off x="9098280" y="4133087"/>
            <a:ext cx="91440" cy="146304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8"/>
          <p:cNvSpPr txBox="1"/>
          <p:nvPr/>
        </p:nvSpPr>
        <p:spPr>
          <a:xfrm>
            <a:off x="9281160" y="4137659"/>
            <a:ext cx="2011679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계정 공유 — user_id 소유</a:t>
            </a:r>
            <a:endParaRPr/>
          </a:p>
        </p:txBody>
      </p:sp>
      <p:sp>
        <p:nvSpPr>
          <p:cNvPr id="417" name="Google Shape;417;p8"/>
          <p:cNvSpPr/>
          <p:nvPr/>
        </p:nvSpPr>
        <p:spPr>
          <a:xfrm>
            <a:off x="9098280" y="4389120"/>
            <a:ext cx="91440" cy="146304"/>
          </a:xfrm>
          <a:prstGeom prst="rect">
            <a:avLst/>
          </a:prstGeom>
          <a:solidFill>
            <a:srgbClr val="1B9E6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8"/>
          <p:cNvSpPr txBox="1"/>
          <p:nvPr/>
        </p:nvSpPr>
        <p:spPr>
          <a:xfrm>
            <a:off x="9281160" y="4393692"/>
            <a:ext cx="2011679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캐릭터별 — character_id 종속</a:t>
            </a:r>
            <a:endParaRPr/>
          </a:p>
        </p:txBody>
      </p:sp>
      <p:sp>
        <p:nvSpPr>
          <p:cNvPr id="419" name="Google Shape;419;p8"/>
          <p:cNvSpPr/>
          <p:nvPr/>
        </p:nvSpPr>
        <p:spPr>
          <a:xfrm>
            <a:off x="9098280" y="4645152"/>
            <a:ext cx="91440" cy="146304"/>
          </a:xfrm>
          <a:prstGeom prst="rect">
            <a:avLst/>
          </a:prstGeom>
          <a:solidFill>
            <a:srgbClr val="6B4FB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8"/>
          <p:cNvSpPr txBox="1"/>
          <p:nvPr/>
        </p:nvSpPr>
        <p:spPr>
          <a:xfrm>
            <a:off x="9281160" y="4649724"/>
            <a:ext cx="2011679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전역 — 계정에 속하지 않음</a:t>
            </a:r>
            <a:endParaRPr/>
          </a:p>
        </p:txBody>
      </p:sp>
      <p:sp>
        <p:nvSpPr>
          <p:cNvPr id="421" name="Google Shape;421;p8"/>
          <p:cNvSpPr/>
          <p:nvPr/>
        </p:nvSpPr>
        <p:spPr>
          <a:xfrm>
            <a:off x="9098280" y="4937760"/>
            <a:ext cx="2194560" cy="9144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9"/>
          <p:cNvSpPr/>
          <p:nvPr/>
        </p:nvSpPr>
        <p:spPr>
          <a:xfrm>
            <a:off x="138" y="0"/>
            <a:ext cx="12191700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428" name="Google Shape;42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429" name="Google Shape;429;p9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DESIGN DECISION</a:t>
            </a:r>
            <a:endParaRPr/>
          </a:p>
        </p:txBody>
      </p:sp>
      <p:sp>
        <p:nvSpPr>
          <p:cNvPr id="430" name="Google Shape;430;p9"/>
          <p:cNvSpPr/>
          <p:nvPr/>
        </p:nvSpPr>
        <p:spPr>
          <a:xfrm>
            <a:off x="685800" y="749808"/>
            <a:ext cx="822960" cy="54864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9"/>
          <p:cNvSpPr txBox="1"/>
          <p:nvPr/>
        </p:nvSpPr>
        <p:spPr>
          <a:xfrm>
            <a:off x="685800" y="914400"/>
            <a:ext cx="1088136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3.2  플레이어 아이템 데이터 저장</a:t>
            </a:r>
            <a:endParaRPr b="1" sz="30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32" name="Google Shape;432;p9"/>
          <p:cNvSpPr/>
          <p:nvPr/>
        </p:nvSpPr>
        <p:spPr>
          <a:xfrm>
            <a:off x="685800" y="2057400"/>
            <a:ext cx="5303520" cy="192024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9"/>
          <p:cNvSpPr/>
          <p:nvPr/>
        </p:nvSpPr>
        <p:spPr>
          <a:xfrm>
            <a:off x="886968" y="2240280"/>
            <a:ext cx="41148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9"/>
          <p:cNvSpPr txBox="1"/>
          <p:nvPr/>
        </p:nvSpPr>
        <p:spPr>
          <a:xfrm>
            <a:off x="886968" y="2368296"/>
            <a:ext cx="4901184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버린 안 — player_item에 장착 컬럼을 둔다</a:t>
            </a:r>
            <a:endParaRPr/>
          </a:p>
        </p:txBody>
      </p:sp>
      <p:sp>
        <p:nvSpPr>
          <p:cNvPr id="435" name="Google Shape;435;p9"/>
          <p:cNvSpPr/>
          <p:nvPr/>
        </p:nvSpPr>
        <p:spPr>
          <a:xfrm>
            <a:off x="886968" y="2706624"/>
            <a:ext cx="2331720" cy="10972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9"/>
          <p:cNvSpPr txBox="1"/>
          <p:nvPr/>
        </p:nvSpPr>
        <p:spPr>
          <a:xfrm>
            <a:off x="1024128" y="2798064"/>
            <a:ext cx="2057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player_item</a:t>
            </a:r>
            <a:endParaRPr b="1" sz="9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player_item_id  PK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item_code · quantity · slot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C0392B"/>
                </a:solidFill>
                <a:latin typeface="Malgun Gothic"/>
                <a:ea typeface="Malgun Gothic"/>
                <a:cs typeface="Malgun Gothic"/>
                <a:sym typeface="Malgun Gothic"/>
              </a:rPr>
              <a:t>equipped_character_id   NULL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C0392B"/>
                </a:solidFill>
                <a:latin typeface="Malgun Gothic"/>
                <a:ea typeface="Malgun Gothic"/>
                <a:cs typeface="Malgun Gothic"/>
                <a:sym typeface="Malgun Gothic"/>
              </a:rPr>
              <a:t>equipped_slot                NULL</a:t>
            </a:r>
            <a:endParaRPr/>
          </a:p>
        </p:txBody>
      </p:sp>
      <p:sp>
        <p:nvSpPr>
          <p:cNvPr id="437" name="Google Shape;437;p9"/>
          <p:cNvSpPr txBox="1"/>
          <p:nvPr/>
        </p:nvSpPr>
        <p:spPr>
          <a:xfrm>
            <a:off x="3401568" y="2761488"/>
            <a:ext cx="2386584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미장착을 NULL로 표현해, 모든 조회가 NULL 분기를 안고 간다</a:t>
            </a:r>
            <a:endParaRPr b="0" sz="90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"한 캐릭터-슬롯에 하나"를 DB가 막지 못한다</a:t>
            </a:r>
            <a:endParaRPr b="0" sz="90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재화 행까지 평생 NULL인 컬럼 둘을 갖는다</a:t>
            </a:r>
            <a:endParaRPr b="0" sz="90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38" name="Google Shape;438;p9"/>
          <p:cNvSpPr/>
          <p:nvPr/>
        </p:nvSpPr>
        <p:spPr>
          <a:xfrm>
            <a:off x="6172200" y="2057400"/>
            <a:ext cx="5303520" cy="192024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9"/>
          <p:cNvSpPr/>
          <p:nvPr/>
        </p:nvSpPr>
        <p:spPr>
          <a:xfrm>
            <a:off x="6373368" y="2240280"/>
            <a:ext cx="411480" cy="36576"/>
          </a:xfrm>
          <a:prstGeom prst="rect">
            <a:avLst/>
          </a:prstGeom>
          <a:solidFill>
            <a:srgbClr val="1B9E6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9"/>
          <p:cNvSpPr txBox="1"/>
          <p:nvPr/>
        </p:nvSpPr>
        <p:spPr>
          <a:xfrm>
            <a:off x="6373368" y="2368296"/>
            <a:ext cx="4901184" cy="192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버린 안 — 장착 여부만 별도 테이블로</a:t>
            </a:r>
            <a:endParaRPr b="1" sz="125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41" name="Google Shape;441;p9"/>
          <p:cNvSpPr/>
          <p:nvPr/>
        </p:nvSpPr>
        <p:spPr>
          <a:xfrm>
            <a:off x="6373368" y="2706624"/>
            <a:ext cx="2801318" cy="10972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9"/>
          <p:cNvSpPr txBox="1"/>
          <p:nvPr/>
        </p:nvSpPr>
        <p:spPr>
          <a:xfrm>
            <a:off x="6510527" y="2788920"/>
            <a:ext cx="2504700" cy="9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player_item (사용자 소유 아이템)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player_item_equipped (사용자 장착 아이템)</a:t>
            </a:r>
            <a:endParaRPr b="1" sz="9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player_item_id PK, 	FK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item_code 	FK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slot		NOT NULL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43" name="Google Shape;443;p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/>
          </a:p>
        </p:txBody>
      </p:sp>
      <p:sp>
        <p:nvSpPr>
          <p:cNvPr id="444" name="Google Shape;444;p9"/>
          <p:cNvSpPr txBox="1"/>
          <p:nvPr/>
        </p:nvSpPr>
        <p:spPr>
          <a:xfrm>
            <a:off x="9272016" y="2706624"/>
            <a:ext cx="2130300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소유 아이템과 장착 아이템을 구분하며, 장착 아이템 테이블에서 해당 아이템들의 </a:t>
            </a:r>
            <a:r>
              <a:rPr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</a:t>
            </a: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보를 얻으려면 </a:t>
            </a:r>
            <a:r>
              <a:rPr b="1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JOIN</a:t>
            </a: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연산이 필요</a:t>
            </a:r>
            <a:endParaRPr b="0" sz="90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but, </a:t>
            </a:r>
            <a:r>
              <a:rPr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 구조상 장착 아이템만을 조회하는 쿼리에서 매번 대형 테이블인 player_item 테이블에 접근하고 </a:t>
            </a:r>
            <a:r>
              <a:rPr b="1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JOIN</a:t>
            </a:r>
            <a:r>
              <a:rPr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 해야함</a:t>
            </a:r>
            <a:endParaRPr b="0" sz="90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45" name="SH Adopted"/>
          <p:cNvSpPr/>
          <p:nvPr/>
        </p:nvSpPr>
        <p:spPr>
          <a:xfrm>
            <a:off x="685800" y="4114800"/>
            <a:ext cx="1078992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2F6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6" name="SH Adopted Bar"/>
          <p:cNvSpPr/>
          <p:nvPr/>
        </p:nvSpPr>
        <p:spPr>
          <a:xfrm>
            <a:off x="886968" y="4297680"/>
            <a:ext cx="411480" cy="36576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7" name="TB Adopted Title"/>
          <p:cNvSpPr txBox="1"/>
          <p:nvPr/>
        </p:nvSpPr>
        <p:spPr>
          <a:xfrm>
            <a:off x="886968" y="4425696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1">
                <a:solidFill>
                  <a:srgbClr val="1B2430"/>
                </a:solidFill>
                <a:latin typeface="Malgun Gothic"/>
              </a:rPr>
              <a:t>채택 안 — 장착 중인 것만 자식 테이블에 두고, 조회에 필요한 값은 그 테이블에도 둔다</a:t>
            </a:r>
          </a:p>
        </p:txBody>
      </p:sp>
      <p:sp>
        <p:nvSpPr>
          <p:cNvPr id="448" name="SH Adopted Schema"/>
          <p:cNvSpPr/>
          <p:nvPr/>
        </p:nvSpPr>
        <p:spPr>
          <a:xfrm>
            <a:off x="886968" y="4736592"/>
            <a:ext cx="43891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9" name="TB Adopted Schema"/>
          <p:cNvSpPr txBox="1"/>
          <p:nvPr/>
        </p:nvSpPr>
        <p:spPr>
          <a:xfrm>
            <a:off x="1024128" y="4809744"/>
            <a:ext cx="4114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00" b="1">
                <a:solidFill>
                  <a:srgbClr val="1B2430"/>
                </a:solidFill>
                <a:latin typeface="Malgun Gothic"/>
              </a:rPr>
              <a:t>player_item</a:t>
            </a:r>
            <a:r>
              <a:rPr sz="800" b="0">
                <a:solidFill>
                  <a:srgbClr val="6B7684"/>
                </a:solidFill>
                <a:latin typeface="Malgun Gothic"/>
              </a:rPr>
              <a:t>   (보유 상태만)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750" b="0">
                <a:solidFill>
                  <a:srgbClr val="6B7684"/>
                </a:solidFill>
                <a:latin typeface="Malgun Gothic"/>
              </a:rPr>
              <a:t>player_item_id  PK · item_code · quantity · slot · enhance_level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750" b="0">
                <a:solidFill>
                  <a:srgbClr val="2F6FE4"/>
                </a:solidFill>
                <a:latin typeface="Malgun Gothic"/>
              </a:rPr>
              <a:t>slot NULL = 장착 중 — 가방 용량 · 목록에서 빠진다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500" b="0">
                <a:solidFill>
                  <a:srgbClr val="6B7684"/>
                </a:solidFill>
                <a:latin typeface="Malgun Gothic"/>
              </a:rPr>
              <a:t/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00" b="1">
                <a:solidFill>
                  <a:srgbClr val="1B2430"/>
                </a:solidFill>
                <a:latin typeface="Malgun Gothic"/>
              </a:rPr>
              <a:t>player_item_equipped</a:t>
            </a:r>
            <a:r>
              <a:rPr sz="800" b="0">
                <a:solidFill>
                  <a:srgbClr val="6B7684"/>
                </a:solidFill>
                <a:latin typeface="Malgun Gothic"/>
              </a:rPr>
              <a:t>   (장착 중인 행만)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750" b="0">
                <a:solidFill>
                  <a:srgbClr val="6B7684"/>
                </a:solidFill>
                <a:latin typeface="Malgun Gothic"/>
              </a:rPr>
              <a:t>player_item_id  PK, FK · user_id · equipped_character_id · equipped_slot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750" b="1">
                <a:solidFill>
                  <a:srgbClr val="2F6FE4"/>
                </a:solidFill>
                <a:latin typeface="Malgun Gothic"/>
              </a:rPr>
              <a:t>item_code · enhance_level</a:t>
            </a:r>
            <a:r>
              <a:rPr sz="750" b="0">
                <a:solidFill>
                  <a:srgbClr val="2F6FE4"/>
                </a:solidFill>
                <a:latin typeface="Malgun Gothic"/>
              </a:rPr>
              <a:t>   ← 조회용으로 함께 둔다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750" b="0">
                <a:solidFill>
                  <a:srgbClr val="1B9E6F"/>
                </a:solidFill>
                <a:latin typeface="Malgun Gothic"/>
              </a:rPr>
              <a:t>UNIQUE (user_id, equipped_character_id, equipped_slot)</a:t>
            </a:r>
          </a:p>
        </p:txBody>
      </p:sp>
      <p:sp>
        <p:nvSpPr>
          <p:cNvPr id="450" name="TB Adopted Why"/>
          <p:cNvSpPr txBox="1"/>
          <p:nvPr/>
        </p:nvSpPr>
        <p:spPr>
          <a:xfrm>
            <a:off x="5577840" y="4800600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00" b="0">
                <a:solidFill>
                  <a:srgbClr val="6B7684"/>
                </a:solidFill>
                <a:latin typeface="Malgun Gothic"/>
              </a:rPr>
              <a:t>· </a:t>
            </a:r>
            <a:r>
              <a:rPr sz="900" b="1">
                <a:solidFill>
                  <a:srgbClr val="1B2430"/>
                </a:solidFill>
                <a:latin typeface="Malgun Gothic"/>
              </a:rPr>
              <a:t>행이 있으면 곧 장착 중</a:t>
            </a:r>
            <a:r>
              <a:rPr sz="900" b="0">
                <a:solidFill>
                  <a:srgbClr val="6B7684"/>
                </a:solidFill>
                <a:latin typeface="Malgun Gothic"/>
              </a:rPr>
              <a:t> — 장착은 INSERT, 해제는 DELETE. NULL 컬럼이 사라진다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00" b="0">
                <a:solidFill>
                  <a:srgbClr val="6B7684"/>
                </a:solidFill>
                <a:latin typeface="Malgun Gothic"/>
              </a:rPr>
              <a:t>· </a:t>
            </a:r>
            <a:r>
              <a:rPr sz="900" b="1">
                <a:solidFill>
                  <a:srgbClr val="1B2430"/>
                </a:solidFill>
                <a:latin typeface="Malgun Gothic"/>
              </a:rPr>
              <a:t>"한 캐릭터-슬롯에 하나"를 유니크 인덱스가 막는다</a:t>
            </a:r>
            <a:r>
              <a:rPr sz="900" b="0">
                <a:solidFill>
                  <a:srgbClr val="6B7684"/>
                </a:solidFill>
                <a:latin typeface="Malgun Gothic"/>
              </a:rPr>
              <a:t> — 서버 검증에만 기대지 않는다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00" b="0">
                <a:solidFill>
                  <a:srgbClr val="6B7684"/>
                </a:solidFill>
                <a:latin typeface="Malgun Gothic"/>
              </a:rPr>
              <a:t>· </a:t>
            </a:r>
            <a:r>
              <a:rPr sz="900" b="1">
                <a:solidFill>
                  <a:srgbClr val="1B2430"/>
                </a:solidFill>
                <a:latin typeface="Malgun Gothic"/>
              </a:rPr>
              <a:t>item_code · enhance_level을 함께 들고 있어</a:t>
            </a:r>
            <a:r>
              <a:rPr sz="900" b="0">
                <a:solidFill>
                  <a:srgbClr val="6B7684"/>
                </a:solidFill>
                <a:latin typeface="Malgun Gothic"/>
              </a:rPr>
              <a:t> 장착 조회는 이 작은 테이블만 읽는다 — JOIN이 없다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00" b="0">
                <a:solidFill>
                  <a:srgbClr val="6B7684"/>
                </a:solidFill>
                <a:latin typeface="Malgun Gothic"/>
              </a:rPr>
              <a:t>· </a:t>
            </a:r>
            <a:r>
              <a:rPr sz="900" b="1">
                <a:solidFill>
                  <a:srgbClr val="1B2430"/>
                </a:solidFill>
                <a:latin typeface="Malgun Gothic"/>
              </a:rPr>
              <a:t>아이템당 최대 1행(PK)</a:t>
            </a:r>
            <a:r>
              <a:rPr sz="900" b="0">
                <a:solidFill>
                  <a:srgbClr val="6B7684"/>
                </a:solidFill>
                <a:latin typeface="Malgun Gothic"/>
              </a:rPr>
              <a:t> — 한 아이템이 두 캐릭터에 동시에 장착될 수 없다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450" name="Google Shape;450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451" name="Google Shape;451;p10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PRINCIPLES</a:t>
            </a:r>
            <a:endParaRPr/>
          </a:p>
        </p:txBody>
      </p:sp>
      <p:sp>
        <p:nvSpPr>
          <p:cNvPr id="452" name="Google Shape;452;p10"/>
          <p:cNvSpPr/>
          <p:nvPr/>
        </p:nvSpPr>
        <p:spPr>
          <a:xfrm>
            <a:off x="685800" y="749808"/>
            <a:ext cx="822960" cy="54864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0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3.3  스키마를 짤 때 지킨 규칙</a:t>
            </a:r>
            <a:endParaRPr/>
          </a:p>
        </p:txBody>
      </p:sp>
      <p:sp>
        <p:nvSpPr>
          <p:cNvPr id="454" name="Google Shape;454;p10"/>
          <p:cNvSpPr txBox="1"/>
          <p:nvPr/>
        </p:nvSpPr>
        <p:spPr>
          <a:xfrm>
            <a:off x="685800" y="1536192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테이블마다 매번 판단하지 않도록, 먼저 규칙을 정하고 그 규칙대로 21개를 그렸다</a:t>
            </a:r>
            <a:endParaRPr/>
          </a:p>
        </p:txBody>
      </p:sp>
      <p:sp>
        <p:nvSpPr>
          <p:cNvPr id="455" name="Google Shape;455;p10"/>
          <p:cNvSpPr/>
          <p:nvPr/>
        </p:nvSpPr>
        <p:spPr>
          <a:xfrm>
            <a:off x="685800" y="2103120"/>
            <a:ext cx="3429000" cy="192024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10"/>
          <p:cNvSpPr/>
          <p:nvPr/>
        </p:nvSpPr>
        <p:spPr>
          <a:xfrm>
            <a:off x="886968" y="2286000"/>
            <a:ext cx="411480" cy="36576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0"/>
          <p:cNvSpPr txBox="1"/>
          <p:nvPr/>
        </p:nvSpPr>
        <p:spPr>
          <a:xfrm>
            <a:off x="886968" y="2414015"/>
            <a:ext cx="3026664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JSON 컬럼을 두지 않는다</a:t>
            </a:r>
            <a:endParaRPr/>
          </a:p>
        </p:txBody>
      </p:sp>
      <p:sp>
        <p:nvSpPr>
          <p:cNvPr id="458" name="Google Shape;458;p10"/>
          <p:cNvSpPr txBox="1"/>
          <p:nvPr/>
        </p:nvSpPr>
        <p:spPr>
          <a:xfrm>
            <a:off x="886968" y="2761487"/>
            <a:ext cx="3026664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반복 구조는 전부 자식 테이블로 편다. 메일 첨부는 player_mail_reward, 10연 뽑기 결과는 player_gacha_pull_item.</a:t>
            </a:r>
            <a:endParaRPr/>
          </a:p>
        </p:txBody>
      </p:sp>
      <p:sp>
        <p:nvSpPr>
          <p:cNvPr id="459" name="Google Shape;459;p10"/>
          <p:cNvSpPr/>
          <p:nvPr/>
        </p:nvSpPr>
        <p:spPr>
          <a:xfrm>
            <a:off x="886968" y="3529584"/>
            <a:ext cx="3026664" cy="9144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10"/>
          <p:cNvSpPr txBox="1"/>
          <p:nvPr/>
        </p:nvSpPr>
        <p:spPr>
          <a:xfrm>
            <a:off x="886968" y="3621024"/>
            <a:ext cx="3026664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한 컬럼에 뭉쳐 두면 조건 조회 · 집계를 SQL로 할 수 없다.</a:t>
            </a:r>
            <a:endParaRPr/>
          </a:p>
        </p:txBody>
      </p:sp>
      <p:sp>
        <p:nvSpPr>
          <p:cNvPr id="461" name="Google Shape;461;p10"/>
          <p:cNvSpPr/>
          <p:nvPr/>
        </p:nvSpPr>
        <p:spPr>
          <a:xfrm>
            <a:off x="685800" y="4160520"/>
            <a:ext cx="3429000" cy="192024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10"/>
          <p:cNvSpPr/>
          <p:nvPr/>
        </p:nvSpPr>
        <p:spPr>
          <a:xfrm>
            <a:off x="886968" y="4343400"/>
            <a:ext cx="41148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0"/>
          <p:cNvSpPr txBox="1"/>
          <p:nvPr/>
        </p:nvSpPr>
        <p:spPr>
          <a:xfrm>
            <a:off x="886968" y="4471416"/>
            <a:ext cx="3026664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시간은 전부 Unix timestamp</a:t>
            </a:r>
            <a:endParaRPr/>
          </a:p>
        </p:txBody>
      </p:sp>
      <p:sp>
        <p:nvSpPr>
          <p:cNvPr id="464" name="Google Shape;464;p10"/>
          <p:cNvSpPr txBox="1"/>
          <p:nvPr/>
        </p:nvSpPr>
        <p:spPr>
          <a:xfrm>
            <a:off x="886968" y="4818888"/>
            <a:ext cx="3026664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계정 · 세이브 · 로그가 BIGINT(초) 한 축을 쓴다. 타임존 해석은 표시 단계에서만 한다.</a:t>
            </a:r>
            <a:endParaRPr/>
          </a:p>
        </p:txBody>
      </p:sp>
      <p:sp>
        <p:nvSpPr>
          <p:cNvPr id="465" name="Google Shape;465;p10"/>
          <p:cNvSpPr/>
          <p:nvPr/>
        </p:nvSpPr>
        <p:spPr>
          <a:xfrm>
            <a:off x="886968" y="5586983"/>
            <a:ext cx="3026664" cy="9144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0"/>
          <p:cNvSpPr txBox="1"/>
          <p:nvPr/>
        </p:nvSpPr>
        <p:spPr>
          <a:xfrm>
            <a:off x="886968" y="5678424"/>
            <a:ext cx="3026664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오프라인 보상 · 거래 만료 · 버프 잔여가 같은 기준으로 계산된다.</a:t>
            </a:r>
            <a:endParaRPr/>
          </a:p>
        </p:txBody>
      </p:sp>
      <p:sp>
        <p:nvSpPr>
          <p:cNvPr id="467" name="Google Shape;467;p10"/>
          <p:cNvSpPr/>
          <p:nvPr/>
        </p:nvSpPr>
        <p:spPr>
          <a:xfrm>
            <a:off x="4370832" y="4160520"/>
            <a:ext cx="3429000" cy="192024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10"/>
          <p:cNvSpPr/>
          <p:nvPr/>
        </p:nvSpPr>
        <p:spPr>
          <a:xfrm>
            <a:off x="4572000" y="4343400"/>
            <a:ext cx="411480" cy="36576"/>
          </a:xfrm>
          <a:prstGeom prst="rect">
            <a:avLst/>
          </a:prstGeom>
          <a:solidFill>
            <a:srgbClr val="6B4FB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0"/>
          <p:cNvSpPr txBox="1"/>
          <p:nvPr/>
        </p:nvSpPr>
        <p:spPr>
          <a:xfrm>
            <a:off x="4572000" y="4471416"/>
            <a:ext cx="30267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인덱스 </a:t>
            </a:r>
            <a:r>
              <a:rPr b="1" lang="en-US" sz="12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설정</a:t>
            </a:r>
            <a:endParaRPr/>
          </a:p>
        </p:txBody>
      </p:sp>
      <p:sp>
        <p:nvSpPr>
          <p:cNvPr id="470" name="Google Shape;470;p10"/>
          <p:cNvSpPr txBox="1"/>
          <p:nvPr/>
        </p:nvSpPr>
        <p:spPr>
          <a:xfrm>
            <a:off x="4572000" y="4818888"/>
            <a:ext cx="3026700" cy="33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서버에서 실행하는 쿼리들을</a:t>
            </a:r>
            <a:r>
              <a:rPr b="0" lang="en-US" sz="9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뽑아 EXPLAIN을 돌려 인덱스를 실제로 타는지 확인했다.</a:t>
            </a:r>
            <a:endParaRPr/>
          </a:p>
        </p:txBody>
      </p:sp>
      <p:sp>
        <p:nvSpPr>
          <p:cNvPr id="471" name="Google Shape;471;p10"/>
          <p:cNvSpPr/>
          <p:nvPr/>
        </p:nvSpPr>
        <p:spPr>
          <a:xfrm>
            <a:off x="4572000" y="5586983"/>
            <a:ext cx="3026664" cy="9144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10"/>
          <p:cNvSpPr txBox="1"/>
          <p:nvPr/>
        </p:nvSpPr>
        <p:spPr>
          <a:xfrm>
            <a:off x="4572000" y="5678424"/>
            <a:ext cx="3026700" cy="3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결과적으로 </a:t>
            </a: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대기 경로에 치명적으로 느린 쿼리는 없었다. → docs/공통/쿼리-분석.md</a:t>
            </a:r>
            <a:endParaRPr/>
          </a:p>
        </p:txBody>
      </p:sp>
      <p:sp>
        <p:nvSpPr>
          <p:cNvPr id="473" name="Google Shape;473;p10"/>
          <p:cNvSpPr/>
          <p:nvPr/>
        </p:nvSpPr>
        <p:spPr>
          <a:xfrm>
            <a:off x="4370814" y="2107695"/>
            <a:ext cx="3429000" cy="19203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0"/>
          <p:cNvSpPr/>
          <p:nvPr/>
        </p:nvSpPr>
        <p:spPr>
          <a:xfrm>
            <a:off x="4572007" y="2297725"/>
            <a:ext cx="411600" cy="36600"/>
          </a:xfrm>
          <a:prstGeom prst="rect">
            <a:avLst/>
          </a:prstGeom>
          <a:solidFill>
            <a:srgbClr val="0E8A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0"/>
          <p:cNvSpPr txBox="1"/>
          <p:nvPr/>
        </p:nvSpPr>
        <p:spPr>
          <a:xfrm>
            <a:off x="4571982" y="2418591"/>
            <a:ext cx="30267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정본은 언제나 MySQL이다</a:t>
            </a:r>
            <a:endParaRPr/>
          </a:p>
        </p:txBody>
      </p:sp>
      <p:sp>
        <p:nvSpPr>
          <p:cNvPr id="476" name="Google Shape;476;p10"/>
          <p:cNvSpPr txBox="1"/>
          <p:nvPr/>
        </p:nvSpPr>
        <p:spPr>
          <a:xfrm>
            <a:off x="4571982" y="2766063"/>
            <a:ext cx="3026700" cy="33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Redis에 있는 것은 토큰 · 락 · 랭킹 인덱스뿐이고, 전부 MySQL에서 다시 만들 수 있다.</a:t>
            </a:r>
            <a:endParaRPr/>
          </a:p>
        </p:txBody>
      </p:sp>
      <p:sp>
        <p:nvSpPr>
          <p:cNvPr id="477" name="Google Shape;477;p10"/>
          <p:cNvSpPr/>
          <p:nvPr/>
        </p:nvSpPr>
        <p:spPr>
          <a:xfrm>
            <a:off x="4571982" y="3534158"/>
            <a:ext cx="3026700" cy="900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0"/>
          <p:cNvSpPr txBox="1"/>
          <p:nvPr/>
        </p:nvSpPr>
        <p:spPr>
          <a:xfrm>
            <a:off x="4571982" y="3625599"/>
            <a:ext cx="3026700" cy="3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랭킹은 관리 API로 정본에서 재적재하고, 장애 시 MySQL 정렬 조회로 폴백한다.</a:t>
            </a:r>
            <a:endParaRPr/>
          </a:p>
        </p:txBody>
      </p:sp>
      <p:sp>
        <p:nvSpPr>
          <p:cNvPr id="479" name="Google Shape;479;p10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/>
          </a:p>
        </p:txBody>
      </p:sp>
      <p:sp>
        <p:nvSpPr>
          <p:cNvPr id="480" name="SH Rule 0"/>
          <p:cNvSpPr/>
          <p:nvPr/>
        </p:nvSpPr>
        <p:spPr>
          <a:xfrm>
            <a:off x="8046720" y="2103120"/>
            <a:ext cx="3429000" cy="1920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1" name="SH Rule Bar 0"/>
          <p:cNvSpPr/>
          <p:nvPr/>
        </p:nvSpPr>
        <p:spPr>
          <a:xfrm>
            <a:off x="8247888" y="2286000"/>
            <a:ext cx="411480" cy="36576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2" name="TB Rule Title 0"/>
          <p:cNvSpPr txBox="1"/>
          <p:nvPr/>
        </p:nvSpPr>
        <p:spPr>
          <a:xfrm>
            <a:off x="8247888" y="2414015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B2430"/>
                </a:solidFill>
                <a:latin typeface="Malgun Gothic"/>
              </a:rPr>
              <a:t>불변식은 유니크 인덱스로 막는다</a:t>
            </a:r>
          </a:p>
        </p:txBody>
      </p:sp>
      <p:sp>
        <p:nvSpPr>
          <p:cNvPr id="483" name="TB Rule Body 0"/>
          <p:cNvSpPr txBox="1"/>
          <p:nvPr/>
        </p:nvSpPr>
        <p:spPr>
          <a:xfrm>
            <a:off x="8247888" y="2761487"/>
            <a:ext cx="3026664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1B2430"/>
                </a:solidFill>
                <a:latin typeface="Malgun Gothic"/>
              </a:rPr>
              <a:t>한 캐릭터-슬롯당 장비 하나, 한 계정에 같은 직업 하나, 가방 칸 중복 없음을 DB 제약으로 건다.</a:t>
            </a:r>
          </a:p>
        </p:txBody>
      </p:sp>
      <p:sp>
        <p:nvSpPr>
          <p:cNvPr id="484" name="SH Rule Div 0"/>
          <p:cNvSpPr/>
          <p:nvPr/>
        </p:nvSpPr>
        <p:spPr>
          <a:xfrm>
            <a:off x="8247888" y="3529584"/>
            <a:ext cx="3026664" cy="9144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5" name="TB Rule Foot 0"/>
          <p:cNvSpPr txBox="1"/>
          <p:nvPr/>
        </p:nvSpPr>
        <p:spPr>
          <a:xfrm>
            <a:off x="8247888" y="3621024"/>
            <a:ext cx="30266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6B7684"/>
                </a:solidFill>
                <a:latin typeface="Malgun Gothic"/>
              </a:rPr>
              <a:t>서버 검증만 두면 동시 요청에서 뚫린다. 부분 유니크를 못 쓰는 곳만 단일 트랜잭션으로 보장한다.</a:t>
            </a:r>
          </a:p>
        </p:txBody>
      </p:sp>
      <p:sp>
        <p:nvSpPr>
          <p:cNvPr id="486" name="SH Rule 1"/>
          <p:cNvSpPr/>
          <p:nvPr/>
        </p:nvSpPr>
        <p:spPr>
          <a:xfrm>
            <a:off x="8046720" y="4160520"/>
            <a:ext cx="3429000" cy="1920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7" name="SH Rule Bar 1"/>
          <p:cNvSpPr/>
          <p:nvPr/>
        </p:nvSpPr>
        <p:spPr>
          <a:xfrm>
            <a:off x="8247888" y="4343400"/>
            <a:ext cx="411480" cy="36576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8" name="TB Rule Title 1"/>
          <p:cNvSpPr txBox="1"/>
          <p:nvPr/>
        </p:nvSpPr>
        <p:spPr>
          <a:xfrm>
            <a:off x="8247888" y="4471415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B2430"/>
                </a:solidFill>
                <a:latin typeface="Malgun Gothic"/>
              </a:rPr>
              <a:t>마스터 데이터는 DB를 분리한다</a:t>
            </a:r>
          </a:p>
        </p:txBody>
      </p:sp>
      <p:sp>
        <p:nvSpPr>
          <p:cNvPr id="489" name="TB Rule Body 1"/>
          <p:cNvSpPr txBox="1"/>
          <p:nvPr/>
        </p:nvSpPr>
        <p:spPr>
          <a:xfrm>
            <a:off x="8247888" y="4818887"/>
            <a:ext cx="3026664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1B2430"/>
                </a:solidFill>
                <a:latin typeface="Malgun Gothic"/>
              </a:rPr>
              <a:t>기획 수치 32개 테이블은 taskbar_hero_master에 두고, 플레이어 데이터와 섞지 않는다.</a:t>
            </a:r>
          </a:p>
        </p:txBody>
      </p:sp>
      <p:sp>
        <p:nvSpPr>
          <p:cNvPr id="490" name="SH Rule Div 1"/>
          <p:cNvSpPr/>
          <p:nvPr/>
        </p:nvSpPr>
        <p:spPr>
          <a:xfrm>
            <a:off x="8247888" y="5586984"/>
            <a:ext cx="3026664" cy="9144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1" name="TB Rule Foot 1"/>
          <p:cNvSpPr txBox="1"/>
          <p:nvPr/>
        </p:nvSpPr>
        <p:spPr>
          <a:xfrm>
            <a:off x="8247888" y="5678424"/>
            <a:ext cx="30266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6B7684"/>
                </a:solidFill>
                <a:latin typeface="Malgun Gothic"/>
              </a:rPr>
              <a:t>기동 시 1회 읽어 인메모리로 들고 있어, 요청 경로에서 마스터 조회 쿼리가 나가지 않는다.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APPROACH</a:t>
            </a:r>
            <a:endParaRPr/>
          </a:p>
        </p:txBody>
      </p:sp>
      <p:sp>
        <p:nvSpPr>
          <p:cNvPr id="486" name="Google Shape;486;p11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11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4. 서버 개발 루프</a:t>
            </a:r>
            <a:endParaRPr b="1" sz="30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88" name="Google Shape;488;p11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  <a:endParaRPr/>
          </a:p>
        </p:txBody>
      </p:sp>
      <p:pic>
        <p:nvPicPr>
          <p:cNvPr id="489" name="Google Shape;489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11"/>
          <p:cNvSpPr/>
          <p:nvPr/>
        </p:nvSpPr>
        <p:spPr>
          <a:xfrm>
            <a:off x="685800" y="1737360"/>
            <a:ext cx="320040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182875" spcFirstLastPara="1" rIns="182875" wrap="square" tIns="91425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  </a:t>
            </a:r>
            <a:r>
              <a:rPr b="1" lang="en-US" sz="14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기획서 요청</a:t>
            </a:r>
            <a:endParaRPr/>
          </a:p>
        </p:txBody>
      </p:sp>
      <p:sp>
        <p:nvSpPr>
          <p:cNvPr id="491" name="Google Shape;491;p11"/>
          <p:cNvSpPr/>
          <p:nvPr/>
        </p:nvSpPr>
        <p:spPr>
          <a:xfrm>
            <a:off x="4480560" y="1737360"/>
            <a:ext cx="320040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182875" spcFirstLastPara="1" rIns="182875" wrap="square" tIns="91425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  </a:t>
            </a:r>
            <a:r>
              <a:rPr b="1" lang="en-US" sz="14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검토 · 확정</a:t>
            </a:r>
            <a:endParaRPr/>
          </a:p>
        </p:txBody>
      </p:sp>
      <p:sp>
        <p:nvSpPr>
          <p:cNvPr id="492" name="Google Shape;492;p11"/>
          <p:cNvSpPr/>
          <p:nvPr/>
        </p:nvSpPr>
        <p:spPr>
          <a:xfrm>
            <a:off x="8275320" y="1737360"/>
            <a:ext cx="320040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182875" spcFirstLastPara="1" rIns="182875" wrap="square" tIns="91425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③  </a:t>
            </a:r>
            <a:r>
              <a:rPr b="1" lang="en-US" sz="14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문서대로 구현 요청</a:t>
            </a:r>
            <a:endParaRPr/>
          </a:p>
        </p:txBody>
      </p:sp>
      <p:sp>
        <p:nvSpPr>
          <p:cNvPr id="493" name="Google Shape;493;p11"/>
          <p:cNvSpPr txBox="1"/>
          <p:nvPr/>
        </p:nvSpPr>
        <p:spPr>
          <a:xfrm>
            <a:off x="3886200" y="2034540"/>
            <a:ext cx="594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/>
          </a:p>
        </p:txBody>
      </p:sp>
      <p:sp>
        <p:nvSpPr>
          <p:cNvPr id="494" name="Google Shape;494;p11"/>
          <p:cNvSpPr txBox="1"/>
          <p:nvPr/>
        </p:nvSpPr>
        <p:spPr>
          <a:xfrm>
            <a:off x="7680960" y="2034540"/>
            <a:ext cx="594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/>
          </a:p>
        </p:txBody>
      </p:sp>
      <p:sp>
        <p:nvSpPr>
          <p:cNvPr id="495" name="Google Shape;495;p11"/>
          <p:cNvSpPr/>
          <p:nvPr/>
        </p:nvSpPr>
        <p:spPr>
          <a:xfrm>
            <a:off x="685800" y="2926080"/>
            <a:ext cx="320040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182875" spcFirstLastPara="1" rIns="182875" wrap="square" tIns="91425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⑥  </a:t>
            </a:r>
            <a:r>
              <a:rPr b="1" lang="en-US" sz="14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README 현황판 갱신</a:t>
            </a:r>
            <a:endParaRPr/>
          </a:p>
        </p:txBody>
      </p:sp>
      <p:sp>
        <p:nvSpPr>
          <p:cNvPr id="496" name="Google Shape;496;p11"/>
          <p:cNvSpPr/>
          <p:nvPr/>
        </p:nvSpPr>
        <p:spPr>
          <a:xfrm>
            <a:off x="4480560" y="2926080"/>
            <a:ext cx="320040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182875" spcFirstLastPara="1" rIns="182875" wrap="square" tIns="91425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⑤  </a:t>
            </a:r>
            <a:r>
              <a:rPr b="1" lang="en-US" sz="14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 동기화</a:t>
            </a:r>
            <a:endParaRPr/>
          </a:p>
        </p:txBody>
      </p:sp>
      <p:sp>
        <p:nvSpPr>
          <p:cNvPr id="497" name="Google Shape;497;p11"/>
          <p:cNvSpPr/>
          <p:nvPr/>
        </p:nvSpPr>
        <p:spPr>
          <a:xfrm>
            <a:off x="8275320" y="2926080"/>
            <a:ext cx="320040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182875" spcFirstLastPara="1" rIns="182875" wrap="square" tIns="91425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④  </a:t>
            </a:r>
            <a:r>
              <a:rPr b="1" lang="en-US" sz="14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빌드 + 실서버 검증</a:t>
            </a:r>
            <a:endParaRPr/>
          </a:p>
        </p:txBody>
      </p:sp>
      <p:sp>
        <p:nvSpPr>
          <p:cNvPr id="498" name="Google Shape;498;p11"/>
          <p:cNvSpPr txBox="1"/>
          <p:nvPr/>
        </p:nvSpPr>
        <p:spPr>
          <a:xfrm>
            <a:off x="3886200" y="3223260"/>
            <a:ext cx="594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←</a:t>
            </a:r>
            <a:endParaRPr/>
          </a:p>
        </p:txBody>
      </p:sp>
      <p:sp>
        <p:nvSpPr>
          <p:cNvPr id="499" name="Google Shape;499;p11"/>
          <p:cNvSpPr txBox="1"/>
          <p:nvPr/>
        </p:nvSpPr>
        <p:spPr>
          <a:xfrm>
            <a:off x="7680960" y="3223260"/>
            <a:ext cx="594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←</a:t>
            </a:r>
            <a:endParaRPr/>
          </a:p>
        </p:txBody>
      </p:sp>
      <p:sp>
        <p:nvSpPr>
          <p:cNvPr id="500" name="Google Shape;500;p11"/>
          <p:cNvSpPr txBox="1"/>
          <p:nvPr/>
        </p:nvSpPr>
        <p:spPr>
          <a:xfrm>
            <a:off x="9738360" y="2651760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↓</a:t>
            </a:r>
            <a:endParaRPr/>
          </a:p>
        </p:txBody>
      </p:sp>
      <p:sp>
        <p:nvSpPr>
          <p:cNvPr id="501" name="Google Shape;501;p11"/>
          <p:cNvSpPr txBox="1"/>
          <p:nvPr/>
        </p:nvSpPr>
        <p:spPr>
          <a:xfrm>
            <a:off x="685800" y="4114800"/>
            <a:ext cx="10789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핵심은 기획 문서를 자세히 작성하여 클로드에게 많은 정보를 주는 것</a:t>
            </a:r>
            <a:endParaRPr/>
          </a:p>
        </p:txBody>
      </p:sp>
      <p:sp>
        <p:nvSpPr>
          <p:cNvPr id="502" name="Google Shape;502;p11"/>
          <p:cNvSpPr/>
          <p:nvPr/>
        </p:nvSpPr>
        <p:spPr>
          <a:xfrm>
            <a:off x="685800" y="4480560"/>
            <a:ext cx="3413760" cy="150876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182875" spcFirstLastPara="1" rIns="18287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11"/>
          <p:cNvSpPr/>
          <p:nvPr/>
        </p:nvSpPr>
        <p:spPr>
          <a:xfrm>
            <a:off x="884225" y="5008228"/>
            <a:ext cx="91440" cy="91440"/>
          </a:xfrm>
          <a:prstGeom prst="ellipse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1"/>
          <p:cNvSpPr txBox="1"/>
          <p:nvPr/>
        </p:nvSpPr>
        <p:spPr>
          <a:xfrm>
            <a:off x="1044245" y="4931887"/>
            <a:ext cx="295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기획서 단계에서</a:t>
            </a: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API 스키마 · DB 구조 · 에러 코드 · 예외 처리를 확정한다.</a:t>
            </a:r>
            <a:r>
              <a:rPr sz="1100" b="0">
                <a:solidFill>
                  <a:srgbClr val="6B7684"/>
                </a:solidFill>
                <a:latin typeface="Malgun Gothic"/>
              </a:rPr>
              <a:t> 형식은 design-doc 스킬로 고정해, 매번 같은 항목을 빠짐없이 채운다.</a:t>
            </a:r>
            <a:endParaRPr/>
          </a:p>
        </p:txBody>
      </p:sp>
      <p:sp>
        <p:nvSpPr>
          <p:cNvPr id="505" name="Google Shape;505;p11"/>
          <p:cNvSpPr/>
          <p:nvPr/>
        </p:nvSpPr>
        <p:spPr>
          <a:xfrm>
            <a:off x="4373880" y="4480560"/>
            <a:ext cx="3413760" cy="150876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182875" spcFirstLastPara="1" rIns="18287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11"/>
          <p:cNvSpPr/>
          <p:nvPr/>
        </p:nvSpPr>
        <p:spPr>
          <a:xfrm>
            <a:off x="4549140" y="5006340"/>
            <a:ext cx="91440" cy="91440"/>
          </a:xfrm>
          <a:prstGeom prst="ellipse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11"/>
          <p:cNvSpPr txBox="1"/>
          <p:nvPr/>
        </p:nvSpPr>
        <p:spPr>
          <a:xfrm>
            <a:off x="4716780" y="4944471"/>
            <a:ext cx="295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구현 단계에서는</a:t>
            </a: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그 문서를 그대로 지시서로 쓴다 → 구현 중 즉흥적인 설계 변경 감소 + 코드를 보지 않아도 문서만으로도 파악 가능</a:t>
            </a:r>
            <a:endParaRPr/>
          </a:p>
        </p:txBody>
      </p:sp>
      <p:sp>
        <p:nvSpPr>
          <p:cNvPr id="508" name="Google Shape;508;p11"/>
          <p:cNvSpPr/>
          <p:nvPr/>
        </p:nvSpPr>
        <p:spPr>
          <a:xfrm>
            <a:off x="8061960" y="4480560"/>
            <a:ext cx="3413760" cy="150876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182875" spcFirstLastPara="1" rIns="18287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11"/>
          <p:cNvSpPr/>
          <p:nvPr/>
        </p:nvSpPr>
        <p:spPr>
          <a:xfrm>
            <a:off x="8229600" y="5006340"/>
            <a:ext cx="91440" cy="91440"/>
          </a:xfrm>
          <a:prstGeom prst="ellipse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11"/>
          <p:cNvSpPr txBox="1"/>
          <p:nvPr/>
        </p:nvSpPr>
        <p:spPr>
          <a:xfrm>
            <a:off x="8397240" y="4938599"/>
            <a:ext cx="295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나중에 "왜 이렇게 했더라"</a:t>
            </a: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를 코드 주석뿐만 아니라 문서에서 확인할 수 있다.</a:t>
            </a:r>
            <a:r>
              <a:rPr sz="1100" b="0">
                <a:solidFill>
                  <a:srgbClr val="6B7684"/>
                </a:solidFill>
                <a:latin typeface="Malgun Gothic"/>
              </a:rPr>
              <a:t> 결정의 근거까지 남기므로, 몇 주 뒤에 같은 판단을 다시 하지 않는다.</a:t>
            </a:r>
            <a:endParaRPr/>
          </a:p>
        </p:txBody>
      </p:sp>
      <p:sp>
        <p:nvSpPr>
          <p:cNvPr id="511" name="TB Loop Stat Caption"/>
          <p:cNvSpPr txBox="1"/>
          <p:nvPr/>
        </p:nvSpPr>
        <p:spPr>
          <a:xfrm>
            <a:off x="6172200" y="731520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50" b="1">
                <a:solidFill>
                  <a:srgbClr val="6B7684"/>
                </a:solidFill>
                <a:latin typeface="Malgun Gothic"/>
              </a:rPr>
              <a:t>이 루프를 돌려 남은 것</a:t>
            </a:r>
          </a:p>
        </p:txBody>
      </p:sp>
      <p:sp>
        <p:nvSpPr>
          <p:cNvPr id="512" name="SH Loop Stat"/>
          <p:cNvSpPr/>
          <p:nvPr/>
        </p:nvSpPr>
        <p:spPr>
          <a:xfrm>
            <a:off x="6172200" y="950976"/>
            <a:ext cx="5303520" cy="630936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3" name="TB Loop Num 0"/>
          <p:cNvSpPr txBox="1"/>
          <p:nvPr/>
        </p:nvSpPr>
        <p:spPr>
          <a:xfrm>
            <a:off x="6172200" y="105156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2F6FE4"/>
                </a:solidFill>
                <a:latin typeface="Malgun Gothic"/>
              </a:rPr>
              <a:t>14편</a:t>
            </a:r>
          </a:p>
        </p:txBody>
      </p:sp>
      <p:sp>
        <p:nvSpPr>
          <p:cNvPr id="514" name="TB Loop Label 0"/>
          <p:cNvSpPr txBox="1"/>
          <p:nvPr/>
        </p:nvSpPr>
        <p:spPr>
          <a:xfrm>
            <a:off x="6172200" y="1344168"/>
            <a:ext cx="1325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684"/>
                </a:solidFill>
                <a:latin typeface="Malgun Gothic"/>
              </a:rPr>
              <a:t>세부 기획서</a:t>
            </a:r>
          </a:p>
        </p:txBody>
      </p:sp>
      <p:sp>
        <p:nvSpPr>
          <p:cNvPr id="515" name="SH Loop Div 1"/>
          <p:cNvSpPr/>
          <p:nvPr/>
        </p:nvSpPr>
        <p:spPr>
          <a:xfrm>
            <a:off x="7498080" y="1088136"/>
            <a:ext cx="9525" cy="356616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6" name="TB Loop Num 1"/>
          <p:cNvSpPr txBox="1"/>
          <p:nvPr/>
        </p:nvSpPr>
        <p:spPr>
          <a:xfrm>
            <a:off x="7498080" y="105156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2F6FE4"/>
                </a:solidFill>
                <a:latin typeface="Malgun Gothic"/>
              </a:rPr>
              <a:t>49개</a:t>
            </a:r>
          </a:p>
        </p:txBody>
      </p:sp>
      <p:sp>
        <p:nvSpPr>
          <p:cNvPr id="517" name="TB Loop Label 1"/>
          <p:cNvSpPr txBox="1"/>
          <p:nvPr/>
        </p:nvSpPr>
        <p:spPr>
          <a:xfrm>
            <a:off x="7498080" y="1344168"/>
            <a:ext cx="1325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684"/>
                </a:solidFill>
                <a:latin typeface="Malgun Gothic"/>
              </a:rPr>
              <a:t>시퀀스 다이어그램</a:t>
            </a:r>
          </a:p>
        </p:txBody>
      </p:sp>
      <p:sp>
        <p:nvSpPr>
          <p:cNvPr id="518" name="SH Loop Div 2"/>
          <p:cNvSpPr/>
          <p:nvPr/>
        </p:nvSpPr>
        <p:spPr>
          <a:xfrm>
            <a:off x="8823960" y="1088136"/>
            <a:ext cx="9525" cy="356616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9" name="TB Loop Num 2"/>
          <p:cNvSpPr txBox="1"/>
          <p:nvPr/>
        </p:nvSpPr>
        <p:spPr>
          <a:xfrm>
            <a:off x="8823960" y="105156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2F6FE4"/>
                </a:solidFill>
                <a:latin typeface="Malgun Gothic"/>
              </a:rPr>
              <a:t>45개</a:t>
            </a:r>
          </a:p>
        </p:txBody>
      </p:sp>
      <p:sp>
        <p:nvSpPr>
          <p:cNvPr id="520" name="TB Loop Label 2"/>
          <p:cNvSpPr txBox="1"/>
          <p:nvPr/>
        </p:nvSpPr>
        <p:spPr>
          <a:xfrm>
            <a:off x="8823960" y="1344168"/>
            <a:ext cx="1325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684"/>
                </a:solidFill>
                <a:latin typeface="Malgun Gothic"/>
              </a:rPr>
              <a:t>API 엔드포인트</a:t>
            </a:r>
          </a:p>
        </p:txBody>
      </p:sp>
      <p:sp>
        <p:nvSpPr>
          <p:cNvPr id="521" name="SH Loop Div 3"/>
          <p:cNvSpPr/>
          <p:nvPr/>
        </p:nvSpPr>
        <p:spPr>
          <a:xfrm>
            <a:off x="10149840" y="1088136"/>
            <a:ext cx="9525" cy="356616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2" name="TB Loop Num 3"/>
          <p:cNvSpPr txBox="1"/>
          <p:nvPr/>
        </p:nvSpPr>
        <p:spPr>
          <a:xfrm>
            <a:off x="10149840" y="105156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2F6FE4"/>
                </a:solidFill>
                <a:latin typeface="Malgun Gothic"/>
              </a:rPr>
              <a:t>21개</a:t>
            </a:r>
          </a:p>
        </p:txBody>
      </p:sp>
      <p:sp>
        <p:nvSpPr>
          <p:cNvPr id="523" name="TB Loop Label 3"/>
          <p:cNvSpPr txBox="1"/>
          <p:nvPr/>
        </p:nvSpPr>
        <p:spPr>
          <a:xfrm>
            <a:off x="10149840" y="1344168"/>
            <a:ext cx="1325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684"/>
                </a:solidFill>
                <a:latin typeface="Malgun Gothic"/>
              </a:rPr>
              <a:t>DB 테이블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LOOP</a:t>
            </a:r>
            <a:endParaRPr/>
          </a:p>
        </p:txBody>
      </p:sp>
      <p:sp>
        <p:nvSpPr>
          <p:cNvPr id="517" name="Google Shape;517;p12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2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5. 개발 시 각 단계에 대해</a:t>
            </a:r>
            <a:endParaRPr b="1" sz="30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19" name="Google Shape;519;p12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새 기능은 코드가 아니라 기획서 작성 요청으로 시작한다</a:t>
            </a:r>
            <a:endParaRPr b="0" sz="140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20" name="Google Shape;520;p12"/>
          <p:cNvSpPr/>
          <p:nvPr/>
        </p:nvSpPr>
        <p:spPr>
          <a:xfrm>
            <a:off x="685800" y="2148840"/>
            <a:ext cx="3429000" cy="1874519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12"/>
          <p:cNvSpPr txBox="1"/>
          <p:nvPr/>
        </p:nvSpPr>
        <p:spPr>
          <a:xfrm>
            <a:off x="905256" y="2331720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</a:t>
            </a:r>
            <a:endParaRPr/>
          </a:p>
        </p:txBody>
      </p:sp>
      <p:sp>
        <p:nvSpPr>
          <p:cNvPr id="522" name="Google Shape;522;p12"/>
          <p:cNvSpPr txBox="1"/>
          <p:nvPr/>
        </p:nvSpPr>
        <p:spPr>
          <a:xfrm>
            <a:off x="905256" y="2624328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기획서부터 요청</a:t>
            </a:r>
            <a:endParaRPr/>
          </a:p>
        </p:txBody>
      </p:sp>
      <p:sp>
        <p:nvSpPr>
          <p:cNvPr id="523" name="Google Shape;523;p12"/>
          <p:cNvSpPr txBox="1"/>
          <p:nvPr/>
        </p:nvSpPr>
        <p:spPr>
          <a:xfrm>
            <a:off x="905256" y="3017520"/>
            <a:ext cx="3017520" cy="4732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design-doc 스킬을 활용,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기능 구현을 위한 문서를 상세히 작성</a:t>
            </a:r>
            <a:endParaRPr b="0" sz="11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24" name="Google Shape;524;p12"/>
          <p:cNvSpPr/>
          <p:nvPr/>
        </p:nvSpPr>
        <p:spPr>
          <a:xfrm>
            <a:off x="4370832" y="2148840"/>
            <a:ext cx="3429000" cy="1874519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12"/>
          <p:cNvSpPr txBox="1"/>
          <p:nvPr/>
        </p:nvSpPr>
        <p:spPr>
          <a:xfrm>
            <a:off x="4590288" y="2331720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</a:t>
            </a:r>
            <a:endParaRPr/>
          </a:p>
        </p:txBody>
      </p:sp>
      <p:sp>
        <p:nvSpPr>
          <p:cNvPr id="526" name="Google Shape;526;p12"/>
          <p:cNvSpPr txBox="1"/>
          <p:nvPr/>
        </p:nvSpPr>
        <p:spPr>
          <a:xfrm>
            <a:off x="4590288" y="2624328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검토 · 확정</a:t>
            </a:r>
            <a:endParaRPr/>
          </a:p>
        </p:txBody>
      </p:sp>
      <p:sp>
        <p:nvSpPr>
          <p:cNvPr id="527" name="Google Shape;527;p12"/>
          <p:cNvSpPr txBox="1"/>
          <p:nvPr/>
        </p:nvSpPr>
        <p:spPr>
          <a:xfrm>
            <a:off x="4590288" y="3017520"/>
            <a:ext cx="3017520" cy="10103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기획서에서 결정되지 않은 이슈를</a:t>
            </a:r>
            <a:endParaRPr sz="11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별도 항목으로 남겨, 구현을 위해</a:t>
            </a:r>
            <a:endParaRPr b="0" sz="11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확정해야할 사항들을 재검토</a:t>
            </a:r>
            <a:endParaRPr b="0" sz="11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b="0" sz="11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28" name="Google Shape;528;p12"/>
          <p:cNvSpPr/>
          <p:nvPr/>
        </p:nvSpPr>
        <p:spPr>
          <a:xfrm>
            <a:off x="8055864" y="2148840"/>
            <a:ext cx="3429000" cy="1874519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12"/>
          <p:cNvSpPr txBox="1"/>
          <p:nvPr/>
        </p:nvSpPr>
        <p:spPr>
          <a:xfrm>
            <a:off x="8275320" y="2331720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③</a:t>
            </a:r>
            <a:endParaRPr/>
          </a:p>
        </p:txBody>
      </p:sp>
      <p:sp>
        <p:nvSpPr>
          <p:cNvPr id="530" name="Google Shape;530;p12"/>
          <p:cNvSpPr txBox="1"/>
          <p:nvPr/>
        </p:nvSpPr>
        <p:spPr>
          <a:xfrm>
            <a:off x="8275320" y="2624328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문서대로 구현</a:t>
            </a:r>
            <a:endParaRPr/>
          </a:p>
        </p:txBody>
      </p:sp>
      <p:sp>
        <p:nvSpPr>
          <p:cNvPr id="531" name="Google Shape;531;p12"/>
          <p:cNvSpPr txBox="1"/>
          <p:nvPr/>
        </p:nvSpPr>
        <p:spPr>
          <a:xfrm>
            <a:off x="8275320" y="3017520"/>
            <a:ext cx="3017520" cy="4732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"기획서 5.2를 구현해줘"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=&gt; 기획서 확정 후, 그대로 구현을 진행</a:t>
            </a:r>
            <a:endParaRPr b="0" sz="11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32" name="Google Shape;532;p12"/>
          <p:cNvSpPr/>
          <p:nvPr/>
        </p:nvSpPr>
        <p:spPr>
          <a:xfrm>
            <a:off x="685800" y="4251960"/>
            <a:ext cx="3429000" cy="1874519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12"/>
          <p:cNvSpPr txBox="1"/>
          <p:nvPr/>
        </p:nvSpPr>
        <p:spPr>
          <a:xfrm>
            <a:off x="905256" y="4434840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④</a:t>
            </a:r>
            <a:endParaRPr/>
          </a:p>
        </p:txBody>
      </p:sp>
      <p:sp>
        <p:nvSpPr>
          <p:cNvPr id="534" name="Google Shape;534;p12"/>
          <p:cNvSpPr txBox="1"/>
          <p:nvPr/>
        </p:nvSpPr>
        <p:spPr>
          <a:xfrm>
            <a:off x="905256" y="4727448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빌드 + 실서버 검증</a:t>
            </a:r>
            <a:endParaRPr/>
          </a:p>
        </p:txBody>
      </p:sp>
      <p:sp>
        <p:nvSpPr>
          <p:cNvPr id="535" name="Google Shape;535;p12"/>
          <p:cNvSpPr txBox="1"/>
          <p:nvPr/>
        </p:nvSpPr>
        <p:spPr>
          <a:xfrm>
            <a:off x="905256" y="5120640"/>
            <a:ext cx="3017520" cy="4347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빌드 후 서버를 띄우고 API를 호출,</a:t>
            </a:r>
            <a:b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정상동작까지 확인</a:t>
            </a:r>
            <a:endParaRPr b="0" sz="11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36" name="Google Shape;536;p12"/>
          <p:cNvSpPr/>
          <p:nvPr/>
        </p:nvSpPr>
        <p:spPr>
          <a:xfrm>
            <a:off x="4370832" y="4251960"/>
            <a:ext cx="3429000" cy="1874519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12"/>
          <p:cNvSpPr txBox="1"/>
          <p:nvPr/>
        </p:nvSpPr>
        <p:spPr>
          <a:xfrm>
            <a:off x="4590288" y="4434840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⑤</a:t>
            </a:r>
            <a:endParaRPr/>
          </a:p>
        </p:txBody>
      </p:sp>
      <p:sp>
        <p:nvSpPr>
          <p:cNvPr id="538" name="Google Shape;538;p12"/>
          <p:cNvSpPr txBox="1"/>
          <p:nvPr/>
        </p:nvSpPr>
        <p:spPr>
          <a:xfrm>
            <a:off x="4590288" y="4727448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 동기화</a:t>
            </a:r>
            <a:endParaRPr/>
          </a:p>
        </p:txBody>
      </p:sp>
      <p:sp>
        <p:nvSpPr>
          <p:cNvPr id="539" name="Google Shape;539;p12"/>
          <p:cNvSpPr txBox="1"/>
          <p:nvPr/>
        </p:nvSpPr>
        <p:spPr>
          <a:xfrm>
            <a:off x="4590288" y="5120640"/>
            <a:ext cx="3017520" cy="4732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변경 사항에 대해 관련이 있는 문서는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정합성을 확인하여 동기화</a:t>
            </a:r>
            <a:endParaRPr/>
          </a:p>
        </p:txBody>
      </p:sp>
      <p:sp>
        <p:nvSpPr>
          <p:cNvPr id="540" name="Google Shape;540;p12"/>
          <p:cNvSpPr/>
          <p:nvPr/>
        </p:nvSpPr>
        <p:spPr>
          <a:xfrm>
            <a:off x="8055864" y="4251960"/>
            <a:ext cx="3429000" cy="1874519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12"/>
          <p:cNvSpPr txBox="1"/>
          <p:nvPr/>
        </p:nvSpPr>
        <p:spPr>
          <a:xfrm>
            <a:off x="8275320" y="4434840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⑥</a:t>
            </a:r>
            <a:endParaRPr/>
          </a:p>
        </p:txBody>
      </p:sp>
      <p:sp>
        <p:nvSpPr>
          <p:cNvPr id="542" name="Google Shape;542;p12"/>
          <p:cNvSpPr txBox="1"/>
          <p:nvPr/>
        </p:nvSpPr>
        <p:spPr>
          <a:xfrm>
            <a:off x="8275320" y="4727448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현황판 갱신</a:t>
            </a:r>
            <a:endParaRPr/>
          </a:p>
        </p:txBody>
      </p:sp>
      <p:sp>
        <p:nvSpPr>
          <p:cNvPr id="543" name="Google Shape;543;p12"/>
          <p:cNvSpPr txBox="1"/>
          <p:nvPr/>
        </p:nvSpPr>
        <p:spPr>
          <a:xfrm>
            <a:off x="8275320" y="5120640"/>
            <a:ext cx="3017520" cy="2047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README 체크리스트 </a:t>
            </a:r>
            <a:r>
              <a:rPr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최신화</a:t>
            </a:r>
            <a:endParaRPr b="0" sz="11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44" name="Google Shape;544;p12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r>
            <a:endParaRPr/>
          </a:p>
        </p:txBody>
      </p:sp>
      <p:pic>
        <p:nvPicPr>
          <p:cNvPr id="545" name="Google Shape;545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9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1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LOOP ①②</a:t>
            </a:r>
            <a:endParaRPr/>
          </a:p>
        </p:txBody>
      </p:sp>
      <p:sp>
        <p:nvSpPr>
          <p:cNvPr id="552" name="Google Shape;552;p1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13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5.1  ① 기획서부터 요청한다</a:t>
            </a:r>
            <a:endParaRPr/>
          </a:p>
        </p:txBody>
      </p:sp>
      <p:sp>
        <p:nvSpPr>
          <p:cNvPr id="554" name="Google Shape;554;p13"/>
          <p:cNvSpPr txBox="1"/>
          <p:nvPr/>
        </p:nvSpPr>
        <p:spPr>
          <a:xfrm>
            <a:off x="685800" y="1536192"/>
            <a:ext cx="10881360" cy="2411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docs/세부/&lt;기능명&gt;-기획서.md — design-doc </a:t>
            </a:r>
            <a:r>
              <a:rPr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문서작성 </a:t>
            </a:r>
            <a:r>
              <a:rPr b="0"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커스텀 스킬</a:t>
            </a:r>
            <a:endParaRPr b="0" sz="140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55" name="Google Shape;555;p13"/>
          <p:cNvSpPr/>
          <p:nvPr/>
        </p:nvSpPr>
        <p:spPr>
          <a:xfrm>
            <a:off x="685800" y="2103120"/>
            <a:ext cx="10789920" cy="914400"/>
          </a:xfrm>
          <a:prstGeom prst="roundRect">
            <a:avLst>
              <a:gd fmla="val 4000" name="adj"/>
            </a:avLst>
          </a:prstGeom>
          <a:solidFill>
            <a:srgbClr val="12203A"/>
          </a:solidFill>
          <a:ln>
            <a:noFill/>
          </a:ln>
        </p:spPr>
        <p:txBody>
          <a:bodyPr anchorCtr="0" anchor="ctr" bIns="45700" lIns="274300" spcFirstLastPara="1" rIns="182875" wrap="square" tIns="4570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E6ECF5"/>
                </a:solidFill>
                <a:latin typeface="Consolas"/>
                <a:ea typeface="Consolas"/>
                <a:cs typeface="Consolas"/>
                <a:sym typeface="Consolas"/>
              </a:rPr>
              <a:t>고정 목차 :  개요 · 기능 설명 · 요구사항 · 데이터 모델 · API 명세 · 처리 흐름 · 에러 코드 · 미결 사항 · 참고</a:t>
            </a:r>
            <a:endParaRPr sz="1400">
              <a:solidFill>
                <a:srgbClr val="E6ECF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56" name="Google Shape;556;p13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r>
            <a:endParaRPr/>
          </a:p>
        </p:txBody>
      </p:sp>
      <p:pic>
        <p:nvPicPr>
          <p:cNvPr id="557" name="Google Shape;557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558" name="Google Shape;558;p13"/>
          <p:cNvSpPr txBox="1"/>
          <p:nvPr/>
        </p:nvSpPr>
        <p:spPr>
          <a:xfrm>
            <a:off x="685800" y="3337560"/>
            <a:ext cx="10789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중요하게 지킨 것은 구현의 근거를 문서로 남기는 것</a:t>
            </a:r>
            <a:endParaRPr/>
          </a:p>
        </p:txBody>
      </p:sp>
      <p:sp>
        <p:nvSpPr>
          <p:cNvPr id="559" name="Google Shape;559;p13"/>
          <p:cNvSpPr/>
          <p:nvPr/>
        </p:nvSpPr>
        <p:spPr>
          <a:xfrm>
            <a:off x="685800" y="3794760"/>
            <a:ext cx="5097780" cy="82296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182875" spcFirstLastPara="1" rIns="182875" wrap="square" tIns="91425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"그때 이걸 왜 이렇게 구현했지?"</a:t>
            </a:r>
            <a:endParaRPr/>
          </a:p>
        </p:txBody>
      </p:sp>
      <p:sp>
        <p:nvSpPr>
          <p:cNvPr id="560" name="Google Shape;560;p13"/>
          <p:cNvSpPr txBox="1"/>
          <p:nvPr/>
        </p:nvSpPr>
        <p:spPr>
          <a:xfrm>
            <a:off x="5783580" y="4023360"/>
            <a:ext cx="594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/>
          </a:p>
        </p:txBody>
      </p:sp>
      <p:sp>
        <p:nvSpPr>
          <p:cNvPr id="561" name="Google Shape;561;p13"/>
          <p:cNvSpPr/>
          <p:nvPr/>
        </p:nvSpPr>
        <p:spPr>
          <a:xfrm>
            <a:off x="6377940" y="3794760"/>
            <a:ext cx="5097780" cy="822960"/>
          </a:xfrm>
          <a:prstGeom prst="roundRect">
            <a:avLst>
              <a:gd fmla="val 6000" name="adj"/>
            </a:avLst>
          </a:prstGeom>
          <a:solidFill>
            <a:srgbClr val="12203A"/>
          </a:solidFill>
          <a:ln>
            <a:noFill/>
          </a:ln>
        </p:spPr>
        <p:txBody>
          <a:bodyPr anchorCtr="0" anchor="ctr" bIns="91425" lIns="182875" spcFirstLastPara="1" rIns="182875" wrap="square" tIns="91425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문서를 확인한다.</a:t>
            </a:r>
            <a:endParaRPr/>
          </a:p>
        </p:txBody>
      </p:sp>
      <p:sp>
        <p:nvSpPr>
          <p:cNvPr id="562" name="Google Shape;562;p13"/>
          <p:cNvSpPr/>
          <p:nvPr/>
        </p:nvSpPr>
        <p:spPr>
          <a:xfrm>
            <a:off x="685800" y="4892040"/>
            <a:ext cx="10789920" cy="123444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137150" lIns="411475" spcFirstLastPara="1" rIns="411475" wrap="square" tIns="13715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 — 소모품(부스터) 기획서</a:t>
            </a:r>
            <a:endParaRPr/>
          </a:p>
          <a:p>
            <a:pPr indent="0" lvl="0" marL="0" marR="0" rtl="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"버프는 스테이지 클리어 보상에만 적용된다(확정)"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근거 : </a:t>
            </a: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부스터는 접속해서 직접 스테이지를 도는 플레이를 보상하는 소모품이고, 오프라인 보상은 이미 효율 50% · 12시간 상한으로 조정된 소급 지급이라 그 위에 배율을 얹지 않는다.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7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14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LOOP ③</a:t>
            </a:r>
            <a:endParaRPr/>
          </a:p>
        </p:txBody>
      </p:sp>
      <p:sp>
        <p:nvSpPr>
          <p:cNvPr id="570" name="Google Shape;570;p14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1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5.2  ③ 문서대로 구현을 요청한다</a:t>
            </a:r>
            <a:endParaRPr b="1" sz="30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72" name="Google Shape;572;p14"/>
          <p:cNvSpPr txBox="1"/>
          <p:nvPr/>
        </p:nvSpPr>
        <p:spPr>
          <a:xfrm>
            <a:off x="685800" y="1536192"/>
            <a:ext cx="6566483" cy="2411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 문서와 별개로 코드 작성시 지켜야할 공통 규칙은 CLAUDE.md</a:t>
            </a:r>
            <a:r>
              <a:rPr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에 명시한다.</a:t>
            </a:r>
            <a:endParaRPr b="0" sz="140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73" name="Google Shape;573;p14"/>
          <p:cNvSpPr/>
          <p:nvPr/>
        </p:nvSpPr>
        <p:spPr>
          <a:xfrm>
            <a:off x="685800" y="2194560"/>
            <a:ext cx="10789920" cy="6583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14"/>
          <p:cNvSpPr/>
          <p:nvPr/>
        </p:nvSpPr>
        <p:spPr>
          <a:xfrm>
            <a:off x="914400" y="2414016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14"/>
          <p:cNvSpPr txBox="1"/>
          <p:nvPr/>
        </p:nvSpPr>
        <p:spPr>
          <a:xfrm>
            <a:off x="1325880" y="2368296"/>
            <a:ext cx="9966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컨트롤러에는 HTTP 액션 메서드만 두고, 공통 보조는 GameApiControllerBase에 상속으로</a:t>
            </a:r>
            <a:endParaRPr/>
          </a:p>
        </p:txBody>
      </p:sp>
      <p:sp>
        <p:nvSpPr>
          <p:cNvPr id="576" name="Google Shape;576;p14"/>
          <p:cNvSpPr/>
          <p:nvPr/>
        </p:nvSpPr>
        <p:spPr>
          <a:xfrm>
            <a:off x="685800" y="2999232"/>
            <a:ext cx="10789920" cy="6583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14"/>
          <p:cNvSpPr/>
          <p:nvPr/>
        </p:nvSpPr>
        <p:spPr>
          <a:xfrm>
            <a:off x="914400" y="3218688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14"/>
          <p:cNvSpPr txBox="1"/>
          <p:nvPr/>
        </p:nvSpPr>
        <p:spPr>
          <a:xfrm>
            <a:off x="1325880" y="3172968"/>
            <a:ext cx="9966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서비스 클래스의 모든 메서드에 /// &lt;summary&gt; 주석 필수</a:t>
            </a:r>
            <a:endParaRPr/>
          </a:p>
        </p:txBody>
      </p:sp>
      <p:sp>
        <p:nvSpPr>
          <p:cNvPr id="579" name="Google Shape;579;p14"/>
          <p:cNvSpPr/>
          <p:nvPr/>
        </p:nvSpPr>
        <p:spPr>
          <a:xfrm>
            <a:off x="685800" y="3803904"/>
            <a:ext cx="10789920" cy="6583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14"/>
          <p:cNvSpPr/>
          <p:nvPr/>
        </p:nvSpPr>
        <p:spPr>
          <a:xfrm>
            <a:off x="914400" y="4023360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14"/>
          <p:cNvSpPr txBox="1"/>
          <p:nvPr/>
        </p:nvSpPr>
        <p:spPr>
          <a:xfrm>
            <a:off x="1325880" y="3977640"/>
            <a:ext cx="9966960" cy="258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DB 결과는 dynamic 금지 </a:t>
            </a:r>
            <a:r>
              <a:rPr lang="en-US" sz="15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=&gt; </a:t>
            </a:r>
            <a:r>
              <a:rPr b="0" lang="en-US" sz="15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스칼라 제네릭 매핑만</a:t>
            </a:r>
            <a:endParaRPr b="0" sz="15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82" name="Google Shape;582;p14"/>
          <p:cNvSpPr/>
          <p:nvPr/>
        </p:nvSpPr>
        <p:spPr>
          <a:xfrm>
            <a:off x="685800" y="4608576"/>
            <a:ext cx="10789920" cy="6583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14"/>
          <p:cNvSpPr/>
          <p:nvPr/>
        </p:nvSpPr>
        <p:spPr>
          <a:xfrm>
            <a:off x="914400" y="4828032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" name="Google Shape;584;p14"/>
          <p:cNvSpPr txBox="1"/>
          <p:nvPr/>
        </p:nvSpPr>
        <p:spPr>
          <a:xfrm>
            <a:off x="1325880" y="4782312"/>
            <a:ext cx="9966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재화 · 아이템 변경은 단일 트랜잭션, 서버 권위(클라이언트 보고 불신)</a:t>
            </a:r>
            <a:endParaRPr/>
          </a:p>
        </p:txBody>
      </p:sp>
      <p:sp>
        <p:nvSpPr>
          <p:cNvPr id="585" name="Google Shape;585;p14"/>
          <p:cNvSpPr txBox="1"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구현 요청은 "기획서 5.2를 구현해줘" 같은 형태였다.</a:t>
            </a:r>
            <a:endParaRPr/>
          </a:p>
        </p:txBody>
      </p:sp>
      <p:sp>
        <p:nvSpPr>
          <p:cNvPr id="586" name="Google Shape;586;p14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13</a:t>
            </a:r>
            <a:endParaRPr/>
          </a:p>
        </p:txBody>
      </p:sp>
      <p:pic>
        <p:nvPicPr>
          <p:cNvPr id="587" name="Google Shape;587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15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LOOP ④</a:t>
            </a:r>
            <a:endParaRPr/>
          </a:p>
        </p:txBody>
      </p:sp>
      <p:sp>
        <p:nvSpPr>
          <p:cNvPr id="594" name="Google Shape;594;p15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5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5.3  ④ 빌드 + 실서버 검증</a:t>
            </a:r>
            <a:endParaRPr/>
          </a:p>
        </p:txBody>
      </p:sp>
      <p:sp>
        <p:nvSpPr>
          <p:cNvPr id="596" name="Google Shape;596;p1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구현 후 빌드와 실제 동작 검증을 거쳐야 완료로 인정했다</a:t>
            </a:r>
            <a:endParaRPr/>
          </a:p>
        </p:txBody>
      </p:sp>
      <p:sp>
        <p:nvSpPr>
          <p:cNvPr id="597" name="Google Shape;597;p15"/>
          <p:cNvSpPr/>
          <p:nvPr/>
        </p:nvSpPr>
        <p:spPr>
          <a:xfrm>
            <a:off x="685800" y="2148840"/>
            <a:ext cx="10789920" cy="1005840"/>
          </a:xfrm>
          <a:prstGeom prst="roundRect">
            <a:avLst>
              <a:gd fmla="val 4000" name="adj"/>
            </a:avLst>
          </a:prstGeom>
          <a:solidFill>
            <a:srgbClr val="12203A"/>
          </a:solidFill>
          <a:ln>
            <a:noFill/>
          </a:ln>
        </p:spPr>
        <p:txBody>
          <a:bodyPr anchorCtr="0" anchor="ctr" bIns="45700" lIns="274300" spcFirstLastPara="1" rIns="182875" wrap="square" tIns="4570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E6ECF5"/>
                </a:solidFill>
                <a:latin typeface="Consolas"/>
                <a:ea typeface="Consolas"/>
                <a:cs typeface="Consolas"/>
                <a:sym typeface="Consolas"/>
              </a:rPr>
              <a:t>dotnet build  →  서버 실행  →  기능 테스트  →  결과 확인</a:t>
            </a:r>
            <a:endParaRPr sz="1200">
              <a:solidFill>
                <a:srgbClr val="E6ECF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98" name="Google Shape;598;p15"/>
          <p:cNvSpPr/>
          <p:nvPr/>
        </p:nvSpPr>
        <p:spPr>
          <a:xfrm>
            <a:off x="685800" y="3429000"/>
            <a:ext cx="5257800" cy="173736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5"/>
          <p:cNvSpPr txBox="1"/>
          <p:nvPr/>
        </p:nvSpPr>
        <p:spPr>
          <a:xfrm>
            <a:off x="905256" y="3611880"/>
            <a:ext cx="4892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규칙</a:t>
            </a:r>
            <a:endParaRPr/>
          </a:p>
        </p:txBody>
      </p:sp>
      <p:sp>
        <p:nvSpPr>
          <p:cNvPr id="600" name="Google Shape;600;p15"/>
          <p:cNvSpPr txBox="1"/>
          <p:nvPr/>
        </p:nvSpPr>
        <p:spPr>
          <a:xfrm>
            <a:off x="905256" y="3904488"/>
            <a:ext cx="4846320" cy="258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서버는 기능 구현 후 필수적으로 빌드 + 테스트 진행</a:t>
            </a:r>
            <a:endParaRPr b="1" sz="15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01" name="Google Shape;601;p15"/>
          <p:cNvSpPr txBox="1"/>
          <p:nvPr/>
        </p:nvSpPr>
        <p:spPr>
          <a:xfrm>
            <a:off x="905256" y="4297680"/>
            <a:ext cx="4846320" cy="2047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기능이 기획서에 맞게 구현이 되었는 지 확인</a:t>
            </a:r>
            <a:endParaRPr/>
          </a:p>
        </p:txBody>
      </p:sp>
      <p:sp>
        <p:nvSpPr>
          <p:cNvPr id="602" name="Google Shape;602;p15"/>
          <p:cNvSpPr/>
          <p:nvPr/>
        </p:nvSpPr>
        <p:spPr>
          <a:xfrm>
            <a:off x="6217920" y="3429000"/>
            <a:ext cx="5257800" cy="173736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15"/>
          <p:cNvSpPr txBox="1"/>
          <p:nvPr/>
        </p:nvSpPr>
        <p:spPr>
          <a:xfrm>
            <a:off x="6437376" y="3611880"/>
            <a:ext cx="4892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검증</a:t>
            </a:r>
            <a:endParaRPr/>
          </a:p>
        </p:txBody>
      </p:sp>
      <p:sp>
        <p:nvSpPr>
          <p:cNvPr id="604" name="Google Shape;604;p15"/>
          <p:cNvSpPr txBox="1"/>
          <p:nvPr/>
        </p:nvSpPr>
        <p:spPr>
          <a:xfrm>
            <a:off x="6437376" y="390448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저장소에 붙여 검증한다</a:t>
            </a:r>
            <a:endParaRPr/>
          </a:p>
        </p:txBody>
      </p:sp>
      <p:sp>
        <p:nvSpPr>
          <p:cNvPr id="605" name="Google Shape;605;p15"/>
          <p:cNvSpPr txBox="1"/>
          <p:nvPr/>
        </p:nvSpPr>
        <p:spPr>
          <a:xfrm>
            <a:off x="6437376" y="4297680"/>
            <a:ext cx="48463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실제 MySQL · Redis에 붙여 API를 호출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결과를 DB에서 직접 대조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테스트로 만든 데이터는 되돌린다</a:t>
            </a:r>
            <a:endParaRPr/>
          </a:p>
        </p:txBody>
      </p:sp>
      <p:sp>
        <p:nvSpPr>
          <p:cNvPr id="606" name="Google Shape;606;p1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14</a:t>
            </a:r>
            <a:endParaRPr/>
          </a:p>
        </p:txBody>
      </p:sp>
      <p:pic>
        <p:nvPicPr>
          <p:cNvPr id="607" name="Google Shape;60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6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LOOP ⑤</a:t>
            </a:r>
            <a:endParaRPr/>
          </a:p>
        </p:txBody>
      </p:sp>
      <p:sp>
        <p:nvSpPr>
          <p:cNvPr id="614" name="Google Shape;614;p16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6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5.4  ⑤ 문서 동기화 — 이 프로세스의 핵심</a:t>
            </a:r>
            <a:endParaRPr b="1" sz="30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16" name="Google Shape;616;p16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세부 기획서가 정본, 아래 넷은 기획서를 가로질러 모은 집약 참조본</a:t>
            </a:r>
            <a:endParaRPr/>
          </a:p>
        </p:txBody>
      </p:sp>
      <p:graphicFrame>
        <p:nvGraphicFramePr>
          <p:cNvPr id="617" name="Google Shape;617;p16"/>
          <p:cNvGraphicFramePr/>
          <p:nvPr/>
        </p:nvGraphicFramePr>
        <p:xfrm>
          <a:off x="685800" y="1837944"/>
          <a:ext cx="3000000" cy="3000000"/>
        </p:xfrm>
        <a:graphic>
          <a:graphicData uri="http://schemas.openxmlformats.org/drawingml/2006/table">
            <a:tbl>
              <a:tblPr firstRow="1">
                <a:noFill/>
                <a:tableStyleId>{0920BB19-57F9-4C89-9F9F-E896671911AF}</a:tableStyleId>
              </a:tblPr>
              <a:tblGrid>
                <a:gridCol w="3931925"/>
                <a:gridCol w="6858000"/>
              </a:tblGrid>
              <a:tr h="384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무엇이 바뀌면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갱신할 문서</a:t>
                      </a:r>
                      <a:endParaRPr b="1" sz="1300" u="none" cap="none" strike="noStrike">
                        <a:solidFill>
                          <a:srgbClr val="FFFFF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36575" marB="36575" marR="73150" marL="100575" anchor="ctr">
                    <a:solidFill>
                      <a:srgbClr val="12203A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엔드포인트 · 요청/응답 필드</a:t>
                      </a:r>
                      <a:endParaRPr b="0" sz="1350" u="none" cap="none" strike="noStrik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docs/공통/api-통합.md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DB 테이블 · 컬럼 · 마스터 데이터</a:t>
                      </a:r>
                      <a:endParaRPr b="0" sz="1350" u="none" cap="none" strike="noStrik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36575" marB="36575" marR="73150" marL="100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docs/공통/db-erd-통합.md  ( + db-schema.sql )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EEF2F9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에러 코드</a:t>
                      </a:r>
                      <a:endParaRPr b="0" sz="1350" u="none" cap="none" strike="noStrik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docs/공통/error-code-정의.md  +  TaskbarHero.Common/ErrorCode.cs</a:t>
                      </a:r>
                      <a:endParaRPr b="0" sz="1350" u="none" cap="none" strike="noStrik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처리 흐름</a:t>
                      </a:r>
                      <a:endParaRPr b="0" sz="1350" u="none" cap="none" strike="noStrik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36575" marB="36575" marR="73150" marL="100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SequenceDiagram/README.md  (기능별 Mermaid 시퀀스)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  <p:sp>
        <p:nvSpPr>
          <p:cNvPr id="618" name="Google Shape;618;p16"/>
          <p:cNvSpPr/>
          <p:nvPr/>
        </p:nvSpPr>
        <p:spPr>
          <a:xfrm>
            <a:off x="685800" y="4353341"/>
            <a:ext cx="10789920" cy="1694157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6"/>
          <p:cNvSpPr txBox="1"/>
          <p:nvPr/>
        </p:nvSpPr>
        <p:spPr>
          <a:xfrm>
            <a:off x="1005840" y="4581941"/>
            <a:ext cx="10149840" cy="11792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정합성 체크는 양방향으로 한다</a:t>
            </a:r>
            <a:endParaRPr b="1" sz="1600">
              <a:solidFill>
                <a:srgbClr val="2F6FE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기획서 → 통합 문서(빠진 항목 추가)  ·  통합 문서 → 기획서(폐기된 항목이 남아 있지 않은지)</a:t>
            </a:r>
            <a:endParaRPr/>
          </a:p>
          <a:p>
            <a:pPr indent="0" lvl="0" marL="0" marR="0" rtl="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경로나 이름을 바꿨으면 옛 문자열이 문서 어디에도 남지 않았는지 grep으로 확인한다.</a:t>
            </a:r>
            <a:endParaRPr b="0" sz="130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문서의 정합성 확인은 CLAUDE.MD 에 명시되어 있다.</a:t>
            </a:r>
            <a:endParaRPr b="0" sz="130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20" name="Google Shape;620;p16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15</a:t>
            </a:r>
            <a:endParaRPr/>
          </a:p>
        </p:txBody>
      </p:sp>
      <p:pic>
        <p:nvPicPr>
          <p:cNvPr id="621" name="Google Shape;621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17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DOCS</a:t>
            </a:r>
            <a:endParaRPr/>
          </a:p>
        </p:txBody>
      </p:sp>
      <p:sp>
        <p:nvSpPr>
          <p:cNvPr id="628" name="Google Shape;628;p17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" name="Google Shape;629;p17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6. 문서 체계</a:t>
            </a:r>
            <a:endParaRPr/>
          </a:p>
        </p:txBody>
      </p:sp>
      <p:sp>
        <p:nvSpPr>
          <p:cNvPr id="630" name="Google Shape;630;p17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정본은 언제나 docs/세부/ — 충돌하면 세부 기획서를 따른다</a:t>
            </a:r>
            <a:endParaRPr/>
          </a:p>
        </p:txBody>
      </p:sp>
      <p:sp>
        <p:nvSpPr>
          <p:cNvPr id="631" name="Google Shape;631;p1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16</a:t>
            </a:r>
            <a:endParaRPr/>
          </a:p>
        </p:txBody>
      </p:sp>
      <p:pic>
        <p:nvPicPr>
          <p:cNvPr id="632" name="Google Shape;63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633" name="Google Shape;633;p17"/>
          <p:cNvSpPr/>
          <p:nvPr/>
        </p:nvSpPr>
        <p:spPr>
          <a:xfrm>
            <a:off x="685800" y="2103120"/>
            <a:ext cx="6400800" cy="4023360"/>
          </a:xfrm>
          <a:prstGeom prst="roundRect">
            <a:avLst>
              <a:gd fmla="val 4000" name="adj"/>
            </a:avLst>
          </a:prstGeom>
          <a:solidFill>
            <a:srgbClr val="12203A"/>
          </a:solidFill>
          <a:ln>
            <a:noFill/>
          </a:ln>
        </p:spPr>
        <p:txBody>
          <a:bodyPr anchorCtr="0" anchor="ctr" bIns="91425" lIns="182875" spcFirstLastPara="1" rIns="18287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17"/>
          <p:cNvSpPr/>
          <p:nvPr/>
        </p:nvSpPr>
        <p:spPr>
          <a:xfrm>
            <a:off x="1234440" y="2606040"/>
            <a:ext cx="12700" cy="267462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17"/>
          <p:cNvSpPr/>
          <p:nvPr/>
        </p:nvSpPr>
        <p:spPr>
          <a:xfrm>
            <a:off x="1234440" y="27660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17"/>
          <p:cNvSpPr/>
          <p:nvPr/>
        </p:nvSpPr>
        <p:spPr>
          <a:xfrm>
            <a:off x="1234440" y="29946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17"/>
          <p:cNvSpPr/>
          <p:nvPr/>
        </p:nvSpPr>
        <p:spPr>
          <a:xfrm>
            <a:off x="1234440" y="32232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" name="Google Shape;638;p17"/>
          <p:cNvSpPr/>
          <p:nvPr/>
        </p:nvSpPr>
        <p:spPr>
          <a:xfrm>
            <a:off x="1234440" y="34518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" name="Google Shape;639;p17"/>
          <p:cNvSpPr/>
          <p:nvPr/>
        </p:nvSpPr>
        <p:spPr>
          <a:xfrm>
            <a:off x="1234440" y="45948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17"/>
          <p:cNvSpPr/>
          <p:nvPr/>
        </p:nvSpPr>
        <p:spPr>
          <a:xfrm>
            <a:off x="1234440" y="52806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" name="Google Shape;641;p17"/>
          <p:cNvSpPr/>
          <p:nvPr/>
        </p:nvSpPr>
        <p:spPr>
          <a:xfrm>
            <a:off x="1554480" y="3520440"/>
            <a:ext cx="12700" cy="84582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17"/>
          <p:cNvSpPr/>
          <p:nvPr/>
        </p:nvSpPr>
        <p:spPr>
          <a:xfrm>
            <a:off x="1554480" y="36804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" name="Google Shape;643;p17"/>
          <p:cNvSpPr/>
          <p:nvPr/>
        </p:nvSpPr>
        <p:spPr>
          <a:xfrm>
            <a:off x="1554480" y="39090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" name="Google Shape;644;p17"/>
          <p:cNvSpPr/>
          <p:nvPr/>
        </p:nvSpPr>
        <p:spPr>
          <a:xfrm>
            <a:off x="1554480" y="41376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17"/>
          <p:cNvSpPr/>
          <p:nvPr/>
        </p:nvSpPr>
        <p:spPr>
          <a:xfrm>
            <a:off x="1554480" y="43662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" name="Google Shape;646;p17"/>
          <p:cNvSpPr/>
          <p:nvPr/>
        </p:nvSpPr>
        <p:spPr>
          <a:xfrm>
            <a:off x="1554480" y="4663440"/>
            <a:ext cx="12700" cy="38862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" name="Google Shape;647;p17"/>
          <p:cNvSpPr/>
          <p:nvPr/>
        </p:nvSpPr>
        <p:spPr>
          <a:xfrm>
            <a:off x="1554480" y="48234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" name="Google Shape;648;p17"/>
          <p:cNvSpPr/>
          <p:nvPr/>
        </p:nvSpPr>
        <p:spPr>
          <a:xfrm>
            <a:off x="1554480" y="50520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" name="Google Shape;649;p17"/>
          <p:cNvSpPr txBox="1"/>
          <p:nvPr/>
        </p:nvSpPr>
        <p:spPr>
          <a:xfrm>
            <a:off x="1097280" y="2423160"/>
            <a:ext cx="5806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E6ECF5"/>
                </a:solidFill>
                <a:latin typeface="Consolas"/>
                <a:ea typeface="Consolas"/>
                <a:cs typeface="Consolas"/>
                <a:sym typeface="Consolas"/>
              </a:rPr>
              <a:t>docs/</a:t>
            </a:r>
            <a:endParaRPr/>
          </a:p>
        </p:txBody>
      </p:sp>
      <p:sp>
        <p:nvSpPr>
          <p:cNvPr id="650" name="Google Shape;650;p17"/>
          <p:cNvSpPr txBox="1"/>
          <p:nvPr/>
        </p:nvSpPr>
        <p:spPr>
          <a:xfrm>
            <a:off x="1417320" y="2651760"/>
            <a:ext cx="3063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6ECF5"/>
                </a:solidFill>
                <a:latin typeface="Consolas"/>
                <a:ea typeface="Consolas"/>
                <a:cs typeface="Consolas"/>
                <a:sym typeface="Consolas"/>
              </a:rPr>
              <a:t>서버-시스템-전체-개요.md</a:t>
            </a:r>
            <a:endParaRPr/>
          </a:p>
        </p:txBody>
      </p:sp>
      <p:sp>
        <p:nvSpPr>
          <p:cNvPr id="651" name="Google Shape;651;p17"/>
          <p:cNvSpPr txBox="1"/>
          <p:nvPr/>
        </p:nvSpPr>
        <p:spPr>
          <a:xfrm>
            <a:off x="4572000" y="2651760"/>
            <a:ext cx="2331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9FB0C6"/>
                </a:solidFill>
                <a:latin typeface="Malgun Gothic"/>
                <a:ea typeface="Malgun Gothic"/>
                <a:cs typeface="Malgun Gothic"/>
                <a:sym typeface="Malgun Gothic"/>
              </a:rPr>
              <a:t># 최상위 진입 문서</a:t>
            </a:r>
            <a:endParaRPr/>
          </a:p>
        </p:txBody>
      </p:sp>
      <p:sp>
        <p:nvSpPr>
          <p:cNvPr id="652" name="Google Shape;652;p17"/>
          <p:cNvSpPr txBox="1"/>
          <p:nvPr/>
        </p:nvSpPr>
        <p:spPr>
          <a:xfrm>
            <a:off x="1417320" y="2880360"/>
            <a:ext cx="3063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6ECF5"/>
                </a:solidFill>
                <a:latin typeface="Consolas"/>
                <a:ea typeface="Consolas"/>
                <a:cs typeface="Consolas"/>
                <a:sym typeface="Consolas"/>
              </a:rPr>
              <a:t>서버-개발-계획.md</a:t>
            </a:r>
            <a:endParaRPr/>
          </a:p>
        </p:txBody>
      </p:sp>
      <p:sp>
        <p:nvSpPr>
          <p:cNvPr id="653" name="Google Shape;653;p17"/>
          <p:cNvSpPr txBox="1"/>
          <p:nvPr/>
        </p:nvSpPr>
        <p:spPr>
          <a:xfrm>
            <a:off x="4572000" y="2880360"/>
            <a:ext cx="2331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9FB0C6"/>
                </a:solidFill>
                <a:latin typeface="Malgun Gothic"/>
                <a:ea typeface="Malgun Gothic"/>
                <a:cs typeface="Malgun Gothic"/>
                <a:sym typeface="Malgun Gothic"/>
              </a:rPr>
              <a:t># 개발 순서 · 일정</a:t>
            </a:r>
            <a:endParaRPr/>
          </a:p>
        </p:txBody>
      </p:sp>
      <p:sp>
        <p:nvSpPr>
          <p:cNvPr id="654" name="Google Shape;654;p17"/>
          <p:cNvSpPr txBox="1"/>
          <p:nvPr/>
        </p:nvSpPr>
        <p:spPr>
          <a:xfrm>
            <a:off x="1417320" y="3108960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6ECF5"/>
                </a:solidFill>
                <a:latin typeface="Consolas"/>
                <a:ea typeface="Consolas"/>
                <a:cs typeface="Consolas"/>
                <a:sym typeface="Consolas"/>
              </a:rPr>
              <a:t>com2us-taskbar-hero-개발환경.md</a:t>
            </a:r>
            <a:endParaRPr/>
          </a:p>
        </p:txBody>
      </p:sp>
      <p:sp>
        <p:nvSpPr>
          <p:cNvPr id="655" name="Google Shape;655;p17"/>
          <p:cNvSpPr txBox="1"/>
          <p:nvPr/>
        </p:nvSpPr>
        <p:spPr>
          <a:xfrm>
            <a:off x="1417320" y="3337560"/>
            <a:ext cx="3063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E0A526"/>
                </a:solidFill>
                <a:latin typeface="Consolas"/>
                <a:ea typeface="Consolas"/>
                <a:cs typeface="Consolas"/>
                <a:sym typeface="Consolas"/>
              </a:rPr>
              <a:t>세부/</a:t>
            </a:r>
            <a:endParaRPr/>
          </a:p>
        </p:txBody>
      </p:sp>
      <p:sp>
        <p:nvSpPr>
          <p:cNvPr id="656" name="Google Shape;656;p17"/>
          <p:cNvSpPr txBox="1"/>
          <p:nvPr/>
        </p:nvSpPr>
        <p:spPr>
          <a:xfrm>
            <a:off x="4572000" y="3337560"/>
            <a:ext cx="2331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★ 정본 — 기능별 기획서</a:t>
            </a:r>
            <a:endParaRPr/>
          </a:p>
        </p:txBody>
      </p:sp>
      <p:sp>
        <p:nvSpPr>
          <p:cNvPr id="657" name="Google Shape;657;p17"/>
          <p:cNvSpPr txBox="1"/>
          <p:nvPr/>
        </p:nvSpPr>
        <p:spPr>
          <a:xfrm>
            <a:off x="1737360" y="3566160"/>
            <a:ext cx="5166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AEBED4"/>
                </a:solidFill>
                <a:latin typeface="Consolas"/>
                <a:ea typeface="Consolas"/>
                <a:cs typeface="Consolas"/>
                <a:sym typeface="Consolas"/>
              </a:rPr>
              <a:t>account-login · save-data · inventory</a:t>
            </a:r>
            <a:endParaRPr/>
          </a:p>
        </p:txBody>
      </p:sp>
      <p:sp>
        <p:nvSpPr>
          <p:cNvPr id="658" name="Google Shape;658;p17"/>
          <p:cNvSpPr txBox="1"/>
          <p:nvPr/>
        </p:nvSpPr>
        <p:spPr>
          <a:xfrm>
            <a:off x="1737360" y="3794760"/>
            <a:ext cx="5166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AEBED4"/>
                </a:solidFill>
                <a:latin typeface="Consolas"/>
                <a:ea typeface="Consolas"/>
                <a:cs typeface="Consolas"/>
                <a:sym typeface="Consolas"/>
              </a:rPr>
              <a:t>stage-battle · trade · gacha · mail</a:t>
            </a:r>
            <a:endParaRPr/>
          </a:p>
        </p:txBody>
      </p:sp>
      <p:sp>
        <p:nvSpPr>
          <p:cNvPr id="659" name="Google Shape;659;p17"/>
          <p:cNvSpPr txBox="1"/>
          <p:nvPr/>
        </p:nvSpPr>
        <p:spPr>
          <a:xfrm>
            <a:off x="1737360" y="4023360"/>
            <a:ext cx="5166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AEBED4"/>
                </a:solidFill>
                <a:latin typeface="Consolas"/>
                <a:ea typeface="Consolas"/>
                <a:cs typeface="Consolas"/>
                <a:sym typeface="Consolas"/>
              </a:rPr>
              <a:t>attendance · growth · offline-reward</a:t>
            </a:r>
            <a:endParaRPr/>
          </a:p>
        </p:txBody>
      </p:sp>
      <p:sp>
        <p:nvSpPr>
          <p:cNvPr id="660" name="Google Shape;660;p17"/>
          <p:cNvSpPr txBox="1"/>
          <p:nvPr/>
        </p:nvSpPr>
        <p:spPr>
          <a:xfrm>
            <a:off x="1737360" y="425196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AEBED4"/>
                </a:solidFill>
                <a:latin typeface="Consolas"/>
                <a:ea typeface="Consolas"/>
                <a:cs typeface="Consolas"/>
                <a:sym typeface="Consolas"/>
              </a:rPr>
              <a:t>master-data/</a:t>
            </a:r>
            <a:endParaRPr/>
          </a:p>
        </p:txBody>
      </p:sp>
      <p:sp>
        <p:nvSpPr>
          <p:cNvPr id="661" name="Google Shape;661;p17"/>
          <p:cNvSpPr txBox="1"/>
          <p:nvPr/>
        </p:nvSpPr>
        <p:spPr>
          <a:xfrm>
            <a:off x="4572000" y="4251960"/>
            <a:ext cx="2331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9FB0C6"/>
                </a:solidFill>
                <a:latin typeface="Malgun Gothic"/>
                <a:ea typeface="Malgun Gothic"/>
                <a:cs typeface="Malgun Gothic"/>
                <a:sym typeface="Malgun Gothic"/>
              </a:rPr>
              <a:t># 마스터 값 · 스키마</a:t>
            </a:r>
            <a:endParaRPr/>
          </a:p>
        </p:txBody>
      </p:sp>
      <p:sp>
        <p:nvSpPr>
          <p:cNvPr id="662" name="Google Shape;662;p17"/>
          <p:cNvSpPr txBox="1"/>
          <p:nvPr/>
        </p:nvSpPr>
        <p:spPr>
          <a:xfrm>
            <a:off x="1417320" y="4480560"/>
            <a:ext cx="3063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6ECF5"/>
                </a:solidFill>
                <a:latin typeface="Consolas"/>
                <a:ea typeface="Consolas"/>
                <a:cs typeface="Consolas"/>
                <a:sym typeface="Consolas"/>
              </a:rPr>
              <a:t>공통/</a:t>
            </a:r>
            <a:endParaRPr/>
          </a:p>
        </p:txBody>
      </p:sp>
      <p:sp>
        <p:nvSpPr>
          <p:cNvPr id="663" name="Google Shape;663;p17"/>
          <p:cNvSpPr txBox="1"/>
          <p:nvPr/>
        </p:nvSpPr>
        <p:spPr>
          <a:xfrm>
            <a:off x="4572000" y="4480560"/>
            <a:ext cx="2331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9FB0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집약 참조본 + 공유 계약</a:t>
            </a:r>
            <a:endParaRPr/>
          </a:p>
        </p:txBody>
      </p:sp>
      <p:sp>
        <p:nvSpPr>
          <p:cNvPr id="664" name="Google Shape;664;p17"/>
          <p:cNvSpPr txBox="1"/>
          <p:nvPr/>
        </p:nvSpPr>
        <p:spPr>
          <a:xfrm>
            <a:off x="1737360" y="4709160"/>
            <a:ext cx="5166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AEBED4"/>
                </a:solidFill>
                <a:latin typeface="Consolas"/>
                <a:ea typeface="Consolas"/>
                <a:cs typeface="Consolas"/>
                <a:sym typeface="Consolas"/>
              </a:rPr>
              <a:t>api-통합.md · db-erd-통합.md</a:t>
            </a:r>
            <a:endParaRPr/>
          </a:p>
        </p:txBody>
      </p:sp>
      <p:sp>
        <p:nvSpPr>
          <p:cNvPr id="665" name="Google Shape;665;p17"/>
          <p:cNvSpPr txBox="1"/>
          <p:nvPr/>
        </p:nvSpPr>
        <p:spPr>
          <a:xfrm>
            <a:off x="1737360" y="4937760"/>
            <a:ext cx="5166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AEBED4"/>
                </a:solidFill>
                <a:latin typeface="Consolas"/>
                <a:ea typeface="Consolas"/>
                <a:cs typeface="Consolas"/>
                <a:sym typeface="Consolas"/>
              </a:rPr>
              <a:t>error-code-정의.md · 로깅-규칙.md</a:t>
            </a:r>
            <a:endParaRPr/>
          </a:p>
        </p:txBody>
      </p:sp>
      <p:sp>
        <p:nvSpPr>
          <p:cNvPr id="666" name="Google Shape;666;p17"/>
          <p:cNvSpPr txBox="1"/>
          <p:nvPr/>
        </p:nvSpPr>
        <p:spPr>
          <a:xfrm>
            <a:off x="1417320" y="5166360"/>
            <a:ext cx="3063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6ECF5"/>
                </a:solidFill>
                <a:latin typeface="Consolas"/>
                <a:ea typeface="Consolas"/>
                <a:cs typeface="Consolas"/>
                <a:sym typeface="Consolas"/>
              </a:rPr>
              <a:t>images/</a:t>
            </a:r>
            <a:endParaRPr/>
          </a:p>
        </p:txBody>
      </p:sp>
      <p:sp>
        <p:nvSpPr>
          <p:cNvPr id="667" name="Google Shape;667;p17"/>
          <p:cNvSpPr txBox="1"/>
          <p:nvPr/>
        </p:nvSpPr>
        <p:spPr>
          <a:xfrm>
            <a:off x="4572000" y="5166360"/>
            <a:ext cx="2331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9FB0C6"/>
                </a:solidFill>
                <a:latin typeface="Malgun Gothic"/>
                <a:ea typeface="Malgun Gothic"/>
                <a:cs typeface="Malgun Gothic"/>
                <a:sym typeface="Malgun Gothic"/>
              </a:rPr>
              <a:t># 원작 화면 캡처(기획 근거)</a:t>
            </a:r>
            <a:endParaRPr/>
          </a:p>
        </p:txBody>
      </p:sp>
      <p:sp>
        <p:nvSpPr>
          <p:cNvPr id="668" name="Google Shape;668;p17"/>
          <p:cNvSpPr/>
          <p:nvPr/>
        </p:nvSpPr>
        <p:spPr>
          <a:xfrm>
            <a:off x="1097280" y="5486400"/>
            <a:ext cx="580644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" name="Google Shape;669;p17"/>
          <p:cNvSpPr txBox="1"/>
          <p:nvPr/>
        </p:nvSpPr>
        <p:spPr>
          <a:xfrm>
            <a:off x="1097280" y="5669280"/>
            <a:ext cx="33832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6ECF5"/>
                </a:solidFill>
                <a:latin typeface="Consolas"/>
                <a:ea typeface="Consolas"/>
                <a:cs typeface="Consolas"/>
                <a:sym typeface="Consolas"/>
              </a:rPr>
              <a:t>SequenceDiagram/README.md</a:t>
            </a:r>
            <a:endParaRPr/>
          </a:p>
        </p:txBody>
      </p:sp>
      <p:sp>
        <p:nvSpPr>
          <p:cNvPr id="670" name="Google Shape;670;p17"/>
          <p:cNvSpPr txBox="1"/>
          <p:nvPr/>
        </p:nvSpPr>
        <p:spPr>
          <a:xfrm>
            <a:off x="4572000" y="5669280"/>
            <a:ext cx="2331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9FB0C6"/>
                </a:solidFill>
                <a:latin typeface="Malgun Gothic"/>
                <a:ea typeface="Malgun Gothic"/>
                <a:cs typeface="Malgun Gothic"/>
                <a:sym typeface="Malgun Gothic"/>
              </a:rPr>
              <a:t># 기능별 처리 흐름</a:t>
            </a:r>
            <a:endParaRPr/>
          </a:p>
        </p:txBody>
      </p:sp>
      <p:sp>
        <p:nvSpPr>
          <p:cNvPr id="671" name="Google Shape;671;p17"/>
          <p:cNvSpPr/>
          <p:nvPr/>
        </p:nvSpPr>
        <p:spPr>
          <a:xfrm>
            <a:off x="7452360" y="2103120"/>
            <a:ext cx="4023360" cy="96012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75" lIns="274300" spcFirstLastPara="1" rIns="274300" wrap="square" tIns="182875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정본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docs/세부/ 가 언제나 정본이다. 충돌하면 세부 기획서를 따른다.</a:t>
            </a:r>
            <a:endParaRPr/>
          </a:p>
        </p:txBody>
      </p:sp>
      <p:sp>
        <p:nvSpPr>
          <p:cNvPr id="672" name="Google Shape;672;p17"/>
          <p:cNvSpPr/>
          <p:nvPr/>
        </p:nvSpPr>
        <p:spPr>
          <a:xfrm>
            <a:off x="7452360" y="3337560"/>
            <a:ext cx="4023360" cy="12573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75" lIns="274300" spcFirstLastPara="1" rIns="274300" wrap="square" tIns="182875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집약 참조본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docs/공통/ 은 여러 기획서에 흩어진 내용을 한 장에 모은 편의용. 단, 클라이언트와 공유하는 계약(에러 코드 숫자 값 등)은 여기서 확인한다.</a:t>
            </a:r>
            <a:endParaRPr/>
          </a:p>
        </p:txBody>
      </p:sp>
      <p:sp>
        <p:nvSpPr>
          <p:cNvPr id="673" name="Google Shape;673;p17"/>
          <p:cNvSpPr/>
          <p:nvPr/>
        </p:nvSpPr>
        <p:spPr>
          <a:xfrm>
            <a:off x="7452360" y="4869180"/>
            <a:ext cx="4023360" cy="12573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75" lIns="274300" spcFirstLastPara="1" rIns="274300" wrap="square" tIns="182875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그림으로 고정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원작 게임 화면 캡처를 docs/images/에 두고 기획서에서 참조해, "무엇을 모작하는지"를 글이 아니라 그림으로 고정했다.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7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p1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18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BALANCE</a:t>
            </a:r>
            <a:endParaRPr/>
          </a:p>
        </p:txBody>
      </p:sp>
      <p:sp>
        <p:nvSpPr>
          <p:cNvPr id="680" name="Google Shape;680;p18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" name="Google Shape;681;p18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7. 밸런스 수치를 잡기위한 과정</a:t>
            </a:r>
            <a:endParaRPr/>
          </a:p>
        </p:txBody>
      </p:sp>
      <p:sp>
        <p:nvSpPr>
          <p:cNvPr id="682" name="Google Shape;682;p18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기획서로 정할 수 있는 것은 규칙이지 수치가 아니다</a:t>
            </a:r>
            <a:endParaRPr/>
          </a:p>
        </p:txBody>
      </p:sp>
      <p:sp>
        <p:nvSpPr>
          <p:cNvPr id="683" name="Google Shape;683;p18"/>
          <p:cNvSpPr txBox="1"/>
          <p:nvPr/>
        </p:nvSpPr>
        <p:spPr>
          <a:xfrm>
            <a:off x="685800" y="2057400"/>
            <a:ext cx="10789920" cy="6254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"몬스터 체력을 얼마로 둘까"는 문서로 합의할 수 없고 재 봐야 안다. 그런데 이 게임에서 그 측정은 원래 불가능했다.</a:t>
            </a:r>
            <a:endParaRPr/>
          </a:p>
          <a:p>
            <a:pPr indent="0" lvl="0" marL="0" marR="0" rtl="0" algn="l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전투 계산이 클라이언트 권위라 서버는 몬스터 스탯을 로드조차 하지 않고, 클리어 시간을 알려면 Unity를 켜고 스테이지에 들어가 사람이 스톱워치를 재야 했다.</a:t>
            </a:r>
            <a:endParaRPr/>
          </a:p>
        </p:txBody>
      </p:sp>
      <p:sp>
        <p:nvSpPr>
          <p:cNvPr id="684" name="Google Shape;684;p1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17</a:t>
            </a:r>
            <a:endParaRPr/>
          </a:p>
        </p:txBody>
      </p:sp>
      <p:pic>
        <p:nvPicPr>
          <p:cNvPr id="685" name="Google Shape;68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686" name="Google Shape;686;p18"/>
          <p:cNvSpPr txBox="1"/>
          <p:nvPr/>
        </p:nvSpPr>
        <p:spPr>
          <a:xfrm>
            <a:off x="685800" y="3017520"/>
            <a:ext cx="10789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기준이 없는 명령은 토큰 낭비만 초래했다..</a:t>
            </a:r>
            <a:endParaRPr/>
          </a:p>
        </p:txBody>
      </p:sp>
      <p:sp>
        <p:nvSpPr>
          <p:cNvPr id="687" name="Google Shape;687;p18"/>
          <p:cNvSpPr/>
          <p:nvPr/>
        </p:nvSpPr>
        <p:spPr>
          <a:xfrm>
            <a:off x="685800" y="3611880"/>
            <a:ext cx="5166360" cy="196596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182875" spcFirstLastPara="1" rIns="18287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" name="Google Shape;688;p18"/>
          <p:cNvSpPr txBox="1"/>
          <p:nvPr/>
        </p:nvSpPr>
        <p:spPr>
          <a:xfrm>
            <a:off x="1097280" y="4023360"/>
            <a:ext cx="4343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‘지금 난이도가 너무 쉬운데, 좀 더 난이도 있게 만들어줘.’</a:t>
            </a:r>
            <a:endParaRPr/>
          </a:p>
        </p:txBody>
      </p:sp>
      <p:sp>
        <p:nvSpPr>
          <p:cNvPr id="689" name="Google Shape;689;p18"/>
          <p:cNvSpPr/>
          <p:nvPr/>
        </p:nvSpPr>
        <p:spPr>
          <a:xfrm>
            <a:off x="1097280" y="4754880"/>
            <a:ext cx="731520" cy="1270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0" name="Google Shape;690;p18"/>
          <p:cNvSpPr txBox="1"/>
          <p:nvPr/>
        </p:nvSpPr>
        <p:spPr>
          <a:xfrm>
            <a:off x="1097280" y="4983480"/>
            <a:ext cx="4343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r>
              <a:rPr b="1" lang="en-US" sz="12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너무 어려워지거나 인게임 전투에 변화가 거의 없음</a:t>
            </a:r>
            <a:endParaRPr/>
          </a:p>
        </p:txBody>
      </p:sp>
      <p:sp>
        <p:nvSpPr>
          <p:cNvPr id="691" name="Google Shape;691;p18"/>
          <p:cNvSpPr/>
          <p:nvPr/>
        </p:nvSpPr>
        <p:spPr>
          <a:xfrm>
            <a:off x="6309360" y="3611880"/>
            <a:ext cx="5166360" cy="196596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182875" spcFirstLastPara="1" rIns="18287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" name="Google Shape;692;p18"/>
          <p:cNvSpPr txBox="1"/>
          <p:nvPr/>
        </p:nvSpPr>
        <p:spPr>
          <a:xfrm>
            <a:off x="6720840" y="4023360"/>
            <a:ext cx="4343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‘보스 공격력이 너무 강한데, 지금보다는 쉽게 만들어줘.’</a:t>
            </a:r>
            <a:endParaRPr/>
          </a:p>
        </p:txBody>
      </p:sp>
      <p:sp>
        <p:nvSpPr>
          <p:cNvPr id="693" name="Google Shape;693;p18"/>
          <p:cNvSpPr/>
          <p:nvPr/>
        </p:nvSpPr>
        <p:spPr>
          <a:xfrm>
            <a:off x="6720840" y="4754880"/>
            <a:ext cx="731520" cy="1270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" name="Google Shape;694;p18"/>
          <p:cNvSpPr txBox="1"/>
          <p:nvPr/>
        </p:nvSpPr>
        <p:spPr>
          <a:xfrm>
            <a:off x="6720840" y="4983480"/>
            <a:ext cx="4343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r>
              <a:rPr b="1" lang="en-US" sz="12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보스가 너무 약해져서 잡몹과 똑같이 변함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p1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" name="Google Shape;700;p19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BALANCE</a:t>
            </a:r>
            <a:endParaRPr/>
          </a:p>
        </p:txBody>
      </p:sp>
      <p:sp>
        <p:nvSpPr>
          <p:cNvPr id="701" name="Google Shape;701;p19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" name="Google Shape;702;p19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7.1  스크립트로만 구현한 인게임 전투 하네스</a:t>
            </a:r>
            <a:endParaRPr/>
          </a:p>
        </p:txBody>
      </p:sp>
      <p:sp>
        <p:nvSpPr>
          <p:cNvPr id="703" name="Google Shape;703;p19"/>
          <p:cNvSpPr txBox="1"/>
          <p:nvPr/>
        </p:nvSpPr>
        <p:spPr>
          <a:xfrm>
            <a:off x="685800" y="1536192"/>
            <a:ext cx="10881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tools/balance_sim.py — </a:t>
            </a:r>
            <a:r>
              <a:rPr lang="en-US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유니티를 켜지 않고, 시뮬레이션 만으로 인게임 전투 시뮬레이션 진행</a:t>
            </a:r>
            <a:endParaRPr/>
          </a:p>
        </p:txBody>
      </p:sp>
      <p:graphicFrame>
        <p:nvGraphicFramePr>
          <p:cNvPr id="704" name="Google Shape;704;p19"/>
          <p:cNvGraphicFramePr/>
          <p:nvPr/>
        </p:nvGraphicFramePr>
        <p:xfrm>
          <a:off x="685800" y="1861349"/>
          <a:ext cx="3000000" cy="3000000"/>
        </p:xfrm>
        <a:graphic>
          <a:graphicData uri="http://schemas.openxmlformats.org/drawingml/2006/table">
            <a:tbl>
              <a:tblPr firstRow="1">
                <a:noFill/>
                <a:tableStyleId>{0920BB19-57F9-4C89-9F9F-E896671911AF}</a:tableStyleId>
              </a:tblPr>
              <a:tblGrid>
                <a:gridCol w="2377450"/>
                <a:gridCol w="4206250"/>
                <a:gridCol w="4206250"/>
              </a:tblGrid>
              <a:tr h="384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/>
                    </a:p>
                  </a:txBody>
                  <a:tcPr marT="36575" marB="36575" marR="73150" marL="100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씬 하네스 (BattleDevScene 등)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밸런스 시뮬레이터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12203A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무엇을 잘라냈나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 · 스테이지 진입 · 게임 흐름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거기에 더해 Unity · 렌더링 · 실시간</a:t>
                      </a:r>
                      <a:endParaRPr b="0" sz="1250" u="none" cap="none" strike="noStrik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무엇이 필요한가</a:t>
                      </a:r>
                      <a:endParaRPr b="0" sz="1250" u="none" cap="none" strike="noStrik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36575" marB="36575" marR="73150" marL="100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전투 화면 + 전투 상황 확인용 UI</a:t>
                      </a:r>
                      <a:endParaRPr b="0" sz="1250" u="none" cap="none" strike="noStrik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36575" marB="36575" marR="73150" marL="100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전투 규칙과 수치만</a:t>
                      </a:r>
                      <a:endParaRPr b="0" sz="1250" u="none" cap="none" strike="noStrik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36575" marB="36575" marR="73150" marL="100575" anchor="ctr">
                    <a:solidFill>
                      <a:srgbClr val="EEF2F9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누가 읽나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사람이 눈으로 (타격감 · 외형)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기계가 수치로 (초 · %)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한 판 도는 비용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에디터 켜고 플레이 모드 진입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한 프로세스, 100 스테이지 전수도 한 명령</a:t>
                      </a:r>
                      <a:endParaRPr b="0" sz="1250" u="none" cap="none" strike="noStrik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36575" marB="36575" marR="73150" marL="100575" anchor="ctr"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  <p:sp>
        <p:nvSpPr>
          <p:cNvPr id="705" name="Google Shape;705;p1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18</a:t>
            </a:r>
            <a:endParaRPr/>
          </a:p>
        </p:txBody>
      </p:sp>
      <p:pic>
        <p:nvPicPr>
          <p:cNvPr id="706" name="Google Shape;70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5105" y="5029200"/>
            <a:ext cx="3180786" cy="1325880"/>
          </a:xfrm>
          <a:prstGeom prst="rect">
            <a:avLst/>
          </a:prstGeom>
          <a:noFill/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7" name="Google Shape;70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80211" y="5029200"/>
            <a:ext cx="5656204" cy="1325880"/>
          </a:xfrm>
          <a:prstGeom prst="rect">
            <a:avLst/>
          </a:prstGeom>
          <a:noFill/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8" name="Google Shape;708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9"/>
          <p:cNvSpPr/>
          <p:nvPr/>
        </p:nvSpPr>
        <p:spPr>
          <a:xfrm>
            <a:off x="685800" y="4297680"/>
            <a:ext cx="10789920" cy="64008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137150" lIns="365750" spcFirstLastPara="1" rIns="365750" wrap="square" tIns="13715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왜 필요할까?</a:t>
            </a: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=&gt; 실제 유니티 환경에서 측정 시, 유니티를 실행하고 클리어 시간을 측정하는 과정이 굉장히 </a:t>
            </a:r>
            <a:r>
              <a:rPr b="1" lang="en-US" sz="11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오래걸림</a:t>
            </a: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+ 유니티 MCP를 통한 환경에서의 시간 측정도 굉장히 </a:t>
            </a:r>
            <a:r>
              <a:rPr b="1" lang="en-US" sz="11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부정확</a:t>
            </a: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하여 토큰만 낭비하는 일이 많아짐.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" name="Google Shape;715;p20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BALANCE</a:t>
            </a:r>
            <a:endParaRPr/>
          </a:p>
        </p:txBody>
      </p:sp>
      <p:sp>
        <p:nvSpPr>
          <p:cNvPr id="716" name="Google Shape;716;p20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20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7.2  하드코딩을 최소화한다 — 무엇을 어디서 읽는가</a:t>
            </a:r>
            <a:endParaRPr/>
          </a:p>
        </p:txBody>
      </p:sp>
      <p:sp>
        <p:nvSpPr>
          <p:cNvPr id="718" name="Google Shape;718;p20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하네스가 실제 게임과 갈라지면 산출한 밸런스 근거 전체가 무효가 된다</a:t>
            </a:r>
            <a:endParaRPr b="0" sz="140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aphicFrame>
        <p:nvGraphicFramePr>
          <p:cNvPr id="719" name="Google Shape;719;p20"/>
          <p:cNvGraphicFramePr/>
          <p:nvPr/>
        </p:nvGraphicFramePr>
        <p:xfrm>
          <a:off x="777240" y="1870845"/>
          <a:ext cx="3000000" cy="3000000"/>
        </p:xfrm>
        <a:graphic>
          <a:graphicData uri="http://schemas.openxmlformats.org/drawingml/2006/table">
            <a:tbl>
              <a:tblPr firstRow="1">
                <a:noFill/>
                <a:tableStyleId>{0920BB19-57F9-4C89-9F9F-E896671911AF}</a:tableStyleId>
              </a:tblPr>
              <a:tblGrid>
                <a:gridCol w="5120650"/>
                <a:gridCol w="5669275"/>
              </a:tblGrid>
              <a:tr h="3076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대상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출처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12203A"/>
                    </a:solidFill>
                  </a:tcPr>
                </a:tc>
              </a:tr>
              <a:tr h="527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마스터 수치 (몬스터 · 스폰 · 직업 · 레벨 · 스킬 계수 · 아이템 · 강화 · 룬)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서버의 마스터 데이터</a:t>
                      </a:r>
                      <a:endParaRPr b="0" sz="1200" u="none" cap="none" strike="noStrik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</a:tr>
              <a:tr h="527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전투 상수 (스폰 주기 · 동시 상한 · 이동속도 · 피해 배수) · 파티별 사거리</a:t>
                      </a:r>
                      <a:endParaRPr b="0" sz="1200" u="none" cap="none" strike="noStrik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36575" marB="36575" marR="73150" marL="100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유니티 클라이언트의 전투관련 상수</a:t>
                      </a:r>
                      <a:endParaRPr b="0" sz="1200" u="none" cap="none" strike="noStrik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36575" marB="36575" marR="73150" marL="100575" anchor="ctr">
                    <a:solidFill>
                      <a:srgbClr val="EEF2F9"/>
                    </a:solidFill>
                  </a:tcPr>
                </a:tc>
              </a:tr>
              <a:tr h="527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스킬 모션 길이 · 광역 판정 반경</a:t>
                      </a:r>
                      <a:endParaRPr b="0" sz="1200" u="none" cap="none" strike="noStrik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Assets/Prefabs/Effects/*.prefab의 프레임 수 · fps · 스케일 + 스킬 이펙트의 타격범위</a:t>
                      </a:r>
                      <a:endParaRPr b="0" sz="1000" u="none" cap="none" strike="noStrik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20" name="Google Shape;720;p20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19</a:t>
            </a:r>
            <a:endParaRPr/>
          </a:p>
        </p:txBody>
      </p:sp>
      <p:pic>
        <p:nvPicPr>
          <p:cNvPr id="721" name="Google Shape;721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89063" y="4095535"/>
            <a:ext cx="3279710" cy="2105185"/>
          </a:xfrm>
          <a:prstGeom prst="rect">
            <a:avLst/>
          </a:prstGeom>
          <a:noFill/>
          <a:ln>
            <a:noFill/>
          </a:ln>
          <a:effectLst>
            <a:outerShdw blurRad="190500" rotWithShape="0" algn="tl">
              <a:srgbClr val="000000">
                <a:alpha val="70196"/>
              </a:srgbClr>
            </a:outerShdw>
          </a:effectLst>
        </p:spPr>
      </p:pic>
      <p:pic>
        <p:nvPicPr>
          <p:cNvPr id="722" name="Google Shape;722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2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" name="Google Shape;728;p2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BALANCE</a:t>
            </a:r>
            <a:endParaRPr/>
          </a:p>
        </p:txBody>
      </p:sp>
      <p:sp>
        <p:nvSpPr>
          <p:cNvPr id="729" name="Google Shape;729;p21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21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7.3  실제 밸런싱 작업 활용 예시</a:t>
            </a:r>
            <a:endParaRPr b="1" sz="30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31" name="Google Shape;731;p21"/>
          <p:cNvSpPr txBox="1"/>
          <p:nvPr/>
        </p:nvSpPr>
        <p:spPr>
          <a:xfrm>
            <a:off x="685800" y="1536192"/>
            <a:ext cx="10881360" cy="2411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명령 : </a:t>
            </a:r>
            <a:r>
              <a:rPr b="0"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신규 계정이 아무 투자도 하지 않은 상태로 1지역 보스를 1분 내외로 아슬아슬하게 클리어하도록 밸런스를 조정해줘</a:t>
            </a:r>
            <a:endParaRPr b="0" sz="140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descr="1-10-스테이지-리밸런싱-결과.gif" id="732" name="Google Shape;73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9433" y="2011680"/>
            <a:ext cx="2927773" cy="4160520"/>
          </a:xfrm>
          <a:prstGeom prst="rect">
            <a:avLst/>
          </a:prstGeom>
          <a:noFill/>
          <a:ln cap="flat" cmpd="sng" w="9525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733" name="Google Shape;733;p21"/>
          <p:cNvSpPr txBox="1"/>
          <p:nvPr/>
        </p:nvSpPr>
        <p:spPr>
          <a:xfrm>
            <a:off x="914400" y="6263640"/>
            <a:ext cx="5577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1지역 보스(암흑 마법사) — 60.6초 클리어 · 최저 체력 23%  (3.7배속)</a:t>
            </a:r>
            <a:endParaRPr/>
          </a:p>
        </p:txBody>
      </p:sp>
      <p:graphicFrame>
        <p:nvGraphicFramePr>
          <p:cNvPr id="734" name="Google Shape;734;p21"/>
          <p:cNvGraphicFramePr/>
          <p:nvPr/>
        </p:nvGraphicFramePr>
        <p:xfrm>
          <a:off x="7040880" y="2148840"/>
          <a:ext cx="3000000" cy="3000000"/>
        </p:xfrm>
        <a:graphic>
          <a:graphicData uri="http://schemas.openxmlformats.org/drawingml/2006/table">
            <a:tbl>
              <a:tblPr firstRow="1">
                <a:noFill/>
                <a:tableStyleId>{0920BB19-57F9-4C89-9F9F-E896671911AF}</a:tableStyleId>
              </a:tblPr>
              <a:tblGrid>
                <a:gridCol w="1371600"/>
                <a:gridCol w="1554475"/>
                <a:gridCol w="1508750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/>
                    </a:p>
                  </a:txBody>
                  <a:tcPr marT="36575" marB="36575" marR="73150" marL="100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리밸런싱 전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지금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12203A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1지역 일반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15~27초 · 체력 62~100%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30~50초 · 85% → 46%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1-10 보스(기사)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35.6초 전멸(패배)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60.6초 클리어 · 최저 23%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EEF2F9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1-10 보스(타직업)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24~31초 · 편차 큼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46~61초 · 23~66%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투자 요구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없음(1지역 내내 여유)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2지역 중반부터 장비작·스킬작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  <p:sp>
        <p:nvSpPr>
          <p:cNvPr id="735" name="Google Shape;735;p21"/>
          <p:cNvSpPr txBox="1"/>
          <p:nvPr/>
        </p:nvSpPr>
        <p:spPr>
          <a:xfrm>
            <a:off x="7040880" y="4937760"/>
            <a:ext cx="4434840" cy="4739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치명타, 몹 흩어짐 등에 의한 변수가 있으나 실제 전투 시간을 비교적 정확히 맞출 수 있게 되었다. </a:t>
            </a:r>
            <a:endParaRPr b="1" sz="1300">
              <a:solidFill>
                <a:srgbClr val="2F6FE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36" name="Google Shape;736;p21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20</a:t>
            </a:r>
            <a:endParaRPr/>
          </a:p>
        </p:txBody>
      </p:sp>
      <p:pic>
        <p:nvPicPr>
          <p:cNvPr id="737" name="Google Shape;737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22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.png" id="743" name="Google Shape;74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744" name="Google Shape;744;p2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LOGGING</a:t>
            </a:r>
            <a:endParaRPr/>
          </a:p>
        </p:txBody>
      </p:sp>
      <p:sp>
        <p:nvSpPr>
          <p:cNvPr id="745" name="Google Shape;745;p22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22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8. 로그 조회 — 무엇을 남기고, 어떻게 보는가</a:t>
            </a:r>
            <a:endParaRPr/>
          </a:p>
        </p:txBody>
      </p:sp>
      <p:sp>
        <p:nvSpPr>
          <p:cNvPr id="747" name="Google Shape;747;p22"/>
          <p:cNvSpPr txBox="1"/>
          <p:nvPr/>
        </p:nvSpPr>
        <p:spPr>
          <a:xfrm>
            <a:off x="685800" y="1536192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서버는 JSON 한 줄을 파일로 쓰는 데서 끝난다 — 적재는 fluentd, 조회는 Grafana의 몫이다</a:t>
            </a:r>
            <a:endParaRPr/>
          </a:p>
        </p:txBody>
      </p:sp>
      <p:sp>
        <p:nvSpPr>
          <p:cNvPr id="748" name="Google Shape;748;p22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21</a:t>
            </a:r>
            <a:endParaRPr/>
          </a:p>
        </p:txBody>
      </p:sp>
      <p:sp>
        <p:nvSpPr>
          <p:cNvPr id="749" name="Google Shape;749;p22"/>
          <p:cNvSpPr/>
          <p:nvPr/>
        </p:nvSpPr>
        <p:spPr>
          <a:xfrm>
            <a:off x="685800" y="1965960"/>
            <a:ext cx="2409444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" name="Google Shape;750;p22"/>
          <p:cNvSpPr txBox="1"/>
          <p:nvPr/>
        </p:nvSpPr>
        <p:spPr>
          <a:xfrm>
            <a:off x="813816" y="2066543"/>
            <a:ext cx="2153411" cy="7132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GameServer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이벤트 전용 JSON 파일 sink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(운영 로그와 분리)</a:t>
            </a:r>
            <a:endParaRPr/>
          </a:p>
        </p:txBody>
      </p:sp>
      <p:sp>
        <p:nvSpPr>
          <p:cNvPr id="751" name="Google Shape;751;p22"/>
          <p:cNvSpPr txBox="1"/>
          <p:nvPr/>
        </p:nvSpPr>
        <p:spPr>
          <a:xfrm>
            <a:off x="3095244" y="2286000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/>
          </a:p>
        </p:txBody>
      </p:sp>
      <p:sp>
        <p:nvSpPr>
          <p:cNvPr id="752" name="Google Shape;752;p22"/>
          <p:cNvSpPr/>
          <p:nvPr/>
        </p:nvSpPr>
        <p:spPr>
          <a:xfrm>
            <a:off x="3479291" y="1965960"/>
            <a:ext cx="2409444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22"/>
          <p:cNvSpPr txBox="1"/>
          <p:nvPr/>
        </p:nvSpPr>
        <p:spPr>
          <a:xfrm>
            <a:off x="3607308" y="2066543"/>
            <a:ext cx="2153411" cy="7132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fluentd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in_tail → 태그 승격 →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out_sql(pg)</a:t>
            </a:r>
            <a:endParaRPr/>
          </a:p>
        </p:txBody>
      </p:sp>
      <p:sp>
        <p:nvSpPr>
          <p:cNvPr id="754" name="Google Shape;754;p22"/>
          <p:cNvSpPr txBox="1"/>
          <p:nvPr/>
        </p:nvSpPr>
        <p:spPr>
          <a:xfrm>
            <a:off x="5888736" y="2286000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/>
          </a:p>
        </p:txBody>
      </p:sp>
      <p:sp>
        <p:nvSpPr>
          <p:cNvPr id="755" name="Google Shape;755;p22"/>
          <p:cNvSpPr/>
          <p:nvPr/>
        </p:nvSpPr>
        <p:spPr>
          <a:xfrm>
            <a:off x="6272783" y="1965960"/>
            <a:ext cx="2409444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" name="Google Shape;756;p22"/>
          <p:cNvSpPr txBox="1"/>
          <p:nvPr/>
        </p:nvSpPr>
        <p:spPr>
          <a:xfrm>
            <a:off x="6400799" y="2066543"/>
            <a:ext cx="2153411" cy="7132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TimescaleDB · logdb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이벤트별 하이퍼테이블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압축 · 보존 · 연속 집계</a:t>
            </a:r>
            <a:endParaRPr/>
          </a:p>
        </p:txBody>
      </p:sp>
      <p:sp>
        <p:nvSpPr>
          <p:cNvPr id="757" name="Google Shape;757;p22"/>
          <p:cNvSpPr txBox="1"/>
          <p:nvPr/>
        </p:nvSpPr>
        <p:spPr>
          <a:xfrm>
            <a:off x="8682228" y="2286000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/>
          </a:p>
        </p:txBody>
      </p:sp>
      <p:sp>
        <p:nvSpPr>
          <p:cNvPr id="758" name="Google Shape;758;p22"/>
          <p:cNvSpPr/>
          <p:nvPr/>
        </p:nvSpPr>
        <p:spPr>
          <a:xfrm>
            <a:off x="9066276" y="1965960"/>
            <a:ext cx="2409444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" name="Google Shape;759;p22"/>
          <p:cNvSpPr txBox="1"/>
          <p:nvPr/>
        </p:nvSpPr>
        <p:spPr>
          <a:xfrm>
            <a:off x="9194292" y="2066543"/>
            <a:ext cx="2153411" cy="7132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Grafana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대시보드 6종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코드로 프로비저닝</a:t>
            </a:r>
            <a:endParaRPr/>
          </a:p>
        </p:txBody>
      </p:sp>
      <p:sp>
        <p:nvSpPr>
          <p:cNvPr id="760" name="Google Shape;760;p22"/>
          <p:cNvSpPr/>
          <p:nvPr/>
        </p:nvSpPr>
        <p:spPr>
          <a:xfrm>
            <a:off x="685800" y="3017520"/>
            <a:ext cx="3931920" cy="25146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로그-db-테이블.png" id="761" name="Google Shape;761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9131" y="3127248"/>
            <a:ext cx="3585256" cy="2295144"/>
          </a:xfrm>
          <a:prstGeom prst="rect">
            <a:avLst/>
          </a:prstGeom>
          <a:noFill/>
          <a:ln>
            <a:noFill/>
          </a:ln>
        </p:spPr>
      </p:pic>
      <p:sp>
        <p:nvSpPr>
          <p:cNvPr id="762" name="Google Shape;762;p22"/>
          <p:cNvSpPr txBox="1"/>
          <p:nvPr/>
        </p:nvSpPr>
        <p:spPr>
          <a:xfrm>
            <a:off x="685800" y="5605272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이벤트 하나 = 테이블 하나</a:t>
            </a: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 ·  총 31개</a:t>
            </a:r>
            <a:endParaRPr/>
          </a:p>
        </p:txBody>
      </p:sp>
      <p:sp>
        <p:nvSpPr>
          <p:cNvPr id="763" name="Google Shape;763;p22"/>
          <p:cNvSpPr/>
          <p:nvPr/>
        </p:nvSpPr>
        <p:spPr>
          <a:xfrm>
            <a:off x="4983480" y="3017520"/>
            <a:ext cx="6492240" cy="25146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그라파나-대시보드.png" id="764" name="Google Shape;764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03520" y="3252049"/>
            <a:ext cx="3535133" cy="1402212"/>
          </a:xfrm>
          <a:prstGeom prst="rect">
            <a:avLst/>
          </a:prstGeom>
          <a:noFill/>
          <a:ln>
            <a:noFill/>
          </a:ln>
          <a:effectLst>
            <a:outerShdw blurRad="292100" rotWithShape="0" algn="tl" dir="2700000" dist="139700">
              <a:srgbClr val="333333">
                <a:alpha val="65098"/>
              </a:srgbClr>
            </a:outerShdw>
          </a:effectLst>
        </p:spPr>
      </p:pic>
      <p:sp>
        <p:nvSpPr>
          <p:cNvPr id="765" name="Google Shape;765;p22"/>
          <p:cNvSpPr txBox="1"/>
          <p:nvPr/>
        </p:nvSpPr>
        <p:spPr>
          <a:xfrm>
            <a:off x="4983480" y="5605272"/>
            <a:ext cx="6492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대시보드 6종</a:t>
            </a: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 —  접속 · 스테이지 · 경제 · 가챠/거래소 · 보스러시 · 히스토리</a:t>
            </a:r>
            <a:endParaRPr/>
          </a:p>
        </p:txBody>
      </p:sp>
      <p:pic>
        <p:nvPicPr>
          <p:cNvPr descr="그라파나-대시보드-접속-리텐션.png" id="766" name="Google Shape;766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375913" y="3489794"/>
            <a:ext cx="3728197" cy="1731430"/>
          </a:xfrm>
          <a:prstGeom prst="rect">
            <a:avLst/>
          </a:prstGeom>
          <a:noFill/>
          <a:ln>
            <a:noFill/>
          </a:ln>
          <a:effectLst>
            <a:outerShdw blurRad="292100" rotWithShape="0" algn="tl" dir="2700000" dist="139700">
              <a:srgbClr val="333333">
                <a:alpha val="65098"/>
              </a:srgbClr>
            </a:outerShdw>
          </a:effec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p23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" name="Google Shape;772;p23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22</a:t>
            </a:r>
            <a:endParaRPr/>
          </a:p>
        </p:txBody>
      </p:sp>
      <p:pic>
        <p:nvPicPr>
          <p:cNvPr descr="image.png" id="773" name="Google Shape;773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774" name="Google Shape;774;p2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PIPELINE</a:t>
            </a:r>
            <a:endParaRPr/>
          </a:p>
        </p:txBody>
      </p:sp>
      <p:sp>
        <p:nvSpPr>
          <p:cNvPr id="775" name="Google Shape;775;p2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" name="Google Shape;776;p23"/>
          <p:cNvSpPr txBox="1"/>
          <p:nvPr/>
        </p:nvSpPr>
        <p:spPr>
          <a:xfrm>
            <a:off x="685800" y="914400"/>
            <a:ext cx="10881360" cy="5212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9.  아이템 생성 자동화 — 정본 · DB · 번들을 한 번에</a:t>
            </a:r>
            <a:endParaRPr/>
          </a:p>
        </p:txBody>
      </p:sp>
      <p:sp>
        <p:nvSpPr>
          <p:cNvPr id="777" name="Google Shape;777;p23"/>
          <p:cNvSpPr txBox="1"/>
          <p:nvPr/>
        </p:nvSpPr>
        <p:spPr>
          <a:xfrm>
            <a:off x="685800" y="1536192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“심연의 대도끼, 전설 등급 슬레이어 무기” → 마스터 데이터 두 정본 · DB · 클라이언트 번들이 한 번의 요청으로 맞춰진다</a:t>
            </a:r>
            <a:endParaRPr/>
          </a:p>
        </p:txBody>
      </p:sp>
      <p:sp>
        <p:nvSpPr>
          <p:cNvPr id="778" name="Google Shape;778;p23"/>
          <p:cNvSpPr/>
          <p:nvPr/>
        </p:nvSpPr>
        <p:spPr>
          <a:xfrm>
            <a:off x="685800" y="2029968"/>
            <a:ext cx="1874519" cy="96012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4850" lIns="91425" spcFirstLastPara="1" rIns="91425" wrap="square" tIns="5485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  </a:t>
            </a:r>
            <a:r>
              <a:rPr b="1" lang="en-US" sz="14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입력 해석</a:t>
            </a:r>
            <a:endParaRPr/>
          </a:p>
        </p:txBody>
      </p:sp>
      <p:sp>
        <p:nvSpPr>
          <p:cNvPr id="779" name="Google Shape;779;p23"/>
          <p:cNvSpPr txBox="1"/>
          <p:nvPr/>
        </p:nvSpPr>
        <p:spPr>
          <a:xfrm>
            <a:off x="2551176" y="2304288"/>
            <a:ext cx="365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/>
          </a:p>
        </p:txBody>
      </p:sp>
      <p:sp>
        <p:nvSpPr>
          <p:cNvPr id="780" name="Google Shape;780;p23"/>
          <p:cNvSpPr/>
          <p:nvPr/>
        </p:nvSpPr>
        <p:spPr>
          <a:xfrm>
            <a:off x="2914650" y="2029968"/>
            <a:ext cx="1874519" cy="96012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4850" lIns="91425" spcFirstLastPara="1" rIns="91425" wrap="square" tIns="5485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  </a:t>
            </a:r>
            <a:r>
              <a:rPr b="1" lang="en-US" sz="14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마스터 데이터</a:t>
            </a:r>
            <a:endParaRPr/>
          </a:p>
        </p:txBody>
      </p:sp>
      <p:sp>
        <p:nvSpPr>
          <p:cNvPr id="781" name="Google Shape;781;p23"/>
          <p:cNvSpPr txBox="1"/>
          <p:nvPr/>
        </p:nvSpPr>
        <p:spPr>
          <a:xfrm>
            <a:off x="4780026" y="2304288"/>
            <a:ext cx="365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/>
          </a:p>
        </p:txBody>
      </p:sp>
      <p:sp>
        <p:nvSpPr>
          <p:cNvPr id="782" name="Google Shape;782;p23"/>
          <p:cNvSpPr/>
          <p:nvPr/>
        </p:nvSpPr>
        <p:spPr>
          <a:xfrm>
            <a:off x="5143500" y="2029968"/>
            <a:ext cx="1874519" cy="96012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4850" lIns="91425" spcFirstLastPara="1" rIns="91425" wrap="square" tIns="5485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③  </a:t>
            </a:r>
            <a:r>
              <a:rPr b="1" lang="en-US" sz="14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아이콘 생성</a:t>
            </a:r>
            <a:endParaRPr/>
          </a:p>
        </p:txBody>
      </p:sp>
      <p:sp>
        <p:nvSpPr>
          <p:cNvPr id="783" name="Google Shape;783;p23"/>
          <p:cNvSpPr txBox="1"/>
          <p:nvPr/>
        </p:nvSpPr>
        <p:spPr>
          <a:xfrm>
            <a:off x="7008876" y="2304288"/>
            <a:ext cx="365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/>
          </a:p>
        </p:txBody>
      </p:sp>
      <p:sp>
        <p:nvSpPr>
          <p:cNvPr id="784" name="Google Shape;784;p23"/>
          <p:cNvSpPr/>
          <p:nvPr/>
        </p:nvSpPr>
        <p:spPr>
          <a:xfrm>
            <a:off x="7372350" y="2029968"/>
            <a:ext cx="1874519" cy="96012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4850" lIns="91425" spcFirstLastPara="1" rIns="91425" wrap="square" tIns="5485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④  </a:t>
            </a:r>
            <a:r>
              <a:rPr b="1" lang="en-US" sz="14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이름 연결</a:t>
            </a:r>
            <a:endParaRPr/>
          </a:p>
        </p:txBody>
      </p:sp>
      <p:sp>
        <p:nvSpPr>
          <p:cNvPr id="785" name="Google Shape;785;p23"/>
          <p:cNvSpPr txBox="1"/>
          <p:nvPr/>
        </p:nvSpPr>
        <p:spPr>
          <a:xfrm>
            <a:off x="9237726" y="2304288"/>
            <a:ext cx="365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/>
          </a:p>
        </p:txBody>
      </p:sp>
      <p:sp>
        <p:nvSpPr>
          <p:cNvPr id="786" name="Google Shape;786;p23"/>
          <p:cNvSpPr/>
          <p:nvPr/>
        </p:nvSpPr>
        <p:spPr>
          <a:xfrm>
            <a:off x="9601200" y="2029968"/>
            <a:ext cx="1874519" cy="96012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4850" lIns="91425" spcFirstLastPara="1" rIns="91425" wrap="square" tIns="5485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⑤  </a:t>
            </a:r>
            <a:r>
              <a:rPr b="1" lang="en-US" sz="14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번들 갱신</a:t>
            </a:r>
            <a:endParaRPr/>
          </a:p>
        </p:txBody>
      </p:sp>
      <p:graphicFrame>
        <p:nvGraphicFramePr>
          <p:cNvPr id="787" name="Google Shape;787;p23"/>
          <p:cNvGraphicFramePr/>
          <p:nvPr/>
        </p:nvGraphicFramePr>
        <p:xfrm>
          <a:off x="685800" y="3310128"/>
          <a:ext cx="3000000" cy="3000000"/>
        </p:xfrm>
        <a:graphic>
          <a:graphicData uri="http://schemas.openxmlformats.org/drawingml/2006/table">
            <a:tbl>
              <a:tblPr firstRow="1">
                <a:noFill/>
                <a:tableStyleId>{0920BB19-57F9-4C89-9F9F-E896671911AF}</a:tableStyleId>
              </a:tblPr>
              <a:tblGrid>
                <a:gridCol w="1737350"/>
                <a:gridCol w="6858000"/>
                <a:gridCol w="2194550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단계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무엇이 자동인가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수단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12203A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① 입력 해석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6B768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이름 · 종류 · 등급만 받고 </a:t>
                      </a:r>
                      <a:r>
                        <a:rPr b="1" lang="en-US" sz="110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item_code 채번</a:t>
                      </a:r>
                      <a:r>
                        <a:rPr b="0" lang="en-US" sz="1100" u="none" cap="none" strike="noStrike">
                          <a:solidFill>
                            <a:srgbClr val="6B768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· 레벨 제한 · 기본 가격을 등급에서 파생한다. 부족한 값은 되묻지 않는다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master_item_tool.py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② 마스터 데이터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master-data-값.md 표</a:t>
                      </a:r>
                      <a:r>
                        <a:rPr b="0" lang="en-US" sz="1100" u="none" cap="none" strike="noStrike">
                          <a:solidFill>
                            <a:srgbClr val="6B768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와 </a:t>
                      </a:r>
                      <a:r>
                        <a:rPr b="1" lang="en-US" sz="110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master-data-schema.sql INSERT</a:t>
                      </a:r>
                      <a:r>
                        <a:rPr b="0" lang="en-US" sz="1100" u="none" cap="none" strike="noStrike">
                          <a:solidFill>
                            <a:srgbClr val="6B768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두 정본에 코드 순서대로 동시 삽입 + 반영 직후 자동 재검증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CLI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③ 아이콘 생성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6B768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pixel-item-icons 스킬 — </a:t>
                      </a:r>
                      <a:r>
                        <a:rPr b="1" lang="en-US" sz="110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이미지 생성 모델이 아니라 Python(PIL)으로 절차적으로 그리고</a:t>
                      </a:r>
                      <a:r>
                        <a:rPr b="0" lang="en-US" sz="1100" u="none" cap="none" strike="noStrike">
                          <a:solidFill>
                            <a:srgbClr val="6B768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알파 · 여백을 수치로 검증한다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커스텀 스킬 (12장)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④ 이름 연결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6B768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&lt;이름&gt;.png → item_{code}.png. </a:t>
                      </a:r>
                      <a:r>
                        <a:rPr b="1" lang="en-US" sz="110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.meta를 함께 옮겨 GUID를 보존</a:t>
                      </a:r>
                      <a:r>
                        <a:rPr b="0" lang="en-US" sz="1100" u="none" cap="none" strike="noStrike">
                          <a:solidFill>
                            <a:srgbClr val="6B768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하므로 기존 참조가 끊기지 않는다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CLI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⑤ 번들 갱신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6B768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마스터 DB 재적용 → 클라이언트 JSON 번들 재추출 · 아이템 아이콘 DB 재생성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CLI + 에디터 메뉴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88" name="Google Shape;788;p23"/>
          <p:cNvSpPr txBox="1"/>
          <p:nvPr/>
        </p:nvSpPr>
        <p:spPr>
          <a:xfrm>
            <a:off x="685800" y="5833872"/>
            <a:ext cx="10789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손으로 하면 문서 2곳 · DB · 아이콘 · 번들을 순서를 지켜 고쳐야 하는 작업이 요청 한 번으로 줄었다 — 어긋남은 도구의 verify가 스스로 잡는다.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2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p2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4" name="Google Shape;794;p24"/>
          <p:cNvSpPr txBox="1"/>
          <p:nvPr/>
        </p:nvSpPr>
        <p:spPr>
          <a:xfrm>
            <a:off x="1097280" y="265176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PART 2</a:t>
            </a:r>
            <a:endParaRPr/>
          </a:p>
        </p:txBody>
      </p:sp>
      <p:sp>
        <p:nvSpPr>
          <p:cNvPr id="795" name="Google Shape;795;p24"/>
          <p:cNvSpPr txBox="1"/>
          <p:nvPr/>
        </p:nvSpPr>
        <p:spPr>
          <a:xfrm>
            <a:off x="1097280" y="3108960"/>
            <a:ext cx="100584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40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클라이언트 (Unity)</a:t>
            </a:r>
            <a:endParaRPr/>
          </a:p>
        </p:txBody>
      </p:sp>
      <p:sp>
        <p:nvSpPr>
          <p:cNvPr id="796" name="Google Shape;796;p24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23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25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.png" id="802" name="Google Shape;802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803" name="Google Shape;803;p25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GAME</a:t>
            </a:r>
            <a:endParaRPr/>
          </a:p>
        </p:txBody>
      </p:sp>
      <p:sp>
        <p:nvSpPr>
          <p:cNvPr id="804" name="Google Shape;804;p25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5" name="Google Shape;805;p25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10. 게임 소개</a:t>
            </a:r>
            <a:endParaRPr/>
          </a:p>
        </p:txBody>
      </p:sp>
      <p:sp>
        <p:nvSpPr>
          <p:cNvPr id="806" name="Google Shape;806;p25"/>
          <p:cNvSpPr txBox="1"/>
          <p:nvPr/>
        </p:nvSpPr>
        <p:spPr>
          <a:xfrm>
            <a:off x="685800" y="1536192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작업표시줄 위 얇은 띠에서 파티가 스스로 싸우는 방치형 RPG — 조작 대신 무엇을 키울지를 고른다</a:t>
            </a:r>
            <a:endParaRPr/>
          </a:p>
        </p:txBody>
      </p:sp>
      <p:sp>
        <p:nvSpPr>
          <p:cNvPr id="807" name="Google Shape;807;p2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24</a:t>
            </a:r>
            <a:endParaRPr/>
          </a:p>
        </p:txBody>
      </p:sp>
      <p:sp>
        <p:nvSpPr>
          <p:cNvPr id="808" name="Google Shape;808;p25"/>
          <p:cNvSpPr/>
          <p:nvPr/>
        </p:nvSpPr>
        <p:spPr>
          <a:xfrm>
            <a:off x="685800" y="1965960"/>
            <a:ext cx="5577840" cy="2935224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플레이-화면.png" id="809" name="Google Shape;809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05840" y="2103120"/>
            <a:ext cx="4937760" cy="2660904"/>
          </a:xfrm>
          <a:prstGeom prst="rect">
            <a:avLst/>
          </a:prstGeom>
          <a:noFill/>
          <a:ln>
            <a:noFill/>
          </a:ln>
        </p:spPr>
      </p:pic>
      <p:sp>
        <p:nvSpPr>
          <p:cNvPr id="810" name="Google Shape;810;p25"/>
          <p:cNvSpPr txBox="1"/>
          <p:nvPr/>
        </p:nvSpPr>
        <p:spPr>
          <a:xfrm>
            <a:off x="685800" y="4974336"/>
            <a:ext cx="5577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플레이 화면 — 가운데 좁은 띠에서 전투, 아래 메뉴 8종은 상시 노출</a:t>
            </a:r>
            <a:endParaRPr/>
          </a:p>
        </p:txBody>
      </p:sp>
      <p:sp>
        <p:nvSpPr>
          <p:cNvPr id="811" name="Google Shape;811;p25"/>
          <p:cNvSpPr/>
          <p:nvPr/>
        </p:nvSpPr>
        <p:spPr>
          <a:xfrm>
            <a:off x="685800" y="5349240"/>
            <a:ext cx="1298448" cy="54864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2" name="Google Shape;812;p25"/>
          <p:cNvSpPr txBox="1"/>
          <p:nvPr/>
        </p:nvSpPr>
        <p:spPr>
          <a:xfrm>
            <a:off x="685800" y="5394960"/>
            <a:ext cx="129844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기사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최전방 방벽</a:t>
            </a:r>
            <a:endParaRPr/>
          </a:p>
        </p:txBody>
      </p:sp>
      <p:sp>
        <p:nvSpPr>
          <p:cNvPr id="813" name="Google Shape;813;p25"/>
          <p:cNvSpPr/>
          <p:nvPr/>
        </p:nvSpPr>
        <p:spPr>
          <a:xfrm>
            <a:off x="2112264" y="5349240"/>
            <a:ext cx="1298448" cy="54864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4" name="Google Shape;814;p25"/>
          <p:cNvSpPr txBox="1"/>
          <p:nvPr/>
        </p:nvSpPr>
        <p:spPr>
          <a:xfrm>
            <a:off x="2112264" y="5394960"/>
            <a:ext cx="129844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레인저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원거리 연사</a:t>
            </a:r>
            <a:endParaRPr/>
          </a:p>
        </p:txBody>
      </p:sp>
      <p:sp>
        <p:nvSpPr>
          <p:cNvPr id="815" name="Google Shape;815;p25"/>
          <p:cNvSpPr/>
          <p:nvPr/>
        </p:nvSpPr>
        <p:spPr>
          <a:xfrm>
            <a:off x="3538728" y="5349240"/>
            <a:ext cx="1298448" cy="54864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" name="Google Shape;816;p25"/>
          <p:cNvSpPr txBox="1"/>
          <p:nvPr/>
        </p:nvSpPr>
        <p:spPr>
          <a:xfrm>
            <a:off x="3538728" y="5394960"/>
            <a:ext cx="129844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마법사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 스킬 광역</a:t>
            </a:r>
            <a:endParaRPr/>
          </a:p>
        </p:txBody>
      </p:sp>
      <p:sp>
        <p:nvSpPr>
          <p:cNvPr id="817" name="Google Shape;817;p25"/>
          <p:cNvSpPr/>
          <p:nvPr/>
        </p:nvSpPr>
        <p:spPr>
          <a:xfrm>
            <a:off x="4965192" y="5349240"/>
            <a:ext cx="1298448" cy="54864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25"/>
          <p:cNvSpPr txBox="1"/>
          <p:nvPr/>
        </p:nvSpPr>
        <p:spPr>
          <a:xfrm>
            <a:off x="4965192" y="5394960"/>
            <a:ext cx="129844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슬레이어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근접 치명타</a:t>
            </a:r>
            <a:endParaRPr/>
          </a:p>
        </p:txBody>
      </p:sp>
      <p:sp>
        <p:nvSpPr>
          <p:cNvPr id="819" name="Google Shape;819;p25"/>
          <p:cNvSpPr/>
          <p:nvPr/>
        </p:nvSpPr>
        <p:spPr>
          <a:xfrm>
            <a:off x="6611112" y="1965960"/>
            <a:ext cx="4864608" cy="941832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0" name="Google Shape;820;p25"/>
          <p:cNvSpPr/>
          <p:nvPr/>
        </p:nvSpPr>
        <p:spPr>
          <a:xfrm>
            <a:off x="6812280" y="2240279"/>
            <a:ext cx="91440" cy="91440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" name="Google Shape;821;p25"/>
          <p:cNvSpPr txBox="1"/>
          <p:nvPr/>
        </p:nvSpPr>
        <p:spPr>
          <a:xfrm>
            <a:off x="6976872" y="2066543"/>
            <a:ext cx="4315968" cy="740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전투는 전부 자동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파티 3인이 스스로 전진해 사거리에 든 적을 치고, 스킬은 쿨타임마다 알아서 나간다</a:t>
            </a:r>
            <a:endParaRPr/>
          </a:p>
        </p:txBody>
      </p:sp>
      <p:sp>
        <p:nvSpPr>
          <p:cNvPr id="822" name="Google Shape;822;p25"/>
          <p:cNvSpPr/>
          <p:nvPr/>
        </p:nvSpPr>
        <p:spPr>
          <a:xfrm>
            <a:off x="6611112" y="2962656"/>
            <a:ext cx="4864608" cy="941832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3" name="Google Shape;823;p25"/>
          <p:cNvSpPr/>
          <p:nvPr/>
        </p:nvSpPr>
        <p:spPr>
          <a:xfrm>
            <a:off x="6812280" y="3236976"/>
            <a:ext cx="91440" cy="91440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4" name="Google Shape;824;p25"/>
          <p:cNvSpPr txBox="1"/>
          <p:nvPr/>
        </p:nvSpPr>
        <p:spPr>
          <a:xfrm>
            <a:off x="6976872" y="3063240"/>
            <a:ext cx="4315968" cy="740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플레이어가 하는 일은 결정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장비 · 스킬 · 룬 · 파티 편성을 고르는 선택이 조작을 대신한다</a:t>
            </a:r>
            <a:endParaRPr/>
          </a:p>
        </p:txBody>
      </p:sp>
      <p:sp>
        <p:nvSpPr>
          <p:cNvPr id="825" name="Google Shape;825;p25"/>
          <p:cNvSpPr/>
          <p:nvPr/>
        </p:nvSpPr>
        <p:spPr>
          <a:xfrm>
            <a:off x="6611112" y="3959352"/>
            <a:ext cx="4864608" cy="941832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6" name="Google Shape;826;p25"/>
          <p:cNvSpPr/>
          <p:nvPr/>
        </p:nvSpPr>
        <p:spPr>
          <a:xfrm>
            <a:off x="6812280" y="4233672"/>
            <a:ext cx="91440" cy="91440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" name="Google Shape;827;p25"/>
          <p:cNvSpPr txBox="1"/>
          <p:nvPr/>
        </p:nvSpPr>
        <p:spPr>
          <a:xfrm>
            <a:off x="6976872" y="4059936"/>
            <a:ext cx="4315968" cy="740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화면을 가리지 않는다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작업표시줄 위에 얇게 붙는 투명 오버레이 창 · 메뉴 8종은 상시 노출</a:t>
            </a:r>
            <a:endParaRPr/>
          </a:p>
        </p:txBody>
      </p:sp>
      <p:sp>
        <p:nvSpPr>
          <p:cNvPr id="828" name="Google Shape;828;p25"/>
          <p:cNvSpPr/>
          <p:nvPr/>
        </p:nvSpPr>
        <p:spPr>
          <a:xfrm>
            <a:off x="6611112" y="4956048"/>
            <a:ext cx="4864608" cy="941832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9" name="Google Shape;829;p25"/>
          <p:cNvSpPr/>
          <p:nvPr/>
        </p:nvSpPr>
        <p:spPr>
          <a:xfrm>
            <a:off x="6812280" y="5230368"/>
            <a:ext cx="91440" cy="91440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" name="Google Shape;830;p25"/>
          <p:cNvSpPr txBox="1"/>
          <p:nvPr/>
        </p:nvSpPr>
        <p:spPr>
          <a:xfrm>
            <a:off x="6976872" y="5056632"/>
            <a:ext cx="4315968" cy="740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꺼 둔 시간도 성장한다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접속하지 않은 동안의 진행을 재접속 시 오프라인 보상으로 정산한다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4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p26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.png" id="836" name="Google Shape;836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837" name="Google Shape;837;p26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GAME CONTENT</a:t>
            </a:r>
            <a:endParaRPr/>
          </a:p>
        </p:txBody>
      </p:sp>
      <p:sp>
        <p:nvSpPr>
          <p:cNvPr id="838" name="Google Shape;838;p26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9" name="Google Shape;839;p26"/>
          <p:cNvSpPr txBox="1"/>
          <p:nvPr/>
        </p:nvSpPr>
        <p:spPr>
          <a:xfrm>
            <a:off x="685800" y="914400"/>
            <a:ext cx="2874185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10.1  게임 컨텐츠</a:t>
            </a:r>
            <a:endParaRPr b="1" sz="30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40" name="Google Shape;840;p26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25</a:t>
            </a:r>
            <a:endParaRPr/>
          </a:p>
        </p:txBody>
      </p:sp>
      <p:sp>
        <p:nvSpPr>
          <p:cNvPr id="841" name="Google Shape;841;p26"/>
          <p:cNvSpPr/>
          <p:nvPr/>
        </p:nvSpPr>
        <p:spPr>
          <a:xfrm>
            <a:off x="685800" y="1965960"/>
            <a:ext cx="2560320" cy="1874519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03-stage.png" id="842" name="Google Shape;842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031" y="2075688"/>
            <a:ext cx="1799857" cy="1298448"/>
          </a:xfrm>
          <a:prstGeom prst="rect">
            <a:avLst/>
          </a:prstGeom>
          <a:noFill/>
          <a:ln>
            <a:noFill/>
          </a:ln>
        </p:spPr>
      </p:pic>
      <p:sp>
        <p:nvSpPr>
          <p:cNvPr id="843" name="Google Shape;843;p26"/>
          <p:cNvSpPr txBox="1"/>
          <p:nvPr/>
        </p:nvSpPr>
        <p:spPr>
          <a:xfrm>
            <a:off x="813816" y="3429000"/>
            <a:ext cx="2304287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스테이지 · 보스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지역별 스테이지 자동 진행, Act 보스전</a:t>
            </a:r>
            <a:endParaRPr/>
          </a:p>
        </p:txBody>
      </p:sp>
      <p:sp>
        <p:nvSpPr>
          <p:cNvPr id="844" name="Google Shape;844;p26"/>
          <p:cNvSpPr/>
          <p:nvPr/>
        </p:nvSpPr>
        <p:spPr>
          <a:xfrm>
            <a:off x="3429000" y="1965960"/>
            <a:ext cx="2560320" cy="1874519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04-inventory.png" id="845" name="Google Shape;845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208624" y="2075688"/>
            <a:ext cx="1001071" cy="1298448"/>
          </a:xfrm>
          <a:prstGeom prst="rect">
            <a:avLst/>
          </a:prstGeom>
          <a:noFill/>
          <a:ln>
            <a:noFill/>
          </a:ln>
        </p:spPr>
      </p:pic>
      <p:sp>
        <p:nvSpPr>
          <p:cNvPr id="846" name="Google Shape;846;p26"/>
          <p:cNvSpPr txBox="1"/>
          <p:nvPr/>
        </p:nvSpPr>
        <p:spPr>
          <a:xfrm>
            <a:off x="3557016" y="3429000"/>
            <a:ext cx="2304287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가방 · 창고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장비 · 재료 · 소모품 보관, 칸 확장</a:t>
            </a:r>
            <a:endParaRPr/>
          </a:p>
        </p:txBody>
      </p:sp>
      <p:sp>
        <p:nvSpPr>
          <p:cNvPr id="847" name="Google Shape;847;p26"/>
          <p:cNvSpPr/>
          <p:nvPr/>
        </p:nvSpPr>
        <p:spPr>
          <a:xfrm>
            <a:off x="6172200" y="1965960"/>
            <a:ext cx="2560320" cy="1874519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07-cube.png" id="848" name="Google Shape;848;p2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908732" y="2075688"/>
            <a:ext cx="1087254" cy="1298448"/>
          </a:xfrm>
          <a:prstGeom prst="rect">
            <a:avLst/>
          </a:prstGeom>
          <a:noFill/>
          <a:ln>
            <a:noFill/>
          </a:ln>
        </p:spPr>
      </p:pic>
      <p:sp>
        <p:nvSpPr>
          <p:cNvPr id="849" name="Google Shape;849;p26"/>
          <p:cNvSpPr txBox="1"/>
          <p:nvPr/>
        </p:nvSpPr>
        <p:spPr>
          <a:xfrm>
            <a:off x="6300216" y="3429000"/>
            <a:ext cx="2304287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큐브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합성 · 제작 · 연금술 판매</a:t>
            </a:r>
            <a:endParaRPr/>
          </a:p>
        </p:txBody>
      </p:sp>
      <p:sp>
        <p:nvSpPr>
          <p:cNvPr id="850" name="Google Shape;850;p26"/>
          <p:cNvSpPr/>
          <p:nvPr/>
        </p:nvSpPr>
        <p:spPr>
          <a:xfrm>
            <a:off x="8915400" y="1965960"/>
            <a:ext cx="2560320" cy="1874519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05-skill.png" id="851" name="Google Shape;851;p2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692411" y="2075688"/>
            <a:ext cx="1006297" cy="1298448"/>
          </a:xfrm>
          <a:prstGeom prst="rect">
            <a:avLst/>
          </a:prstGeom>
          <a:noFill/>
          <a:ln>
            <a:noFill/>
          </a:ln>
        </p:spPr>
      </p:pic>
      <p:sp>
        <p:nvSpPr>
          <p:cNvPr id="852" name="Google Shape;852;p26"/>
          <p:cNvSpPr txBox="1"/>
          <p:nvPr/>
        </p:nvSpPr>
        <p:spPr>
          <a:xfrm>
            <a:off x="9043416" y="3429000"/>
            <a:ext cx="2304287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성장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스킬 레벨 · 패시브 · 룬 장착</a:t>
            </a:r>
            <a:endParaRPr/>
          </a:p>
        </p:txBody>
      </p:sp>
      <p:sp>
        <p:nvSpPr>
          <p:cNvPr id="853" name="Google Shape;853;p26"/>
          <p:cNvSpPr/>
          <p:nvPr/>
        </p:nvSpPr>
        <p:spPr>
          <a:xfrm>
            <a:off x="685800" y="4023360"/>
            <a:ext cx="2560320" cy="1874519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08-gacha.png" id="854" name="Google Shape;854;p2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266937" y="4133088"/>
            <a:ext cx="1398044" cy="1298448"/>
          </a:xfrm>
          <a:prstGeom prst="rect">
            <a:avLst/>
          </a:prstGeom>
          <a:noFill/>
          <a:ln>
            <a:noFill/>
          </a:ln>
        </p:spPr>
      </p:pic>
      <p:sp>
        <p:nvSpPr>
          <p:cNvPr id="855" name="Google Shape;855;p26"/>
          <p:cNvSpPr txBox="1"/>
          <p:nvPr/>
        </p:nvSpPr>
        <p:spPr>
          <a:xfrm>
            <a:off x="813816" y="5486400"/>
            <a:ext cx="2304287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뽑기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배너별 등급 확률 · 천장 보정</a:t>
            </a:r>
            <a:endParaRPr/>
          </a:p>
        </p:txBody>
      </p:sp>
      <p:sp>
        <p:nvSpPr>
          <p:cNvPr id="856" name="Google Shape;856;p26"/>
          <p:cNvSpPr/>
          <p:nvPr/>
        </p:nvSpPr>
        <p:spPr>
          <a:xfrm>
            <a:off x="3429000" y="4023360"/>
            <a:ext cx="2560320" cy="1874519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09-trade.png" id="857" name="Google Shape;857;p2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153531" y="4133088"/>
            <a:ext cx="1111257" cy="1298448"/>
          </a:xfrm>
          <a:prstGeom prst="rect">
            <a:avLst/>
          </a:prstGeom>
          <a:noFill/>
          <a:ln>
            <a:noFill/>
          </a:ln>
        </p:spPr>
      </p:pic>
      <p:sp>
        <p:nvSpPr>
          <p:cNvPr id="858" name="Google Shape;858;p26"/>
          <p:cNvSpPr txBox="1"/>
          <p:nvPr/>
        </p:nvSpPr>
        <p:spPr>
          <a:xfrm>
            <a:off x="3557016" y="5486400"/>
            <a:ext cx="2304287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거래소 · 교역선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유저 간 시세 거래, 교역선 판매</a:t>
            </a:r>
            <a:endParaRPr/>
          </a:p>
        </p:txBody>
      </p:sp>
      <p:sp>
        <p:nvSpPr>
          <p:cNvPr id="859" name="Google Shape;859;p26"/>
          <p:cNvSpPr/>
          <p:nvPr/>
        </p:nvSpPr>
        <p:spPr>
          <a:xfrm>
            <a:off x="6172200" y="4023360"/>
            <a:ext cx="2560320" cy="1874519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11-attendance.png" id="860" name="Google Shape;860;p2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711326" y="4133088"/>
            <a:ext cx="1482066" cy="1298448"/>
          </a:xfrm>
          <a:prstGeom prst="rect">
            <a:avLst/>
          </a:prstGeom>
          <a:noFill/>
          <a:ln>
            <a:noFill/>
          </a:ln>
        </p:spPr>
      </p:pic>
      <p:sp>
        <p:nvSpPr>
          <p:cNvPr id="861" name="Google Shape;861;p26"/>
          <p:cNvSpPr txBox="1"/>
          <p:nvPr/>
        </p:nvSpPr>
        <p:spPr>
          <a:xfrm>
            <a:off x="6300216" y="5486400"/>
            <a:ext cx="2304287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출석 · 메일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일일 출석 보상, 우편함 수령</a:t>
            </a:r>
            <a:endParaRPr/>
          </a:p>
        </p:txBody>
      </p:sp>
      <p:sp>
        <p:nvSpPr>
          <p:cNvPr id="862" name="Google Shape;862;p26"/>
          <p:cNvSpPr/>
          <p:nvPr/>
        </p:nvSpPr>
        <p:spPr>
          <a:xfrm>
            <a:off x="8915400" y="4023360"/>
            <a:ext cx="2560320" cy="1874519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보스러시-랭킹.png" id="863" name="Google Shape;863;p2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9521058" y="4133088"/>
            <a:ext cx="1349002" cy="1298448"/>
          </a:xfrm>
          <a:prstGeom prst="rect">
            <a:avLst/>
          </a:prstGeom>
          <a:noFill/>
          <a:ln>
            <a:noFill/>
          </a:ln>
        </p:spPr>
      </p:pic>
      <p:sp>
        <p:nvSpPr>
          <p:cNvPr id="864" name="Google Shape;864;p26"/>
          <p:cNvSpPr txBox="1"/>
          <p:nvPr/>
        </p:nvSpPr>
        <p:spPr>
          <a:xfrm>
            <a:off x="9043416" y="5486400"/>
            <a:ext cx="2304287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경쟁 · 보스러시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보스 5종 연속 클리어 · 주간 시즌 랭킹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8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p2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0" name="Google Shape;870;p27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WORKFLOW</a:t>
            </a:r>
            <a:endParaRPr/>
          </a:p>
        </p:txBody>
      </p:sp>
      <p:sp>
        <p:nvSpPr>
          <p:cNvPr id="871" name="Google Shape;871;p27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2" name="Google Shape;872;p27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11.  Claude AI를 이용한 유니티 클라이언트 개발</a:t>
            </a:r>
            <a:endParaRPr b="1" sz="30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73" name="Google Shape;873;p2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26</a:t>
            </a:r>
            <a:endParaRPr/>
          </a:p>
        </p:txBody>
      </p:sp>
      <p:pic>
        <p:nvPicPr>
          <p:cNvPr id="874" name="Google Shape;874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875" name="Google Shape;875;p27"/>
          <p:cNvSpPr txBox="1"/>
          <p:nvPr/>
        </p:nvSpPr>
        <p:spPr>
          <a:xfrm>
            <a:off x="685800" y="1536192"/>
            <a:ext cx="10881360" cy="189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 프로그래머로서 익숙하지 않은 클라이언트 개발에 대해 Claude와 함께 개발하였고, 주로 아래와 같이 자동화하여 효율적으로 작업</a:t>
            </a:r>
            <a:endParaRPr b="0" sz="110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76" name="Google Shape;876;p27"/>
          <p:cNvSpPr/>
          <p:nvPr/>
        </p:nvSpPr>
        <p:spPr>
          <a:xfrm>
            <a:off x="685800" y="1965960"/>
            <a:ext cx="3474720" cy="4069080"/>
          </a:xfrm>
          <a:prstGeom prst="roundRect">
            <a:avLst>
              <a:gd fmla="val 4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7" name="Google Shape;877;p27"/>
          <p:cNvSpPr/>
          <p:nvPr/>
        </p:nvSpPr>
        <p:spPr>
          <a:xfrm>
            <a:off x="914400" y="2148840"/>
            <a:ext cx="3017520" cy="1737360"/>
          </a:xfrm>
          <a:prstGeom prst="roundRect">
            <a:avLst>
              <a:gd fmla="val 3000" name="adj"/>
            </a:avLst>
          </a:prstGeom>
          <a:solidFill>
            <a:srgbClr val="1220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ound_panel.png" id="878" name="Google Shape;878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14400" y="2149403"/>
            <a:ext cx="3017519" cy="1736234"/>
          </a:xfrm>
          <a:prstGeom prst="rect">
            <a:avLst/>
          </a:prstGeom>
          <a:noFill/>
          <a:ln>
            <a:noFill/>
          </a:ln>
        </p:spPr>
      </p:pic>
      <p:sp>
        <p:nvSpPr>
          <p:cNvPr id="879" name="Google Shape;879;p27"/>
          <p:cNvSpPr txBox="1"/>
          <p:nvPr/>
        </p:nvSpPr>
        <p:spPr>
          <a:xfrm>
            <a:off x="914400" y="3931920"/>
            <a:ext cx="3017520" cy="1549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사운드 리소스 관리 문서</a:t>
            </a: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— ID · 길이 · 생성 · 적용 현황</a:t>
            </a:r>
            <a:endParaRPr b="0" sz="90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80" name="Google Shape;880;p27"/>
          <p:cNvSpPr txBox="1"/>
          <p:nvPr/>
        </p:nvSpPr>
        <p:spPr>
          <a:xfrm>
            <a:off x="914400" y="4206240"/>
            <a:ext cx="3017520" cy="2169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사운드 · BGM</a:t>
            </a:r>
            <a:endParaRPr/>
          </a:p>
        </p:txBody>
      </p:sp>
      <p:sp>
        <p:nvSpPr>
          <p:cNvPr id="881" name="Google Shape;881;p27"/>
          <p:cNvSpPr txBox="1"/>
          <p:nvPr/>
        </p:nvSpPr>
        <p:spPr>
          <a:xfrm>
            <a:off x="1638556" y="4251960"/>
            <a:ext cx="229336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12장</a:t>
            </a:r>
            <a:endParaRPr/>
          </a:p>
        </p:txBody>
      </p:sp>
      <p:sp>
        <p:nvSpPr>
          <p:cNvPr id="882" name="Google Shape;882;p27"/>
          <p:cNvSpPr/>
          <p:nvPr/>
        </p:nvSpPr>
        <p:spPr>
          <a:xfrm>
            <a:off x="914400" y="4663440"/>
            <a:ext cx="457200" cy="27432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3" name="Google Shape;883;p27"/>
          <p:cNvSpPr txBox="1"/>
          <p:nvPr/>
        </p:nvSpPr>
        <p:spPr>
          <a:xfrm>
            <a:off x="914400" y="4800600"/>
            <a:ext cx="3017520" cy="7908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Stable Audio AI 모델을 사용하여 사운드 리소스 생성</a:t>
            </a:r>
            <a:endParaRPr b="0" sz="10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</a:t>
            </a:r>
            <a:r>
              <a:rPr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사운드 생성 후, 클라이언트의 Assets/Sounds/ 경로에 사운드 종류별로 정리</a:t>
            </a:r>
            <a:endParaRPr b="0" sz="10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84" name="Google Shape;884;p27"/>
          <p:cNvSpPr/>
          <p:nvPr/>
        </p:nvSpPr>
        <p:spPr>
          <a:xfrm>
            <a:off x="4343400" y="1965960"/>
            <a:ext cx="3474720" cy="4069080"/>
          </a:xfrm>
          <a:prstGeom prst="roundRect">
            <a:avLst>
              <a:gd fmla="val 4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5" name="Google Shape;885;p27"/>
          <p:cNvSpPr/>
          <p:nvPr/>
        </p:nvSpPr>
        <p:spPr>
          <a:xfrm>
            <a:off x="4572000" y="2148840"/>
            <a:ext cx="3017520" cy="1737360"/>
          </a:xfrm>
          <a:prstGeom prst="roundRect">
            <a:avLst>
              <a:gd fmla="val 3000" name="adj"/>
            </a:avLst>
          </a:prstGeom>
          <a:solidFill>
            <a:srgbClr val="1220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886" name="Google Shape;886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72000" y="2457450"/>
            <a:ext cx="3017520" cy="1120140"/>
          </a:xfrm>
          <a:prstGeom prst="rect">
            <a:avLst/>
          </a:prstGeom>
          <a:noFill/>
          <a:ln>
            <a:noFill/>
          </a:ln>
        </p:spPr>
      </p:pic>
      <p:sp>
        <p:nvSpPr>
          <p:cNvPr id="887" name="Google Shape;887;p27"/>
          <p:cNvSpPr txBox="1"/>
          <p:nvPr/>
        </p:nvSpPr>
        <p:spPr>
          <a:xfrm>
            <a:off x="4572000" y="3931920"/>
            <a:ext cx="3017520" cy="1549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인게임에 적용된 몬스터들</a:t>
            </a:r>
            <a:endParaRPr b="0" sz="90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88" name="Google Shape;888;p27"/>
          <p:cNvSpPr txBox="1"/>
          <p:nvPr/>
        </p:nvSpPr>
        <p:spPr>
          <a:xfrm>
            <a:off x="4572000" y="4206240"/>
            <a:ext cx="3017520" cy="2169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</a:t>
            </a:r>
            <a:endParaRPr b="1" sz="14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89" name="Google Shape;889;p27"/>
          <p:cNvSpPr txBox="1"/>
          <p:nvPr/>
        </p:nvSpPr>
        <p:spPr>
          <a:xfrm>
            <a:off x="7063586" y="4251960"/>
            <a:ext cx="525933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13장</a:t>
            </a:r>
            <a:endParaRPr/>
          </a:p>
        </p:txBody>
      </p:sp>
      <p:sp>
        <p:nvSpPr>
          <p:cNvPr id="890" name="Google Shape;890;p27"/>
          <p:cNvSpPr/>
          <p:nvPr/>
        </p:nvSpPr>
        <p:spPr>
          <a:xfrm>
            <a:off x="4572000" y="4663440"/>
            <a:ext cx="457200" cy="27432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1" name="Google Shape;891;p27"/>
          <p:cNvSpPr txBox="1"/>
          <p:nvPr/>
        </p:nvSpPr>
        <p:spPr>
          <a:xfrm>
            <a:off x="4572000" y="4800600"/>
            <a:ext cx="3017520" cy="10424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 이름과 외형에 대해 프롬프트를 입력하여 컨셉에 맞는 외형을 자동으로 결정</a:t>
            </a:r>
            <a:endParaRPr b="0" sz="10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몬스터를 어떤 지역의 몇 스테이지에 스폰 시키는 것까지 확정하여 인게임 적용을 자동화</a:t>
            </a:r>
            <a:endParaRPr b="0" sz="10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ex) </a:t>
            </a:r>
            <a:endParaRPr b="0" sz="10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92" name="Google Shape;892;p27"/>
          <p:cNvSpPr/>
          <p:nvPr/>
        </p:nvSpPr>
        <p:spPr>
          <a:xfrm>
            <a:off x="8001000" y="1965960"/>
            <a:ext cx="3474720" cy="4069080"/>
          </a:xfrm>
          <a:prstGeom prst="roundRect">
            <a:avLst>
              <a:gd fmla="val 4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3" name="Google Shape;893;p27"/>
          <p:cNvSpPr/>
          <p:nvPr/>
        </p:nvSpPr>
        <p:spPr>
          <a:xfrm>
            <a:off x="8229600" y="2148840"/>
            <a:ext cx="3017520" cy="1737360"/>
          </a:xfrm>
          <a:prstGeom prst="roundRect">
            <a:avLst>
              <a:gd fmla="val 3000" name="adj"/>
            </a:avLst>
          </a:prstGeom>
          <a:solidFill>
            <a:srgbClr val="1220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894" name="Google Shape;894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444204" y="2148840"/>
            <a:ext cx="2588311" cy="1737360"/>
          </a:xfrm>
          <a:prstGeom prst="rect">
            <a:avLst/>
          </a:prstGeom>
          <a:noFill/>
          <a:ln>
            <a:noFill/>
          </a:ln>
        </p:spPr>
      </p:pic>
      <p:sp>
        <p:nvSpPr>
          <p:cNvPr id="895" name="Google Shape;895;p27"/>
          <p:cNvSpPr txBox="1"/>
          <p:nvPr/>
        </p:nvSpPr>
        <p:spPr>
          <a:xfrm>
            <a:off x="8229600" y="3931920"/>
            <a:ext cx="3017520" cy="1549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AI를 통해 제작된 아이템 아이콘들</a:t>
            </a:r>
            <a:endParaRPr b="0" sz="90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96" name="Google Shape;896;p27"/>
          <p:cNvSpPr txBox="1"/>
          <p:nvPr/>
        </p:nvSpPr>
        <p:spPr>
          <a:xfrm>
            <a:off x="8229600" y="4206240"/>
            <a:ext cx="3017520" cy="2169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아이템 아이콘</a:t>
            </a:r>
            <a:endParaRPr b="1" sz="14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97" name="Google Shape;897;p27"/>
          <p:cNvSpPr txBox="1"/>
          <p:nvPr/>
        </p:nvSpPr>
        <p:spPr>
          <a:xfrm>
            <a:off x="10641406" y="4251960"/>
            <a:ext cx="605713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14장</a:t>
            </a:r>
            <a:endParaRPr/>
          </a:p>
        </p:txBody>
      </p:sp>
      <p:sp>
        <p:nvSpPr>
          <p:cNvPr id="898" name="Google Shape;898;p27"/>
          <p:cNvSpPr/>
          <p:nvPr/>
        </p:nvSpPr>
        <p:spPr>
          <a:xfrm>
            <a:off x="8229600" y="4663440"/>
            <a:ext cx="457200" cy="27432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9" name="Google Shape;899;p27"/>
          <p:cNvSpPr txBox="1"/>
          <p:nvPr/>
        </p:nvSpPr>
        <p:spPr>
          <a:xfrm>
            <a:off x="8229600" y="4800600"/>
            <a:ext cx="3017520" cy="8291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등급 · 슬롯 규칙대로 코드가 픽셀 아트풍 아이콘을 생성한다.</a:t>
            </a:r>
            <a:endParaRPr b="0" sz="10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master-item 스킬 한 번에 정본 · 아이콘 · DB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item_{code}.png로 마스터 행과 자동 연결</a:t>
            </a:r>
            <a:endParaRPr b="0" sz="10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3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p28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5" name="Google Shape;905;p2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27</a:t>
            </a:r>
            <a:endParaRPr/>
          </a:p>
        </p:txBody>
      </p:sp>
      <p:pic>
        <p:nvPicPr>
          <p:cNvPr descr="image.png" id="906" name="Google Shape;906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907" name="Google Shape;907;p28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SOUND</a:t>
            </a:r>
            <a:endParaRPr/>
          </a:p>
        </p:txBody>
      </p:sp>
      <p:sp>
        <p:nvSpPr>
          <p:cNvPr id="908" name="Google Shape;908;p28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9" name="Google Shape;909;p28"/>
          <p:cNvSpPr txBox="1"/>
          <p:nvPr/>
        </p:nvSpPr>
        <p:spPr>
          <a:xfrm>
            <a:off x="685800" y="914400"/>
            <a:ext cx="10881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12.  사운드 리소스 생성 </a:t>
            </a: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및 관리</a:t>
            </a: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- Stable Audio 모델 활용</a:t>
            </a:r>
            <a:endParaRPr b="1" sz="30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10" name="Google Shape;910;p28"/>
          <p:cNvSpPr txBox="1"/>
          <p:nvPr/>
        </p:nvSpPr>
        <p:spPr>
          <a:xfrm>
            <a:off x="685800" y="1536192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BGM · 징글부터 UI 클릭음까지 75종 전부, 외부 음원 없이 텍스트→오디오 모델 Stable Audio(stable-audio-2.5)로 만들었다</a:t>
            </a:r>
            <a:endParaRPr/>
          </a:p>
        </p:txBody>
      </p:sp>
      <p:sp>
        <p:nvSpPr>
          <p:cNvPr id="911" name="Google Shape;911;p28"/>
          <p:cNvSpPr/>
          <p:nvPr/>
        </p:nvSpPr>
        <p:spPr>
          <a:xfrm>
            <a:off x="685800" y="1993392"/>
            <a:ext cx="1572768" cy="96012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/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정의서에</a:t>
            </a:r>
            <a:endParaRPr/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목록 · 트리거 확정</a:t>
            </a:r>
            <a:endParaRPr/>
          </a:p>
        </p:txBody>
      </p:sp>
      <p:sp>
        <p:nvSpPr>
          <p:cNvPr id="912" name="Google Shape;912;p28"/>
          <p:cNvSpPr txBox="1"/>
          <p:nvPr/>
        </p:nvSpPr>
        <p:spPr>
          <a:xfrm>
            <a:off x="2258568" y="2267712"/>
            <a:ext cx="274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/>
          </a:p>
        </p:txBody>
      </p:sp>
      <p:sp>
        <p:nvSpPr>
          <p:cNvPr id="913" name="Google Shape;913;p28"/>
          <p:cNvSpPr/>
          <p:nvPr/>
        </p:nvSpPr>
        <p:spPr>
          <a:xfrm>
            <a:off x="2529230" y="1993392"/>
            <a:ext cx="1572768" cy="96012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/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영어 프롬프트</a:t>
            </a:r>
            <a:endParaRPr/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작성</a:t>
            </a:r>
            <a:endParaRPr/>
          </a:p>
        </p:txBody>
      </p:sp>
      <p:sp>
        <p:nvSpPr>
          <p:cNvPr id="914" name="Google Shape;914;p28"/>
          <p:cNvSpPr txBox="1"/>
          <p:nvPr/>
        </p:nvSpPr>
        <p:spPr>
          <a:xfrm>
            <a:off x="4101998" y="2267712"/>
            <a:ext cx="274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/>
          </a:p>
        </p:txBody>
      </p:sp>
      <p:sp>
        <p:nvSpPr>
          <p:cNvPr id="915" name="Google Shape;915;p28"/>
          <p:cNvSpPr/>
          <p:nvPr/>
        </p:nvSpPr>
        <p:spPr>
          <a:xfrm>
            <a:off x="4372660" y="1993392"/>
            <a:ext cx="1572768" cy="96012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/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Stable Audio 호출</a:t>
            </a:r>
            <a:endParaRPr/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stable-audio-2.5</a:t>
            </a:r>
            <a:endParaRPr/>
          </a:p>
        </p:txBody>
      </p:sp>
      <p:sp>
        <p:nvSpPr>
          <p:cNvPr id="916" name="Google Shape;916;p28"/>
          <p:cNvSpPr txBox="1"/>
          <p:nvPr/>
        </p:nvSpPr>
        <p:spPr>
          <a:xfrm>
            <a:off x="5945428" y="2267712"/>
            <a:ext cx="274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/>
          </a:p>
        </p:txBody>
      </p:sp>
      <p:sp>
        <p:nvSpPr>
          <p:cNvPr id="917" name="Google Shape;917;p28"/>
          <p:cNvSpPr/>
          <p:nvPr/>
        </p:nvSpPr>
        <p:spPr>
          <a:xfrm>
            <a:off x="6216091" y="1993392"/>
            <a:ext cx="1572768" cy="96012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/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길이 · 포맷</a:t>
            </a:r>
            <a:endParaRPr/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자동 검증</a:t>
            </a:r>
            <a:endParaRPr/>
          </a:p>
        </p:txBody>
      </p:sp>
      <p:sp>
        <p:nvSpPr>
          <p:cNvPr id="918" name="Google Shape;918;p28"/>
          <p:cNvSpPr txBox="1"/>
          <p:nvPr/>
        </p:nvSpPr>
        <p:spPr>
          <a:xfrm>
            <a:off x="7788859" y="2267712"/>
            <a:ext cx="274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/>
          </a:p>
        </p:txBody>
      </p:sp>
      <p:sp>
        <p:nvSpPr>
          <p:cNvPr id="919" name="Google Shape;919;p28"/>
          <p:cNvSpPr/>
          <p:nvPr/>
        </p:nvSpPr>
        <p:spPr>
          <a:xfrm>
            <a:off x="8059521" y="1993392"/>
            <a:ext cx="1572768" cy="96012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/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Unity 임포트</a:t>
            </a:r>
            <a:endParaRPr/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설정 교정</a:t>
            </a:r>
            <a:endParaRPr/>
          </a:p>
        </p:txBody>
      </p:sp>
      <p:sp>
        <p:nvSpPr>
          <p:cNvPr id="920" name="Google Shape;920;p28"/>
          <p:cNvSpPr txBox="1"/>
          <p:nvPr/>
        </p:nvSpPr>
        <p:spPr>
          <a:xfrm>
            <a:off x="9632289" y="2267712"/>
            <a:ext cx="274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/>
          </a:p>
        </p:txBody>
      </p:sp>
      <p:sp>
        <p:nvSpPr>
          <p:cNvPr id="921" name="Google Shape;921;p28"/>
          <p:cNvSpPr/>
          <p:nvPr/>
        </p:nvSpPr>
        <p:spPr>
          <a:xfrm>
            <a:off x="9902952" y="1993392"/>
            <a:ext cx="1572768" cy="96012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/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재생 지점</a:t>
            </a:r>
            <a:endParaRPr/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배선</a:t>
            </a:r>
            <a:endParaRPr/>
          </a:p>
        </p:txBody>
      </p:sp>
      <p:graphicFrame>
        <p:nvGraphicFramePr>
          <p:cNvPr id="922" name="Google Shape;922;p28"/>
          <p:cNvGraphicFramePr/>
          <p:nvPr/>
        </p:nvGraphicFramePr>
        <p:xfrm>
          <a:off x="685800" y="3218688"/>
          <a:ext cx="3000000" cy="3000000"/>
        </p:xfrm>
        <a:graphic>
          <a:graphicData uri="http://schemas.openxmlformats.org/drawingml/2006/table">
            <a:tbl>
              <a:tblPr firstRow="1">
                <a:noFill/>
                <a:tableStyleId>{0920BB19-57F9-4C89-9F9F-E896671911AF}</a:tableStyleId>
              </a:tblPr>
              <a:tblGrid>
                <a:gridCol w="1188725"/>
                <a:gridCol w="1463050"/>
                <a:gridCol w="1463050"/>
                <a:gridCol w="1371600"/>
                <a:gridCol w="1554475"/>
                <a:gridCol w="1234450"/>
                <a:gridCol w="1417325"/>
                <a:gridCol w="1097275"/>
              </a:tblGrid>
              <a:tr h="384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구분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BGM · 징글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UI · 시스템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전투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성장 · 편의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가챠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보스러시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합계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12203A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종수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21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26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 u="none" cap="none" strike="noStrik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2F6FE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75</a:t>
                      </a:r>
                      <a:endParaRPr/>
                    </a:p>
                  </a:txBody>
                  <a:tcPr marT="36575" marB="36575" marR="73150" marL="1005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3" name="Google Shape;923;p28"/>
          <p:cNvSpPr/>
          <p:nvPr/>
        </p:nvSpPr>
        <p:spPr>
          <a:xfrm>
            <a:off x="685800" y="4279397"/>
            <a:ext cx="10789800" cy="12009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4" name="Google Shape;924;p28"/>
          <p:cNvSpPr txBox="1"/>
          <p:nvPr/>
        </p:nvSpPr>
        <p:spPr>
          <a:xfrm>
            <a:off x="960120" y="4480560"/>
            <a:ext cx="10241400" cy="8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사운드 </a:t>
            </a:r>
            <a:r>
              <a:rPr b="1" lang="en-US" sz="13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생성 도구 — tools/poe-sfx/generate_sound.py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모델은 Stability AI의 Stable Audio 2.5</a:t>
            </a: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— Poe의 OpenAI 호환 API로 호출한다.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목록(TSV)을 </a:t>
            </a: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4개씩 병렬</a:t>
            </a: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 돌리고 이미 있는 파일은 건너뛴다 — 중단 후 재실행이 안전하고, 재생성은 그 파일만 지우고 다시 돌린다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 트랙이 Stable Audio로 만든 오리지널 오디오</a:t>
            </a: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 — 외부 음원을 쓸 경우 상용 제약이 없는 것만 쓰고 확보처를 정의서에 적는다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8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30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930" name="Google Shape;930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931" name="Google Shape;931;p30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FOLDER LAYOUT</a:t>
            </a:r>
            <a:endParaRPr/>
          </a:p>
        </p:txBody>
      </p:sp>
      <p:sp>
        <p:nvSpPr>
          <p:cNvPr id="932" name="Google Shape;932;p30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3" name="Google Shape;933;p30"/>
          <p:cNvSpPr txBox="1"/>
          <p:nvPr/>
        </p:nvSpPr>
        <p:spPr>
          <a:xfrm>
            <a:off x="685800" y="914400"/>
            <a:ext cx="10881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12.1  </a:t>
            </a: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사운드 리소스 관리</a:t>
            </a: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— </a:t>
            </a: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사운드 종류별 정리</a:t>
            </a:r>
            <a:endParaRPr/>
          </a:p>
        </p:txBody>
      </p:sp>
      <p:sp>
        <p:nvSpPr>
          <p:cNvPr id="934" name="Google Shape;934;p30"/>
          <p:cNvSpPr txBox="1"/>
          <p:nvPr/>
        </p:nvSpPr>
        <p:spPr>
          <a:xfrm>
            <a:off x="685800" y="1536192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카테고리 폴더까지만 나누고 그 안에서 더 쪼개지 않는다 — 파일명이 곧 ID라서, 경로는 코드가 아니라 사람이 찾기 위한 것이다</a:t>
            </a:r>
            <a:endParaRPr/>
          </a:p>
        </p:txBody>
      </p:sp>
      <p:sp>
        <p:nvSpPr>
          <p:cNvPr id="935" name="Google Shape;935;p30"/>
          <p:cNvSpPr/>
          <p:nvPr/>
        </p:nvSpPr>
        <p:spPr>
          <a:xfrm>
            <a:off x="685800" y="1993392"/>
            <a:ext cx="6400800" cy="4270248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6" name="Google Shape;936;p30"/>
          <p:cNvSpPr txBox="1"/>
          <p:nvPr/>
        </p:nvSpPr>
        <p:spPr>
          <a:xfrm>
            <a:off x="914400" y="2148840"/>
            <a:ext cx="5943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com2us-taskbar-hero-client/Assets/Sound/</a:t>
            </a:r>
            <a:endParaRPr/>
          </a:p>
          <a:p>
            <a:pPr indent="0" lvl="0" marL="0" marR="0" rtl="0" algn="l">
              <a:lnSpc>
                <a:spcPct val="17894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Stable Audio로 만든 mp3는 전부 이 아래에만 놓인다 · 오른쪽 숫자 = 실제 파일 수</a:t>
            </a:r>
            <a:endParaRPr/>
          </a:p>
        </p:txBody>
      </p:sp>
      <p:sp>
        <p:nvSpPr>
          <p:cNvPr id="937" name="Google Shape;937;p30"/>
          <p:cNvSpPr txBox="1"/>
          <p:nvPr/>
        </p:nvSpPr>
        <p:spPr>
          <a:xfrm>
            <a:off x="914400" y="2606040"/>
            <a:ext cx="1920240" cy="30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Assets/</a:t>
            </a:r>
            <a:endParaRPr/>
          </a:p>
          <a:p>
            <a:pPr indent="0" lvl="0" marL="0" marR="0" rtl="0" algn="l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└─ Sound/</a:t>
            </a:r>
            <a:endParaRPr/>
          </a:p>
          <a:p>
            <a:pPr indent="0" lvl="0" marL="0" marR="0" rtl="0" algn="l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├─ BGM/</a:t>
            </a:r>
            <a:endParaRPr/>
          </a:p>
          <a:p>
            <a:pPr indent="0" lvl="0" marL="0" marR="0" rtl="0" algn="l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└─ SFX/</a:t>
            </a:r>
            <a:endParaRPr/>
          </a:p>
          <a:p>
            <a:pPr indent="0" lvl="0" marL="0" marR="0" rtl="0" algn="l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├─ UI/</a:t>
            </a:r>
            <a:endParaRPr/>
          </a:p>
          <a:p>
            <a:pPr indent="0" lvl="0" marL="0" marR="0" rtl="0" algn="l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├─ System/</a:t>
            </a:r>
            <a:endParaRPr/>
          </a:p>
          <a:p>
            <a:pPr indent="0" lvl="0" marL="0" marR="0" rtl="0" algn="l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├─ Battle/</a:t>
            </a:r>
            <a:endParaRPr/>
          </a:p>
          <a:p>
            <a:pPr indent="0" lvl="0" marL="0" marR="0" rtl="0" algn="l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│  ├─ Common/</a:t>
            </a:r>
            <a:endParaRPr/>
          </a:p>
          <a:p>
            <a:pPr indent="0" lvl="0" marL="0" marR="0" rtl="0" algn="l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│  ├─ Knight/</a:t>
            </a:r>
            <a:endParaRPr/>
          </a:p>
          <a:p>
            <a:pPr indent="0" lvl="0" marL="0" marR="0" rtl="0" algn="l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│  ├─ Archer/</a:t>
            </a:r>
            <a:endParaRPr/>
          </a:p>
          <a:p>
            <a:pPr indent="0" lvl="0" marL="0" marR="0" rtl="0" algn="l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│  ├─ Mage/</a:t>
            </a:r>
            <a:endParaRPr/>
          </a:p>
          <a:p>
            <a:pPr indent="0" lvl="0" marL="0" marR="0" rtl="0" algn="l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│  ├─ Slayer/</a:t>
            </a:r>
            <a:endParaRPr/>
          </a:p>
          <a:p>
            <a:pPr indent="0" lvl="0" marL="0" marR="0" rtl="0" algn="l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│  └─ Monster/</a:t>
            </a:r>
            <a:endParaRPr/>
          </a:p>
          <a:p>
            <a:pPr indent="0" lvl="0" marL="0" marR="0" rtl="0" algn="l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├─ Growth/</a:t>
            </a:r>
            <a:endParaRPr/>
          </a:p>
          <a:p>
            <a:pPr indent="0" lvl="0" marL="0" marR="0" rtl="0" algn="l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├─ Gacha/</a:t>
            </a:r>
            <a:endParaRPr/>
          </a:p>
          <a:p>
            <a:pPr indent="0" lvl="0" marL="0" marR="0" rtl="0" algn="l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└─ BossRush/</a:t>
            </a:r>
            <a:endParaRPr/>
          </a:p>
        </p:txBody>
      </p:sp>
      <p:sp>
        <p:nvSpPr>
          <p:cNvPr id="938" name="Google Shape;938;p30"/>
          <p:cNvSpPr txBox="1"/>
          <p:nvPr/>
        </p:nvSpPr>
        <p:spPr>
          <a:xfrm>
            <a:off x="2834640" y="2606040"/>
            <a:ext cx="411480" cy="30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r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75</a:t>
            </a:r>
            <a:endParaRPr/>
          </a:p>
          <a:p>
            <a:pPr indent="0" lvl="0" marL="0" marR="0" rtl="0" algn="r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  <a:endParaRPr/>
          </a:p>
          <a:p>
            <a:pPr indent="0" lvl="0" marL="0" marR="0" rtl="0" algn="r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65</a:t>
            </a:r>
            <a:endParaRPr/>
          </a:p>
          <a:p>
            <a:pPr indent="0" lvl="0" marL="0" marR="0" rtl="0" algn="r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r>
            <a:endParaRPr/>
          </a:p>
          <a:p>
            <a:pPr indent="0" lvl="0" marL="0" marR="0" rtl="0" algn="r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/>
          </a:p>
          <a:p>
            <a:pPr indent="0" lvl="0" marL="0" marR="0" rtl="0" algn="r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26</a:t>
            </a:r>
            <a:endParaRPr/>
          </a:p>
          <a:p>
            <a:pPr indent="0" lvl="0" marL="0" marR="0" rtl="0" algn="r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/>
          </a:p>
          <a:p>
            <a:pPr indent="0" lvl="0" marL="0" marR="0" rtl="0" algn="r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/>
          </a:p>
          <a:p>
            <a:pPr indent="0" lvl="0" marL="0" marR="0" rtl="0" algn="r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/>
          </a:p>
          <a:p>
            <a:pPr indent="0" lvl="0" marL="0" marR="0" rtl="0" algn="r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/>
          </a:p>
          <a:p>
            <a:pPr indent="0" lvl="0" marL="0" marR="0" rtl="0" algn="r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/>
          </a:p>
          <a:p>
            <a:pPr indent="0" lvl="0" marL="0" marR="0" rtl="0" algn="r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/>
          </a:p>
          <a:p>
            <a:pPr indent="0" lvl="0" marL="0" marR="0" rtl="0" algn="r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/>
          </a:p>
          <a:p>
            <a:pPr indent="0" lvl="0" marL="0" marR="0" rtl="0" algn="r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/>
          </a:p>
          <a:p>
            <a:pPr indent="0" lvl="0" marL="0" marR="0" rtl="0" algn="r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/>
          </a:p>
        </p:txBody>
      </p:sp>
      <p:sp>
        <p:nvSpPr>
          <p:cNvPr id="939" name="Google Shape;939;p30"/>
          <p:cNvSpPr txBox="1"/>
          <p:nvPr/>
        </p:nvSpPr>
        <p:spPr>
          <a:xfrm>
            <a:off x="3383280" y="2606040"/>
            <a:ext cx="3474720" cy="30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생성한 mp3가 놓이는 유일한 자리</a:t>
            </a:r>
            <a:endParaRPr/>
          </a:p>
          <a:p>
            <a:pPr indent="0" lvl="0" marL="0" marR="0" rtl="0" algn="l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배경음 루프 90초 · 연출 징글</a:t>
            </a:r>
            <a:endParaRPr/>
          </a:p>
          <a:p>
            <a:pPr indent="0" lvl="0" marL="0" marR="0" rtl="0" algn="l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효과음 1~2초</a:t>
            </a:r>
            <a:endParaRPr/>
          </a:p>
          <a:p>
            <a:pPr indent="0" lvl="0" marL="0" marR="0" rtl="0" algn="l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버튼 · 패널 · 모달 공통</a:t>
            </a:r>
            <a:endParaRPr/>
          </a:p>
          <a:p>
            <a:pPr indent="0" lvl="0" marL="0" marR="0" rtl="0" algn="l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타이틀 · 계정 · 씬 전환 · 캐릭터 생성</a:t>
            </a:r>
            <a:endParaRPr/>
          </a:p>
          <a:p>
            <a:pPr indent="0" lvl="0" marL="0" marR="0" rtl="0" algn="l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여기만 한 단계 더 — 직업별로 나눈다</a:t>
            </a:r>
            <a:endParaRPr/>
          </a:p>
          <a:p>
            <a:pPr indent="0" lvl="0" marL="0" marR="0" rtl="0" algn="l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입장 · 피격 · 사망 · 레벨업 · 보상</a:t>
            </a:r>
            <a:endParaRPr/>
          </a:p>
          <a:p>
            <a:pPr indent="0" lvl="0" marL="0" marR="0" rtl="0" algn="l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기사</a:t>
            </a:r>
            <a:endParaRPr/>
          </a:p>
          <a:p>
            <a:pPr indent="0" lvl="0" marL="0" marR="0" rtl="0" algn="l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레인저</a:t>
            </a:r>
            <a:endParaRPr/>
          </a:p>
          <a:p>
            <a:pPr indent="0" lvl="0" marL="0" marR="0" rtl="0" algn="l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마법사</a:t>
            </a:r>
            <a:endParaRPr/>
          </a:p>
          <a:p>
            <a:pPr indent="0" lvl="0" marL="0" marR="0" rtl="0" algn="l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슬레이어</a:t>
            </a:r>
            <a:endParaRPr/>
          </a:p>
          <a:p>
            <a:pPr indent="0" lvl="0" marL="0" marR="0" rtl="0" algn="l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 · 보스</a:t>
            </a:r>
            <a:endParaRPr/>
          </a:p>
          <a:p>
            <a:pPr indent="0" lvl="0" marL="0" marR="0" rtl="0" algn="l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인벤토리 · 스킬 · 룬 · 큐브 · 메일 · 출석</a:t>
            </a:r>
            <a:endParaRPr/>
          </a:p>
          <a:p>
            <a:pPr indent="0" lvl="0" marL="0" marR="0" rtl="0" algn="l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뽑기 시전 · 슬롯 공개 · 등급 연출</a:t>
            </a:r>
            <a:endParaRPr/>
          </a:p>
          <a:p>
            <a:pPr indent="0" lvl="0" marL="0" marR="0" rtl="0" algn="l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포탈 · 도전 시작 · 신기록</a:t>
            </a:r>
            <a:endParaRPr/>
          </a:p>
        </p:txBody>
      </p:sp>
      <p:sp>
        <p:nvSpPr>
          <p:cNvPr id="940" name="Google Shape;940;p30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28</a:t>
            </a:r>
            <a:endParaRPr/>
          </a:p>
        </p:txBody>
      </p:sp>
      <p:sp>
        <p:nvSpPr>
          <p:cNvPr id="941" name="SH Wire Card"/>
          <p:cNvSpPr/>
          <p:nvPr/>
        </p:nvSpPr>
        <p:spPr>
          <a:xfrm>
            <a:off x="7269480" y="1993392"/>
            <a:ext cx="4206240" cy="42702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2" name="TB Wire Head"/>
          <p:cNvSpPr txBox="1"/>
          <p:nvPr/>
        </p:nvSpPr>
        <p:spPr>
          <a:xfrm>
            <a:off x="7498080" y="2148840"/>
            <a:ext cx="3749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2F6FE4"/>
                </a:solidFill>
                <a:latin typeface="맑은 고딕"/>
              </a:rPr>
              <a:t>폴더에 넣기만 하면 코드가 찾아 쓴다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>
                <a:solidFill>
                  <a:srgbClr val="6B7684"/>
                </a:solidFill>
                <a:latin typeface="맑은 고딕"/>
              </a:rPr>
              <a:t>경로는 코드 어디에도 없다 — 파일명이 곧 ID다</a:t>
            </a:r>
          </a:p>
        </p:txBody>
      </p:sp>
      <p:sp>
        <p:nvSpPr>
          <p:cNvPr id="943" name="SH Wire 0"/>
          <p:cNvSpPr/>
          <p:nvPr/>
        </p:nvSpPr>
        <p:spPr>
          <a:xfrm>
            <a:off x="7452360" y="2743200"/>
            <a:ext cx="3840480" cy="4434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4" name="TB Wire Name 0"/>
          <p:cNvSpPr txBox="1"/>
          <p:nvPr/>
        </p:nvSpPr>
        <p:spPr>
          <a:xfrm>
            <a:off x="7589520" y="2811780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E0A526"/>
                </a:solidFill>
                <a:latin typeface="맑은 고딕"/>
              </a:rPr>
              <a:t>01  </a:t>
            </a:r>
            <a:r>
              <a:rPr sz="1050" b="1">
                <a:solidFill>
                  <a:srgbClr val="1B2430"/>
                </a:solidFill>
                <a:latin typeface="Consolas"/>
              </a:rPr>
              <a:t>sfx_ui_click.mp3</a:t>
            </a:r>
          </a:p>
        </p:txBody>
      </p:sp>
      <p:sp>
        <p:nvSpPr>
          <p:cNvPr id="945" name="TB Wire Note 0"/>
          <p:cNvSpPr txBox="1"/>
          <p:nvPr/>
        </p:nvSpPr>
        <p:spPr>
          <a:xfrm>
            <a:off x="7589520" y="3008376"/>
            <a:ext cx="3566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684"/>
                </a:solidFill>
                <a:latin typeface="맑은 고딕"/>
              </a:rPr>
              <a:t>Assets/Sound/SFX/UI/ 에 파일을 넣는다</a:t>
            </a:r>
          </a:p>
        </p:txBody>
      </p:sp>
      <p:sp>
        <p:nvSpPr>
          <p:cNvPr id="946" name="SH Wire Link 0"/>
          <p:cNvSpPr/>
          <p:nvPr/>
        </p:nvSpPr>
        <p:spPr>
          <a:xfrm>
            <a:off x="9367838" y="3214116"/>
            <a:ext cx="9525" cy="64008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7" name="SH Wire 1"/>
          <p:cNvSpPr/>
          <p:nvPr/>
        </p:nvSpPr>
        <p:spPr>
          <a:xfrm>
            <a:off x="7452360" y="3305556"/>
            <a:ext cx="3840480" cy="4434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8" name="TB Wire Name 1"/>
          <p:cNvSpPr txBox="1"/>
          <p:nvPr/>
        </p:nvSpPr>
        <p:spPr>
          <a:xfrm>
            <a:off x="7589520" y="3374136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E0A526"/>
                </a:solidFill>
                <a:latin typeface="맑은 고딕"/>
              </a:rPr>
              <a:t>02  </a:t>
            </a:r>
            <a:r>
              <a:rPr sz="1050" b="1">
                <a:solidFill>
                  <a:srgbClr val="1B2430"/>
                </a:solidFill>
                <a:latin typeface="Consolas"/>
              </a:rPr>
              <a:t>SoundDatabaseBuilder</a:t>
            </a:r>
          </a:p>
        </p:txBody>
      </p:sp>
      <p:sp>
        <p:nvSpPr>
          <p:cNvPr id="949" name="TB Wire Note 1"/>
          <p:cNvSpPr txBox="1"/>
          <p:nvPr/>
        </p:nvSpPr>
        <p:spPr>
          <a:xfrm>
            <a:off x="7589520" y="3570732"/>
            <a:ext cx="3566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684"/>
                </a:solidFill>
                <a:latin typeface="맑은 고딕"/>
              </a:rPr>
              <a:t>에디터 메뉴 — 폴더 전체 스캔 · 임포트 교정</a:t>
            </a:r>
          </a:p>
        </p:txBody>
      </p:sp>
      <p:sp>
        <p:nvSpPr>
          <p:cNvPr id="950" name="SH Wire Link 1"/>
          <p:cNvSpPr/>
          <p:nvPr/>
        </p:nvSpPr>
        <p:spPr>
          <a:xfrm>
            <a:off x="9367838" y="3776472"/>
            <a:ext cx="9525" cy="64008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1" name="SH Wire 2"/>
          <p:cNvSpPr/>
          <p:nvPr/>
        </p:nvSpPr>
        <p:spPr>
          <a:xfrm>
            <a:off x="7452360" y="3867912"/>
            <a:ext cx="3840480" cy="4434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2" name="TB Wire Name 2"/>
          <p:cNvSpPr txBox="1"/>
          <p:nvPr/>
        </p:nvSpPr>
        <p:spPr>
          <a:xfrm>
            <a:off x="7589520" y="3936492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E0A526"/>
                </a:solidFill>
                <a:latin typeface="맑은 고딕"/>
              </a:rPr>
              <a:t>03  </a:t>
            </a:r>
            <a:r>
              <a:rPr sz="1050" b="1">
                <a:solidFill>
                  <a:srgbClr val="1B2430"/>
                </a:solidFill>
                <a:latin typeface="Consolas"/>
              </a:rPr>
              <a:t>SoundDatabase.asset</a:t>
            </a:r>
          </a:p>
        </p:txBody>
      </p:sp>
      <p:sp>
        <p:nvSpPr>
          <p:cNvPr id="953" name="TB Wire Note 2"/>
          <p:cNvSpPr txBox="1"/>
          <p:nvPr/>
        </p:nvSpPr>
        <p:spPr>
          <a:xfrm>
            <a:off x="7589520" y="4133088"/>
            <a:ext cx="3566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684"/>
                </a:solidFill>
                <a:latin typeface="맑은 고딕"/>
              </a:rPr>
              <a:t>ID ↔ 클립 매핑(빌드 산출물)</a:t>
            </a:r>
          </a:p>
        </p:txBody>
      </p:sp>
      <p:sp>
        <p:nvSpPr>
          <p:cNvPr id="954" name="SH Wire Link 2"/>
          <p:cNvSpPr/>
          <p:nvPr/>
        </p:nvSpPr>
        <p:spPr>
          <a:xfrm>
            <a:off x="9367838" y="4338828"/>
            <a:ext cx="9525" cy="64008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5" name="SH Wire 3"/>
          <p:cNvSpPr/>
          <p:nvPr/>
        </p:nvSpPr>
        <p:spPr>
          <a:xfrm>
            <a:off x="7452360" y="4430268"/>
            <a:ext cx="3840480" cy="4434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6" name="TB Wire Name 3"/>
          <p:cNvSpPr txBox="1"/>
          <p:nvPr/>
        </p:nvSpPr>
        <p:spPr>
          <a:xfrm>
            <a:off x="7589520" y="4498848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E0A526"/>
                </a:solidFill>
                <a:latin typeface="맑은 고딕"/>
              </a:rPr>
              <a:t>04  </a:t>
            </a:r>
            <a:r>
              <a:rPr sz="1050" b="1">
                <a:solidFill>
                  <a:srgbClr val="1B2430"/>
                </a:solidFill>
                <a:latin typeface="Consolas"/>
              </a:rPr>
              <a:t>SoundId.SfxUiClick</a:t>
            </a:r>
          </a:p>
        </p:txBody>
      </p:sp>
      <p:sp>
        <p:nvSpPr>
          <p:cNvPr id="957" name="TB Wire Note 3"/>
          <p:cNvSpPr txBox="1"/>
          <p:nvPr/>
        </p:nvSpPr>
        <p:spPr>
          <a:xfrm>
            <a:off x="7589520" y="4695444"/>
            <a:ext cx="3566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684"/>
                </a:solidFill>
                <a:latin typeface="맑은 고딕"/>
              </a:rPr>
              <a:t>파일명이 그대로 열거값이 된다</a:t>
            </a:r>
          </a:p>
        </p:txBody>
      </p:sp>
      <p:sp>
        <p:nvSpPr>
          <p:cNvPr id="958" name="SH Wire Link 3"/>
          <p:cNvSpPr/>
          <p:nvPr/>
        </p:nvSpPr>
        <p:spPr>
          <a:xfrm>
            <a:off x="9367838" y="4901184"/>
            <a:ext cx="9525" cy="64008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9" name="SH Wire 4"/>
          <p:cNvSpPr/>
          <p:nvPr/>
        </p:nvSpPr>
        <p:spPr>
          <a:xfrm>
            <a:off x="7452360" y="4992624"/>
            <a:ext cx="3840480" cy="4434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0" name="TB Wire Name 4"/>
          <p:cNvSpPr txBox="1"/>
          <p:nvPr/>
        </p:nvSpPr>
        <p:spPr>
          <a:xfrm>
            <a:off x="7589520" y="5061204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E0A526"/>
                </a:solidFill>
                <a:latin typeface="맑은 고딕"/>
              </a:rPr>
              <a:t>05  </a:t>
            </a:r>
            <a:r>
              <a:rPr sz="1050" b="1">
                <a:solidFill>
                  <a:srgbClr val="1B2430"/>
                </a:solidFill>
                <a:latin typeface="Consolas"/>
              </a:rPr>
              <a:t>SoundManager.PlaySfx()</a:t>
            </a:r>
          </a:p>
        </p:txBody>
      </p:sp>
      <p:sp>
        <p:nvSpPr>
          <p:cNvPr id="961" name="TB Wire Note 4"/>
          <p:cNvSpPr txBox="1"/>
          <p:nvPr/>
        </p:nvSpPr>
        <p:spPr>
          <a:xfrm>
            <a:off x="7589520" y="5257800"/>
            <a:ext cx="3566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684"/>
                </a:solidFill>
                <a:latin typeface="맑은 고딕"/>
              </a:rPr>
              <a:t>BGM 2채널 크로스페이드 · SFX 풀 10</a:t>
            </a:r>
          </a:p>
        </p:txBody>
      </p:sp>
      <p:sp>
        <p:nvSpPr>
          <p:cNvPr id="962" name="SH Wire Link 4"/>
          <p:cNvSpPr/>
          <p:nvPr/>
        </p:nvSpPr>
        <p:spPr>
          <a:xfrm>
            <a:off x="9367838" y="5463540"/>
            <a:ext cx="9525" cy="64008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3" name="SH Wire 5"/>
          <p:cNvSpPr/>
          <p:nvPr/>
        </p:nvSpPr>
        <p:spPr>
          <a:xfrm>
            <a:off x="7452360" y="5554980"/>
            <a:ext cx="3840480" cy="443484"/>
          </a:xfrm>
          <a:prstGeom prst="roundRect">
            <a:avLst>
              <a:gd name="adj" fmla="val 9000"/>
            </a:avLst>
          </a:prstGeom>
          <a:solidFill>
            <a:srgbClr val="F4F7FC"/>
          </a:solidFill>
          <a:ln w="12700">
            <a:solidFill>
              <a:srgbClr val="2F6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4" name="TB Wire Name 5"/>
          <p:cNvSpPr txBox="1"/>
          <p:nvPr/>
        </p:nvSpPr>
        <p:spPr>
          <a:xfrm>
            <a:off x="7589520" y="5623560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E0A526"/>
                </a:solidFill>
                <a:latin typeface="맑은 고딕"/>
              </a:rPr>
              <a:t>06  </a:t>
            </a:r>
            <a:r>
              <a:rPr sz="1050" b="1">
                <a:solidFill>
                  <a:srgbClr val="1B2430"/>
                </a:solidFill>
                <a:latin typeface="맑은 고딕"/>
              </a:rPr>
              <a:t>전투 · UI · 성장의 재생 지점</a:t>
            </a:r>
          </a:p>
        </p:txBody>
      </p:sp>
      <p:sp>
        <p:nvSpPr>
          <p:cNvPr id="965" name="TB Wire Note 5"/>
          <p:cNvSpPr txBox="1"/>
          <p:nvPr/>
        </p:nvSpPr>
        <p:spPr>
          <a:xfrm>
            <a:off x="7589520" y="5820156"/>
            <a:ext cx="3566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684"/>
                </a:solidFill>
                <a:latin typeface="맑은 고딕"/>
              </a:rPr>
              <a:t>코드는 경로를 모른다 — ID로만 부른다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4" name="Shape 9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5" name="Google Shape;945;p3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6" name="Google Shape;946;p3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HARNESS</a:t>
            </a:r>
            <a:endParaRPr/>
          </a:p>
        </p:txBody>
      </p:sp>
      <p:sp>
        <p:nvSpPr>
          <p:cNvPr id="947" name="Google Shape;947;p31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8" name="Google Shape;948;p31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13. 개발용 하네스 씬 구성</a:t>
            </a:r>
            <a:endParaRPr b="1" sz="30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49" name="Google Shape;949;p31"/>
          <p:cNvSpPr txBox="1"/>
          <p:nvPr/>
        </p:nvSpPr>
        <p:spPr>
          <a:xfrm>
            <a:off x="685800" y="1536192"/>
            <a:ext cx="10881360" cy="2411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인게임 전투를 개발하기 위한 개발용 씬</a:t>
            </a:r>
            <a:endParaRPr b="0" sz="140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descr="BattleDevScene.png" id="950" name="Google Shape;950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4971" y="2057400"/>
            <a:ext cx="5093738" cy="3017520"/>
          </a:xfrm>
          <a:prstGeom prst="rect">
            <a:avLst/>
          </a:prstGeom>
          <a:noFill/>
          <a:ln>
            <a:noFill/>
          </a:ln>
          <a:effectLst>
            <a:outerShdw blurRad="292100" rotWithShape="0" algn="tl" dir="2700000" dist="139700">
              <a:srgbClr val="333333">
                <a:alpha val="65098"/>
              </a:srgbClr>
            </a:outerShdw>
          </a:effectLst>
        </p:spPr>
      </p:pic>
      <p:sp>
        <p:nvSpPr>
          <p:cNvPr id="951" name="Google Shape;951;p31"/>
          <p:cNvSpPr txBox="1"/>
          <p:nvPr/>
        </p:nvSpPr>
        <p:spPr>
          <a:xfrm>
            <a:off x="685800" y="51663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BattleDevScene — 파티 4인 스탯 · 스킬 쿨다운 · 소환 선택을 IMGUI로</a:t>
            </a:r>
            <a:endParaRPr b="0" sz="110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descr="AnimDevScene.png" id="952" name="Google Shape;952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19881" y="2057400"/>
            <a:ext cx="5191037" cy="3017520"/>
          </a:xfrm>
          <a:prstGeom prst="rect">
            <a:avLst/>
          </a:prstGeom>
          <a:noFill/>
          <a:ln>
            <a:noFill/>
          </a:ln>
          <a:effectLst>
            <a:outerShdw blurRad="292100" rotWithShape="0" algn="tl" dir="2700000" dist="139700">
              <a:srgbClr val="333333">
                <a:alpha val="65098"/>
              </a:srgbClr>
            </a:outerShdw>
          </a:effectLst>
        </p:spPr>
      </p:pic>
      <p:sp>
        <p:nvSpPr>
          <p:cNvPr id="953" name="Google Shape;953;p31"/>
          <p:cNvSpPr txBox="1"/>
          <p:nvPr/>
        </p:nvSpPr>
        <p:spPr>
          <a:xfrm>
            <a:off x="6309360" y="51663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AnimDevScene — 클립 목록 · 직업/성별 전환 · 무기 강화 단계별 이펙트</a:t>
            </a:r>
            <a:endParaRPr/>
          </a:p>
        </p:txBody>
      </p:sp>
      <p:sp>
        <p:nvSpPr>
          <p:cNvPr id="954" name="Google Shape;954;p31"/>
          <p:cNvSpPr txBox="1"/>
          <p:nvPr/>
        </p:nvSpPr>
        <p:spPr>
          <a:xfrm>
            <a:off x="685800" y="5532120"/>
            <a:ext cx="10789920" cy="7709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BattleDevScene은 로그인·스테이지 진입을 거치지 않고 전투만 켠다 — 광역 데미지가 몇 대에 들어갔는지, 쿨다운이 실제로 도는지를 숫자로 확인한다.</a:t>
            </a:r>
            <a:endParaRPr/>
          </a:p>
          <a:p>
            <a:pPr indent="0" lvl="0" marL="0" marR="0" rtl="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이 IMGUI는 개발 전용이라 serverMode=true인 GameScene에서는 OnGUI가 자동으로 생략된다.</a:t>
            </a:r>
            <a:endParaRPr/>
          </a:p>
          <a:p>
            <a:pPr indent="0" lvl="0" marL="0" marR="0" rtl="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진입 단계가 짧을수록 원격 검증의 실패 지점이 줄고, 측정값도 다른 시스템에 오염되지 않는다.</a:t>
            </a:r>
            <a:endParaRPr/>
          </a:p>
        </p:txBody>
      </p:sp>
      <p:sp>
        <p:nvSpPr>
          <p:cNvPr id="955" name="Google Shape;955;p31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29</a:t>
            </a:r>
            <a:endParaRPr/>
          </a:p>
        </p:txBody>
      </p:sp>
      <p:pic>
        <p:nvPicPr>
          <p:cNvPr id="956" name="Google Shape;956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0" name="Shape 9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1" name="Google Shape;961;p32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2" name="Google Shape;962;p32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30</a:t>
            </a:r>
            <a:endParaRPr/>
          </a:p>
        </p:txBody>
      </p:sp>
      <p:pic>
        <p:nvPicPr>
          <p:cNvPr descr="image.png" id="963" name="Google Shape;963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964" name="Google Shape;964;p3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HARNESS</a:t>
            </a:r>
            <a:endParaRPr/>
          </a:p>
        </p:txBody>
      </p:sp>
      <p:sp>
        <p:nvSpPr>
          <p:cNvPr id="965" name="Google Shape;965;p32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6" name="Google Shape;966;p32"/>
          <p:cNvSpPr txBox="1"/>
          <p:nvPr/>
        </p:nvSpPr>
        <p:spPr>
          <a:xfrm>
            <a:off x="685800" y="914400"/>
            <a:ext cx="10881360" cy="5212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13.1  BattleDevScene — 전투만 켜서 숫자로 본다</a:t>
            </a:r>
            <a:endParaRPr/>
          </a:p>
        </p:txBody>
      </p:sp>
      <p:sp>
        <p:nvSpPr>
          <p:cNvPr id="967" name="Google Shape;967;p32"/>
          <p:cNvSpPr txBox="1"/>
          <p:nvPr/>
        </p:nvSpPr>
        <p:spPr>
          <a:xfrm>
            <a:off x="685800" y="1536192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 · 스테이지 진입을 거치지 않고 전투만 실행하는 씬 (메뉴 TaskbarHero/씬 · Alt+5 · 빌드 미등록)</a:t>
            </a:r>
            <a:endParaRPr/>
          </a:p>
        </p:txBody>
      </p:sp>
      <p:pic>
        <p:nvPicPr>
          <p:cNvPr descr="image.png" id="968" name="Google Shape;968;p32"/>
          <p:cNvPicPr preferRelativeResize="0"/>
          <p:nvPr/>
        </p:nvPicPr>
        <p:blipFill rotWithShape="1">
          <a:blip r:embed="rId4">
            <a:alphaModFix/>
          </a:blip>
          <a:srcRect b="28260" l="26650" r="56090" t="33790"/>
          <a:stretch/>
        </p:blipFill>
        <p:spPr>
          <a:xfrm>
            <a:off x="685800" y="1920240"/>
            <a:ext cx="2240280" cy="2918010"/>
          </a:xfrm>
          <a:prstGeom prst="rect">
            <a:avLst/>
          </a:prstGeom>
          <a:noFill/>
          <a:ln cap="flat" cmpd="sng" w="9525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969" name="Google Shape;969;p32"/>
          <p:cNvSpPr txBox="1"/>
          <p:nvPr/>
        </p:nvSpPr>
        <p:spPr>
          <a:xfrm>
            <a:off x="685800" y="4893114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하네스 IMGUI 박스</a:t>
            </a:r>
            <a:endParaRPr/>
          </a:p>
        </p:txBody>
      </p:sp>
      <p:pic>
        <p:nvPicPr>
          <p:cNvPr descr="image.png" id="970" name="Google Shape;970;p32"/>
          <p:cNvPicPr preferRelativeResize="0"/>
          <p:nvPr/>
        </p:nvPicPr>
        <p:blipFill rotWithShape="1">
          <a:blip r:embed="rId4">
            <a:alphaModFix/>
          </a:blip>
          <a:srcRect b="0" l="26650" r="0" t="70310"/>
          <a:stretch/>
        </p:blipFill>
        <p:spPr>
          <a:xfrm>
            <a:off x="3154680" y="1920240"/>
            <a:ext cx="3291840" cy="789336"/>
          </a:xfrm>
          <a:prstGeom prst="rect">
            <a:avLst/>
          </a:prstGeom>
          <a:noFill/>
          <a:ln cap="flat" cmpd="sng" w="9525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971" name="Google Shape;971;p32"/>
          <p:cNvSpPr txBox="1"/>
          <p:nvPr/>
        </p:nvSpPr>
        <p:spPr>
          <a:xfrm>
            <a:off x="3154680" y="276444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같은 씬의 전투 화면</a:t>
            </a:r>
            <a:endParaRPr/>
          </a:p>
        </p:txBody>
      </p:sp>
      <p:sp>
        <p:nvSpPr>
          <p:cNvPr id="972" name="Google Shape;972;p32"/>
          <p:cNvSpPr/>
          <p:nvPr/>
        </p:nvSpPr>
        <p:spPr>
          <a:xfrm>
            <a:off x="3154680" y="3127248"/>
            <a:ext cx="3291840" cy="2039112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3" name="Google Shape;973;p32"/>
          <p:cNvSpPr txBox="1"/>
          <p:nvPr/>
        </p:nvSpPr>
        <p:spPr>
          <a:xfrm>
            <a:off x="3364992" y="3273552"/>
            <a:ext cx="288036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씬이 도는 방식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파티가 오른쪽으로 계속 전진하다 </a:t>
            </a:r>
            <a:r>
              <a:rPr b="1" lang="en-US" sz="10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최전방 적과 사거리에 들면 교전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처치하면 뒤의 적이 새 최전방이 되어 </a:t>
            </a:r>
            <a:r>
              <a:rPr b="1" lang="en-US" sz="10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웨이브가 끝없이 이어진다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카메라는 파티를 따라가고 배경은 3장 타일로 무한 스크롤</a:t>
            </a:r>
            <a:endParaRPr/>
          </a:p>
        </p:txBody>
      </p:sp>
      <p:sp>
        <p:nvSpPr>
          <p:cNvPr id="974" name="Google Shape;974;p32"/>
          <p:cNvSpPr/>
          <p:nvPr/>
        </p:nvSpPr>
        <p:spPr>
          <a:xfrm>
            <a:off x="685800" y="5440680"/>
            <a:ext cx="5760720" cy="82296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5" name="Google Shape;975;p32"/>
          <p:cNvSpPr txBox="1"/>
          <p:nvPr/>
        </p:nvSpPr>
        <p:spPr>
          <a:xfrm>
            <a:off x="914400" y="5596128"/>
            <a:ext cx="53035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“광역 데미지가 몇 대에 들어갔는지 · 쿨다운이 실제로 도는지”를 눈이 아니라 </a:t>
            </a: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숫자로 확인하며 전투를 다듬었다</a:t>
            </a: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/>
          </a:p>
        </p:txBody>
      </p:sp>
      <p:sp>
        <p:nvSpPr>
          <p:cNvPr id="976" name="Google Shape;976;p32"/>
          <p:cNvSpPr/>
          <p:nvPr/>
        </p:nvSpPr>
        <p:spPr>
          <a:xfrm>
            <a:off x="6720840" y="1920240"/>
            <a:ext cx="4754880" cy="96012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7" name="Google Shape;977;p32"/>
          <p:cNvSpPr txBox="1"/>
          <p:nvPr/>
        </p:nvSpPr>
        <p:spPr>
          <a:xfrm>
            <a:off x="6949440" y="2057400"/>
            <a:ext cx="4297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무엇을 잘라냈나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로그인 · 스테이지 진입 · 서버 통신 없이 </a:t>
            </a:r>
            <a:r>
              <a:rPr b="1" lang="en-US" sz="10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전투만 켠다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카메라 · 배경 · 스폰 · 대형 배선은 실게임과 같은 것을 쓴다</a:t>
            </a:r>
            <a:endParaRPr/>
          </a:p>
        </p:txBody>
      </p:sp>
      <p:sp>
        <p:nvSpPr>
          <p:cNvPr id="978" name="Google Shape;978;p32"/>
          <p:cNvSpPr/>
          <p:nvPr/>
        </p:nvSpPr>
        <p:spPr>
          <a:xfrm>
            <a:off x="6720840" y="3017520"/>
            <a:ext cx="4754880" cy="201168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9" name="Google Shape;979;p32"/>
          <p:cNvSpPr txBox="1"/>
          <p:nvPr/>
        </p:nvSpPr>
        <p:spPr>
          <a:xfrm>
            <a:off x="6949440" y="3163824"/>
            <a:ext cx="429768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화면에 실시간으로 뜨는 것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적 이름 · 현재 마릿수 · </a:t>
            </a:r>
            <a:r>
              <a:rPr b="1" lang="en-US" sz="10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동시 최대치(5)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처치 수 · 전투 단계 · 파티 전진 좌표 </a:t>
            </a:r>
            <a:r>
              <a:rPr b="1" lang="en-US" sz="10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partyX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b="1" lang="en-US" sz="10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파티원별 사거리</a:t>
            </a: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— 기사 1.5 · 레인저 6.5 · 마법사 6 · 슬레이어 1.8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b="1" lang="en-US" sz="10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스킬 코드별 쿨다운</a:t>
            </a: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총량과 잔여 — 스킬 101 cd 8s — 4.2s / READY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일시정지 · 다음 몬스터 · 소환 캐릭터 선택 · 전투 로그</a:t>
            </a:r>
            <a:endParaRPr/>
          </a:p>
        </p:txBody>
      </p:sp>
      <p:sp>
        <p:nvSpPr>
          <p:cNvPr id="980" name="Google Shape;980;p32"/>
          <p:cNvSpPr/>
          <p:nvPr/>
        </p:nvSpPr>
        <p:spPr>
          <a:xfrm>
            <a:off x="6720840" y="5166360"/>
            <a:ext cx="4754880" cy="109728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1" name="Google Shape;981;p32"/>
          <p:cNvSpPr txBox="1"/>
          <p:nvPr/>
        </p:nvSpPr>
        <p:spPr>
          <a:xfrm>
            <a:off x="6949440" y="5303520"/>
            <a:ext cx="42976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 전용으로 격리했다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실게임(</a:t>
            </a:r>
            <a:r>
              <a:rPr b="1" lang="en-US" sz="10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serverMode</a:t>
            </a: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)에서는 이 박스가 통째로 생략된다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개발용 데미지 배수(×20)도 serverMode에서는 1로 고정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전투는 이 씬이 정본 — GameScene은 빌더로 복제한다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5" name="Shape 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Google Shape;986;p33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7" name="Google Shape;987;p33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31</a:t>
            </a:r>
            <a:endParaRPr/>
          </a:p>
        </p:txBody>
      </p:sp>
      <p:pic>
        <p:nvPicPr>
          <p:cNvPr descr="image.png" id="988" name="Google Shape;988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989" name="Google Shape;989;p3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HARNESS</a:t>
            </a:r>
            <a:endParaRPr/>
          </a:p>
        </p:txBody>
      </p:sp>
      <p:sp>
        <p:nvSpPr>
          <p:cNvPr id="990" name="Google Shape;990;p3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1" name="Google Shape;991;p33"/>
          <p:cNvSpPr txBox="1"/>
          <p:nvPr/>
        </p:nvSpPr>
        <p:spPr>
          <a:xfrm>
            <a:off x="685800" y="914400"/>
            <a:ext cx="10881360" cy="5212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13.2  AnimDevScene — 모션과 이펙트만 따로 본다</a:t>
            </a:r>
            <a:endParaRPr/>
          </a:p>
        </p:txBody>
      </p:sp>
      <p:sp>
        <p:nvSpPr>
          <p:cNvPr id="992" name="Google Shape;992;p33"/>
          <p:cNvSpPr txBox="1"/>
          <p:nvPr/>
        </p:nvSpPr>
        <p:spPr>
          <a:xfrm>
            <a:off x="685800" y="1536192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 한 명만 세우고 배경 · 조명 · 전투를 전부 뺀 씬 (Alt+6 · 빌드 미등록)</a:t>
            </a:r>
            <a:endParaRPr/>
          </a:p>
        </p:txBody>
      </p:sp>
      <p:pic>
        <p:nvPicPr>
          <p:cNvPr descr="image.png" id="993" name="Google Shape;993;p33"/>
          <p:cNvPicPr preferRelativeResize="0"/>
          <p:nvPr/>
        </p:nvPicPr>
        <p:blipFill rotWithShape="1">
          <a:blip r:embed="rId4">
            <a:alphaModFix/>
          </a:blip>
          <a:srcRect b="0" l="0" r="0" t="6800"/>
          <a:stretch/>
        </p:blipFill>
        <p:spPr>
          <a:xfrm>
            <a:off x="685800" y="1920240"/>
            <a:ext cx="5760720" cy="3120963"/>
          </a:xfrm>
          <a:prstGeom prst="rect">
            <a:avLst/>
          </a:prstGeom>
          <a:noFill/>
          <a:ln cap="flat" cmpd="sng" w="9525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994" name="Google Shape;994;p33"/>
          <p:cNvSpPr txBox="1"/>
          <p:nvPr/>
        </p:nvSpPr>
        <p:spPr>
          <a:xfrm>
            <a:off x="685800" y="5096067"/>
            <a:ext cx="5760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왼쪽 클립 목록 · 위 직업/성별 · 오른쪽 무기 강화 단계를 한 화면에서</a:t>
            </a:r>
            <a:endParaRPr/>
          </a:p>
        </p:txBody>
      </p:sp>
      <p:sp>
        <p:nvSpPr>
          <p:cNvPr id="995" name="Google Shape;995;p33"/>
          <p:cNvSpPr/>
          <p:nvPr/>
        </p:nvSpPr>
        <p:spPr>
          <a:xfrm>
            <a:off x="685800" y="5440680"/>
            <a:ext cx="5760720" cy="82296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6" name="Google Shape;996;p33"/>
          <p:cNvSpPr txBox="1"/>
          <p:nvPr/>
        </p:nvSpPr>
        <p:spPr>
          <a:xfrm>
            <a:off x="914400" y="5596128"/>
            <a:ext cx="53035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새 모션을 확인하는 비용이 거의 0이다 — </a:t>
            </a: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.anim 파일을 Assets/Animations에 넣고 씬 생성 메뉴를 다시 실행하면 목록에 자동 배선된다.</a:t>
            </a:r>
            <a:endParaRPr/>
          </a:p>
        </p:txBody>
      </p:sp>
      <p:sp>
        <p:nvSpPr>
          <p:cNvPr id="997" name="Google Shape;997;p33"/>
          <p:cNvSpPr/>
          <p:nvPr/>
        </p:nvSpPr>
        <p:spPr>
          <a:xfrm>
            <a:off x="6720840" y="1920240"/>
            <a:ext cx="4754880" cy="178308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8" name="Google Shape;998;p33"/>
          <p:cNvSpPr txBox="1"/>
          <p:nvPr/>
        </p:nvSpPr>
        <p:spPr>
          <a:xfrm>
            <a:off x="6949440" y="2066543"/>
            <a:ext cx="429768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왼쪽 — 애니메이션 목록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b="1" lang="en-US" sz="10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SPUM 프리팹의 상태별 클립을 런타임에 읽어</a:t>
            </a: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만든다 — IDLE · MOVE · ATTACK · DAMAGED · DEBUFF · DEATH · OTHER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목록에서 고른 뒤 </a:t>
            </a:r>
            <a:r>
              <a:rPr b="1" lang="en-US" sz="10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캐릭터를 클릭하면 그 클립이 재생</a:t>
            </a: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된다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분노 · 돌진 · 캐스트 홀드 · 화살비 · 내려찍기 같은 </a:t>
            </a:r>
            <a:r>
              <a:rPr b="1" lang="en-US" sz="10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특수 모션</a:t>
            </a: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 함께 노출</a:t>
            </a:r>
            <a:endParaRPr/>
          </a:p>
        </p:txBody>
      </p:sp>
      <p:sp>
        <p:nvSpPr>
          <p:cNvPr id="999" name="Google Shape;999;p33"/>
          <p:cNvSpPr/>
          <p:nvPr/>
        </p:nvSpPr>
        <p:spPr>
          <a:xfrm>
            <a:off x="6720840" y="3840480"/>
            <a:ext cx="475488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0" name="Google Shape;1000;p33"/>
          <p:cNvSpPr txBox="1"/>
          <p:nvPr/>
        </p:nvSpPr>
        <p:spPr>
          <a:xfrm>
            <a:off x="6949440" y="3986784"/>
            <a:ext cx="4297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위 — 직업 · 성별 전환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기사 · 궁수 · 마법사 · 슬레이어 × 남 · 여를 눌러 </a:t>
            </a:r>
            <a:r>
              <a:rPr b="1" lang="en-US" sz="10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같은 모션을 비교</a:t>
            </a:r>
            <a:endParaRPr/>
          </a:p>
        </p:txBody>
      </p:sp>
      <p:sp>
        <p:nvSpPr>
          <p:cNvPr id="1001" name="Google Shape;1001;p33"/>
          <p:cNvSpPr/>
          <p:nvPr/>
        </p:nvSpPr>
        <p:spPr>
          <a:xfrm>
            <a:off x="6720840" y="4892040"/>
            <a:ext cx="4754880" cy="137160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2" name="Google Shape;1002;p33"/>
          <p:cNvSpPr txBox="1"/>
          <p:nvPr/>
        </p:nvSpPr>
        <p:spPr>
          <a:xfrm>
            <a:off x="6949440" y="5038344"/>
            <a:ext cx="42976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오른쪽 — 무기 강화 +0~+10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단계를 누르면 </a:t>
            </a:r>
            <a:r>
              <a:rPr b="1" lang="en-US" sz="10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잔상 색 · 무기에 서린 빛 · 반짝임</a:t>
            </a: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즉시 바뀐다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직업을 바꿔도 단계는 유지 — 같은 +7을 검 · 활 · 지팡이로 비교한다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6" name="Shape 1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p3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8" name="Google Shape;1008;p34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PIPELINE</a:t>
            </a:r>
            <a:endParaRPr/>
          </a:p>
        </p:txBody>
      </p:sp>
      <p:sp>
        <p:nvSpPr>
          <p:cNvPr id="1009" name="Google Shape;1009;p34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0" name="Google Shape;1010;p3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13.3  몬스터를 요청 한 줄로 - 스테이지별 몬스터 작업 자동화</a:t>
            </a:r>
            <a:endParaRPr b="1" sz="30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11" name="Google Shape;1011;p34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"검은 갑옷의 스켈레톤 기사, 2지역 5스테이지에 4마리" → 그 몬스터가 실제 전투에 나온다</a:t>
            </a:r>
            <a:endParaRPr b="0" sz="140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12" name="Google Shape;1012;p34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32</a:t>
            </a:r>
            <a:endParaRPr/>
          </a:p>
        </p:txBody>
      </p:sp>
      <p:sp>
        <p:nvSpPr>
          <p:cNvPr id="1013" name="Google Shape;1013;p34"/>
          <p:cNvSpPr/>
          <p:nvPr/>
        </p:nvSpPr>
        <p:spPr>
          <a:xfrm>
            <a:off x="1328881" y="2400300"/>
            <a:ext cx="1384662" cy="16002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182875" spcFirstLastPara="1" rIns="18287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4" name="Google Shape;1014;p34"/>
          <p:cNvSpPr txBox="1"/>
          <p:nvPr/>
        </p:nvSpPr>
        <p:spPr>
          <a:xfrm>
            <a:off x="1443181" y="2606040"/>
            <a:ext cx="115606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</a:t>
            </a:r>
            <a:endParaRPr/>
          </a:p>
        </p:txBody>
      </p:sp>
      <p:sp>
        <p:nvSpPr>
          <p:cNvPr id="1015" name="Google Shape;1015;p34"/>
          <p:cNvSpPr txBox="1"/>
          <p:nvPr/>
        </p:nvSpPr>
        <p:spPr>
          <a:xfrm>
            <a:off x="1443181" y="3040380"/>
            <a:ext cx="1156062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입력 해석</a:t>
            </a:r>
            <a:endParaRPr/>
          </a:p>
        </p:txBody>
      </p:sp>
      <p:sp>
        <p:nvSpPr>
          <p:cNvPr id="1016" name="Google Shape;1016;p34"/>
          <p:cNvSpPr/>
          <p:nvPr/>
        </p:nvSpPr>
        <p:spPr>
          <a:xfrm>
            <a:off x="2896423" y="2400300"/>
            <a:ext cx="1384662" cy="16002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182875" spcFirstLastPara="1" rIns="18287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7" name="Google Shape;1017;p34"/>
          <p:cNvSpPr txBox="1"/>
          <p:nvPr/>
        </p:nvSpPr>
        <p:spPr>
          <a:xfrm>
            <a:off x="3010723" y="2606040"/>
            <a:ext cx="115606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</a:t>
            </a:r>
            <a:endParaRPr/>
          </a:p>
        </p:txBody>
      </p:sp>
      <p:sp>
        <p:nvSpPr>
          <p:cNvPr id="1018" name="Google Shape;1018;p34"/>
          <p:cNvSpPr txBox="1"/>
          <p:nvPr/>
        </p:nvSpPr>
        <p:spPr>
          <a:xfrm>
            <a:off x="3010723" y="3040380"/>
            <a:ext cx="1156062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능력치 · 외형 결정</a:t>
            </a:r>
            <a:endParaRPr/>
          </a:p>
        </p:txBody>
      </p:sp>
      <p:sp>
        <p:nvSpPr>
          <p:cNvPr id="1019" name="Google Shape;1019;p34"/>
          <p:cNvSpPr/>
          <p:nvPr/>
        </p:nvSpPr>
        <p:spPr>
          <a:xfrm>
            <a:off x="4463965" y="2400300"/>
            <a:ext cx="1384662" cy="16002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182875" spcFirstLastPara="1" rIns="18287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0" name="Google Shape;1020;p34"/>
          <p:cNvSpPr txBox="1"/>
          <p:nvPr/>
        </p:nvSpPr>
        <p:spPr>
          <a:xfrm>
            <a:off x="4578265" y="2606040"/>
            <a:ext cx="115606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③</a:t>
            </a:r>
            <a:endParaRPr/>
          </a:p>
        </p:txBody>
      </p:sp>
      <p:sp>
        <p:nvSpPr>
          <p:cNvPr id="1021" name="Google Shape;1021;p34"/>
          <p:cNvSpPr txBox="1"/>
          <p:nvPr/>
        </p:nvSpPr>
        <p:spPr>
          <a:xfrm>
            <a:off x="4578265" y="3040380"/>
            <a:ext cx="1156062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정본 + 스폰 반영</a:t>
            </a:r>
            <a:endParaRPr/>
          </a:p>
        </p:txBody>
      </p:sp>
      <p:sp>
        <p:nvSpPr>
          <p:cNvPr id="1022" name="Google Shape;1022;p34"/>
          <p:cNvSpPr/>
          <p:nvPr/>
        </p:nvSpPr>
        <p:spPr>
          <a:xfrm>
            <a:off x="6031507" y="2400300"/>
            <a:ext cx="1384662" cy="16002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182875" spcFirstLastPara="1" rIns="18287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3" name="Google Shape;1023;p34"/>
          <p:cNvSpPr txBox="1"/>
          <p:nvPr/>
        </p:nvSpPr>
        <p:spPr>
          <a:xfrm>
            <a:off x="6145807" y="2606040"/>
            <a:ext cx="115606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④</a:t>
            </a:r>
            <a:endParaRPr/>
          </a:p>
        </p:txBody>
      </p:sp>
      <p:sp>
        <p:nvSpPr>
          <p:cNvPr id="1024" name="Google Shape;1024;p34"/>
          <p:cNvSpPr txBox="1"/>
          <p:nvPr/>
        </p:nvSpPr>
        <p:spPr>
          <a:xfrm>
            <a:off x="6145807" y="3040380"/>
            <a:ext cx="1156062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프리팹 생성</a:t>
            </a:r>
            <a:endParaRPr/>
          </a:p>
        </p:txBody>
      </p:sp>
      <p:sp>
        <p:nvSpPr>
          <p:cNvPr id="1025" name="Google Shape;1025;p34"/>
          <p:cNvSpPr/>
          <p:nvPr/>
        </p:nvSpPr>
        <p:spPr>
          <a:xfrm>
            <a:off x="7599049" y="2400300"/>
            <a:ext cx="1384662" cy="16002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182875" spcFirstLastPara="1" rIns="18287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6" name="Google Shape;1026;p34"/>
          <p:cNvSpPr txBox="1"/>
          <p:nvPr/>
        </p:nvSpPr>
        <p:spPr>
          <a:xfrm>
            <a:off x="7713349" y="2606040"/>
            <a:ext cx="115606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⑤</a:t>
            </a:r>
            <a:endParaRPr/>
          </a:p>
        </p:txBody>
      </p:sp>
      <p:sp>
        <p:nvSpPr>
          <p:cNvPr id="1027" name="Google Shape;1027;p34"/>
          <p:cNvSpPr txBox="1"/>
          <p:nvPr/>
        </p:nvSpPr>
        <p:spPr>
          <a:xfrm>
            <a:off x="7713349" y="3040380"/>
            <a:ext cx="1156062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인게임 전투 적용</a:t>
            </a:r>
            <a:endParaRPr/>
          </a:p>
        </p:txBody>
      </p:sp>
      <p:sp>
        <p:nvSpPr>
          <p:cNvPr id="1028" name="Google Shape;1028;p34"/>
          <p:cNvSpPr/>
          <p:nvPr/>
        </p:nvSpPr>
        <p:spPr>
          <a:xfrm>
            <a:off x="9166591" y="2400300"/>
            <a:ext cx="1384662" cy="16002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182875" spcFirstLastPara="1" rIns="18287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9" name="Google Shape;1029;p34"/>
          <p:cNvSpPr txBox="1"/>
          <p:nvPr/>
        </p:nvSpPr>
        <p:spPr>
          <a:xfrm>
            <a:off x="9280891" y="2606040"/>
            <a:ext cx="115606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⑥</a:t>
            </a:r>
            <a:endParaRPr/>
          </a:p>
        </p:txBody>
      </p:sp>
      <p:sp>
        <p:nvSpPr>
          <p:cNvPr id="1030" name="Google Shape;1030;p34"/>
          <p:cNvSpPr txBox="1"/>
          <p:nvPr/>
        </p:nvSpPr>
        <p:spPr>
          <a:xfrm>
            <a:off x="9280891" y="3040380"/>
            <a:ext cx="1156062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검증</a:t>
            </a:r>
            <a:endParaRPr/>
          </a:p>
        </p:txBody>
      </p:sp>
      <p:sp>
        <p:nvSpPr>
          <p:cNvPr id="1031" name="Google Shape;1031;p34"/>
          <p:cNvSpPr txBox="1"/>
          <p:nvPr/>
        </p:nvSpPr>
        <p:spPr>
          <a:xfrm>
            <a:off x="2713543" y="2948940"/>
            <a:ext cx="182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/>
          </a:p>
        </p:txBody>
      </p:sp>
      <p:sp>
        <p:nvSpPr>
          <p:cNvPr id="1032" name="Google Shape;1032;p34"/>
          <p:cNvSpPr txBox="1"/>
          <p:nvPr/>
        </p:nvSpPr>
        <p:spPr>
          <a:xfrm>
            <a:off x="4281085" y="2948940"/>
            <a:ext cx="182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/>
          </a:p>
        </p:txBody>
      </p:sp>
      <p:sp>
        <p:nvSpPr>
          <p:cNvPr id="1033" name="Google Shape;1033;p34"/>
          <p:cNvSpPr txBox="1"/>
          <p:nvPr/>
        </p:nvSpPr>
        <p:spPr>
          <a:xfrm>
            <a:off x="5848627" y="2948940"/>
            <a:ext cx="182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/>
          </a:p>
        </p:txBody>
      </p:sp>
      <p:sp>
        <p:nvSpPr>
          <p:cNvPr id="1034" name="Google Shape;1034;p34"/>
          <p:cNvSpPr txBox="1"/>
          <p:nvPr/>
        </p:nvSpPr>
        <p:spPr>
          <a:xfrm>
            <a:off x="7416169" y="2948940"/>
            <a:ext cx="182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/>
          </a:p>
        </p:txBody>
      </p:sp>
      <p:sp>
        <p:nvSpPr>
          <p:cNvPr id="1035" name="Google Shape;1035;p34"/>
          <p:cNvSpPr txBox="1"/>
          <p:nvPr/>
        </p:nvSpPr>
        <p:spPr>
          <a:xfrm>
            <a:off x="8983711" y="2948940"/>
            <a:ext cx="182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/>
          </a:p>
        </p:txBody>
      </p:sp>
      <p:sp>
        <p:nvSpPr>
          <p:cNvPr id="1036" name="Google Shape;1036;p34"/>
          <p:cNvSpPr/>
          <p:nvPr/>
        </p:nvSpPr>
        <p:spPr>
          <a:xfrm>
            <a:off x="1328881" y="4366260"/>
            <a:ext cx="4519746" cy="91440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91425" lIns="137150" spcFirstLastPara="1" rIns="137150" wrap="square" tIns="91425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2203A"/>
                </a:solidFill>
                <a:latin typeface="Malgun Gothic"/>
                <a:ea typeface="Malgun Gothic"/>
                <a:cs typeface="Malgun Gothic"/>
                <a:sym typeface="Malgun Gothic"/>
              </a:rPr>
              <a:t>③ 도구(CLI)</a:t>
            </a:r>
            <a:endParaRPr/>
          </a:p>
        </p:txBody>
      </p:sp>
      <p:sp>
        <p:nvSpPr>
          <p:cNvPr id="1037" name="Google Shape;1037;p34"/>
          <p:cNvSpPr/>
          <p:nvPr/>
        </p:nvSpPr>
        <p:spPr>
          <a:xfrm>
            <a:off x="1420321" y="4183380"/>
            <a:ext cx="4336866" cy="1905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8" name="Google Shape;1038;p34"/>
          <p:cNvSpPr/>
          <p:nvPr/>
        </p:nvSpPr>
        <p:spPr>
          <a:xfrm>
            <a:off x="1420321" y="4000500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9" name="Google Shape;1039;p34"/>
          <p:cNvSpPr/>
          <p:nvPr/>
        </p:nvSpPr>
        <p:spPr>
          <a:xfrm>
            <a:off x="5738137" y="4000500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0" name="Google Shape;1040;p34"/>
          <p:cNvSpPr/>
          <p:nvPr/>
        </p:nvSpPr>
        <p:spPr>
          <a:xfrm>
            <a:off x="3579229" y="4183380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1" name="Google Shape;1041;p34"/>
          <p:cNvSpPr/>
          <p:nvPr/>
        </p:nvSpPr>
        <p:spPr>
          <a:xfrm>
            <a:off x="6031507" y="4366260"/>
            <a:ext cx="2952204" cy="91440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91425" lIns="137150" spcFirstLastPara="1" rIns="137150" wrap="square" tIns="91425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2203A"/>
                </a:solidFill>
                <a:latin typeface="Malgun Gothic"/>
                <a:ea typeface="Malgun Gothic"/>
                <a:cs typeface="Malgun Gothic"/>
                <a:sym typeface="Malgun Gothic"/>
              </a:rPr>
              <a:t>④⑤ Unity MCP</a:t>
            </a:r>
            <a:endParaRPr/>
          </a:p>
        </p:txBody>
      </p:sp>
      <p:sp>
        <p:nvSpPr>
          <p:cNvPr id="1042" name="Google Shape;1042;p34"/>
          <p:cNvSpPr/>
          <p:nvPr/>
        </p:nvSpPr>
        <p:spPr>
          <a:xfrm>
            <a:off x="6122947" y="4183380"/>
            <a:ext cx="2769324" cy="1905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3" name="Google Shape;1043;p34"/>
          <p:cNvSpPr/>
          <p:nvPr/>
        </p:nvSpPr>
        <p:spPr>
          <a:xfrm>
            <a:off x="6122947" y="4000500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4" name="Google Shape;1044;p34"/>
          <p:cNvSpPr/>
          <p:nvPr/>
        </p:nvSpPr>
        <p:spPr>
          <a:xfrm>
            <a:off x="8873221" y="4000500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5" name="Google Shape;1045;p34"/>
          <p:cNvSpPr/>
          <p:nvPr/>
        </p:nvSpPr>
        <p:spPr>
          <a:xfrm>
            <a:off x="7498084" y="4183380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46" name="Google Shape;1046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0" name="Shape 10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1" name="Google Shape;1051;p3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2" name="Google Shape;1052;p35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PIPELINE</a:t>
            </a:r>
            <a:endParaRPr/>
          </a:p>
        </p:txBody>
      </p:sp>
      <p:sp>
        <p:nvSpPr>
          <p:cNvPr id="1053" name="Google Shape;1053;p35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4" name="Google Shape;1054;p35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13.4  몬스터의 외형을 자동 결정</a:t>
            </a:r>
            <a:endParaRPr/>
          </a:p>
        </p:txBody>
      </p:sp>
      <p:sp>
        <p:nvSpPr>
          <p:cNvPr id="1055" name="Google Shape;1055;p3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CharacterDevScene — 능력치는 자동이지만, 뽑힌 외형이 쓸 만한지는 사람이 봐야 한다</a:t>
            </a:r>
            <a:endParaRPr b="0" sz="140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descr="몬스터-외형자동결정-결과.png" id="1056" name="Google Shape;1056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2011680"/>
            <a:ext cx="6675120" cy="3703320"/>
          </a:xfrm>
          <a:prstGeom prst="rect">
            <a:avLst/>
          </a:prstGeom>
          <a:noFill/>
          <a:ln cap="flat" cmpd="sng" w="9525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57" name="Google Shape;1057;p35"/>
          <p:cNvSpPr txBox="1"/>
          <p:nvPr/>
        </p:nvSpPr>
        <p:spPr>
          <a:xfrm>
            <a:off x="7620000" y="2788045"/>
            <a:ext cx="3886200" cy="21505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왼쪽 — 몬스터 목록</a:t>
            </a:r>
            <a:endParaRPr b="1" sz="1250">
              <a:solidFill>
                <a:srgbClr val="2F6FE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코드·이름·hp·atk와 추천값 대비 편차, [PR](Prefab·Recipe) 보유 표시</a:t>
            </a:r>
            <a:endParaRPr b="0" sz="11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가운데 — 외형 프리뷰</a:t>
            </a:r>
            <a:endParaRPr b="1" sz="1250">
              <a:solidFill>
                <a:srgbClr val="2F6FE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고른 몬스터의 프리팹을 그 자리에 세운다</a:t>
            </a:r>
            <a:endParaRPr b="0" sz="11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오른쪽 — 능력치 · 외형 · 산출</a:t>
            </a:r>
            <a:endParaRPr b="1" sz="1250">
              <a:solidFill>
                <a:srgbClr val="2F6FE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[추천값 채우기] · 레시피와 시드가 고른 파트 목록 · [외형 재생성] · [프리팹 저장] · [스니펫 복사]</a:t>
            </a:r>
            <a:endParaRPr/>
          </a:p>
        </p:txBody>
      </p:sp>
      <p:sp>
        <p:nvSpPr>
          <p:cNvPr id="1058" name="Google Shape;1058;p3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33</a:t>
            </a:r>
            <a:endParaRPr/>
          </a:p>
        </p:txBody>
      </p:sp>
      <p:pic>
        <p:nvPicPr>
          <p:cNvPr id="1059" name="Google Shape;105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3" name="Shape 1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Google Shape;1064;p3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5" name="Google Shape;1065;p36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PIPELINE</a:t>
            </a:r>
            <a:endParaRPr/>
          </a:p>
        </p:txBody>
      </p:sp>
      <p:sp>
        <p:nvSpPr>
          <p:cNvPr id="1066" name="Google Shape;1066;p36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7" name="Google Shape;1067;p36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13.5  파이프라인의 산출물</a:t>
            </a:r>
            <a:endParaRPr/>
          </a:p>
        </p:txBody>
      </p:sp>
      <p:sp>
        <p:nvSpPr>
          <p:cNvPr id="1068" name="Google Shape;1068;p36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현재 게임의 몬스터 12종(일반 7 + Act별 보스 5)이 전부 이 파이프라인 산출물</a:t>
            </a:r>
            <a:endParaRPr/>
          </a:p>
        </p:txBody>
      </p:sp>
      <p:pic>
        <p:nvPicPr>
          <p:cNvPr descr="몬스터-자동생성-전투.png" id="1069" name="Google Shape;1069;p36"/>
          <p:cNvPicPr preferRelativeResize="0"/>
          <p:nvPr/>
        </p:nvPicPr>
        <p:blipFill rotWithShape="1">
          <a:blip r:embed="rId3">
            <a:alphaModFix/>
          </a:blip>
          <a:srcRect b="0" l="36124" r="0" t="0"/>
          <a:stretch/>
        </p:blipFill>
        <p:spPr>
          <a:xfrm>
            <a:off x="1549598" y="2148840"/>
            <a:ext cx="3850244" cy="1883664"/>
          </a:xfrm>
          <a:prstGeom prst="rect">
            <a:avLst/>
          </a:prstGeom>
          <a:noFill/>
          <a:ln>
            <a:noFill/>
          </a:ln>
          <a:effectLst>
            <a:outerShdw blurRad="292100" rotWithShape="0" algn="tl" dir="2700000" dist="139700">
              <a:srgbClr val="333333">
                <a:alpha val="65098"/>
              </a:srgbClr>
            </a:outerShdw>
          </a:effectLst>
        </p:spPr>
      </p:pic>
      <p:sp>
        <p:nvSpPr>
          <p:cNvPr id="1070" name="Google Shape;1070;p36"/>
          <p:cNvSpPr txBox="1"/>
          <p:nvPr/>
        </p:nvSpPr>
        <p:spPr>
          <a:xfrm>
            <a:off x="457200" y="4123944"/>
            <a:ext cx="6035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생성된 몬스터가 실제 전투에 등장 — 오른쪽 6종이 모두 파이프라인 산출물</a:t>
            </a:r>
            <a:endParaRPr/>
          </a:p>
        </p:txBody>
      </p:sp>
      <p:pic>
        <p:nvPicPr>
          <p:cNvPr descr="몬스터-자동생성-라인업.png" id="1071" name="Google Shape;1071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75400" y="2148840"/>
            <a:ext cx="5074360" cy="1883664"/>
          </a:xfrm>
          <a:prstGeom prst="rect">
            <a:avLst/>
          </a:prstGeom>
          <a:noFill/>
          <a:ln>
            <a:noFill/>
          </a:ln>
          <a:effectLst>
            <a:outerShdw blurRad="292100" rotWithShape="0" algn="tl" dir="2700000" dist="139700">
              <a:srgbClr val="333333">
                <a:alpha val="65098"/>
              </a:srgbClr>
            </a:outerShdw>
          </a:effectLst>
        </p:spPr>
      </p:pic>
      <p:sp>
        <p:nvSpPr>
          <p:cNvPr id="1072" name="Google Shape;1072;p36"/>
          <p:cNvSpPr txBox="1"/>
          <p:nvPr/>
        </p:nvSpPr>
        <p:spPr>
          <a:xfrm>
            <a:off x="6675120" y="4123944"/>
            <a:ext cx="5074920" cy="189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인게임에 등장하는 몬스터 프리팹 12종 — 1지역 ~ 5지역</a:t>
            </a:r>
            <a:endParaRPr b="0" sz="110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73" name="Google Shape;1073;p36"/>
          <p:cNvSpPr txBox="1"/>
          <p:nvPr/>
        </p:nvSpPr>
        <p:spPr>
          <a:xfrm>
            <a:off x="685800" y="4754880"/>
            <a:ext cx="10789920" cy="1177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외형만 바꾸는 요청은 서버</a:t>
            </a:r>
            <a:r>
              <a:rPr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손으로 만든 프리팹이 하나도 없다 — 전부 태그 → 레시피 → 프리팹 → 스폰 테이블을 거쳐 전투에 들어왔다. 이름·HP·공격력은 서버 정본에서 추출한 번들에서 읽는다.</a:t>
            </a:r>
            <a:endParaRPr/>
          </a:p>
          <a:p>
            <a:pPr indent="0" lvl="0" marL="0" marR="0" rtl="0" algn="l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정본·DB·번들을 건드리지 않는다 — 같은 경로에 덮어써 GUID가 유지되므로 "다시 뽑아 달라"를 몇 번 반복해도 DB 재적용도, 씬 수정도 없다.</a:t>
            </a:r>
            <a:endParaRPr/>
          </a:p>
        </p:txBody>
      </p:sp>
      <p:sp>
        <p:nvSpPr>
          <p:cNvPr id="1074" name="Google Shape;1074;p36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34</a:t>
            </a:r>
            <a:endParaRPr/>
          </a:p>
        </p:txBody>
      </p:sp>
      <p:pic>
        <p:nvPicPr>
          <p:cNvPr id="1075" name="Google Shape;1075;p3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9" name="Shape 10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Google Shape;1080;p37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1" name="Google Shape;1081;p3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35</a:t>
            </a:r>
            <a:endParaRPr/>
          </a:p>
        </p:txBody>
      </p:sp>
      <p:pic>
        <p:nvPicPr>
          <p:cNvPr descr="image.png" id="1082" name="Google Shape;108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1083" name="Google Shape;1083;p37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PIPELINE</a:t>
            </a:r>
            <a:endParaRPr/>
          </a:p>
        </p:txBody>
      </p:sp>
      <p:sp>
        <p:nvSpPr>
          <p:cNvPr id="1084" name="Google Shape;1084;p37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5" name="Google Shape;1085;p37"/>
          <p:cNvSpPr txBox="1"/>
          <p:nvPr/>
        </p:nvSpPr>
        <p:spPr>
          <a:xfrm>
            <a:off x="685800" y="914400"/>
            <a:ext cx="10881360" cy="5212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13.6  외형은 어떻게 정해지는가 — 태그 · 시드 · 레시피</a:t>
            </a:r>
            <a:endParaRPr/>
          </a:p>
        </p:txBody>
      </p:sp>
      <p:sp>
        <p:nvSpPr>
          <p:cNvPr id="1086" name="Google Shape;1086;p37"/>
          <p:cNvSpPr txBox="1"/>
          <p:nvPr/>
        </p:nvSpPr>
        <p:spPr>
          <a:xfrm>
            <a:off x="685800" y="1536192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능력치는 규칙이 정하고 외형은 시드가 고른다 — 사람이 하는 일은 “이걸로 간다”를 누르는 것뿐 (화면 구성은 11.4)</a:t>
            </a:r>
            <a:endParaRPr/>
          </a:p>
        </p:txBody>
      </p:sp>
      <p:pic>
        <p:nvPicPr>
          <p:cNvPr descr="몬스터-자동화-외형확정.png" id="1087" name="Google Shape;1087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5800" y="1920240"/>
            <a:ext cx="5897880" cy="3319683"/>
          </a:xfrm>
          <a:prstGeom prst="rect">
            <a:avLst/>
          </a:prstGeom>
          <a:noFill/>
          <a:ln cap="flat" cmpd="sng" w="9525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88" name="Google Shape;1088;p37"/>
          <p:cNvSpPr txBox="1"/>
          <p:nvPr/>
        </p:nvSpPr>
        <p:spPr>
          <a:xfrm>
            <a:off x="685800" y="5294787"/>
            <a:ext cx="5897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CharacterDevScene — 뽑힌 외형과 레시피 · 파트 목록을 그 자리에서 보고 확정한다</a:t>
            </a:r>
            <a:endParaRPr b="0" sz="110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89" name="Google Shape;1089;p37"/>
          <p:cNvSpPr/>
          <p:nvPr/>
        </p:nvSpPr>
        <p:spPr>
          <a:xfrm>
            <a:off x="6812280" y="1920240"/>
            <a:ext cx="4663440" cy="169164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0" name="Google Shape;1090;p37"/>
          <p:cNvSpPr txBox="1"/>
          <p:nvPr/>
        </p:nvSpPr>
        <p:spPr>
          <a:xfrm>
            <a:off x="7040880" y="2084831"/>
            <a:ext cx="42062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무엇을 자동으로 정하는가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계열은 Act가 정한다</a:t>
            </a: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— 1 빙의된 인간 · 2 언데드 · 3 악마 · 4 타락한 성기사 · 5 공허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SPUM 태그로 후보를 좁히고 </a:t>
            </a: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시드가 파츠를 고른다</a:t>
            </a: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(파츠 215개)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고른 결과는 </a:t>
            </a: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레시피 JSON 한 줄</a:t>
            </a: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 남고 프리팹은 거기서 조립된다</a:t>
            </a:r>
            <a:endParaRPr/>
          </a:p>
        </p:txBody>
      </p:sp>
      <p:sp>
        <p:nvSpPr>
          <p:cNvPr id="1091" name="Google Shape;1091;p37"/>
          <p:cNvSpPr/>
          <p:nvPr/>
        </p:nvSpPr>
        <p:spPr>
          <a:xfrm>
            <a:off x="6812280" y="3749039"/>
            <a:ext cx="4663440" cy="123444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2" name="Google Shape;1092;p37"/>
          <p:cNvSpPr txBox="1"/>
          <p:nvPr/>
        </p:nvSpPr>
        <p:spPr>
          <a:xfrm>
            <a:off x="7040880" y="3913632"/>
            <a:ext cx="4206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다시 뽑는 비용이 거의 0이다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[외형 재생성]은 시드를 옮겨 다시 뽑는 것 — 같은 경로에 덮어써 </a:t>
            </a: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GUID 유지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외형만 교체하면 서버 정본 · DB · 번들을 건드리지 않는다</a:t>
            </a:r>
            <a:endParaRPr/>
          </a:p>
        </p:txBody>
      </p:sp>
      <p:sp>
        <p:nvSpPr>
          <p:cNvPr id="1093" name="Google Shape;1093;p37"/>
          <p:cNvSpPr/>
          <p:nvPr/>
        </p:nvSpPr>
        <p:spPr>
          <a:xfrm>
            <a:off x="6812280" y="5120640"/>
            <a:ext cx="4663440" cy="114300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4" name="Google Shape;1094;p37"/>
          <p:cNvSpPr txBox="1"/>
          <p:nvPr/>
        </p:nvSpPr>
        <p:spPr>
          <a:xfrm>
            <a:off x="7040880" y="5248656"/>
            <a:ext cx="42062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외형에서 겪은 함정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colors는 </a:t>
            </a: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곱셈 틴트</a:t>
            </a: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— 밝게 하려면 색 지정을 뺀다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Body는 </a:t>
            </a: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피부만</a:t>
            </a: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— 몸통은 Armor · Cloth · Pant · Back, 뿔은 Helmet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8" name="Shape 10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Google Shape;1099;p38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0" name="Google Shape;1100;p3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36</a:t>
            </a:r>
            <a:endParaRPr/>
          </a:p>
        </p:txBody>
      </p:sp>
      <p:pic>
        <p:nvPicPr>
          <p:cNvPr descr="image.png" id="1101" name="Google Shape;1101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1102" name="Google Shape;1102;p38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RESULT</a:t>
            </a:r>
            <a:endParaRPr/>
          </a:p>
        </p:txBody>
      </p:sp>
      <p:sp>
        <p:nvSpPr>
          <p:cNvPr id="1103" name="Google Shape;1103;p38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4" name="Google Shape;1104;p38"/>
          <p:cNvSpPr txBox="1"/>
          <p:nvPr/>
        </p:nvSpPr>
        <p:spPr>
          <a:xfrm>
            <a:off x="685800" y="914400"/>
            <a:ext cx="10881360" cy="5212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14.  아이템 아이콘 절차적 생성 — 96종이 전부 코드 생성물</a:t>
            </a:r>
            <a:endParaRPr/>
          </a:p>
        </p:txBody>
      </p:sp>
      <p:sp>
        <p:nvSpPr>
          <p:cNvPr id="1105" name="Google Shape;1105;p38"/>
          <p:cNvSpPr txBox="1"/>
          <p:nvPr/>
        </p:nvSpPr>
        <p:spPr>
          <a:xfrm>
            <a:off x="685800" y="1536192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8장 파이프라인의 ③ 단계 — 장비 89 · 재료 4 · 소모품 2 · 재화 1의 아이콘을 외주 · 구매 없이 만들었다</a:t>
            </a:r>
            <a:endParaRPr/>
          </a:p>
        </p:txBody>
      </p:sp>
      <p:pic>
        <p:nvPicPr>
          <p:cNvPr descr="아이템-아이콘-생성물.png" id="1106" name="Google Shape;1106;p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5800" y="1920240"/>
            <a:ext cx="6035040" cy="4050917"/>
          </a:xfrm>
          <a:prstGeom prst="rect">
            <a:avLst/>
          </a:prstGeom>
          <a:noFill/>
          <a:ln cap="flat" cmpd="sng" w="9525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107" name="Google Shape;1107;p38"/>
          <p:cNvSpPr txBox="1"/>
          <p:nvPr/>
        </p:nvSpPr>
        <p:spPr>
          <a:xfrm>
            <a:off x="685800" y="6016752"/>
            <a:ext cx="6035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프로젝트의 아이템 아이콘 96종 전부 — 무기 · 방어구 · 재료 · 소모품</a:t>
            </a:r>
            <a:endParaRPr/>
          </a:p>
        </p:txBody>
      </p:sp>
      <p:pic>
        <p:nvPicPr>
          <p:cNvPr descr="inventory-item-cube-인벤토리_전체.png" id="1108" name="Google Shape;1108;p3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46720" y="1920240"/>
            <a:ext cx="2286000" cy="2396115"/>
          </a:xfrm>
          <a:prstGeom prst="rect">
            <a:avLst/>
          </a:prstGeom>
          <a:noFill/>
          <a:ln cap="flat" cmpd="sng" w="9525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109" name="Google Shape;1109;p38"/>
          <p:cNvSpPr txBox="1"/>
          <p:nvPr/>
        </p:nvSpPr>
        <p:spPr>
          <a:xfrm>
            <a:off x="6903720" y="43891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같은 아이콘이 인게임 가방 · 장착 슬롯에 그대로 뜬다</a:t>
            </a:r>
            <a:endParaRPr/>
          </a:p>
        </p:txBody>
      </p:sp>
      <p:sp>
        <p:nvSpPr>
          <p:cNvPr id="1110" name="Google Shape;1110;p38"/>
          <p:cNvSpPr/>
          <p:nvPr/>
        </p:nvSpPr>
        <p:spPr>
          <a:xfrm>
            <a:off x="6903720" y="4709160"/>
            <a:ext cx="4572000" cy="155448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1" name="Google Shape;1111;p38"/>
          <p:cNvSpPr txBox="1"/>
          <p:nvPr/>
        </p:nvSpPr>
        <p:spPr>
          <a:xfrm>
            <a:off x="7132320" y="4846320"/>
            <a:ext cx="41148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코드로 그려서 얻은 것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같은 등급 · 슬롯끼리 크기와 팔레트를 맞춘다 — </a:t>
            </a: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팔레트 레지스트리 재사용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눈으로 봤다고 가정하지 않는다</a:t>
            </a: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— 투명 배경 · 여백 · 색 수를 수치로 검사</a:t>
            </a:r>
            <a:endParaRPr/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b="0" lang="en-US" sz="11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“손잡이를 줄여 달라” 같은 수정도 </a:t>
            </a:r>
            <a:r>
              <a:rPr b="1" lang="en-US" sz="11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파라미터를 고쳐 다시 그린다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5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p3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7" name="Google Shape;1117;p39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SUMMARY</a:t>
            </a:r>
            <a:endParaRPr/>
          </a:p>
        </p:txBody>
      </p:sp>
      <p:sp>
        <p:nvSpPr>
          <p:cNvPr id="1118" name="Google Shape;1118;p39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9" name="Google Shape;1119;p39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정리</a:t>
            </a:r>
            <a:endParaRPr b="1" sz="30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20" name="Google Shape;1120;p39"/>
          <p:cNvSpPr/>
          <p:nvPr/>
        </p:nvSpPr>
        <p:spPr>
          <a:xfrm>
            <a:off x="685800" y="2148840"/>
            <a:ext cx="3429000" cy="301752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1" name="Google Shape;1121;p39"/>
          <p:cNvSpPr txBox="1"/>
          <p:nvPr/>
        </p:nvSpPr>
        <p:spPr>
          <a:xfrm>
            <a:off x="905256" y="2331720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</a:t>
            </a:r>
            <a:endParaRPr/>
          </a:p>
        </p:txBody>
      </p:sp>
      <p:sp>
        <p:nvSpPr>
          <p:cNvPr id="1122" name="Google Shape;1122;p39"/>
          <p:cNvSpPr txBox="1"/>
          <p:nvPr/>
        </p:nvSpPr>
        <p:spPr>
          <a:xfrm>
            <a:off x="905256" y="2624328"/>
            <a:ext cx="3017520" cy="258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문서를 기반으로 작업을 시작</a:t>
            </a:r>
            <a:endParaRPr b="1" sz="15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23" name="Google Shape;1123;p39"/>
          <p:cNvSpPr txBox="1"/>
          <p:nvPr/>
        </p:nvSpPr>
        <p:spPr>
          <a:xfrm>
            <a:off x="905256" y="3017520"/>
            <a:ext cx="3017520" cy="16620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코드작성을 바로 시키지 않고 기획서를 먼저 확정한 뒤 그 문서를 기반으로만 작업을 진행한다.</a:t>
            </a:r>
            <a:endParaRPr b="0" sz="11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b="0" sz="11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"확정"과 "그렇게 정한 이유"를 함께 남겨, 그때 왜 이렇게 했지 라는 질문에 대해 스스로 답을 찾을 수 있도록 하였다.</a:t>
            </a:r>
            <a:endParaRPr/>
          </a:p>
        </p:txBody>
      </p:sp>
      <p:sp>
        <p:nvSpPr>
          <p:cNvPr id="1124" name="Google Shape;1124;p39"/>
          <p:cNvSpPr/>
          <p:nvPr/>
        </p:nvSpPr>
        <p:spPr>
          <a:xfrm>
            <a:off x="4370832" y="2148840"/>
            <a:ext cx="3429000" cy="301752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5" name="Google Shape;1125;p39"/>
          <p:cNvSpPr txBox="1"/>
          <p:nvPr/>
        </p:nvSpPr>
        <p:spPr>
          <a:xfrm>
            <a:off x="4590288" y="2331720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</a:t>
            </a:r>
            <a:endParaRPr/>
          </a:p>
        </p:txBody>
      </p:sp>
      <p:sp>
        <p:nvSpPr>
          <p:cNvPr id="1126" name="Google Shape;1126;p39"/>
          <p:cNvSpPr txBox="1"/>
          <p:nvPr/>
        </p:nvSpPr>
        <p:spPr>
          <a:xfrm>
            <a:off x="4590288" y="2624328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만드는 절차를 코드로</a:t>
            </a:r>
            <a:endParaRPr b="1" sz="15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27" name="Google Shape;1127;p39"/>
          <p:cNvSpPr txBox="1"/>
          <p:nvPr/>
        </p:nvSpPr>
        <p:spPr>
          <a:xfrm>
            <a:off x="4590288" y="3017520"/>
            <a:ext cx="30175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 · 아이콘 · 이펙트 · 마스터 번들 · 몬스터 — 산출물을 직접 편집하지 않고 그것을 생성하는 스크립트를 남겼다.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b="0" sz="11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그래서 어느 것이든 "다시 만들어라"가 실행 가능한 요청이 된다.</a:t>
            </a:r>
            <a:endParaRPr/>
          </a:p>
        </p:txBody>
      </p:sp>
      <p:sp>
        <p:nvSpPr>
          <p:cNvPr id="1128" name="Google Shape;1128;p39"/>
          <p:cNvSpPr/>
          <p:nvPr/>
        </p:nvSpPr>
        <p:spPr>
          <a:xfrm>
            <a:off x="8055864" y="2148840"/>
            <a:ext cx="3429000" cy="301752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D8DE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9" name="Google Shape;1129;p39"/>
          <p:cNvSpPr txBox="1"/>
          <p:nvPr/>
        </p:nvSpPr>
        <p:spPr>
          <a:xfrm>
            <a:off x="8275320" y="2331720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③</a:t>
            </a:r>
            <a:endParaRPr/>
          </a:p>
        </p:txBody>
      </p:sp>
      <p:sp>
        <p:nvSpPr>
          <p:cNvPr id="1130" name="Google Shape;1130;p39"/>
          <p:cNvSpPr txBox="1"/>
          <p:nvPr/>
        </p:nvSpPr>
        <p:spPr>
          <a:xfrm>
            <a:off x="8275320" y="2624328"/>
            <a:ext cx="3017520" cy="258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유니티 MCP +  하네스 구성</a:t>
            </a:r>
            <a:endParaRPr b="1" sz="150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31" name="Google Shape;1131;p39"/>
          <p:cNvSpPr txBox="1"/>
          <p:nvPr/>
        </p:nvSpPr>
        <p:spPr>
          <a:xfrm>
            <a:off x="8275320" y="3017520"/>
            <a:ext cx="3017520" cy="18921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개발자가 직접 보는 씬이 아닌, 클로드를 위한 개발용 DevScene들을 추가하여, 구현에 대한 검증과 테스트가 효율적으로 이뤄지도록 하였다.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sz="11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아이템 및 몬스터 등 일부 리소스에 대한 클라, 서버 작업을 자동화하여 효율적으로 과제를 진행할 수 있도록 구성하였다.</a:t>
            </a:r>
            <a:endParaRPr b="0" sz="115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32" name="Google Shape;1132;p3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37</a:t>
            </a:r>
            <a:endParaRPr/>
          </a:p>
        </p:txBody>
      </p:sp>
      <p:pic>
        <p:nvPicPr>
          <p:cNvPr id="1133" name="Google Shape;1133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7" name="Shape 1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8" name="Google Shape;1138;p4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9" name="Google Shape;1139;p40"/>
          <p:cNvSpPr txBox="1"/>
          <p:nvPr/>
        </p:nvSpPr>
        <p:spPr>
          <a:xfrm>
            <a:off x="1097280" y="274320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감사합니다</a:t>
            </a:r>
            <a:endParaRPr/>
          </a:p>
        </p:txBody>
      </p:sp>
      <p:sp>
        <p:nvSpPr>
          <p:cNvPr id="1140" name="Google Shape;1140;p40"/>
          <p:cNvSpPr/>
          <p:nvPr/>
        </p:nvSpPr>
        <p:spPr>
          <a:xfrm>
            <a:off x="1143000" y="3794760"/>
            <a:ext cx="1463040" cy="45720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1" name="Google Shape;1141;p40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38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