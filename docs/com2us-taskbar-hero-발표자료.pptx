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9" r:id="rId4"/>
    <p:sldId id="258" r:id="rId5"/>
    <p:sldId id="293" r:id="rId6"/>
    <p:sldId id="294" r:id="rId7"/>
    <p:sldId id="295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0" r:id="rId16"/>
    <p:sldId id="271" r:id="rId17"/>
    <p:sldId id="272" r:id="rId18"/>
    <p:sldId id="276" r:id="rId19"/>
    <p:sldId id="297" r:id="rId20"/>
    <p:sldId id="277" r:id="rId21"/>
    <p:sldId id="296" r:id="rId22"/>
    <p:sldId id="299" r:id="rId23"/>
    <p:sldId id="279" r:id="rId24"/>
    <p:sldId id="284" r:id="rId25"/>
    <p:sldId id="287" r:id="rId26"/>
    <p:sldId id="288" r:id="rId27"/>
    <p:sldId id="289" r:id="rId28"/>
    <p:sldId id="291" r:id="rId29"/>
    <p:sldId id="292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E056294-CB1A-457A-BC77-3D2C0110B843}">
          <p14:sldIdLst>
            <p14:sldId id="256"/>
            <p14:sldId id="257"/>
            <p14:sldId id="259"/>
            <p14:sldId id="258"/>
            <p14:sldId id="293"/>
            <p14:sldId id="294"/>
            <p14:sldId id="295"/>
            <p14:sldId id="261"/>
            <p14:sldId id="262"/>
            <p14:sldId id="263"/>
            <p14:sldId id="264"/>
            <p14:sldId id="265"/>
            <p14:sldId id="266"/>
            <p14:sldId id="267"/>
            <p14:sldId id="270"/>
            <p14:sldId id="271"/>
          </p14:sldIdLst>
        </p14:section>
        <p14:section name="제목 없는 구역" id="{6E91ED39-CFAE-4652-AD54-7C7168663919}">
          <p14:sldIdLst>
            <p14:sldId id="272"/>
            <p14:sldId id="276"/>
            <p14:sldId id="297"/>
            <p14:sldId id="277"/>
            <p14:sldId id="296"/>
            <p14:sldId id="299"/>
          </p14:sldIdLst>
        </p14:section>
        <p14:section name="제목 없는 구역" id="{DE4E5F07-8030-4E3A-A553-6CC16F44294F}">
          <p14:sldIdLst>
            <p14:sldId id="279"/>
            <p14:sldId id="284"/>
            <p14:sldId id="287"/>
            <p14:sldId id="288"/>
            <p14:sldId id="289"/>
            <p14:sldId id="291"/>
            <p14:sldId id="2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2" d="100"/>
          <a:sy n="152" d="100"/>
        </p:scale>
        <p:origin x="60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244654-2EF2-416C-BD24-BC4053C40EC2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C5A9FB-44F8-40F0-A994-A91B0B6534F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242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C5A9FB-44F8-40F0-A994-A91B0B6534F8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13569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C5A9FB-44F8-40F0-A994-A91B0B6534F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80150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C5A9FB-44F8-40F0-A994-A91B0B6534F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84704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09387"/>
            <a:ext cx="10058400" cy="1066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400" b="1" dirty="0">
                <a:solidFill>
                  <a:srgbClr val="FF0000"/>
                </a:solidFill>
                <a:latin typeface="맑은 고딕"/>
              </a:rPr>
              <a:t>2026 </a:t>
            </a:r>
            <a:r>
              <a:rPr sz="2400" b="1" dirty="0" err="1">
                <a:solidFill>
                  <a:srgbClr val="FF0000"/>
                </a:solidFill>
                <a:latin typeface="맑은 고딕"/>
              </a:rPr>
              <a:t>컴투스</a:t>
            </a:r>
            <a:r>
              <a:rPr sz="24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sz="2400" b="1" dirty="0" err="1">
                <a:solidFill>
                  <a:srgbClr val="FF0000"/>
                </a:solidFill>
                <a:latin typeface="맑은 고딕"/>
              </a:rPr>
              <a:t>지니어스</a:t>
            </a:r>
            <a:r>
              <a:rPr sz="2400" b="1" dirty="0">
                <a:solidFill>
                  <a:srgbClr val="FF0000"/>
                </a:solidFill>
                <a:latin typeface="맑은 고딕"/>
              </a:rPr>
              <a:t> </a:t>
            </a:r>
            <a:r>
              <a:rPr lang="en-US" sz="2400" b="1" dirty="0">
                <a:solidFill>
                  <a:srgbClr val="FF0000"/>
                </a:solidFill>
                <a:latin typeface="맑은 고딕"/>
              </a:rPr>
              <a:t>8</a:t>
            </a:r>
            <a:r>
              <a:rPr lang="ko-KR" altLang="en-US" sz="2400" b="1" dirty="0">
                <a:solidFill>
                  <a:srgbClr val="FF0000"/>
                </a:solidFill>
                <a:latin typeface="맑은 고딕"/>
              </a:rPr>
              <a:t>기 과제발표</a:t>
            </a:r>
            <a:endParaRPr lang="en-US" altLang="ko-KR" sz="2400" b="1" dirty="0">
              <a:solidFill>
                <a:srgbClr val="FF0000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b="1" dirty="0" err="1">
                <a:solidFill>
                  <a:srgbClr val="E0A526"/>
                </a:solidFill>
                <a:latin typeface="맑은 고딕"/>
              </a:rPr>
              <a:t>테크코어실</a:t>
            </a:r>
            <a:r>
              <a:rPr lang="ko-KR" altLang="en-US" b="1" dirty="0">
                <a:solidFill>
                  <a:srgbClr val="E0A526"/>
                </a:solidFill>
                <a:latin typeface="맑은 고딕"/>
              </a:rPr>
              <a:t> </a:t>
            </a:r>
            <a:r>
              <a:rPr lang="ko-KR" altLang="en-US" b="1" dirty="0" err="1">
                <a:solidFill>
                  <a:srgbClr val="E0A526"/>
                </a:solidFill>
                <a:latin typeface="맑은 고딕"/>
              </a:rPr>
              <a:t>백엔드기술팀</a:t>
            </a:r>
            <a:r>
              <a:rPr lang="ko-KR" altLang="en-US" b="1" dirty="0">
                <a:solidFill>
                  <a:srgbClr val="E0A526"/>
                </a:solidFill>
                <a:latin typeface="맑은 고딕"/>
              </a:rPr>
              <a:t> </a:t>
            </a:r>
            <a:endParaRPr lang="en-US" altLang="ko-KR" b="1" dirty="0">
              <a:solidFill>
                <a:srgbClr val="E0A526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E0A526"/>
                </a:solidFill>
                <a:latin typeface="맑은 고딕"/>
              </a:rPr>
              <a:t>인턴 </a:t>
            </a:r>
            <a:r>
              <a:rPr lang="ko-KR" altLang="en-US" sz="1500" b="1" dirty="0" err="1">
                <a:solidFill>
                  <a:srgbClr val="E0A526"/>
                </a:solidFill>
                <a:latin typeface="맑은 고딕"/>
              </a:rPr>
              <a:t>권순욱</a:t>
            </a:r>
            <a:endParaRPr sz="1500" b="1" dirty="0">
              <a:solidFill>
                <a:srgbClr val="E0A526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3311665"/>
            <a:ext cx="10241280" cy="169770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lang="ko-KR" altLang="en-US" sz="4800" b="1" dirty="0">
                <a:solidFill>
                  <a:srgbClr val="FFFFFF"/>
                </a:solidFill>
                <a:latin typeface="맑은 고딕"/>
              </a:rPr>
              <a:t>방치형 게임</a:t>
            </a:r>
            <a:r>
              <a:rPr lang="en-US" altLang="ko-KR" sz="4800" b="1" dirty="0">
                <a:solidFill>
                  <a:srgbClr val="FFFFFF"/>
                </a:solidFill>
                <a:latin typeface="맑은 고딕"/>
              </a:rPr>
              <a:t>(Com2us Taskbar Hero)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endParaRPr sz="48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05840" y="4160520"/>
            <a:ext cx="146304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9FE9980-3258-C63B-D742-543BFC2D99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CONTENTS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목차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010F6874-1CC6-FA1C-DFB3-9EF1AC1AE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300" name="SH 300"/>
          <p:cNvSpPr/>
          <p:nvPr/>
        </p:nvSpPr>
        <p:spPr>
          <a:xfrm>
            <a:off x="685800" y="2011680"/>
            <a:ext cx="516636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301" name="TB 301"/>
          <p:cNvSpPr txBox="1"/>
          <p:nvPr/>
        </p:nvSpPr>
        <p:spPr>
          <a:xfrm>
            <a:off x="1097280" y="2377440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2F6FE4"/>
                </a:solidFill>
                <a:latin typeface="맑은 고딕"/>
                <a:ea typeface="맑은 고딕"/>
              </a:rPr>
              <a:t>제1부 — 서버</a:t>
            </a:r>
          </a:p>
        </p:txBody>
      </p:sp>
      <p:sp>
        <p:nvSpPr>
          <p:cNvPr id="302" name="TB 302"/>
          <p:cNvSpPr txBox="1"/>
          <p:nvPr/>
        </p:nvSpPr>
        <p:spPr>
          <a:xfrm>
            <a:off x="1097280" y="328269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03" name="TB 303"/>
          <p:cNvSpPr txBox="1"/>
          <p:nvPr/>
        </p:nvSpPr>
        <p:spPr>
          <a:xfrm>
            <a:off x="1645920" y="3282696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시스템 아키텍처</a:t>
            </a:r>
          </a:p>
        </p:txBody>
      </p:sp>
      <p:sp>
        <p:nvSpPr>
          <p:cNvPr id="304" name="TB 304"/>
          <p:cNvSpPr txBox="1"/>
          <p:nvPr/>
        </p:nvSpPr>
        <p:spPr>
          <a:xfrm>
            <a:off x="1097280" y="371246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05" name="TB 305"/>
          <p:cNvSpPr txBox="1"/>
          <p:nvPr/>
        </p:nvSpPr>
        <p:spPr>
          <a:xfrm>
            <a:off x="1645920" y="3712464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서버 개발 방식</a:t>
            </a:r>
          </a:p>
        </p:txBody>
      </p:sp>
      <p:sp>
        <p:nvSpPr>
          <p:cNvPr id="306" name="TB 306"/>
          <p:cNvSpPr txBox="1"/>
          <p:nvPr/>
        </p:nvSpPr>
        <p:spPr>
          <a:xfrm>
            <a:off x="1097280" y="4142232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07" name="TB 307"/>
          <p:cNvSpPr txBox="1"/>
          <p:nvPr/>
        </p:nvSpPr>
        <p:spPr>
          <a:xfrm>
            <a:off x="1645920" y="4142232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 시 각 단계에 대해</a:t>
            </a:r>
          </a:p>
        </p:txBody>
      </p:sp>
      <p:sp>
        <p:nvSpPr>
          <p:cNvPr id="308" name="TB 308"/>
          <p:cNvSpPr txBox="1"/>
          <p:nvPr/>
        </p:nvSpPr>
        <p:spPr>
          <a:xfrm>
            <a:off x="1097280" y="4572000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09" name="TB 309"/>
          <p:cNvSpPr txBox="1"/>
          <p:nvPr/>
        </p:nvSpPr>
        <p:spPr>
          <a:xfrm>
            <a:off x="1645920" y="4572000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문서 체계</a:t>
            </a:r>
          </a:p>
        </p:txBody>
      </p:sp>
      <p:sp>
        <p:nvSpPr>
          <p:cNvPr id="310" name="TB 310"/>
          <p:cNvSpPr txBox="1"/>
          <p:nvPr/>
        </p:nvSpPr>
        <p:spPr>
          <a:xfrm>
            <a:off x="1097280" y="500176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11" name="TB 311"/>
          <p:cNvSpPr txBox="1"/>
          <p:nvPr/>
        </p:nvSpPr>
        <p:spPr>
          <a:xfrm>
            <a:off x="1645920" y="5001768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밸런스 수치를 잡기 위한 과정</a:t>
            </a:r>
          </a:p>
        </p:txBody>
      </p:sp>
      <p:sp>
        <p:nvSpPr>
          <p:cNvPr id="312" name="SH 312"/>
          <p:cNvSpPr/>
          <p:nvPr/>
        </p:nvSpPr>
        <p:spPr>
          <a:xfrm>
            <a:off x="6309360" y="2011680"/>
            <a:ext cx="5166360" cy="23865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313" name="TB 313"/>
          <p:cNvSpPr txBox="1"/>
          <p:nvPr/>
        </p:nvSpPr>
        <p:spPr>
          <a:xfrm>
            <a:off x="6720840" y="2377440"/>
            <a:ext cx="4343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2F6FE4"/>
                </a:solidFill>
                <a:latin typeface="맑은 고딕"/>
                <a:ea typeface="맑은 고딕"/>
              </a:rPr>
              <a:t>제2부 — 클라이언트(Unity)</a:t>
            </a:r>
          </a:p>
        </p:txBody>
      </p:sp>
      <p:sp>
        <p:nvSpPr>
          <p:cNvPr id="314" name="TB 314"/>
          <p:cNvSpPr txBox="1"/>
          <p:nvPr/>
        </p:nvSpPr>
        <p:spPr>
          <a:xfrm>
            <a:off x="6720840" y="285292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8</a:t>
            </a:r>
          </a:p>
        </p:txBody>
      </p:sp>
      <p:sp>
        <p:nvSpPr>
          <p:cNvPr id="315" name="TB 315"/>
          <p:cNvSpPr txBox="1"/>
          <p:nvPr/>
        </p:nvSpPr>
        <p:spPr>
          <a:xfrm>
            <a:off x="7269480" y="2852928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게임 소개</a:t>
            </a:r>
          </a:p>
        </p:txBody>
      </p:sp>
      <p:sp>
        <p:nvSpPr>
          <p:cNvPr id="316" name="TB 316"/>
          <p:cNvSpPr txBox="1"/>
          <p:nvPr/>
        </p:nvSpPr>
        <p:spPr>
          <a:xfrm>
            <a:off x="6720840" y="328269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9</a:t>
            </a:r>
          </a:p>
        </p:txBody>
      </p:sp>
      <p:sp>
        <p:nvSpPr>
          <p:cNvPr id="317" name="TB 317"/>
          <p:cNvSpPr txBox="1"/>
          <p:nvPr/>
        </p:nvSpPr>
        <p:spPr>
          <a:xfrm>
            <a:off x="7269480" y="3282696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 방식 한눈에 보기</a:t>
            </a:r>
          </a:p>
        </p:txBody>
      </p:sp>
      <p:sp>
        <p:nvSpPr>
          <p:cNvPr id="318" name="TB 318"/>
          <p:cNvSpPr txBox="1"/>
          <p:nvPr/>
        </p:nvSpPr>
        <p:spPr>
          <a:xfrm>
            <a:off x="6720840" y="3712464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319" name="TB 319"/>
          <p:cNvSpPr txBox="1"/>
          <p:nvPr/>
        </p:nvSpPr>
        <p:spPr>
          <a:xfrm>
            <a:off x="7269480" y="3712464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개발용 </a:t>
            </a:r>
            <a:r>
              <a:rPr lang="ko-KR" altLang="en-US" sz="1250" b="0" dirty="0" err="1">
                <a:solidFill>
                  <a:srgbClr val="1B2430"/>
                </a:solidFill>
                <a:latin typeface="맑은 고딕"/>
                <a:ea typeface="맑은 고딕"/>
              </a:rPr>
              <a:t>하네스</a:t>
            </a: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 씬 구성</a:t>
            </a:r>
          </a:p>
        </p:txBody>
      </p:sp>
      <p:sp>
        <p:nvSpPr>
          <p:cNvPr id="6" name="TB 350"/>
          <p:cNvSpPr txBox="1"/>
          <p:nvPr/>
        </p:nvSpPr>
        <p:spPr>
          <a:xfrm>
            <a:off x="1097280" y="2852928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en-US" altLang="ko-KR" sz="1250" b="1" dirty="0">
                <a:solidFill>
                  <a:srgbClr val="E0A526"/>
                </a:solidFill>
                <a:latin typeface="맑은 고딕"/>
                <a:ea typeface="맑은 고딕"/>
              </a:rPr>
              <a:t>1</a:t>
            </a:r>
            <a:endParaRPr lang="ko-KR" altLang="en-US" sz="1250" b="1" dirty="0">
              <a:solidFill>
                <a:srgbClr val="E0A526"/>
              </a:solidFill>
              <a:latin typeface="맑은 고딕"/>
              <a:ea typeface="맑은 고딕"/>
            </a:endParaRPr>
          </a:p>
        </p:txBody>
      </p:sp>
      <p:sp>
        <p:nvSpPr>
          <p:cNvPr id="7" name="TB 351"/>
          <p:cNvSpPr txBox="1"/>
          <p:nvPr/>
        </p:nvSpPr>
        <p:spPr>
          <a:xfrm>
            <a:off x="1645920" y="2852928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dirty="0">
                <a:solidFill>
                  <a:srgbClr val="1B2430"/>
                </a:solidFill>
                <a:latin typeface="맑은 고딕"/>
                <a:ea typeface="맑은 고딕"/>
              </a:rPr>
              <a:t>프로젝트 개요</a:t>
            </a:r>
            <a:endParaRPr lang="ko-KR" altLang="en-US" sz="1250" b="0" dirty="0">
              <a:solidFill>
                <a:srgbClr val="1B2430"/>
              </a:solidFill>
              <a:latin typeface="맑은 고딕"/>
              <a:ea typeface="맑은 고딕"/>
            </a:endParaRPr>
          </a:p>
        </p:txBody>
      </p:sp>
      <p:sp>
        <p:nvSpPr>
          <p:cNvPr id="8" name="TB 360"/>
          <p:cNvSpPr txBox="1"/>
          <p:nvPr/>
        </p:nvSpPr>
        <p:spPr>
          <a:xfrm>
            <a:off x="1097280" y="5431536"/>
            <a:ext cx="4572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lang="ko-KR" altLang="en-US" sz="1250" b="1" dirty="0">
                <a:solidFill>
                  <a:srgbClr val="E0A526"/>
                </a:solidFill>
                <a:latin typeface="맑은 고딕"/>
                <a:ea typeface="맑은 고딕"/>
              </a:rPr>
              <a:t>7</a:t>
            </a:r>
          </a:p>
        </p:txBody>
      </p:sp>
      <p:sp>
        <p:nvSpPr>
          <p:cNvPr id="10" name="TB 361"/>
          <p:cNvSpPr txBox="1"/>
          <p:nvPr/>
        </p:nvSpPr>
        <p:spPr>
          <a:xfrm>
            <a:off x="1645920" y="5431536"/>
            <a:ext cx="379476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1B2430"/>
                </a:solidFill>
                <a:latin typeface="맑은 고딕"/>
                <a:ea typeface="맑은 고딕"/>
              </a:rPr>
              <a:t>로그 </a:t>
            </a:r>
            <a:r>
              <a:rPr lang="ko-KR" altLang="en-US" sz="1250" dirty="0">
                <a:solidFill>
                  <a:srgbClr val="1B2430"/>
                </a:solidFill>
                <a:latin typeface="맑은 고딕"/>
                <a:ea typeface="맑은 고딕"/>
              </a:rPr>
              <a:t>관리</a:t>
            </a:r>
            <a:endParaRPr lang="ko-KR" altLang="en-US" sz="1250" b="0" dirty="0">
              <a:solidFill>
                <a:srgbClr val="1B2430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en-US" sz="3000" b="1" dirty="0">
                <a:solidFill>
                  <a:srgbClr val="1B2430"/>
                </a:solidFill>
                <a:latin typeface="맑은 고딕"/>
              </a:rPr>
              <a:t>1.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프로젝트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개요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서버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AccountServer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17520"/>
            <a:ext cx="25603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계정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인증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서비스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977639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97095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서버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5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GameServer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97095" y="3017520"/>
            <a:ext cx="25603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게임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컨텐츠 제공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스테이지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인벤토리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거래소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가챠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2148840"/>
            <a:ext cx="29718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488936" y="233172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공유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2624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TaskbarHero.Common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488936" y="3017520"/>
            <a:ext cx="25603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클라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서버간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공유 클래스</a:t>
            </a:r>
            <a:endParaRPr lang="en-US" altLang="ko-KR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Ex)</a:t>
            </a:r>
            <a:r>
              <a:rPr lang="en-US" sz="115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en-US" sz="1150" dirty="0" err="1">
                <a:solidFill>
                  <a:srgbClr val="6B7684"/>
                </a:solidFill>
                <a:latin typeface="맑은 고딕"/>
              </a:rPr>
              <a:t>Dto</a:t>
            </a:r>
            <a:r>
              <a:rPr lang="en-US" sz="115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에러코드</a:t>
            </a:r>
            <a:r>
              <a:rPr lang="en-US" altLang="ko-KR" sz="1150" dirty="0">
                <a:solidFill>
                  <a:srgbClr val="6B7684"/>
                </a:solidFill>
                <a:latin typeface="맑은 고딕"/>
              </a:rPr>
              <a:t>…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</a:t>
            </a: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7A3ECCCD-3735-61BA-896D-BFCDC94E30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977640"/>
            <a:ext cx="3837594" cy="166490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5DD53B63-F9B9-6FED-ABD1-286DE4BD7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594" y="3977640"/>
            <a:ext cx="3068410" cy="166490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6CF6AA3-6411-144A-8837-9AD806B054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6204" y="3977640"/>
            <a:ext cx="2968516" cy="16649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5792416-EF10-C882-BCC0-04A55C763D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00" name="TB 400"/>
          <p:cNvSpPr txBox="1"/>
          <p:nvPr/>
        </p:nvSpPr>
        <p:spPr>
          <a:xfrm>
            <a:off x="685800" y="5779700"/>
            <a:ext cx="3837594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원작 스팀 게임 TBH : 태스크바 히어로</a:t>
            </a:r>
          </a:p>
        </p:txBody>
      </p:sp>
      <p:sp>
        <p:nvSpPr>
          <p:cNvPr id="401" name="TB 401"/>
          <p:cNvSpPr txBox="1"/>
          <p:nvPr/>
        </p:nvSpPr>
        <p:spPr>
          <a:xfrm>
            <a:off x="4980594" y="5779700"/>
            <a:ext cx="6494126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모작 : Com2us Taskbar Hero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E0A526"/>
                </a:solidFill>
                <a:latin typeface="맑은 고딕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맑은 고딕"/>
              </a:rPr>
              <a:t>서버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4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1BAC89B-D83A-DDCA-F05E-49CC619E03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" y="-6291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600805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2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시스템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아키텍처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—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전체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구성도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240280"/>
            <a:ext cx="1965960" cy="78814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832104" y="2359152"/>
            <a:ext cx="411480" cy="41148"/>
          </a:xfrm>
          <a:prstGeom prst="rect">
            <a:avLst/>
          </a:prstGeom>
          <a:solidFill>
            <a:srgbClr val="6B76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2104" y="2468880"/>
            <a:ext cx="1673351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Unity 클라이언트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6120" y="1828800"/>
            <a:ext cx="3383280" cy="24688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8DE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64991" y="1892807"/>
            <a:ext cx="3145536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애플리케이션</a:t>
            </a:r>
            <a:r>
              <a:rPr sz="950" b="1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1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</a:t>
            </a:r>
            <a:endParaRPr sz="950" b="1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364992" y="2157984"/>
            <a:ext cx="314553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511296" y="2276856"/>
            <a:ext cx="411480" cy="41148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11296" y="2386584"/>
            <a:ext cx="28529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AccountServer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1296" y="2606039"/>
            <a:ext cx="2852928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:5160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11296" y="2779776"/>
            <a:ext cx="2852928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계정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생성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로그인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발급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(TTL 24h)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64992" y="3236976"/>
            <a:ext cx="314553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511296" y="3355848"/>
            <a:ext cx="411480" cy="4114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511296" y="3465576"/>
            <a:ext cx="28529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GameServer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11296" y="3685032"/>
            <a:ext cx="2852928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1B9E6F"/>
                </a:solidFill>
                <a:latin typeface="맑은 고딕"/>
                <a:ea typeface="맑은 고딕"/>
                <a:cs typeface="맑은 고딕"/>
              </a:rPr>
              <a:t>:5247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11296" y="3858768"/>
            <a:ext cx="2852928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 컨텐츠 관련 로그 수집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269480" y="1828800"/>
            <a:ext cx="4206240" cy="246888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8DE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83780" y="1912908"/>
            <a:ext cx="3968496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950" b="1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Database</a:t>
            </a:r>
            <a:endParaRPr sz="950" b="1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397496" y="2135124"/>
            <a:ext cx="396849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543800" y="2253996"/>
            <a:ext cx="411480" cy="411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543800" y="2363724"/>
            <a:ext cx="3675887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Cache(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Redis 8.2</a:t>
            </a:r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2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43800" y="2583179"/>
            <a:ext cx="367588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850" b="1" dirty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850" b="1" dirty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6379 · AOF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756916"/>
            <a:ext cx="3675887" cy="303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auth:token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:{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userId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} </a:t>
            </a: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유저 로그인 인증 토큰</a:t>
            </a:r>
            <a:endParaRPr lang="en-US" altLang="ko-KR" sz="85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22000"/>
              </a:lnSpc>
            </a:pP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랭킹 데이터 </a:t>
            </a:r>
            <a:r>
              <a:rPr lang="ko-KR" altLang="en-US" sz="85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캐싱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7388352" y="3236976"/>
            <a:ext cx="396849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534656" y="3355848"/>
            <a:ext cx="411480" cy="41148"/>
          </a:xfrm>
          <a:prstGeom prst="rect">
            <a:avLst/>
          </a:prstGeom>
          <a:solidFill>
            <a:srgbClr val="2A5C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534656" y="3465576"/>
            <a:ext cx="3675887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Database (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MySQL 8.4</a:t>
            </a:r>
            <a:r>
              <a:rPr lang="en-US"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)</a:t>
            </a:r>
            <a:endParaRPr sz="12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534656" y="3685032"/>
            <a:ext cx="3675887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850" b="1" dirty="0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3</a:t>
            </a:r>
            <a:r>
              <a:rPr sz="850" b="1" dirty="0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3306 · </a:t>
            </a:r>
            <a:r>
              <a:rPr sz="850" b="1" dirty="0" err="1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SqlKata</a:t>
            </a:r>
            <a:r>
              <a:rPr sz="850" b="1" dirty="0">
                <a:solidFill>
                  <a:srgbClr val="2A5C9A"/>
                </a:solidFill>
                <a:latin typeface="맑은 고딕"/>
                <a:ea typeface="맑은 고딕"/>
                <a:cs typeface="맑은 고딕"/>
              </a:rPr>
              <a:t> + Dapper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34656" y="3819111"/>
            <a:ext cx="3675887" cy="3810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lang="en-US" sz="70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taskbar_hero_account</a:t>
            </a:r>
            <a:r>
              <a:rPr 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– </a:t>
            </a:r>
            <a:r>
              <a:rPr lang="ko-KR" alt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사용자 계정 관리</a:t>
            </a:r>
            <a:endParaRPr lang="en-US" altLang="ko-KR" sz="70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22000"/>
              </a:lnSpc>
            </a:pPr>
            <a:r>
              <a:rPr lang="en-US" sz="70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lang="en-US" sz="70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askbar_hero_game</a:t>
            </a:r>
            <a:r>
              <a:rPr 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– </a:t>
            </a:r>
            <a:r>
              <a:rPr lang="ko-KR" alt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 컨텐츠 관련 관리</a:t>
            </a:r>
            <a:endParaRPr lang="en-US" altLang="ko-KR" sz="70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  <a:p>
            <a:pPr algn="l">
              <a:lnSpc>
                <a:spcPct val="122000"/>
              </a:lnSpc>
            </a:pPr>
            <a:r>
              <a:rPr lang="en-US" sz="70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lang="en-US" sz="70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askbar_hero_master</a:t>
            </a:r>
            <a:r>
              <a:rPr 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– </a:t>
            </a:r>
            <a:r>
              <a:rPr lang="ko-KR" altLang="en-US" sz="70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 마스터 데이터</a:t>
            </a:r>
            <a:endParaRPr sz="70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2651760" y="2651760"/>
            <a:ext cx="713232" cy="0"/>
          </a:xfrm>
          <a:prstGeom prst="line">
            <a:avLst/>
          </a:prstGeom>
          <a:ln w="15875">
            <a:solidFill>
              <a:srgbClr val="6B76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697480" y="239572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97480" y="3474720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③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629400" y="2651760"/>
            <a:ext cx="640080" cy="0"/>
          </a:xfrm>
          <a:prstGeom prst="line">
            <a:avLst/>
          </a:prstGeom>
          <a:ln w="15875">
            <a:solidFill>
              <a:srgbClr val="6B76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720840" y="239572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②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629400" y="3730752"/>
            <a:ext cx="640080" cy="0"/>
          </a:xfrm>
          <a:prstGeom prst="line">
            <a:avLst/>
          </a:prstGeom>
          <a:ln w="15875">
            <a:solidFill>
              <a:srgbClr val="6B768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720840" y="3474720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④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85800" y="4498848"/>
            <a:ext cx="10789920" cy="1572768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D8DEE7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868680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1014983" y="4946904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014983" y="5056632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이벤트 로그 JSON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3" y="5276088"/>
            <a:ext cx="21945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dirty="0" err="1">
                <a:solidFill>
                  <a:srgbClr val="E0A526"/>
                </a:solidFill>
                <a:latin typeface="맑은 고딕"/>
                <a:ea typeface="맑은 고딕"/>
                <a:cs typeface="맑은 고딕"/>
              </a:rPr>
              <a:t>GameServer</a:t>
            </a:r>
            <a:r>
              <a:rPr sz="850" b="1" dirty="0">
                <a:solidFill>
                  <a:srgbClr val="E0A526"/>
                </a:solidFill>
                <a:latin typeface="맑은 고딕"/>
                <a:ea typeface="맑은 고딕"/>
                <a:cs typeface="맑은 고딕"/>
              </a:rPr>
              <a:t>/logs/event/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538728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685032" y="4946904"/>
            <a:ext cx="411480" cy="41148"/>
          </a:xfrm>
          <a:prstGeom prst="rect">
            <a:avLst/>
          </a:prstGeom>
          <a:solidFill>
            <a:srgbClr val="B96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685032" y="5056632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fluentd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5032" y="5276088"/>
            <a:ext cx="219456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:24220 (</a:t>
            </a:r>
            <a:r>
              <a:rPr lang="en-US" sz="850" b="1" dirty="0" err="1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LogDB</a:t>
            </a:r>
            <a:r>
              <a:rPr lang="en-US"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쿼리 전달</a:t>
            </a:r>
            <a:r>
              <a:rPr sz="850" b="1" dirty="0">
                <a:solidFill>
                  <a:srgbClr val="B9601C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08776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355080" y="4946904"/>
            <a:ext cx="411480" cy="41148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355080" y="5056632"/>
            <a:ext cx="2194560" cy="1769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15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LogDB</a:t>
            </a:r>
            <a:r>
              <a:rPr lang="en-US" sz="115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15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TimescaleDB</a:t>
            </a:r>
            <a:endParaRPr sz="115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6355080" y="5276088"/>
            <a:ext cx="21945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6B4FBF"/>
                </a:solidFill>
                <a:latin typeface="맑은 고딕"/>
                <a:ea typeface="맑은 고딕"/>
                <a:cs typeface="맑은 고딕"/>
              </a:rPr>
              <a:t>5432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55080" y="5449824"/>
            <a:ext cx="2194560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로그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테이블 데이터 </a:t>
            </a:r>
            <a:r>
              <a:rPr lang="ko-KR" altLang="en-US" sz="85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관리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8878824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9025128" y="4946904"/>
            <a:ext cx="411480" cy="41148"/>
          </a:xfrm>
          <a:prstGeom prst="rect">
            <a:avLst/>
          </a:prstGeom>
          <a:solidFill>
            <a:srgbClr val="0E8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025128" y="5056632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Grafana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25128" y="5276088"/>
            <a:ext cx="2194560" cy="173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1">
                <a:solidFill>
                  <a:srgbClr val="0E8AA8"/>
                </a:solidFill>
                <a:latin typeface="맑은 고딕"/>
                <a:ea typeface="맑은 고딕"/>
                <a:cs typeface="맑은 고딕"/>
              </a:rPr>
              <a:t>:3000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25128" y="5449824"/>
            <a:ext cx="2194560" cy="1435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데이터소스</a:t>
            </a:r>
            <a:r>
              <a:rPr sz="8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대시보드</a:t>
            </a:r>
            <a:endParaRPr sz="8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68" name="Connector 67"/>
          <p:cNvCxnSpPr/>
          <p:nvPr/>
        </p:nvCxnSpPr>
        <p:spPr>
          <a:xfrm>
            <a:off x="3355848" y="5385816"/>
            <a:ext cx="182880" cy="0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025896" y="5385816"/>
            <a:ext cx="182880" cy="0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695944" y="5385816"/>
            <a:ext cx="182880" cy="0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4023360" y="4224528"/>
            <a:ext cx="0" cy="164592"/>
          </a:xfrm>
          <a:prstGeom prst="line">
            <a:avLst/>
          </a:prstGeom>
          <a:ln w="19050">
            <a:solidFill>
              <a:srgbClr val="B960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H="1">
            <a:off x="2112264" y="4389120"/>
            <a:ext cx="1911096" cy="0"/>
          </a:xfrm>
          <a:prstGeom prst="line">
            <a:avLst/>
          </a:prstGeom>
          <a:ln w="19050">
            <a:solidFill>
              <a:srgbClr val="B960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2112264" y="4389120"/>
            <a:ext cx="0" cy="438912"/>
          </a:xfrm>
          <a:prstGeom prst="line">
            <a:avLst/>
          </a:prstGeom>
          <a:ln w="19050">
            <a:solidFill>
              <a:srgbClr val="B960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685800" y="6163056"/>
            <a:ext cx="996696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로그인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→  ②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저장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(Redis)  →  ③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게임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API(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userId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+ token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헤더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)  →  ④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검증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 ·   두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서버는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서로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HTTP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호출하지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않고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Redis의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토큰만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공유</a:t>
            </a:r>
            <a:endParaRPr sz="950" b="0" dirty="0">
              <a:solidFill>
                <a:srgbClr val="6B7684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78" name="연결선: 꺾임 77">
            <a:extLst>
              <a:ext uri="{FF2B5EF4-FFF2-40B4-BE49-F238E27FC236}">
                <a16:creationId xmlns:a16="http://schemas.microsoft.com/office/drawing/2014/main" id="{58B1A3DC-D8F0-B4E6-602B-52EDE64CB815}"/>
              </a:ext>
            </a:extLst>
          </p:cNvPr>
          <p:cNvCxnSpPr>
            <a:cxnSpLocks/>
          </p:cNvCxnSpPr>
          <p:nvPr/>
        </p:nvCxnSpPr>
        <p:spPr>
          <a:xfrm>
            <a:off x="1668779" y="3063240"/>
            <a:ext cx="1707643" cy="667512"/>
          </a:xfrm>
          <a:prstGeom prst="bentConnector3">
            <a:avLst>
              <a:gd name="adj1" fmla="val 628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46" name="그림 45">
            <a:extLst>
              <a:ext uri="{FF2B5EF4-FFF2-40B4-BE49-F238E27FC236}">
                <a16:creationId xmlns:a16="http://schemas.microsoft.com/office/drawing/2014/main" id="{A675B362-01E0-DBE6-62BF-504938D7A7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891455"/>
            <a:ext cx="12192000" cy="50750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COMPONENTS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2.1 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구성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요소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 2개 · 저장소 2개 · 로그 수집기 1개 · 로그 저장소 1개 · 대시보드 1개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1965960"/>
          <a:ext cx="10789920" cy="40736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0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구성 요소</a:t>
                      </a:r>
                    </a:p>
                  </a:txBody>
                  <a:tcPr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실행체 · 주소</a:t>
                      </a:r>
                    </a:p>
                  </a:txBody>
                  <a:tcPr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역할</a:t>
                      </a:r>
                    </a:p>
                  </a:txBody>
                  <a:tcPr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Unity 클라이언트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Unity 앱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전투 · 연출을 자체 권위로 수행하고 결과를 두 서버에 직접 보고한다 (게이트웨이 · 프록시 없음)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AccountServer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.NET 10 · :5160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계정 생성 · 로그인, 인증 토큰 발급(TTL 24h). 토큰 서명 키는 저장소 밖(User Secrets · .env)에서 주입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GameServer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.NET 10 · :5247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게임 도메인 전체(세이브 · 스테이지 · 인벤토리 · 오프라인 보상 · 성장 · 큐브 · 거래소 · 메일 · 출석 · 가챠 · 보스러시) + 주기 배치 6종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Redis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redis:8.2-alpine · 6379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인증 토큰 캐시 · 배치 리더 락 · 보스러시 랭킹 Sorted Set(조회 전용 캐시). AOF로 재기동에도 키가 남는다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MySQL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mysql:8.4 · 3306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 정본 DB 3개 — account(계정) · game(세이브 · 경제 · 거래) · master(마스터 데이터)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이벤트 로그 파일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ZLogger 파일 sink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GameServer/logs/event/ 에 평탄 JSON 1줄을 쓴다. 사람이 읽는 운영 로그(콘솔)와 sink를 나눈다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fluentd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자체 빌드 · :24220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in_tail로 이벤트 디렉터리를 걷고, 태그를 승격해 out_sql(pg)로 테이블별 적재. 계측 엔드포인트로 적체를 본다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logdb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timescaledb · 5432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로그 전용 TimescaleDB. 액션 21 + unknown + 히스토리 9 = 테이블 31개, 하이퍼테이블 · 압축 · 보존 · 연속 집계</a:t>
                      </a:r>
                    </a:p>
                  </a:txBody>
                  <a:tcPr marT="27432" marB="27432" anchor="ctr">
                    <a:solidFill>
                      <a:srgbClr val="F7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B243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Grafana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F6FE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grafana 12.0.2 · :3000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데이터소스와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대시보드를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코드로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프로비저닝한다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.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열람은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테일스케일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프록시로</a:t>
                      </a:r>
                      <a:r>
                        <a:rPr sz="1000" b="0" dirty="0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6B7684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연다</a:t>
                      </a:r>
                      <a:endParaRPr sz="1000" b="0" dirty="0">
                        <a:solidFill>
                          <a:srgbClr val="6B7684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REQUEST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4682372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2.2 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계정 서버와 게임 서버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인증 발급은 AccountServer, 검증은 GameServer가 Redis에서 직접 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로그인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68680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클라이언트가 AccountServer에 로그인한다.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계정 검증은 taskbar_hero_account 에서 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82112" y="301752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92424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75304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75304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토큰 저장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75304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75304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발급한 인증 토큰을 Redis에 넣는다.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auth:token:{userId} · TTL 24시간.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88736" y="301752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99048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81928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게임 API 호출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1928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1928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클라이언트가 GameServer를 직접 호출한다.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userId + token 헤더를 실어 보낸다.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017520"/>
            <a:ext cx="20116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05672" y="2103120"/>
            <a:ext cx="2487168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88551" y="2267712"/>
            <a:ext cx="5486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88551" y="2670048"/>
            <a:ext cx="21214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토큰 검증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88551" y="3017520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988551" y="3163824"/>
            <a:ext cx="2121408" cy="932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GameServer는 Redis에서 토큰만 읽어 검증한다.</a:t>
            </a:r>
          </a:p>
          <a:p>
            <a:pPr algn="l">
              <a:lnSpc>
                <a:spcPct val="125000"/>
              </a:lnSpc>
              <a:spcBef>
                <a:spcPts val="5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AccountServer에 묻지 않는다. 통과하면 게임 DB 트랜잭션.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462272"/>
            <a:ext cx="34290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86968" y="4645152"/>
            <a:ext cx="411480" cy="41148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86968" y="4773168"/>
            <a:ext cx="3026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인증 장애가 게임 장애가 되지 않는다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6968" y="5157216"/>
            <a:ext cx="302666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GameServer가 AccountServer에 토큰을 물으면 로그인 장애가 곧 게임 장애가 된다. Redis 조회로 끊어 둔다.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70832" y="4462272"/>
            <a:ext cx="34290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0" y="4645152"/>
            <a:ext cx="411480" cy="4114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0" y="4773168"/>
            <a:ext cx="3026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공유하는 것은 토큰 키 하나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5157216"/>
            <a:ext cx="302666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서버-서버 HTTP 호출이 없으니 배포 · 확장 경로가 서로 독립이다.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55864" y="4462272"/>
            <a:ext cx="3429000" cy="12984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8257032" y="4645152"/>
            <a:ext cx="411480" cy="411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257032" y="4773168"/>
            <a:ext cx="3026664" cy="3474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Redis는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정본이</a:t>
            </a:r>
            <a:r>
              <a:rPr sz="12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아니다</a:t>
            </a:r>
            <a:endParaRPr sz="12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257032" y="5157216"/>
            <a:ext cx="3026664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토큰이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휘발되면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재로그인으로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복구된다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.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정본은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언제나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950" b="0" dirty="0" err="1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MySQL이다</a:t>
            </a:r>
            <a:r>
              <a:rPr sz="950" b="0" dirty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3.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서버 개발 루프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8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6C292CF-5260-4B8E-455D-15876C9DA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100" name="SH 100"/>
          <p:cNvSpPr/>
          <p:nvPr/>
        </p:nvSpPr>
        <p:spPr>
          <a:xfrm>
            <a:off x="68580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①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기획서 요청</a:t>
            </a:r>
          </a:p>
        </p:txBody>
      </p:sp>
      <p:sp>
        <p:nvSpPr>
          <p:cNvPr id="101" name="SH 101"/>
          <p:cNvSpPr/>
          <p:nvPr/>
        </p:nvSpPr>
        <p:spPr>
          <a:xfrm>
            <a:off x="448056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②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검토 · 확정</a:t>
            </a:r>
          </a:p>
        </p:txBody>
      </p:sp>
      <p:sp>
        <p:nvSpPr>
          <p:cNvPr id="102" name="SH 102"/>
          <p:cNvSpPr/>
          <p:nvPr/>
        </p:nvSpPr>
        <p:spPr>
          <a:xfrm>
            <a:off x="8275320" y="173736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  <a:ea typeface="맑은 고딕"/>
              </a:rPr>
              <a:t>③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문서대로 구현 요청</a:t>
            </a:r>
          </a:p>
        </p:txBody>
      </p:sp>
      <p:sp>
        <p:nvSpPr>
          <p:cNvPr id="103" name="TB 103"/>
          <p:cNvSpPr txBox="1"/>
          <p:nvPr/>
        </p:nvSpPr>
        <p:spPr>
          <a:xfrm>
            <a:off x="3886200" y="203454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4" name="TB 104"/>
          <p:cNvSpPr txBox="1"/>
          <p:nvPr/>
        </p:nvSpPr>
        <p:spPr>
          <a:xfrm>
            <a:off x="7680960" y="203454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5" name="SH 105"/>
          <p:cNvSpPr/>
          <p:nvPr/>
        </p:nvSpPr>
        <p:spPr>
          <a:xfrm>
            <a:off x="68580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⑥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README 현황판 갱신</a:t>
            </a:r>
          </a:p>
        </p:txBody>
      </p:sp>
      <p:sp>
        <p:nvSpPr>
          <p:cNvPr id="106" name="SH 106"/>
          <p:cNvSpPr/>
          <p:nvPr/>
        </p:nvSpPr>
        <p:spPr>
          <a:xfrm>
            <a:off x="448056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⑤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문서 동기화</a:t>
            </a:r>
          </a:p>
        </p:txBody>
      </p:sp>
      <p:sp>
        <p:nvSpPr>
          <p:cNvPr id="107" name="SH 107"/>
          <p:cNvSpPr/>
          <p:nvPr/>
        </p:nvSpPr>
        <p:spPr>
          <a:xfrm>
            <a:off x="8275320" y="2926080"/>
            <a:ext cx="32004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E0A526"/>
                </a:solidFill>
                <a:latin typeface="맑은 고딕"/>
                <a:ea typeface="맑은 고딕"/>
              </a:rPr>
              <a:t>④  </a:t>
            </a: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빌드 + 실서버 검증</a:t>
            </a:r>
          </a:p>
        </p:txBody>
      </p:sp>
      <p:sp>
        <p:nvSpPr>
          <p:cNvPr id="108" name="TB 108"/>
          <p:cNvSpPr txBox="1"/>
          <p:nvPr/>
        </p:nvSpPr>
        <p:spPr>
          <a:xfrm>
            <a:off x="3886200" y="322326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←</a:t>
            </a:r>
          </a:p>
        </p:txBody>
      </p:sp>
      <p:sp>
        <p:nvSpPr>
          <p:cNvPr id="109" name="TB 109"/>
          <p:cNvSpPr txBox="1"/>
          <p:nvPr/>
        </p:nvSpPr>
        <p:spPr>
          <a:xfrm>
            <a:off x="7680960" y="3223260"/>
            <a:ext cx="59436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800" b="1" dirty="0">
                <a:solidFill>
                  <a:srgbClr val="9AA5B4"/>
                </a:solidFill>
                <a:latin typeface="맑은 고딕"/>
                <a:ea typeface="맑은 고딕"/>
              </a:rPr>
              <a:t>←</a:t>
            </a:r>
          </a:p>
        </p:txBody>
      </p:sp>
      <p:sp>
        <p:nvSpPr>
          <p:cNvPr id="110" name="TB 110"/>
          <p:cNvSpPr txBox="1"/>
          <p:nvPr/>
        </p:nvSpPr>
        <p:spPr>
          <a:xfrm>
            <a:off x="9738360" y="2651760"/>
            <a:ext cx="1600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↓</a:t>
            </a:r>
          </a:p>
        </p:txBody>
      </p:sp>
      <p:sp>
        <p:nvSpPr>
          <p:cNvPr id="111" name="TB 111"/>
          <p:cNvSpPr txBox="1"/>
          <p:nvPr/>
        </p:nvSpPr>
        <p:spPr>
          <a:xfrm>
            <a:off x="685800" y="411480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1B2430"/>
                </a:solidFill>
                <a:latin typeface="맑은 고딕"/>
                <a:ea typeface="맑은 고딕"/>
              </a:rPr>
              <a:t>핵심은 기획 문서를 자세히 작성하여 클로드에게 많은 정보를 주는 것</a:t>
            </a:r>
          </a:p>
        </p:txBody>
      </p:sp>
      <p:sp>
        <p:nvSpPr>
          <p:cNvPr id="112" name="SH 112"/>
          <p:cNvSpPr/>
          <p:nvPr/>
        </p:nvSpPr>
        <p:spPr>
          <a:xfrm>
            <a:off x="68580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SH 113"/>
          <p:cNvSpPr/>
          <p:nvPr/>
        </p:nvSpPr>
        <p:spPr>
          <a:xfrm>
            <a:off x="884225" y="5008228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4" name="TB 114"/>
          <p:cNvSpPr txBox="1"/>
          <p:nvPr/>
        </p:nvSpPr>
        <p:spPr>
          <a:xfrm>
            <a:off x="1044245" y="4931887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기획서 단계에서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 API 스키마 · DB 구조 · 에러 코드 · 예외 처리를 확정한다.</a:t>
            </a:r>
          </a:p>
        </p:txBody>
      </p:sp>
      <p:sp>
        <p:nvSpPr>
          <p:cNvPr id="115" name="SH 115"/>
          <p:cNvSpPr/>
          <p:nvPr/>
        </p:nvSpPr>
        <p:spPr>
          <a:xfrm>
            <a:off x="437388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6" name="SH 116"/>
          <p:cNvSpPr/>
          <p:nvPr/>
        </p:nvSpPr>
        <p:spPr>
          <a:xfrm>
            <a:off x="4549140" y="5006340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7" name="TB 117"/>
          <p:cNvSpPr txBox="1"/>
          <p:nvPr/>
        </p:nvSpPr>
        <p:spPr>
          <a:xfrm>
            <a:off x="4716780" y="4944471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구현 단계에서는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 그 문서를 그대로 지시서로 쓴다 → 구현 중 즉흥적인 설계 변경 감소 + 코드를 보지 않아도 문서만으로도 파악 가능</a:t>
            </a:r>
          </a:p>
        </p:txBody>
      </p:sp>
      <p:sp>
        <p:nvSpPr>
          <p:cNvPr id="118" name="SH 118"/>
          <p:cNvSpPr/>
          <p:nvPr/>
        </p:nvSpPr>
        <p:spPr>
          <a:xfrm>
            <a:off x="8061960" y="4480560"/>
            <a:ext cx="3413760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9" name="SH 119"/>
          <p:cNvSpPr/>
          <p:nvPr/>
        </p:nvSpPr>
        <p:spPr>
          <a:xfrm>
            <a:off x="8229600" y="5006340"/>
            <a:ext cx="91440" cy="91440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20" name="TB 120"/>
          <p:cNvSpPr txBox="1"/>
          <p:nvPr/>
        </p:nvSpPr>
        <p:spPr>
          <a:xfrm>
            <a:off x="8397240" y="4938599"/>
            <a:ext cx="295656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100" b="1" dirty="0">
                <a:solidFill>
                  <a:srgbClr val="1B2430"/>
                </a:solidFill>
                <a:latin typeface="맑은 고딕"/>
                <a:ea typeface="맑은 고딕"/>
              </a:rPr>
              <a:t>나중에 "왜 이렇게 했더라"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  <a:ea typeface="맑은 고딕"/>
              </a:rPr>
              <a:t>를 코드 주석뿐만 아니라 문서에서 확인할 수 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4.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개발 시 각 단계에 대해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새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기능은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코드가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아니라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작성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요청으로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시작한다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기획서부터 요청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01752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design-doc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스킬을 활용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기능 구현을 위한 문서를 상세히 작성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70832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검토 · 확정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0288" y="3017520"/>
            <a:ext cx="3017520" cy="1010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기획서에서 결정되지 않은 이슈를</a:t>
            </a:r>
            <a:endParaRPr lang="en-US" altLang="ko-KR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별도 항목으로 남겨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구현을 위해</a:t>
            </a:r>
            <a:endParaRPr lang="en-US" altLang="ko-KR"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dirty="0" err="1">
                <a:solidFill>
                  <a:srgbClr val="6B7684"/>
                </a:solidFill>
                <a:latin typeface="맑은 고딕"/>
              </a:rPr>
              <a:t>확정해야할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 사항들을 재검토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55864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문서대로 구현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301752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기획서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5.2를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구현해줘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en-US" sz="1150" dirty="0">
                <a:solidFill>
                  <a:srgbClr val="6B7684"/>
                </a:solidFill>
                <a:latin typeface="맑은 고딕"/>
              </a:rPr>
              <a:t>=&gt;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기획서 확정 후</a:t>
            </a:r>
            <a:r>
              <a:rPr lang="en-US" altLang="ko-KR" sz="115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그대로 구현을 진행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85800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5256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빌드 + 실서버 검증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" y="5120640"/>
            <a:ext cx="3017520" cy="4347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빌드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후 서버를 띄우고 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API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를 호출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</a:t>
            </a:r>
            <a:br>
              <a:rPr lang="en-US" altLang="ko-KR" sz="1150" b="0" dirty="0">
                <a:solidFill>
                  <a:srgbClr val="6B7684"/>
                </a:solidFill>
                <a:latin typeface="맑은 고딕"/>
              </a:rPr>
            </a:b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정상동작까지 확인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370832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90288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90288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문서 동기화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90288" y="5120640"/>
            <a:ext cx="3017520" cy="4732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변경 사항에 대해 관련이 있는 문서는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정합성을 확인하여 동기화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55864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75320" y="443484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472744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현황판 갱신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5120640"/>
            <a:ext cx="30175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README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체크리스트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dirty="0">
                <a:solidFill>
                  <a:srgbClr val="6B7684"/>
                </a:solidFill>
                <a:latin typeface="맑은 고딕"/>
              </a:rPr>
              <a:t>최신화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9</a:t>
            </a: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249FBE4D-9AC5-8CBF-D2C7-69EDE1D7F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①②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4.1  ① 기획서부터 요청한다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docs/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세부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/&lt;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기능명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&gt;-기획서.md — design-doc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문서작성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커스텀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스킬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10789920" cy="9144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400" dirty="0" err="1">
                <a:solidFill>
                  <a:srgbClr val="E6ECF5"/>
                </a:solidFill>
                <a:latin typeface="Consolas"/>
              </a:rPr>
              <a:t>고정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목차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: 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개요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기능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설명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요구사항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데이터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모델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API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명세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처리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흐름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에러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코드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미결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사항</a:t>
            </a:r>
            <a:r>
              <a:rPr sz="1400" dirty="0">
                <a:solidFill>
                  <a:srgbClr val="E6ECF5"/>
                </a:solidFill>
                <a:latin typeface="Consolas"/>
              </a:rPr>
              <a:t> · </a:t>
            </a:r>
            <a:r>
              <a:rPr sz="1400" dirty="0" err="1">
                <a:solidFill>
                  <a:srgbClr val="E6ECF5"/>
                </a:solidFill>
                <a:latin typeface="Consolas"/>
              </a:rPr>
              <a:t>참고</a:t>
            </a:r>
            <a:endParaRPr sz="1400" dirty="0">
              <a:solidFill>
                <a:srgbClr val="E6ECF5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10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6DDFCD0D-09D5-7DD0-1B19-0EA5D432E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100" name="TB 100"/>
          <p:cNvSpPr txBox="1"/>
          <p:nvPr/>
        </p:nvSpPr>
        <p:spPr>
          <a:xfrm>
            <a:off x="685800" y="333756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1B2430"/>
                </a:solidFill>
                <a:latin typeface="맑은 고딕"/>
                <a:ea typeface="맑은 고딕"/>
              </a:rPr>
              <a:t>가장 중요하게 지킨 것은 구현의 근거를 문서로 남기는 것</a:t>
            </a:r>
          </a:p>
        </p:txBody>
      </p:sp>
      <p:sp>
        <p:nvSpPr>
          <p:cNvPr id="101" name="SH 101"/>
          <p:cNvSpPr/>
          <p:nvPr/>
        </p:nvSpPr>
        <p:spPr>
          <a:xfrm>
            <a:off x="685800" y="3794760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1B2430"/>
                </a:solidFill>
                <a:latin typeface="맑은 고딕"/>
                <a:ea typeface="맑은 고딕"/>
              </a:rPr>
              <a:t>"그때 이걸 왜 이렇게 구현했지?"</a:t>
            </a:r>
          </a:p>
        </p:txBody>
      </p:sp>
      <p:sp>
        <p:nvSpPr>
          <p:cNvPr id="102" name="TB 102"/>
          <p:cNvSpPr txBox="1"/>
          <p:nvPr/>
        </p:nvSpPr>
        <p:spPr>
          <a:xfrm>
            <a:off x="5783580" y="4023360"/>
            <a:ext cx="59436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20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03" name="SH 103"/>
          <p:cNvSpPr/>
          <p:nvPr/>
        </p:nvSpPr>
        <p:spPr>
          <a:xfrm>
            <a:off x="6377940" y="3794760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FFFFFF"/>
                </a:solidFill>
                <a:latin typeface="맑은 고딕"/>
                <a:ea typeface="맑은 고딕"/>
              </a:rPr>
              <a:t>문서를 확인한다.</a:t>
            </a:r>
          </a:p>
        </p:txBody>
      </p:sp>
      <p:sp>
        <p:nvSpPr>
          <p:cNvPr id="104" name="SH 104"/>
          <p:cNvSpPr/>
          <p:nvPr/>
        </p:nvSpPr>
        <p:spPr>
          <a:xfrm>
            <a:off x="685800" y="4892040"/>
            <a:ext cx="10789920" cy="123444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411480" tIns="137160" rIns="411480" bIns="137160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lang="ko-KR" altLang="en-US" sz="1050" b="1" dirty="0">
                <a:solidFill>
                  <a:srgbClr val="2F6FE4"/>
                </a:solidFill>
                <a:latin typeface="맑은 고딕"/>
                <a:ea typeface="맑은 고딕"/>
              </a:rPr>
              <a:t>예 — 소모품(부스터) 기획서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"버프는 스테이지 클리어 보상에만 적용된다(확정)"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1" dirty="0">
                <a:solidFill>
                  <a:srgbClr val="1B2430"/>
                </a:solidFill>
                <a:latin typeface="맑은 고딕"/>
                <a:ea typeface="맑은 고딕"/>
              </a:rPr>
              <a:t>근거 : </a:t>
            </a: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부스터는 접속해서 직접 스테이지를 도는 플레이를 보상하는 소모품이고, 오프라인 보상은 이미 효율 50% · 12시간 상한으로 조정된 소급 지급이라 그 위에 배율을 얹지 않는다.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③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4.2  ③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문서대로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구현을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요청한다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6566483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기획 문서와 별개로 코드 작성시 </a:t>
            </a:r>
            <a:r>
              <a:rPr lang="ko-KR" altLang="en-US" sz="1400" b="0" dirty="0" err="1">
                <a:solidFill>
                  <a:srgbClr val="6B7684"/>
                </a:solidFill>
                <a:latin typeface="맑은 고딕"/>
              </a:rPr>
              <a:t>지켜야할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 공통 규칙은 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CLAUDE.md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에 명시한다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94560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" y="2414016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2368296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컨트롤러에는 HTTP 액션 메서드만 두고, 공통 보조는 GameApiControllerBase에 상속으로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999232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14400" y="3218688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25880" y="3172968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서비스 클래스의 모든 메서드에 /// &lt;summary&gt; 주석 필수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803904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14400" y="4023360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25880" y="3977640"/>
            <a:ext cx="996696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dirty="0">
                <a:solidFill>
                  <a:srgbClr val="1B2430"/>
                </a:solidFill>
                <a:latin typeface="맑은 고딕"/>
              </a:rPr>
              <a:t>DB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결과는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dynamic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금지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en-US" sz="1500" dirty="0">
                <a:solidFill>
                  <a:srgbClr val="1B2430"/>
                </a:solidFill>
                <a:latin typeface="맑은 고딕"/>
              </a:rPr>
              <a:t>=&gt;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스칼라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제네릭</a:t>
            </a:r>
            <a:r>
              <a:rPr sz="15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0" dirty="0" err="1">
                <a:solidFill>
                  <a:srgbClr val="1B2430"/>
                </a:solidFill>
                <a:latin typeface="맑은 고딕"/>
              </a:rPr>
              <a:t>매핑만</a:t>
            </a:r>
            <a:endParaRPr sz="1500" b="0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85800" y="4608576"/>
            <a:ext cx="10789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14400" y="4828032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25880" y="4782312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1B2430"/>
                </a:solidFill>
                <a:latin typeface="맑은 고딕"/>
              </a:rPr>
              <a:t>재화 · 아이템 변경은 단일 트랜잭션, 서버 권위(클라이언트 보고 불신)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>
                <a:solidFill>
                  <a:srgbClr val="6B7684"/>
                </a:solidFill>
                <a:latin typeface="맑은 고딕"/>
              </a:rPr>
              <a:t>구현 요청은 "기획서 5.2를 구현해줘" 같은 형태였다.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11</a:t>
            </a:r>
          </a:p>
        </p:txBody>
      </p:sp>
      <p:pic>
        <p:nvPicPr>
          <p:cNvPr id="24" name="그림 23">
            <a:extLst>
              <a:ext uri="{FF2B5EF4-FFF2-40B4-BE49-F238E27FC236}">
                <a16:creationId xmlns:a16="http://schemas.microsoft.com/office/drawing/2014/main" id="{88E62FE1-C6EA-3D23-2B17-B5F92EBA5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④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4.3  ④ 빌드 + 실서버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구현 후 빌드와 실제 동작 검증을 거쳐야 완료로 인정했다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Ins="182880" rtlCol="0" anchor="ctr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200" dirty="0">
                <a:solidFill>
                  <a:srgbClr val="E6ECF5"/>
                </a:solidFill>
                <a:latin typeface="Consolas"/>
              </a:rPr>
              <a:t>dotnet build  → 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서버 실행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헬스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체크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기능 테스트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 → 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강제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</a:t>
            </a:r>
            <a:r>
              <a:rPr sz="1200" dirty="0" err="1">
                <a:solidFill>
                  <a:srgbClr val="E6ECF5"/>
                </a:solidFill>
                <a:latin typeface="Consolas"/>
              </a:rPr>
              <a:t>종료</a:t>
            </a:r>
            <a:r>
              <a:rPr sz="1200" dirty="0">
                <a:solidFill>
                  <a:srgbClr val="E6ECF5"/>
                </a:solidFill>
                <a:latin typeface="Consolas"/>
              </a:rPr>
              <a:t> · </a:t>
            </a:r>
            <a:r>
              <a:rPr lang="ko-KR" altLang="en-US" sz="1200" dirty="0">
                <a:solidFill>
                  <a:srgbClr val="E6ECF5"/>
                </a:solidFill>
                <a:latin typeface="Consolas"/>
              </a:rPr>
              <a:t>결과 확인</a:t>
            </a:r>
            <a:endParaRPr sz="1200" dirty="0">
              <a:solidFill>
                <a:srgbClr val="E6ECF5"/>
              </a:solidFill>
              <a:latin typeface="Consola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5256" y="361188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규칙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" y="3904488"/>
            <a:ext cx="48463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서버는</a:t>
            </a:r>
            <a:r>
              <a:rPr lang="en-US"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기능 구현 후 필수적으로 빌드 </a:t>
            </a:r>
            <a:r>
              <a:rPr lang="en-US" altLang="ko-KR" sz="1500" b="1" dirty="0">
                <a:solidFill>
                  <a:srgbClr val="1B2430"/>
                </a:solidFill>
                <a:latin typeface="맑은 고딕"/>
              </a:rPr>
              <a:t>+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테스트 진행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05256" y="4297680"/>
            <a:ext cx="4846320" cy="2047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·</a:t>
            </a:r>
            <a:r>
              <a:rPr lang="en-US"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기능이 기획서에 맞게 구현이 되었는 지 확인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37376" y="3611880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3904488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>
                <a:solidFill>
                  <a:srgbClr val="1B2430"/>
                </a:solidFill>
                <a:latin typeface="맑은 고딕"/>
              </a:rPr>
              <a:t>실제 저장소에 붙여 검증한다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376" y="4297680"/>
            <a:ext cx="48463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실제 MySQL · Redis에 붙여 API를 호출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결과를 DB에서 직접 대조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>
                <a:solidFill>
                  <a:srgbClr val="6B7684"/>
                </a:solidFill>
                <a:latin typeface="맑은 고딕"/>
              </a:rPr>
              <a:t>· 테스트로 만든 데이터는 되돌린다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12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9FA3B236-C9B1-C3DC-58BF-E5EDC490D0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LOOP ⑤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4.4  ⑤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동기화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— 이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프로세스의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핵심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세부 기획서가 정본, 아래 넷은 기획서를 가로질러 모은 집약 참조본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9569739"/>
              </p:ext>
            </p:extLst>
          </p:nvPr>
        </p:nvGraphicFramePr>
        <p:xfrm>
          <a:off x="685800" y="1837944"/>
          <a:ext cx="1078992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무엇이 바뀌면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갱신할</a:t>
                      </a:r>
                      <a:r>
                        <a:rPr sz="13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</a:t>
                      </a:r>
                      <a:r>
                        <a:rPr sz="13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문서</a:t>
                      </a:r>
                      <a:endParaRPr sz="130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엔드포인트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요청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/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응답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필드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docs/공통/api-통합.md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DB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테이블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컬럼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마스터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데이터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docs/공통/db-erd-통합.md  ( +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db-schema.sql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에러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코드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docs/공통/error-code-정의.md  + 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TaskbarHero.Common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/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ErrorCode.cs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처리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흐름</a:t>
                      </a:r>
                      <a:endParaRPr sz="13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SequenceDiagram/README.md  (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기능별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Mermaid </a:t>
                      </a:r>
                      <a:r>
                        <a:rPr sz="13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시퀀스</a:t>
                      </a:r>
                      <a:r>
                        <a:rPr sz="13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85800" y="4353341"/>
            <a:ext cx="10789920" cy="1694157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581941"/>
            <a:ext cx="10149840" cy="11792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 dirty="0" err="1">
                <a:solidFill>
                  <a:srgbClr val="2F6FE4"/>
                </a:solidFill>
                <a:latin typeface="맑은 고딕"/>
              </a:rPr>
              <a:t>정합성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체크는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양방향으로</a:t>
            </a:r>
            <a:r>
              <a:rPr sz="160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2F6FE4"/>
                </a:solidFill>
                <a:latin typeface="맑은 고딕"/>
              </a:rPr>
              <a:t>한다</a:t>
            </a:r>
            <a:endParaRPr sz="160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00" b="0" dirty="0" err="1">
                <a:solidFill>
                  <a:srgbClr val="1B2430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→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통합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(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빠진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항목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추가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)  · 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통합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→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기획서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(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폐기된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항목이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남아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있지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1B2430"/>
                </a:solidFill>
                <a:latin typeface="맑은 고딕"/>
              </a:rPr>
              <a:t>않은지</a:t>
            </a:r>
            <a:r>
              <a:rPr sz="1400" b="0" dirty="0">
                <a:solidFill>
                  <a:srgbClr val="1B2430"/>
                </a:solidFill>
                <a:latin typeface="맑은 고딕"/>
              </a:rPr>
              <a:t>)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dirty="0" err="1">
                <a:solidFill>
                  <a:srgbClr val="6B7684"/>
                </a:solidFill>
                <a:latin typeface="맑은 고딕"/>
              </a:rPr>
              <a:t>경로나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이름을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바꿨으면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옛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문자열이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문서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어디에도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남지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않았는지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grep으로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300" b="0" dirty="0" err="1">
                <a:solidFill>
                  <a:srgbClr val="6B7684"/>
                </a:solidFill>
                <a:latin typeface="맑은 고딕"/>
              </a:rPr>
              <a:t>확인한다</a:t>
            </a:r>
            <a:r>
              <a:rPr sz="1300" b="0" dirty="0">
                <a:solidFill>
                  <a:srgbClr val="6B7684"/>
                </a:solidFill>
                <a:latin typeface="맑은 고딕"/>
              </a:rPr>
              <a:t>.</a:t>
            </a:r>
            <a:endParaRPr lang="en-US" sz="130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300" dirty="0">
                <a:solidFill>
                  <a:srgbClr val="6B7684"/>
                </a:solidFill>
                <a:latin typeface="맑은 고딕"/>
              </a:rPr>
              <a:t>문서의 정합성 확인은 </a:t>
            </a:r>
            <a:r>
              <a:rPr lang="en-US" altLang="ko-KR" sz="1300" dirty="0">
                <a:solidFill>
                  <a:srgbClr val="6B7684"/>
                </a:solidFill>
                <a:latin typeface="맑은 고딕"/>
              </a:rPr>
              <a:t>CLAUDE.MD</a:t>
            </a:r>
            <a:r>
              <a:rPr lang="ko-KR" altLang="en-US" sz="1300" dirty="0">
                <a:solidFill>
                  <a:srgbClr val="6B7684"/>
                </a:solidFill>
                <a:latin typeface="맑은 고딕"/>
              </a:rPr>
              <a:t> 에 명시되어 있다</a:t>
            </a:r>
            <a:r>
              <a:rPr lang="en-US" altLang="ko-KR" sz="1300" dirty="0">
                <a:solidFill>
                  <a:srgbClr val="6B7684"/>
                </a:solidFill>
                <a:latin typeface="맑은 고딕"/>
              </a:rPr>
              <a:t>.</a:t>
            </a:r>
            <a:endParaRPr sz="13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13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1D80C52-7195-9CD7-71FE-C8883C84F9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DOCS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5. 문서 체계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정본은 언제나 docs/세부/ — 충돌하면 세부 기획서를 따른다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14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7D127069-26EF-9BF9-7010-BFB85677BE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200" name="SH 200"/>
          <p:cNvSpPr/>
          <p:nvPr/>
        </p:nvSpPr>
        <p:spPr>
          <a:xfrm>
            <a:off x="685800" y="21031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201" name="SH 201"/>
          <p:cNvSpPr/>
          <p:nvPr/>
        </p:nvSpPr>
        <p:spPr>
          <a:xfrm>
            <a:off x="1234440" y="2606040"/>
            <a:ext cx="12700" cy="26746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2" name="SH 202"/>
          <p:cNvSpPr/>
          <p:nvPr/>
        </p:nvSpPr>
        <p:spPr>
          <a:xfrm>
            <a:off x="1234440" y="2766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3" name="SH 203"/>
          <p:cNvSpPr/>
          <p:nvPr/>
        </p:nvSpPr>
        <p:spPr>
          <a:xfrm>
            <a:off x="1234440" y="2994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4" name="SH 204"/>
          <p:cNvSpPr/>
          <p:nvPr/>
        </p:nvSpPr>
        <p:spPr>
          <a:xfrm>
            <a:off x="1234440" y="3223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5" name="SH 205"/>
          <p:cNvSpPr/>
          <p:nvPr/>
        </p:nvSpPr>
        <p:spPr>
          <a:xfrm>
            <a:off x="1234440" y="3451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6" name="SH 206"/>
          <p:cNvSpPr/>
          <p:nvPr/>
        </p:nvSpPr>
        <p:spPr>
          <a:xfrm>
            <a:off x="1234440" y="4594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7" name="SH 207"/>
          <p:cNvSpPr/>
          <p:nvPr/>
        </p:nvSpPr>
        <p:spPr>
          <a:xfrm>
            <a:off x="1234440" y="5280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8" name="SH 208"/>
          <p:cNvSpPr/>
          <p:nvPr/>
        </p:nvSpPr>
        <p:spPr>
          <a:xfrm>
            <a:off x="1554480" y="3520440"/>
            <a:ext cx="12700" cy="8458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09" name="SH 209"/>
          <p:cNvSpPr/>
          <p:nvPr/>
        </p:nvSpPr>
        <p:spPr>
          <a:xfrm>
            <a:off x="1554480" y="3680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0" name="SH 210"/>
          <p:cNvSpPr/>
          <p:nvPr/>
        </p:nvSpPr>
        <p:spPr>
          <a:xfrm>
            <a:off x="1554480" y="3909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1" name="SH 211"/>
          <p:cNvSpPr/>
          <p:nvPr/>
        </p:nvSpPr>
        <p:spPr>
          <a:xfrm>
            <a:off x="1554480" y="4137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2" name="SH 212"/>
          <p:cNvSpPr/>
          <p:nvPr/>
        </p:nvSpPr>
        <p:spPr>
          <a:xfrm>
            <a:off x="1554480" y="4366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3" name="SH 213"/>
          <p:cNvSpPr/>
          <p:nvPr/>
        </p:nvSpPr>
        <p:spPr>
          <a:xfrm>
            <a:off x="1554480" y="4663440"/>
            <a:ext cx="12700" cy="38862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4" name="SH 214"/>
          <p:cNvSpPr/>
          <p:nvPr/>
        </p:nvSpPr>
        <p:spPr>
          <a:xfrm>
            <a:off x="1554480" y="4823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5" name="SH 215"/>
          <p:cNvSpPr/>
          <p:nvPr/>
        </p:nvSpPr>
        <p:spPr>
          <a:xfrm>
            <a:off x="1554480" y="5052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16" name="TB 216"/>
          <p:cNvSpPr txBox="1"/>
          <p:nvPr/>
        </p:nvSpPr>
        <p:spPr>
          <a:xfrm>
            <a:off x="1097280" y="2423160"/>
            <a:ext cx="58064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1" dirty="0">
                <a:solidFill>
                  <a:srgbClr val="E6ECF5"/>
                </a:solidFill>
                <a:latin typeface="Consolas"/>
                <a:ea typeface="맑은 고딕"/>
              </a:rPr>
              <a:t>docs/</a:t>
            </a:r>
          </a:p>
        </p:txBody>
      </p:sp>
      <p:sp>
        <p:nvSpPr>
          <p:cNvPr id="217" name="TB 217"/>
          <p:cNvSpPr txBox="1"/>
          <p:nvPr/>
        </p:nvSpPr>
        <p:spPr>
          <a:xfrm>
            <a:off x="1417320" y="26517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서버-시스템-전체-개요.md</a:t>
            </a:r>
          </a:p>
        </p:txBody>
      </p:sp>
      <p:sp>
        <p:nvSpPr>
          <p:cNvPr id="218" name="TB 218"/>
          <p:cNvSpPr txBox="1"/>
          <p:nvPr/>
        </p:nvSpPr>
        <p:spPr>
          <a:xfrm>
            <a:off x="4572000" y="26517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최상위 진입 문서</a:t>
            </a:r>
          </a:p>
        </p:txBody>
      </p:sp>
      <p:sp>
        <p:nvSpPr>
          <p:cNvPr id="219" name="TB 219"/>
          <p:cNvSpPr txBox="1"/>
          <p:nvPr/>
        </p:nvSpPr>
        <p:spPr>
          <a:xfrm>
            <a:off x="1417320" y="28803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서버-개발-계획.md</a:t>
            </a:r>
          </a:p>
        </p:txBody>
      </p:sp>
      <p:sp>
        <p:nvSpPr>
          <p:cNvPr id="220" name="TB 220"/>
          <p:cNvSpPr txBox="1"/>
          <p:nvPr/>
        </p:nvSpPr>
        <p:spPr>
          <a:xfrm>
            <a:off x="4572000" y="2880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개발 순서 · 일정</a:t>
            </a:r>
          </a:p>
        </p:txBody>
      </p:sp>
      <p:sp>
        <p:nvSpPr>
          <p:cNvPr id="221" name="TB 221"/>
          <p:cNvSpPr txBox="1"/>
          <p:nvPr/>
        </p:nvSpPr>
        <p:spPr>
          <a:xfrm>
            <a:off x="1417320" y="3108960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com2us-taskbar-hero-개발환경.md</a:t>
            </a:r>
          </a:p>
        </p:txBody>
      </p:sp>
      <p:sp>
        <p:nvSpPr>
          <p:cNvPr id="222" name="TB 222"/>
          <p:cNvSpPr txBox="1"/>
          <p:nvPr/>
        </p:nvSpPr>
        <p:spPr>
          <a:xfrm>
            <a:off x="1417320" y="33375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1" dirty="0">
                <a:solidFill>
                  <a:srgbClr val="E0A526"/>
                </a:solidFill>
                <a:latin typeface="Consolas"/>
                <a:ea typeface="맑은 고딕"/>
              </a:rPr>
              <a:t>세부/</a:t>
            </a:r>
          </a:p>
        </p:txBody>
      </p:sp>
      <p:sp>
        <p:nvSpPr>
          <p:cNvPr id="223" name="TB 223"/>
          <p:cNvSpPr txBox="1"/>
          <p:nvPr/>
        </p:nvSpPr>
        <p:spPr>
          <a:xfrm>
            <a:off x="4572000" y="33375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E0A526"/>
                </a:solidFill>
                <a:latin typeface="맑은 고딕"/>
                <a:ea typeface="맑은 고딕"/>
              </a:rPr>
              <a:t>★ 정본 — 기능별 기획서</a:t>
            </a:r>
          </a:p>
        </p:txBody>
      </p:sp>
      <p:sp>
        <p:nvSpPr>
          <p:cNvPr id="224" name="TB 224"/>
          <p:cNvSpPr txBox="1"/>
          <p:nvPr/>
        </p:nvSpPr>
        <p:spPr>
          <a:xfrm>
            <a:off x="1737360" y="35661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account-login · save-data · inventory</a:t>
            </a:r>
          </a:p>
        </p:txBody>
      </p:sp>
      <p:sp>
        <p:nvSpPr>
          <p:cNvPr id="225" name="TB 225"/>
          <p:cNvSpPr txBox="1"/>
          <p:nvPr/>
        </p:nvSpPr>
        <p:spPr>
          <a:xfrm>
            <a:off x="1737360" y="37947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stage-battle · trade · gacha · mail</a:t>
            </a:r>
          </a:p>
        </p:txBody>
      </p:sp>
      <p:sp>
        <p:nvSpPr>
          <p:cNvPr id="226" name="TB 226"/>
          <p:cNvSpPr txBox="1"/>
          <p:nvPr/>
        </p:nvSpPr>
        <p:spPr>
          <a:xfrm>
            <a:off x="1737360" y="40233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attendance · growth · offline-reward</a:t>
            </a:r>
          </a:p>
        </p:txBody>
      </p:sp>
      <p:sp>
        <p:nvSpPr>
          <p:cNvPr id="227" name="TB 227"/>
          <p:cNvSpPr txBox="1"/>
          <p:nvPr/>
        </p:nvSpPr>
        <p:spPr>
          <a:xfrm>
            <a:off x="1737360" y="4251960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master-data/</a:t>
            </a:r>
          </a:p>
        </p:txBody>
      </p:sp>
      <p:sp>
        <p:nvSpPr>
          <p:cNvPr id="228" name="TB 228"/>
          <p:cNvSpPr txBox="1"/>
          <p:nvPr/>
        </p:nvSpPr>
        <p:spPr>
          <a:xfrm>
            <a:off x="4572000" y="42519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마스터 값 · 스키마</a:t>
            </a:r>
          </a:p>
        </p:txBody>
      </p:sp>
      <p:sp>
        <p:nvSpPr>
          <p:cNvPr id="229" name="TB 229"/>
          <p:cNvSpPr txBox="1"/>
          <p:nvPr/>
        </p:nvSpPr>
        <p:spPr>
          <a:xfrm>
            <a:off x="1417320" y="44805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공통/</a:t>
            </a:r>
          </a:p>
        </p:txBody>
      </p:sp>
      <p:sp>
        <p:nvSpPr>
          <p:cNvPr id="230" name="TB 230"/>
          <p:cNvSpPr txBox="1"/>
          <p:nvPr/>
        </p:nvSpPr>
        <p:spPr>
          <a:xfrm>
            <a:off x="4572000" y="44805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집약 참조본 + 공유 계약</a:t>
            </a:r>
          </a:p>
        </p:txBody>
      </p:sp>
      <p:sp>
        <p:nvSpPr>
          <p:cNvPr id="231" name="TB 231"/>
          <p:cNvSpPr txBox="1"/>
          <p:nvPr/>
        </p:nvSpPr>
        <p:spPr>
          <a:xfrm>
            <a:off x="1737360" y="47091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api-통합.md · db-erd-통합.md</a:t>
            </a:r>
          </a:p>
        </p:txBody>
      </p:sp>
      <p:sp>
        <p:nvSpPr>
          <p:cNvPr id="232" name="TB 232"/>
          <p:cNvSpPr txBox="1"/>
          <p:nvPr/>
        </p:nvSpPr>
        <p:spPr>
          <a:xfrm>
            <a:off x="1737360" y="4937760"/>
            <a:ext cx="516636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AEBED4"/>
                </a:solidFill>
                <a:latin typeface="Consolas"/>
                <a:ea typeface="맑은 고딕"/>
              </a:rPr>
              <a:t>error-code-정의.md · 로깅-규칙.md</a:t>
            </a:r>
          </a:p>
        </p:txBody>
      </p:sp>
      <p:sp>
        <p:nvSpPr>
          <p:cNvPr id="233" name="TB 233"/>
          <p:cNvSpPr txBox="1"/>
          <p:nvPr/>
        </p:nvSpPr>
        <p:spPr>
          <a:xfrm>
            <a:off x="1417320" y="5166360"/>
            <a:ext cx="306324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images/</a:t>
            </a:r>
          </a:p>
        </p:txBody>
      </p:sp>
      <p:sp>
        <p:nvSpPr>
          <p:cNvPr id="234" name="TB 234"/>
          <p:cNvSpPr txBox="1"/>
          <p:nvPr/>
        </p:nvSpPr>
        <p:spPr>
          <a:xfrm>
            <a:off x="4572000" y="516636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원작 화면 캡처(기획 근거)</a:t>
            </a:r>
          </a:p>
        </p:txBody>
      </p:sp>
      <p:sp>
        <p:nvSpPr>
          <p:cNvPr id="235" name="SH 235"/>
          <p:cNvSpPr/>
          <p:nvPr/>
        </p:nvSpPr>
        <p:spPr>
          <a:xfrm>
            <a:off x="1097280" y="5486400"/>
            <a:ext cx="5806440" cy="12700"/>
          </a:xfrm>
          <a:prstGeom prst="rect">
            <a:avLst/>
          </a:prstGeom>
          <a:solidFill>
            <a:srgbClr val="4A60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236" name="TB 236"/>
          <p:cNvSpPr txBox="1"/>
          <p:nvPr/>
        </p:nvSpPr>
        <p:spPr>
          <a:xfrm>
            <a:off x="1097280" y="5669280"/>
            <a:ext cx="338328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1000" b="0" dirty="0">
                <a:solidFill>
                  <a:srgbClr val="E6ECF5"/>
                </a:solidFill>
                <a:latin typeface="Consolas"/>
                <a:ea typeface="맑은 고딕"/>
              </a:rPr>
              <a:t>SequenceDiagram/README.md</a:t>
            </a:r>
          </a:p>
        </p:txBody>
      </p:sp>
      <p:sp>
        <p:nvSpPr>
          <p:cNvPr id="237" name="TB 237"/>
          <p:cNvSpPr txBox="1"/>
          <p:nvPr/>
        </p:nvSpPr>
        <p:spPr>
          <a:xfrm>
            <a:off x="4572000" y="5669280"/>
            <a:ext cx="2331720" cy="228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lang="ko-KR" altLang="en-US" sz="900" b="0" dirty="0">
                <a:solidFill>
                  <a:srgbClr val="9FB0C6"/>
                </a:solidFill>
                <a:latin typeface="맑은 고딕"/>
                <a:ea typeface="맑은 고딕"/>
              </a:rPr>
              <a:t># 기능별 처리 흐름</a:t>
            </a:r>
          </a:p>
        </p:txBody>
      </p:sp>
      <p:sp>
        <p:nvSpPr>
          <p:cNvPr id="238" name="SH 238"/>
          <p:cNvSpPr/>
          <p:nvPr/>
        </p:nvSpPr>
        <p:spPr>
          <a:xfrm>
            <a:off x="7452360" y="2103120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정본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docs/세부/ 가 언제나 정본이다. 충돌하면 세부 기획서를 따른다.</a:t>
            </a:r>
          </a:p>
        </p:txBody>
      </p:sp>
      <p:sp>
        <p:nvSpPr>
          <p:cNvPr id="239" name="SH 239"/>
          <p:cNvSpPr/>
          <p:nvPr/>
        </p:nvSpPr>
        <p:spPr>
          <a:xfrm>
            <a:off x="7452360" y="3337560"/>
            <a:ext cx="4023360" cy="12573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집약 참조본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docs/공통/ 은 여러 기획서에 흩어진 내용을 한 장에 모은 편의용. 단, 클라이언트와 공유하는 계약(에러 코드 숫자 값 등)은 여기서 확인한다.</a:t>
            </a:r>
          </a:p>
        </p:txBody>
      </p:sp>
      <p:sp>
        <p:nvSpPr>
          <p:cNvPr id="240" name="SH 240"/>
          <p:cNvSpPr/>
          <p:nvPr/>
        </p:nvSpPr>
        <p:spPr>
          <a:xfrm>
            <a:off x="7452360" y="4869180"/>
            <a:ext cx="4023360" cy="12573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182880" rIns="274320" bIns="182880" rtlCol="0" anchor="ctr"/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lang="ko-KR" altLang="en-US" sz="1150" b="1" dirty="0">
                <a:solidFill>
                  <a:srgbClr val="2F6FE4"/>
                </a:solidFill>
                <a:latin typeface="맑은 고딕"/>
                <a:ea typeface="맑은 고딕"/>
              </a:rPr>
              <a:t>그림으로 고정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050" b="0" dirty="0">
                <a:solidFill>
                  <a:srgbClr val="6B7684"/>
                </a:solidFill>
                <a:latin typeface="맑은 고딕"/>
                <a:ea typeface="맑은 고딕"/>
              </a:rPr>
              <a:t>원작 게임 화면 캡처를 docs/images/에 두고 기획서에서 참조해, "무엇을 모작하는지"를 글이 아니라 그림으로 고정했다.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6. 밸런스 수치를 잡기위한 과정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기획서로 정할 수 있는 것은 규칙이지 수치가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10789920" cy="6254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00" b="1" dirty="0">
                <a:solidFill>
                  <a:srgbClr val="1B2430"/>
                </a:solidFill>
                <a:latin typeface="맑은 고딕"/>
              </a:rPr>
              <a:t>"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몬스터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체력을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얼마로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둘까"는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문서로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합의할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수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없고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재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봐야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안다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.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그런데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이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게임에서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그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측정은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원래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600" b="1" dirty="0" err="1">
                <a:solidFill>
                  <a:srgbClr val="1B2430"/>
                </a:solidFill>
                <a:latin typeface="맑은 고딕"/>
              </a:rPr>
              <a:t>불가능했다</a:t>
            </a:r>
            <a:r>
              <a:rPr sz="1600" b="1" dirty="0">
                <a:solidFill>
                  <a:srgbClr val="1B2430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dirty="0" err="1">
                <a:solidFill>
                  <a:srgbClr val="6B7684"/>
                </a:solidFill>
                <a:latin typeface="맑은 고딕"/>
              </a:rPr>
              <a:t>전투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계산이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클라이언트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권위라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서버는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스탯을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로드조차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하지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클리어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시간을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알려면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Unity를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켜고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스테이지에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들어가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사람이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스톱워치를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재야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했다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15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D9CAEE2-DE9A-9F8F-9EEF-997D475F4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500" name="TB 500"/>
          <p:cNvSpPr txBox="1"/>
          <p:nvPr/>
        </p:nvSpPr>
        <p:spPr>
          <a:xfrm>
            <a:off x="685800" y="3017520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600" b="1" dirty="0">
                <a:solidFill>
                  <a:srgbClr val="FF0000"/>
                </a:solidFill>
                <a:latin typeface="맑은 고딕"/>
                <a:ea typeface="맑은 고딕"/>
              </a:rPr>
              <a:t>기준이 없는 명령은 토큰 낭비만 초래했다..</a:t>
            </a:r>
          </a:p>
        </p:txBody>
      </p:sp>
      <p:sp>
        <p:nvSpPr>
          <p:cNvPr id="501" name="SH 501"/>
          <p:cNvSpPr/>
          <p:nvPr/>
        </p:nvSpPr>
        <p:spPr>
          <a:xfrm>
            <a:off x="685800" y="361188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502" name="TB 502"/>
          <p:cNvSpPr txBox="1"/>
          <p:nvPr/>
        </p:nvSpPr>
        <p:spPr>
          <a:xfrm>
            <a:off x="1097280" y="402336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6B7684"/>
                </a:solidFill>
                <a:latin typeface="맑은 고딕"/>
                <a:ea typeface="맑은 고딕"/>
              </a:rPr>
              <a:t>· ‘지금 난이도가 너무 쉬운데, 좀 더 난이도 있게 만들어줘.’</a:t>
            </a:r>
          </a:p>
        </p:txBody>
      </p:sp>
      <p:sp>
        <p:nvSpPr>
          <p:cNvPr id="503" name="SH 503"/>
          <p:cNvSpPr/>
          <p:nvPr/>
        </p:nvSpPr>
        <p:spPr>
          <a:xfrm>
            <a:off x="1097280" y="4754880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504" name="TB 504"/>
          <p:cNvSpPr txBox="1"/>
          <p:nvPr/>
        </p:nvSpPr>
        <p:spPr>
          <a:xfrm>
            <a:off x="1097280" y="498348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  <a:r>
              <a:rPr lang="ko-KR" altLang="en-US" sz="1200" b="1" dirty="0">
                <a:solidFill>
                  <a:srgbClr val="1B2430"/>
                </a:solidFill>
                <a:latin typeface="맑은 고딕"/>
                <a:ea typeface="맑은 고딕"/>
              </a:rPr>
              <a:t> 너무 어려워지거나 인게임 전투에 변화가 거의 없음</a:t>
            </a:r>
          </a:p>
        </p:txBody>
      </p:sp>
      <p:sp>
        <p:nvSpPr>
          <p:cNvPr id="505" name="SH 505"/>
          <p:cNvSpPr/>
          <p:nvPr/>
        </p:nvSpPr>
        <p:spPr>
          <a:xfrm>
            <a:off x="6309360" y="3611880"/>
            <a:ext cx="516636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506" name="TB 506"/>
          <p:cNvSpPr txBox="1"/>
          <p:nvPr/>
        </p:nvSpPr>
        <p:spPr>
          <a:xfrm>
            <a:off x="6720840" y="4023360"/>
            <a:ext cx="4343400" cy="5943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50" b="0" dirty="0">
                <a:solidFill>
                  <a:srgbClr val="6B7684"/>
                </a:solidFill>
                <a:latin typeface="맑은 고딕"/>
                <a:ea typeface="맑은 고딕"/>
              </a:rPr>
              <a:t>· ‘보스 공격력이 너무 강한데, 지금보다는 쉽게 만들어줘.’</a:t>
            </a:r>
          </a:p>
        </p:txBody>
      </p:sp>
      <p:sp>
        <p:nvSpPr>
          <p:cNvPr id="507" name="SH 507"/>
          <p:cNvSpPr/>
          <p:nvPr/>
        </p:nvSpPr>
        <p:spPr>
          <a:xfrm>
            <a:off x="6720840" y="4754880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508" name="TB 508"/>
          <p:cNvSpPr txBox="1"/>
          <p:nvPr/>
        </p:nvSpPr>
        <p:spPr>
          <a:xfrm>
            <a:off x="6720840" y="498348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E0A526"/>
                </a:solidFill>
                <a:latin typeface="맑은 고딕"/>
                <a:ea typeface="맑은 고딕"/>
              </a:rPr>
              <a:t>→</a:t>
            </a:r>
            <a:r>
              <a:rPr lang="ko-KR" altLang="en-US" sz="1200" b="1" dirty="0">
                <a:solidFill>
                  <a:srgbClr val="1B2430"/>
                </a:solidFill>
                <a:latin typeface="맑은 고딕"/>
                <a:ea typeface="맑은 고딕"/>
              </a:rPr>
              <a:t> 보스가 너무 약해져서 잡몹과 똑같이 변함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6.1  스크립트로만 구현한 인게임 전투 하네스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tools/balance_sim.py — 한 스테이지 전투를 1/60초 고정 스텝으로 압축 실행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796812"/>
              </p:ext>
            </p:extLst>
          </p:nvPr>
        </p:nvGraphicFramePr>
        <p:xfrm>
          <a:off x="685800" y="1861349"/>
          <a:ext cx="10789920" cy="2286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씬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하네스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(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BattleDevScene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맑은 고딕"/>
                        </a:rPr>
                        <a:t> 등)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밸런스 시뮬레이터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무엇을 잘라냈나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로그인 · 스테이지 진입 · 게임 흐름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거기에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더해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Unity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렌더링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실시간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무엇</a:t>
                      </a:r>
                      <a:r>
                        <a:rPr lang="ko-KR" alt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이 필요한가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화면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</a:t>
                      </a:r>
                      <a:r>
                        <a:rPr 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lang="ko-KR" altLang="en-US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전투 상황 확인용 </a:t>
                      </a:r>
                      <a:r>
                        <a:rPr lang="en-US" altLang="ko-KR"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UI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규칙과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수치만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누가 읽나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사람이 눈으로 (타격감 · 외형)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기계가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수치로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(초 · %)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한 판 도는 비용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1B2430"/>
                          </a:solidFill>
                          <a:latin typeface="맑은 고딕"/>
                        </a:rPr>
                        <a:t>에디터 켜고 플레이 모드 진입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한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프로세스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, 100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스테이지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전수도</a:t>
                      </a:r>
                      <a:r>
                        <a:rPr sz="125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한 </a:t>
                      </a:r>
                      <a:r>
                        <a:rPr sz="125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명령</a:t>
                      </a:r>
                      <a:endParaRPr sz="125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16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3171C95-35FF-4499-CD59-CBA30A1B7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5105" y="5029200"/>
            <a:ext cx="3180786" cy="132588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AF15316-FD53-EE86-DCC7-38B7192066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0211" y="5029200"/>
            <a:ext cx="5656204" cy="1325880"/>
          </a:xfrm>
          <a:prstGeom prst="rect">
            <a:avLst/>
          </a:prstGeom>
          <a:ln w="12700">
            <a:solidFill>
              <a:srgbClr val="D8DEE7"/>
            </a:solidFill>
          </a:ln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35F50D3-CFEC-7D76-6218-CC82DD2807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600" name="SH 600"/>
          <p:cNvSpPr/>
          <p:nvPr/>
        </p:nvSpPr>
        <p:spPr>
          <a:xfrm>
            <a:off x="685800" y="4297680"/>
            <a:ext cx="10789920" cy="64008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137160" rIns="365760" bIns="137160" rtlCol="0" anchor="ctr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왜 필요할까?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   =&gt; 실제 유니티 환경에서 측정 시, 유니티를 실행하고 클리어 시간을 측정하는 과정이 굉장히 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오래걸림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 + 유니티 MCP를 통한 환경에서의 시간 측정도 굉장히 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부정확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  <a:ea typeface="맑은 고딕"/>
              </a:rPr>
              <a:t>하여 토큰만 낭비하는 일이 많아짐.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6.2  하드코딩을 최소화한다 — 무엇을 어디서 읽는가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하네스가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실제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게임과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갈라지면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산출한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밸런스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근거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전체가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무효가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1440237"/>
              </p:ext>
            </p:extLst>
          </p:nvPr>
        </p:nvGraphicFramePr>
        <p:xfrm>
          <a:off x="777240" y="1870845"/>
          <a:ext cx="10789920" cy="1890037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681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대상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출처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1B2430"/>
                          </a:solidFill>
                          <a:latin typeface="맑은 고딕"/>
                        </a:rPr>
                        <a:t>마스터 수치 (몬스터 · 스폰 · 직업 · 레벨 · 스킬 계수 · 아이템 · 강화 · 룬)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서버의 마스터 데이터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전투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상수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(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주기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동시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상한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이동속도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피해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배수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)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파티별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사거리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lang="ko-KR" altLang="en-US"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유니티 클라이언트의 전투관련 상수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452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스킬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모션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길이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·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광역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판정</a:t>
                      </a:r>
                      <a:r>
                        <a:rPr sz="12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2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반경</a:t>
                      </a:r>
                      <a:endParaRPr sz="12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Assets/Prefabs/Effects/*.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prefab의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프레임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수 · fps · </a:t>
                      </a:r>
                      <a:r>
                        <a:rPr sz="1000" b="0" dirty="0" err="1">
                          <a:solidFill>
                            <a:srgbClr val="1B2430"/>
                          </a:solidFill>
                          <a:latin typeface="맑은 고딕"/>
                        </a:rPr>
                        <a:t>스케일</a:t>
                      </a:r>
                      <a:r>
                        <a:rPr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 + </a:t>
                      </a:r>
                      <a:r>
                        <a:rPr lang="ko-KR" altLang="en-US" sz="1000" b="0" dirty="0">
                          <a:solidFill>
                            <a:srgbClr val="1B2430"/>
                          </a:solidFill>
                          <a:latin typeface="맑은 고딕"/>
                        </a:rPr>
                        <a:t>스킬 이펙트의 타격범위</a:t>
                      </a:r>
                      <a:endParaRPr sz="1000" b="0" dirty="0">
                        <a:solidFill>
                          <a:srgbClr val="1B2430"/>
                        </a:solidFill>
                        <a:latin typeface="맑은 고딕"/>
                      </a:endParaRP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17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390CC36-B6E0-089A-AC7B-2F16ABE77C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063" y="4095535"/>
            <a:ext cx="3279710" cy="210518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6699D71-8014-433D-E074-BF7871B1C1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BALANCE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6.3 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실제 </a:t>
            </a:r>
            <a:r>
              <a:rPr lang="ko-KR" altLang="en-US" sz="3000" b="1" dirty="0" err="1">
                <a:solidFill>
                  <a:srgbClr val="1B2430"/>
                </a:solidFill>
                <a:latin typeface="맑은 고딕"/>
              </a:rPr>
              <a:t>밸런싱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 작업 활용 예시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명령 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: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신규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계정이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아무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투자도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하지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않은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상태로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1지역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보스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를 </a:t>
            </a:r>
            <a:r>
              <a:rPr lang="en-US" altLang="ko-KR" sz="1400" b="0" dirty="0">
                <a:solidFill>
                  <a:srgbClr val="6B7684"/>
                </a:solidFill>
                <a:latin typeface="맑은 고딕"/>
              </a:rPr>
              <a:t>1</a:t>
            </a:r>
            <a:r>
              <a:rPr lang="ko-KR" altLang="en-US" sz="1400" b="0" dirty="0">
                <a:solidFill>
                  <a:srgbClr val="6B7684"/>
                </a:solidFill>
                <a:latin typeface="맑은 고딕"/>
              </a:rPr>
              <a:t>분 내외로 아슬아슬하게 클리어하도록 밸런스를 조정해줘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1-10-스테이지-리밸런싱-결과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433" y="2011680"/>
            <a:ext cx="2927773" cy="41605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914400" y="6263640"/>
            <a:ext cx="5577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1지역 보스(암흑 마법사) — 60.6초 클리어 · 최저 체력 23%  (3.7배속)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040880" y="2148840"/>
          <a:ext cx="4434840" cy="26334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endParaRPr/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리밸런싱 전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지금</a:t>
                      </a:r>
                    </a:p>
                  </a:txBody>
                  <a:tcPr marL="100584" marR="73152" marT="36576" marB="36576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1지역 일반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15~27초 · 체력 62~100%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30~50초 · 85% → 46%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1-10 보스(기사)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35.6초 전멸(패배)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60.6초 클리어 · 최저 23%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1-10 보스(타직업)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24~31초 · 편차 큼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46~61초 · 23~66%</a:t>
                      </a:r>
                    </a:p>
                  </a:txBody>
                  <a:tcPr marL="100584" marR="73152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투자 요구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없음(1지역 내내 여유)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1B2430"/>
                          </a:solidFill>
                          <a:latin typeface="맑은 고딕"/>
                        </a:rPr>
                        <a:t>2지역 중반부터 장비작·스킬작</a:t>
                      </a:r>
                    </a:p>
                  </a:txBody>
                  <a:tcPr marL="100584" marR="73152" marT="36576" marB="36576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040880" y="4937760"/>
            <a:ext cx="4434840" cy="473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치명타</a:t>
            </a:r>
            <a:r>
              <a:rPr lang="en-US" altLang="ko-KR" sz="1300" b="1" dirty="0">
                <a:solidFill>
                  <a:srgbClr val="2F6FE4"/>
                </a:solidFill>
                <a:latin typeface="맑은 고딕"/>
              </a:rPr>
              <a:t>, </a:t>
            </a:r>
            <a:r>
              <a:rPr lang="ko-KR" altLang="en-US" sz="1300" b="1" dirty="0" err="1">
                <a:solidFill>
                  <a:srgbClr val="2F6FE4"/>
                </a:solidFill>
                <a:latin typeface="맑은 고딕"/>
              </a:rPr>
              <a:t>몹</a:t>
            </a: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 흩어짐 등에 의한 변수가 있으나 실제 전투 시간을 비교적 정확히 맞출 수 있게 되었다</a:t>
            </a:r>
            <a:r>
              <a:rPr lang="en-US" altLang="ko-KR" sz="1300" b="1" dirty="0">
                <a:solidFill>
                  <a:srgbClr val="2F6FE4"/>
                </a:solidFill>
                <a:latin typeface="맑은 고딕"/>
              </a:rPr>
              <a:t>.</a:t>
            </a:r>
            <a:r>
              <a:rPr lang="ko-KR" altLang="en-US" sz="1300" b="1" dirty="0">
                <a:solidFill>
                  <a:srgbClr val="2F6FE4"/>
                </a:solidFill>
                <a:latin typeface="맑은 고딕"/>
              </a:rPr>
              <a:t> </a:t>
            </a:r>
            <a:endParaRPr sz="1300" b="1" dirty="0">
              <a:solidFill>
                <a:srgbClr val="2F6FE4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18</a:t>
            </a:r>
          </a:p>
        </p:txBody>
      </p:sp>
      <p:pic>
        <p:nvPicPr>
          <p:cNvPr id="12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LOGGING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7. 로그 조회 — 무엇을 남기고, 어떻게 보는가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서버는 JSON 한 줄을 파일로 쓰는 데서 끝난다 — 적재는 fluentd, 조회는 Grafana의 몫이다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3816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GameServer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이벤트 전용 JSON 파일 sink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(운영 로그와 분리)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95244" y="2286000"/>
            <a:ext cx="384048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9AA5B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9291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07308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fluentd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in_tail → 태그 승격 →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out_sql(pg)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8736" y="2286000"/>
            <a:ext cx="384048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9AA5B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799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TimescaleDB · logdb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이벤트별 하이퍼테이블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압축 · 보존 · 연속 집계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2228" y="2286000"/>
            <a:ext cx="384048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>
                <a:solidFill>
                  <a:srgbClr val="9AA5B4"/>
                </a:solidFill>
                <a:latin typeface="맑은 고딕"/>
                <a:ea typeface="맑은 고딕"/>
                <a:cs typeface="맑은 고딕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66276" y="1965960"/>
            <a:ext cx="240944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94292" y="2066543"/>
            <a:ext cx="2153411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Grafana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대시보드 6종</a:t>
            </a:r>
          </a:p>
          <a:p>
            <a:pPr>
              <a:spcBef>
                <a:spcPts val="3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코드로 프로비저닝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017520"/>
            <a:ext cx="393192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로그-db-테이블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31" y="3127248"/>
            <a:ext cx="3585256" cy="22951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5800" y="5605272"/>
            <a:ext cx="393192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이벤트 하나 = 테이블 하나</a:t>
            </a:r>
            <a:r>
              <a:rPr sz="11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·  총 31개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80" y="3017520"/>
            <a:ext cx="649224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그라파나-대시보드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3252049"/>
            <a:ext cx="3535133" cy="140221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5" name="TextBox 24"/>
          <p:cNvSpPr txBox="1"/>
          <p:nvPr/>
        </p:nvSpPr>
        <p:spPr>
          <a:xfrm>
            <a:off x="4983480" y="5605272"/>
            <a:ext cx="649224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대시보드 6종</a:t>
            </a:r>
            <a:r>
              <a:rPr sz="11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  —  접속 · 스테이지 · 경제 · 가챠/거래소 · 보스러시 · 히스토리</a:t>
            </a:r>
          </a:p>
        </p:txBody>
      </p:sp>
      <p:pic>
        <p:nvPicPr>
          <p:cNvPr id="27" name="Picture 9" descr="그라파나-대시보드-접속-리텐션.png">
            <a:extLst>
              <a:ext uri="{FF2B5EF4-FFF2-40B4-BE49-F238E27FC236}">
                <a16:creationId xmlns:a16="http://schemas.microsoft.com/office/drawing/2014/main" id="{877BFD4E-FF28-70D6-99DA-47EEE7DB0A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75913" y="3489794"/>
            <a:ext cx="3728197" cy="173143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>
                <a:solidFill>
                  <a:srgbClr val="E0A526"/>
                </a:solidFill>
                <a:latin typeface="맑은 고딕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맑은 고딕"/>
              </a:rPr>
              <a:t>클라이언트 (Unity)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GAME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8. 게임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작업표시줄 위 얇은 띠에서 파티가 스스로 싸우는 방치형 RPG — 조작 대신 무엇을 키울지를 고른다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5577840" cy="2935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플레이-화면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103120"/>
            <a:ext cx="4937760" cy="26609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5800" y="4974336"/>
            <a:ext cx="557784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r>
              <a:rPr sz="11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실제 플레이 화면 — 가운데 좁은 띠에서 전투, 아래 메뉴 8종은 상시 노출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기사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최전방 방벽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12264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112264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레인저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원거리 연사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38728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38728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마법사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전 스킬 광역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65192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965192" y="5394960"/>
            <a:ext cx="1298448" cy="4572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슬레이어</a:t>
            </a:r>
          </a:p>
          <a:p>
            <a:pPr algn="ctr">
              <a:spcBef>
                <a:spcPts val="200"/>
              </a:spcBef>
            </a:pPr>
            <a:r>
              <a:rPr sz="9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근접 치명타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11112" y="1965960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812280" y="2240279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76872" y="2066543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전투는 전부 자동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파티 3인이 스스로 전진해 사거리에 든 적을 치고, 스킬은 쿨타임마다 알아서 나간다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11112" y="2962656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812280" y="3236976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76872" y="3063240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플레이어가 하는 일은 결정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장비 · 스킬 · 룬 · 파티 편성을 고르는 선택이 조작을 대신한다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11112" y="3959352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812280" y="4233672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76872" y="4059936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화면을 가리지 않는다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작업표시줄 위에 얇게 붙는 투명 오버레이 창 · 메뉴 8종은 상시 노출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11112" y="4956048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812280" y="5230368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76872" y="5056632"/>
            <a:ext cx="4315968" cy="740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12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꺼 둔 시간도 성장한다</a:t>
            </a:r>
          </a:p>
          <a:p>
            <a:pPr>
              <a:spcBef>
                <a:spcPts val="300"/>
              </a:spcBef>
            </a:pPr>
            <a:r>
              <a:rPr sz="10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접속하지 않은 동안의 진행을 재접속 시 오프라인 보상으로 정산한다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맑은 고딕"/>
                <a:ea typeface="맑은 고딕"/>
                <a:cs typeface="맑은 고딕"/>
              </a:rPr>
              <a:t>GAME CONTENT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2874185" cy="4616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8.1 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게임</a:t>
            </a:r>
            <a:r>
              <a:rPr sz="3000" b="1" dirty="0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컨텐츠</a:t>
            </a:r>
            <a:endParaRPr sz="3000" b="1" dirty="0">
              <a:solidFill>
                <a:srgbClr val="1B243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3-st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031" y="2075688"/>
            <a:ext cx="1799857" cy="1298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스테이지 · 보스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지역별 스테이지 자동 진행, Act 보스전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04-invento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8624" y="2075688"/>
            <a:ext cx="1001071" cy="12984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570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가방 · 창고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장비 · 재료 · 소모품 보관, 칸 확장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07-cub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8732" y="2075688"/>
            <a:ext cx="1087254" cy="12984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002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큐브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합성 · 제작 · 연금술 판매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05-ski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2411" y="2075688"/>
            <a:ext cx="1006297" cy="129844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043416" y="34290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성장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스킬 레벨 · 패시브 · 룬 장착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08-gach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937" y="4133088"/>
            <a:ext cx="1398044" cy="129844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138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뽑기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배너별 등급 확률 · 천장 보정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09-tra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53531" y="4133088"/>
            <a:ext cx="1111257" cy="12984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35570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거래소 · 교역선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유저 간 시세 거래, 교역선 판매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11-attend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11326" y="4133088"/>
            <a:ext cx="1482066" cy="129844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002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출석 · 메일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일일 출석 보상, 우편함 수령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1" name="Picture 30" descr="보스러시-랭킹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1058" y="4133088"/>
            <a:ext cx="1349002" cy="129844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043416" y="5486400"/>
            <a:ext cx="230428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100" b="1">
                <a:solidFill>
                  <a:srgbClr val="1B2430"/>
                </a:solidFill>
                <a:latin typeface="맑은 고딕"/>
                <a:ea typeface="맑은 고딕"/>
                <a:cs typeface="맑은 고딕"/>
              </a:rPr>
              <a:t>경쟁 · 보스러시</a:t>
            </a:r>
          </a:p>
          <a:p>
            <a:pPr>
              <a:spcBef>
                <a:spcPts val="200"/>
              </a:spcBef>
            </a:pPr>
            <a:r>
              <a:rPr sz="950" b="0">
                <a:solidFill>
                  <a:srgbClr val="6B7684"/>
                </a:solidFill>
                <a:latin typeface="맑은 고딕"/>
                <a:ea typeface="맑은 고딕"/>
                <a:cs typeface="맑은 고딕"/>
              </a:rPr>
              <a:t>보스 5종 연속 클리어 · 주간 시즌 랭킹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9. 개발 방식 한눈에 보기 — 서버와 무엇이 다른가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24</a:t>
            </a:r>
          </a:p>
        </p:txBody>
      </p:sp>
      <p:sp>
        <p:nvSpPr>
          <p:cNvPr id="100" name="SH 100"/>
          <p:cNvSpPr/>
          <p:nvPr/>
        </p:nvSpPr>
        <p:spPr>
          <a:xfrm>
            <a:off x="685800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1" name="TB 101"/>
          <p:cNvSpPr txBox="1"/>
          <p:nvPr/>
        </p:nvSpPr>
        <p:spPr>
          <a:xfrm>
            <a:off x="914400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2F6FE4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102" name="SH 102"/>
          <p:cNvSpPr/>
          <p:nvPr/>
        </p:nvSpPr>
        <p:spPr>
          <a:xfrm>
            <a:off x="914400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03" name="TB 103"/>
          <p:cNvSpPr txBox="1"/>
          <p:nvPr/>
        </p:nvSpPr>
        <p:spPr>
          <a:xfrm>
            <a:off x="914400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서버 계약 확정</a:t>
            </a:r>
          </a:p>
        </p:txBody>
      </p:sp>
      <p:sp>
        <p:nvSpPr>
          <p:cNvPr id="104" name="SH 104"/>
          <p:cNvSpPr/>
          <p:nvPr/>
        </p:nvSpPr>
        <p:spPr>
          <a:xfrm>
            <a:off x="2898648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5" name="TB 105"/>
          <p:cNvSpPr txBox="1"/>
          <p:nvPr/>
        </p:nvSpPr>
        <p:spPr>
          <a:xfrm>
            <a:off x="3127248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2F6FE4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06" name="SH 106"/>
          <p:cNvSpPr/>
          <p:nvPr/>
        </p:nvSpPr>
        <p:spPr>
          <a:xfrm>
            <a:off x="3127248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07" name="TB 107"/>
          <p:cNvSpPr txBox="1"/>
          <p:nvPr/>
        </p:nvSpPr>
        <p:spPr>
          <a:xfrm>
            <a:off x="3127248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클라 UI 기획서</a:t>
            </a:r>
          </a:p>
        </p:txBody>
      </p:sp>
      <p:sp>
        <p:nvSpPr>
          <p:cNvPr id="108" name="SH 108"/>
          <p:cNvSpPr/>
          <p:nvPr/>
        </p:nvSpPr>
        <p:spPr>
          <a:xfrm>
            <a:off x="5111496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9" name="TB 109"/>
          <p:cNvSpPr txBox="1"/>
          <p:nvPr/>
        </p:nvSpPr>
        <p:spPr>
          <a:xfrm>
            <a:off x="5340096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0" name="SH 110"/>
          <p:cNvSpPr/>
          <p:nvPr/>
        </p:nvSpPr>
        <p:spPr>
          <a:xfrm>
            <a:off x="5340096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1" name="TB 111"/>
          <p:cNvSpPr txBox="1"/>
          <p:nvPr/>
        </p:nvSpPr>
        <p:spPr>
          <a:xfrm>
            <a:off x="5340096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en-US" altLang="ko-KR" sz="1300" b="1" dirty="0">
                <a:solidFill>
                  <a:srgbClr val="1B2430"/>
                </a:solidFill>
                <a:latin typeface="맑은 고딕"/>
                <a:ea typeface="맑은 고딕"/>
              </a:rPr>
              <a:t>UI</a:t>
            </a: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 및 게임 컨텐츠 개발</a:t>
            </a:r>
          </a:p>
        </p:txBody>
      </p:sp>
      <p:sp>
        <p:nvSpPr>
          <p:cNvPr id="112" name="SH 112"/>
          <p:cNvSpPr/>
          <p:nvPr/>
        </p:nvSpPr>
        <p:spPr>
          <a:xfrm>
            <a:off x="7324344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TB 113"/>
          <p:cNvSpPr txBox="1"/>
          <p:nvPr/>
        </p:nvSpPr>
        <p:spPr>
          <a:xfrm>
            <a:off x="7552944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4" name="SH 114"/>
          <p:cNvSpPr/>
          <p:nvPr/>
        </p:nvSpPr>
        <p:spPr>
          <a:xfrm>
            <a:off x="7552944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5" name="TB 115"/>
          <p:cNvSpPr txBox="1"/>
          <p:nvPr/>
        </p:nvSpPr>
        <p:spPr>
          <a:xfrm>
            <a:off x="7552944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Unity MCP로 플레이 모드 진입 · 검증</a:t>
            </a:r>
          </a:p>
        </p:txBody>
      </p:sp>
      <p:sp>
        <p:nvSpPr>
          <p:cNvPr id="116" name="SH 116"/>
          <p:cNvSpPr/>
          <p:nvPr/>
        </p:nvSpPr>
        <p:spPr>
          <a:xfrm>
            <a:off x="9537192" y="2240280"/>
            <a:ext cx="1938528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7" name="TB 117"/>
          <p:cNvSpPr txBox="1"/>
          <p:nvPr/>
        </p:nvSpPr>
        <p:spPr>
          <a:xfrm>
            <a:off x="9765792" y="2514600"/>
            <a:ext cx="1481328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lang="ko-KR" altLang="en-US" sz="2400" b="1" dirty="0">
                <a:solidFill>
                  <a:srgbClr val="E0A526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118" name="SH 118"/>
          <p:cNvSpPr/>
          <p:nvPr/>
        </p:nvSpPr>
        <p:spPr>
          <a:xfrm>
            <a:off x="9765792" y="30632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19" name="TB 119"/>
          <p:cNvSpPr txBox="1"/>
          <p:nvPr/>
        </p:nvSpPr>
        <p:spPr>
          <a:xfrm>
            <a:off x="9765792" y="3200400"/>
            <a:ext cx="1481328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lang="ko-KR" altLang="en-US" sz="1300" b="1" dirty="0">
                <a:solidFill>
                  <a:srgbClr val="1B2430"/>
                </a:solidFill>
                <a:latin typeface="맑은 고딕"/>
                <a:ea typeface="맑은 고딕"/>
              </a:rPr>
              <a:t>문서 · 현황판 갱신</a:t>
            </a:r>
          </a:p>
        </p:txBody>
      </p:sp>
      <p:sp>
        <p:nvSpPr>
          <p:cNvPr id="120" name="TB 120"/>
          <p:cNvSpPr txBox="1"/>
          <p:nvPr/>
        </p:nvSpPr>
        <p:spPr>
          <a:xfrm>
            <a:off x="2624328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1" name="TB 121"/>
          <p:cNvSpPr txBox="1"/>
          <p:nvPr/>
        </p:nvSpPr>
        <p:spPr>
          <a:xfrm>
            <a:off x="4837176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2" name="TB 122"/>
          <p:cNvSpPr txBox="1"/>
          <p:nvPr/>
        </p:nvSpPr>
        <p:spPr>
          <a:xfrm>
            <a:off x="7050024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3" name="TB 123"/>
          <p:cNvSpPr txBox="1"/>
          <p:nvPr/>
        </p:nvSpPr>
        <p:spPr>
          <a:xfrm>
            <a:off x="9262872" y="31318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4" name="SH 124"/>
          <p:cNvSpPr/>
          <p:nvPr/>
        </p:nvSpPr>
        <p:spPr>
          <a:xfrm>
            <a:off x="685800" y="4754880"/>
            <a:ext cx="10789920" cy="82296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65760" tIns="91440" rIns="365760" bIns="91440" rtlCol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서버 기능을 구현한 후 클라이언트는 서버 문서를 참조하여 기능 연동을 진행</a:t>
            </a:r>
            <a:endParaRPr lang="ko-KR" altLang="en-US" sz="1200" b="0" dirty="0">
              <a:solidFill>
                <a:srgbClr val="6B7684"/>
              </a:solidFill>
              <a:latin typeface="맑은 고딕"/>
              <a:ea typeface="맑은 고딕"/>
            </a:endParaRPr>
          </a:p>
        </p:txBody>
      </p:sp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HARNESS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10. 개발용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하네스</a:t>
            </a:r>
            <a:r>
              <a:rPr sz="30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씬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구성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인게임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전투를 개발하기 위한 개발용 씬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BattleDevSc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971" y="2057400"/>
            <a:ext cx="5093738" cy="301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685800" y="51663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dirty="0" err="1">
                <a:solidFill>
                  <a:srgbClr val="6B7684"/>
                </a:solidFill>
                <a:latin typeface="맑은 고딕"/>
              </a:rPr>
              <a:t>BattleDevScene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파티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4인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스탯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스킬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쿨다운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소환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선택을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IMGUI로</a:t>
            </a:r>
            <a:endParaRPr sz="11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9" name="Picture 8" descr="AnimDevSce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9881" y="2057400"/>
            <a:ext cx="5191037" cy="301752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6309360" y="516636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AnimDevScene — 클립 목록 · 직업/성별 전환 · 무기 강화 단계별 이펙트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32120"/>
            <a:ext cx="10789920" cy="7709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BattleDevScene은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로그인·스테이지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진입을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거치지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전투만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켠다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광역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데미지가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몇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대에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들어갔는지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쿨다운이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실제로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도는지를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숫자로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확인한다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이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IMGUI는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개발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전용이라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serverMode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=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true인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GameScene에서는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OnGUI가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자동으로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생략된다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 dirty="0">
                <a:solidFill>
                  <a:srgbClr val="6B7684"/>
                </a:solidFill>
                <a:latin typeface="맑은 고딕"/>
              </a:rPr>
              <a:t>·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진입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단계가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짧을수록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원격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검증의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실패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지점이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줄고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측정값도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다른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시스템에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오염되지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200" b="0" dirty="0" err="1">
                <a:solidFill>
                  <a:srgbClr val="6B7684"/>
                </a:solidFill>
                <a:latin typeface="맑은 고딕"/>
              </a:rPr>
              <a:t>않는다</a:t>
            </a:r>
            <a:r>
              <a:rPr sz="12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25</a:t>
            </a:r>
          </a:p>
        </p:txBody>
      </p:sp>
      <p:pic>
        <p:nvPicPr>
          <p:cNvPr id="13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10.1  몬스터를 요청 한 </a:t>
            </a:r>
            <a:r>
              <a:rPr sz="3000" b="1" dirty="0" err="1">
                <a:solidFill>
                  <a:srgbClr val="1B2430"/>
                </a:solidFill>
                <a:latin typeface="맑은 고딕"/>
              </a:rPr>
              <a:t>줄로</a:t>
            </a:r>
            <a:r>
              <a:rPr lang="en-US" sz="3000" b="1" dirty="0">
                <a:solidFill>
                  <a:srgbClr val="1B2430"/>
                </a:solidFill>
                <a:latin typeface="맑은 고딕"/>
              </a:rPr>
              <a:t> - </a:t>
            </a:r>
            <a:r>
              <a:rPr lang="ko-KR" altLang="en-US" sz="3000" b="1" dirty="0">
                <a:solidFill>
                  <a:srgbClr val="1B2430"/>
                </a:solidFill>
                <a:latin typeface="맑은 고딕"/>
              </a:rPr>
              <a:t>스테이지별 몬스터 작업 자동화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검은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갑옷의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스켈레톤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기사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2지역 5스테이지에 4마리" → 그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몬스터가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실제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전투에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나온다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26</a:t>
            </a:r>
          </a:p>
        </p:txBody>
      </p:sp>
      <p:sp>
        <p:nvSpPr>
          <p:cNvPr id="100" name="SH 100"/>
          <p:cNvSpPr/>
          <p:nvPr/>
        </p:nvSpPr>
        <p:spPr>
          <a:xfrm>
            <a:off x="1328881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1" name="TB 101"/>
          <p:cNvSpPr txBox="1"/>
          <p:nvPr/>
        </p:nvSpPr>
        <p:spPr>
          <a:xfrm>
            <a:off x="1443181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①</a:t>
            </a:r>
          </a:p>
        </p:txBody>
      </p:sp>
      <p:sp>
        <p:nvSpPr>
          <p:cNvPr id="102" name="TB 102"/>
          <p:cNvSpPr txBox="1"/>
          <p:nvPr/>
        </p:nvSpPr>
        <p:spPr>
          <a:xfrm>
            <a:off x="1443181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입력 해석</a:t>
            </a:r>
          </a:p>
        </p:txBody>
      </p:sp>
      <p:sp>
        <p:nvSpPr>
          <p:cNvPr id="103" name="SH 103"/>
          <p:cNvSpPr/>
          <p:nvPr/>
        </p:nvSpPr>
        <p:spPr>
          <a:xfrm>
            <a:off x="2896423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4" name="TB 104"/>
          <p:cNvSpPr txBox="1"/>
          <p:nvPr/>
        </p:nvSpPr>
        <p:spPr>
          <a:xfrm>
            <a:off x="3010723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②</a:t>
            </a:r>
          </a:p>
        </p:txBody>
      </p:sp>
      <p:sp>
        <p:nvSpPr>
          <p:cNvPr id="105" name="TB 105"/>
          <p:cNvSpPr txBox="1"/>
          <p:nvPr/>
        </p:nvSpPr>
        <p:spPr>
          <a:xfrm>
            <a:off x="3010723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능력치 · 외형 결정</a:t>
            </a:r>
          </a:p>
        </p:txBody>
      </p:sp>
      <p:sp>
        <p:nvSpPr>
          <p:cNvPr id="106" name="SH 106"/>
          <p:cNvSpPr/>
          <p:nvPr/>
        </p:nvSpPr>
        <p:spPr>
          <a:xfrm>
            <a:off x="4463965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07" name="TB 107"/>
          <p:cNvSpPr txBox="1"/>
          <p:nvPr/>
        </p:nvSpPr>
        <p:spPr>
          <a:xfrm>
            <a:off x="4578265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③</a:t>
            </a:r>
          </a:p>
        </p:txBody>
      </p:sp>
      <p:sp>
        <p:nvSpPr>
          <p:cNvPr id="108" name="TB 108"/>
          <p:cNvSpPr txBox="1"/>
          <p:nvPr/>
        </p:nvSpPr>
        <p:spPr>
          <a:xfrm>
            <a:off x="4578265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정본 + 스폰 반영</a:t>
            </a:r>
          </a:p>
        </p:txBody>
      </p:sp>
      <p:sp>
        <p:nvSpPr>
          <p:cNvPr id="109" name="SH 109"/>
          <p:cNvSpPr/>
          <p:nvPr/>
        </p:nvSpPr>
        <p:spPr>
          <a:xfrm>
            <a:off x="6031507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0" name="TB 110"/>
          <p:cNvSpPr txBox="1"/>
          <p:nvPr/>
        </p:nvSpPr>
        <p:spPr>
          <a:xfrm>
            <a:off x="6145807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E0A526"/>
                </a:solidFill>
                <a:latin typeface="맑은 고딕"/>
                <a:ea typeface="맑은 고딕"/>
              </a:rPr>
              <a:t>④</a:t>
            </a:r>
          </a:p>
        </p:txBody>
      </p:sp>
      <p:sp>
        <p:nvSpPr>
          <p:cNvPr id="111" name="TB 111"/>
          <p:cNvSpPr txBox="1"/>
          <p:nvPr/>
        </p:nvSpPr>
        <p:spPr>
          <a:xfrm>
            <a:off x="6145807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프리팹 생성</a:t>
            </a:r>
          </a:p>
        </p:txBody>
      </p:sp>
      <p:sp>
        <p:nvSpPr>
          <p:cNvPr id="112" name="SH 112"/>
          <p:cNvSpPr/>
          <p:nvPr/>
        </p:nvSpPr>
        <p:spPr>
          <a:xfrm>
            <a:off x="7599049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3" name="TB 113"/>
          <p:cNvSpPr txBox="1"/>
          <p:nvPr/>
        </p:nvSpPr>
        <p:spPr>
          <a:xfrm>
            <a:off x="7713349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E0A526"/>
                </a:solidFill>
                <a:latin typeface="맑은 고딕"/>
                <a:ea typeface="맑은 고딕"/>
              </a:rPr>
              <a:t>⑤</a:t>
            </a:r>
          </a:p>
        </p:txBody>
      </p:sp>
      <p:sp>
        <p:nvSpPr>
          <p:cNvPr id="114" name="TB 114"/>
          <p:cNvSpPr txBox="1"/>
          <p:nvPr/>
        </p:nvSpPr>
        <p:spPr>
          <a:xfrm>
            <a:off x="7713349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 err="1">
                <a:solidFill>
                  <a:srgbClr val="1B2430"/>
                </a:solidFill>
                <a:latin typeface="맑은 고딕"/>
                <a:ea typeface="맑은 고딕"/>
              </a:rPr>
              <a:t>인게임</a:t>
            </a: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 전투 적용</a:t>
            </a:r>
          </a:p>
        </p:txBody>
      </p:sp>
      <p:sp>
        <p:nvSpPr>
          <p:cNvPr id="115" name="SH 115"/>
          <p:cNvSpPr/>
          <p:nvPr/>
        </p:nvSpPr>
        <p:spPr>
          <a:xfrm>
            <a:off x="9166591" y="2400300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91440" rIns="182880" bIns="91440" rtlCol="0" anchor="ctr"/>
          <a:lstStyle/>
          <a:p>
            <a:endParaRPr/>
          </a:p>
        </p:txBody>
      </p:sp>
      <p:sp>
        <p:nvSpPr>
          <p:cNvPr id="116" name="TB 116"/>
          <p:cNvSpPr txBox="1"/>
          <p:nvPr/>
        </p:nvSpPr>
        <p:spPr>
          <a:xfrm>
            <a:off x="9280891" y="2606040"/>
            <a:ext cx="115606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400" b="1" dirty="0">
                <a:solidFill>
                  <a:srgbClr val="2F6FE4"/>
                </a:solidFill>
                <a:latin typeface="맑은 고딕"/>
                <a:ea typeface="맑은 고딕"/>
              </a:rPr>
              <a:t>⑥</a:t>
            </a:r>
          </a:p>
        </p:txBody>
      </p:sp>
      <p:sp>
        <p:nvSpPr>
          <p:cNvPr id="117" name="TB 117"/>
          <p:cNvSpPr txBox="1"/>
          <p:nvPr/>
        </p:nvSpPr>
        <p:spPr>
          <a:xfrm>
            <a:off x="9280891" y="3040380"/>
            <a:ext cx="1156062" cy="7772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35000"/>
              </a:lnSpc>
              <a:spcAft>
                <a:spcPts val="0"/>
              </a:spcAft>
            </a:pPr>
            <a:r>
              <a:rPr lang="ko-KR" altLang="en-US" sz="1150" b="1" dirty="0">
                <a:solidFill>
                  <a:srgbClr val="1B2430"/>
                </a:solidFill>
                <a:latin typeface="맑은 고딕"/>
                <a:ea typeface="맑은 고딕"/>
              </a:rPr>
              <a:t>검증</a:t>
            </a:r>
          </a:p>
        </p:txBody>
      </p:sp>
      <p:sp>
        <p:nvSpPr>
          <p:cNvPr id="121" name="TB 121"/>
          <p:cNvSpPr txBox="1"/>
          <p:nvPr/>
        </p:nvSpPr>
        <p:spPr>
          <a:xfrm>
            <a:off x="2713543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2" name="TB 122"/>
          <p:cNvSpPr txBox="1"/>
          <p:nvPr/>
        </p:nvSpPr>
        <p:spPr>
          <a:xfrm>
            <a:off x="4281085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3" name="TB 123"/>
          <p:cNvSpPr txBox="1"/>
          <p:nvPr/>
        </p:nvSpPr>
        <p:spPr>
          <a:xfrm>
            <a:off x="5848627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4" name="TB 124"/>
          <p:cNvSpPr txBox="1"/>
          <p:nvPr/>
        </p:nvSpPr>
        <p:spPr>
          <a:xfrm>
            <a:off x="7416169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5" name="TB 125"/>
          <p:cNvSpPr txBox="1"/>
          <p:nvPr/>
        </p:nvSpPr>
        <p:spPr>
          <a:xfrm>
            <a:off x="8983711" y="2948940"/>
            <a:ext cx="18288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9AA5B4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7" name="SH 127"/>
          <p:cNvSpPr/>
          <p:nvPr/>
        </p:nvSpPr>
        <p:spPr>
          <a:xfrm>
            <a:off x="1328881" y="4366260"/>
            <a:ext cx="4519746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③ 도구(CLI)</a:t>
            </a:r>
          </a:p>
        </p:txBody>
      </p:sp>
      <p:sp>
        <p:nvSpPr>
          <p:cNvPr id="128" name="SH 128"/>
          <p:cNvSpPr/>
          <p:nvPr/>
        </p:nvSpPr>
        <p:spPr>
          <a:xfrm>
            <a:off x="1420321" y="4183380"/>
            <a:ext cx="4336866" cy="190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29" name="SH 129"/>
          <p:cNvSpPr/>
          <p:nvPr/>
        </p:nvSpPr>
        <p:spPr>
          <a:xfrm>
            <a:off x="1420321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0" name="SH 130"/>
          <p:cNvSpPr/>
          <p:nvPr/>
        </p:nvSpPr>
        <p:spPr>
          <a:xfrm>
            <a:off x="5738137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1" name="SH 131"/>
          <p:cNvSpPr/>
          <p:nvPr/>
        </p:nvSpPr>
        <p:spPr>
          <a:xfrm>
            <a:off x="3579229" y="418338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2" name="SH 132"/>
          <p:cNvSpPr/>
          <p:nvPr/>
        </p:nvSpPr>
        <p:spPr>
          <a:xfrm>
            <a:off x="6031507" y="4366260"/>
            <a:ext cx="2952204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tIns="91440" rIns="137160" bIns="91440" rtlCol="0" anchor="ctr"/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200" b="1" dirty="0">
                <a:solidFill>
                  <a:srgbClr val="12203A"/>
                </a:solidFill>
                <a:latin typeface="맑은 고딕"/>
                <a:ea typeface="맑은 고딕"/>
              </a:rPr>
              <a:t>④⑤ Unity MCP</a:t>
            </a:r>
          </a:p>
        </p:txBody>
      </p:sp>
      <p:sp>
        <p:nvSpPr>
          <p:cNvPr id="133" name="SH 133"/>
          <p:cNvSpPr/>
          <p:nvPr/>
        </p:nvSpPr>
        <p:spPr>
          <a:xfrm>
            <a:off x="6122947" y="4183380"/>
            <a:ext cx="2769324" cy="1905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4" name="SH 134"/>
          <p:cNvSpPr/>
          <p:nvPr/>
        </p:nvSpPr>
        <p:spPr>
          <a:xfrm>
            <a:off x="6122947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5" name="SH 135"/>
          <p:cNvSpPr/>
          <p:nvPr/>
        </p:nvSpPr>
        <p:spPr>
          <a:xfrm>
            <a:off x="8873221" y="400050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sp>
        <p:nvSpPr>
          <p:cNvPr id="136" name="SH 136"/>
          <p:cNvSpPr/>
          <p:nvPr/>
        </p:nvSpPr>
        <p:spPr>
          <a:xfrm>
            <a:off x="7498084" y="4183380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91440" rIns="0" bIns="91440" rtlCol="0" anchor="ctr"/>
          <a:lstStyle/>
          <a:p>
            <a:endParaRPr/>
          </a:p>
        </p:txBody>
      </p:sp>
      <p:pic>
        <p:nvPicPr>
          <p:cNvPr id="9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>
                <a:solidFill>
                  <a:srgbClr val="1B2430"/>
                </a:solidFill>
                <a:latin typeface="맑은 고딕"/>
              </a:rPr>
              <a:t>10.2  몬스터의 외형을 자동 결정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CharacterDevScene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능력치는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자동이지만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뽑힌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외형이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쓸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만한지는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사람이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봐야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한다</a:t>
            </a:r>
            <a:endParaRPr sz="1400" b="0" dirty="0">
              <a:solidFill>
                <a:srgbClr val="6B7684"/>
              </a:solidFill>
              <a:latin typeface="맑은 고딕"/>
            </a:endParaRPr>
          </a:p>
        </p:txBody>
      </p:sp>
      <p:pic>
        <p:nvPicPr>
          <p:cNvPr id="7" name="Picture 6" descr="몬스터-외형자동결정-결과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11680"/>
            <a:ext cx="6675120" cy="3703320"/>
          </a:xfrm>
          <a:prstGeom prst="rect">
            <a:avLst/>
          </a:prstGeom>
          <a:ln w="9525">
            <a:solidFill>
              <a:srgbClr val="D8D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20000" y="2788045"/>
            <a:ext cx="3886200" cy="21505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왼쪽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몬스터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목록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코드·이름·hp·atk와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추천값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대비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편차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, [PR](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Prefab·Recipe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)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보유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표시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가운데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외형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프리뷰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고른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몬스터의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프리팹을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그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자리에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세운다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250" b="1" dirty="0" err="1">
                <a:solidFill>
                  <a:srgbClr val="2F6FE4"/>
                </a:solidFill>
                <a:latin typeface="맑은 고딕"/>
              </a:rPr>
              <a:t>오른쪽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—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능력치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·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외형</a:t>
            </a:r>
            <a:r>
              <a:rPr sz="1250" b="1" dirty="0">
                <a:solidFill>
                  <a:srgbClr val="2F6FE4"/>
                </a:solidFill>
                <a:latin typeface="맑은 고딕"/>
              </a:rPr>
              <a:t> · </a:t>
            </a:r>
            <a:r>
              <a:rPr sz="1250" b="1" dirty="0" err="1">
                <a:solidFill>
                  <a:srgbClr val="2F6FE4"/>
                </a:solidFill>
                <a:latin typeface="맑은 고딕"/>
              </a:rPr>
              <a:t>산출</a:t>
            </a:r>
            <a:endParaRPr sz="1250" b="1" dirty="0">
              <a:solidFill>
                <a:srgbClr val="2F6FE4"/>
              </a:solidFill>
              <a:latin typeface="맑은 고딕"/>
            </a:endParaRP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추천값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채우기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레시피와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시드가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고른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파트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목록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외형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재생성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저장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 · [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스니펫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복사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27</a:t>
            </a:r>
          </a:p>
        </p:txBody>
      </p:sp>
      <p:pic>
        <p:nvPicPr>
          <p:cNvPr id="10" name="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>
                <a:solidFill>
                  <a:srgbClr val="1B2430"/>
                </a:solidFill>
                <a:latin typeface="맑은 고딕"/>
              </a:rPr>
              <a:t>10.3  파이프라인의 산출물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>
                <a:solidFill>
                  <a:srgbClr val="6B7684"/>
                </a:solidFill>
                <a:latin typeface="맑은 고딕"/>
              </a:rPr>
              <a:t>현재 게임의 몬스터 12종(일반 7 + Act별 보스 5)이 전부 이 파이프라인 산출물</a:t>
            </a:r>
          </a:p>
        </p:txBody>
      </p:sp>
      <p:pic>
        <p:nvPicPr>
          <p:cNvPr id="7" name="Picture 6" descr="몬스터-자동생성-전투.png"/>
          <p:cNvPicPr>
            <a:picLocks noChangeAspect="1"/>
          </p:cNvPicPr>
          <p:nvPr/>
        </p:nvPicPr>
        <p:blipFill>
          <a:blip r:embed="rId2"/>
          <a:srcRect l="36124"/>
          <a:stretch>
            <a:fillRect/>
          </a:stretch>
        </p:blipFill>
        <p:spPr>
          <a:xfrm>
            <a:off x="1549598" y="2148840"/>
            <a:ext cx="3850244" cy="18836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457200" y="4123944"/>
            <a:ext cx="6035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>
                <a:solidFill>
                  <a:srgbClr val="6B7684"/>
                </a:solidFill>
                <a:latin typeface="맑은 고딕"/>
              </a:rPr>
              <a:t>생성된 몬스터가 실제 전투에 등장 — 오른쪽 6종이 모두 파이프라인 산출물</a:t>
            </a:r>
          </a:p>
        </p:txBody>
      </p:sp>
      <p:pic>
        <p:nvPicPr>
          <p:cNvPr id="9" name="Picture 8" descr="몬스터-자동생성-라인업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400" y="2148840"/>
            <a:ext cx="5074360" cy="188366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6675120" y="4123944"/>
            <a:ext cx="5074920" cy="1894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인게임에 등장하는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sz="1100" b="0" dirty="0">
                <a:solidFill>
                  <a:srgbClr val="6B7684"/>
                </a:solidFill>
                <a:latin typeface="맑은 고딕"/>
              </a:rPr>
              <a:t> 12종 — </a:t>
            </a:r>
            <a:r>
              <a:rPr lang="en-US" sz="1100" b="0" dirty="0">
                <a:solidFill>
                  <a:srgbClr val="6B7684"/>
                </a:solidFill>
                <a:latin typeface="맑은 고딕"/>
              </a:rPr>
              <a:t>1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지역 </a:t>
            </a:r>
            <a:r>
              <a:rPr lang="en-US" altLang="ko-KR" sz="1100" b="0" dirty="0">
                <a:solidFill>
                  <a:srgbClr val="6B7684"/>
                </a:solidFill>
                <a:latin typeface="맑은 고딕"/>
              </a:rPr>
              <a:t>~ 5</a:t>
            </a:r>
            <a:r>
              <a:rPr lang="ko-KR" altLang="en-US" sz="1100" b="0" dirty="0">
                <a:solidFill>
                  <a:srgbClr val="6B7684"/>
                </a:solidFill>
                <a:latin typeface="맑은 고딕"/>
              </a:rPr>
              <a:t>지역</a:t>
            </a:r>
            <a:endParaRPr sz="110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85800" y="4754880"/>
            <a:ext cx="10789920" cy="11773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400" b="0" dirty="0" err="1">
                <a:solidFill>
                  <a:srgbClr val="6B7684"/>
                </a:solidFill>
                <a:latin typeface="맑은 고딕"/>
              </a:rPr>
              <a:t>외형만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바꾸는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요청은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서버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손으로 만든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프리팹이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하나도 없다 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—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전부 태그 → 레시피 →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프리팹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→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스폰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테이블을 거쳐 전투에 들어왔다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 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이름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·HP·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공격력은 서버 정본에서 추출한 </a:t>
            </a:r>
            <a:r>
              <a:rPr lang="ko-KR" altLang="en-US" sz="1400" dirty="0" err="1">
                <a:solidFill>
                  <a:srgbClr val="6B7684"/>
                </a:solidFill>
                <a:latin typeface="맑은 고딕"/>
              </a:rPr>
              <a:t>번들에서</a:t>
            </a:r>
            <a:r>
              <a:rPr lang="ko-KR" altLang="en-US" sz="1400" dirty="0">
                <a:solidFill>
                  <a:srgbClr val="6B7684"/>
                </a:solidFill>
                <a:latin typeface="맑은 고딕"/>
              </a:rPr>
              <a:t> 읽는다</a:t>
            </a:r>
            <a:r>
              <a:rPr lang="en-US" altLang="ko-KR" sz="140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정본·DB·번들을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건드리지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않는다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같은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경로에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덮어써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GUID가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유지되므로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뽑아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달라"를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몇 번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반복해도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DB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재적용도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, 씬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수정도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맑은 고딕"/>
              </a:rPr>
              <a:t>없다</a:t>
            </a:r>
            <a:r>
              <a:rPr sz="140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28</a:t>
            </a:r>
          </a:p>
        </p:txBody>
      </p:sp>
      <p:pic>
        <p:nvPicPr>
          <p:cNvPr id="13" name="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2F6FE4"/>
                </a:solidFill>
                <a:latin typeface="맑은 고딕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3000" b="1" dirty="0" err="1">
                <a:solidFill>
                  <a:srgbClr val="1B2430"/>
                </a:solidFill>
                <a:latin typeface="맑은 고딕"/>
              </a:rPr>
              <a:t>정리</a:t>
            </a:r>
            <a:endParaRPr sz="30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" y="2624328"/>
            <a:ext cx="30175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문서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를 기반으로 작업을 시작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05256" y="3017520"/>
            <a:ext cx="3017520" cy="1662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코드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작성을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바로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시키지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기획서를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먼저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확정한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뒤 그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문서를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기반으로만 작업을 진행한다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>
                <a:solidFill>
                  <a:srgbClr val="6B7684"/>
                </a:solidFill>
                <a:latin typeface="맑은 고딕"/>
              </a:rPr>
              <a:t>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확정"과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그렇게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정한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이유"를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함께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남겨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그때 왜 이렇게 했지 라는 질문에 대해 스스로 답을 찾을 수 있도록 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2F6FE4"/>
                </a:solidFill>
                <a:latin typeface="맑은 고딕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dirty="0" err="1">
                <a:solidFill>
                  <a:srgbClr val="1B2430"/>
                </a:solidFill>
                <a:latin typeface="맑은 고딕"/>
              </a:rPr>
              <a:t>만드는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절차를</a:t>
            </a:r>
            <a:r>
              <a:rPr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sz="1500" b="1" dirty="0" err="1">
                <a:solidFill>
                  <a:srgbClr val="1B2430"/>
                </a:solidFill>
                <a:latin typeface="맑은 고딕"/>
              </a:rPr>
              <a:t>코드로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90288" y="3017520"/>
            <a:ext cx="301752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화면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아이콘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이펙트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마스터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번들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·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몬스터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산출물을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직접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편집하지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않고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그것을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생성하는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스크립트를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남겼다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sz="1150" b="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150" b="0" dirty="0" err="1">
                <a:solidFill>
                  <a:srgbClr val="6B7684"/>
                </a:solidFill>
                <a:latin typeface="맑은 고딕"/>
              </a:rPr>
              <a:t>그래서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어느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것이든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"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다시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만들어라"가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실행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가능한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요청이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6B7684"/>
                </a:solidFill>
                <a:latin typeface="맑은 고딕"/>
              </a:rPr>
              <a:t>된다</a:t>
            </a:r>
            <a:r>
              <a:rPr sz="1150" b="0" dirty="0">
                <a:solidFill>
                  <a:srgbClr val="6B7684"/>
                </a:solidFill>
                <a:latin typeface="맑은 고딕"/>
              </a:rPr>
              <a:t>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148840"/>
            <a:ext cx="3429000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E0A526"/>
                </a:solidFill>
                <a:latin typeface="맑은 고딕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624328"/>
            <a:ext cx="3017520" cy="258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유니티 </a:t>
            </a:r>
            <a:r>
              <a:rPr lang="en-US" altLang="ko-KR" sz="1500" b="1" dirty="0">
                <a:solidFill>
                  <a:srgbClr val="1B2430"/>
                </a:solidFill>
                <a:latin typeface="맑은 고딕"/>
              </a:rPr>
              <a:t>MCP + 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 </a:t>
            </a:r>
            <a:r>
              <a:rPr lang="ko-KR" altLang="en-US" sz="1500" b="1" dirty="0" err="1">
                <a:solidFill>
                  <a:srgbClr val="1B2430"/>
                </a:solidFill>
                <a:latin typeface="맑은 고딕"/>
              </a:rPr>
              <a:t>하네스</a:t>
            </a:r>
            <a:r>
              <a:rPr lang="ko-KR" altLang="en-US" sz="1500" b="1" dirty="0">
                <a:solidFill>
                  <a:srgbClr val="1B2430"/>
                </a:solidFill>
                <a:latin typeface="맑은 고딕"/>
              </a:rPr>
              <a:t> 구성</a:t>
            </a:r>
            <a:endParaRPr sz="1500" b="1" dirty="0">
              <a:solidFill>
                <a:srgbClr val="1B2430"/>
              </a:solidFill>
              <a:latin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75320" y="3017520"/>
            <a:ext cx="3017520" cy="1892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개발자가 직접 보는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씬이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 아닌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 err="1">
                <a:solidFill>
                  <a:srgbClr val="6B7684"/>
                </a:solidFill>
                <a:latin typeface="맑은 고딕"/>
              </a:rPr>
              <a:t>클로드를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 위한 개발용 </a:t>
            </a:r>
            <a:r>
              <a:rPr lang="en-US" altLang="ko-KR" sz="1150" b="0" dirty="0" err="1">
                <a:solidFill>
                  <a:srgbClr val="6B7684"/>
                </a:solidFill>
                <a:latin typeface="맑은 고딕"/>
              </a:rPr>
              <a:t>DevScene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들을 추가하여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구현에 대한 검증과 테스트가 효율적으로 이뤄지도록 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endParaRPr lang="en-US" sz="1150" dirty="0">
              <a:solidFill>
                <a:srgbClr val="6B7684"/>
              </a:solidFill>
              <a:latin typeface="맑은 고딕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아이템 및 몬스터 등 일부 리소스에 대한 클라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, </a:t>
            </a:r>
            <a:r>
              <a:rPr lang="ko-KR" altLang="en-US" sz="1150" b="0" dirty="0">
                <a:solidFill>
                  <a:srgbClr val="6B7684"/>
                </a:solidFill>
                <a:latin typeface="맑은 고딕"/>
              </a:rPr>
              <a:t>서버 작업을 자동화하여 효율적으로 과제를 진행할 수 있도록 구성하였다</a:t>
            </a:r>
            <a:r>
              <a:rPr lang="en-US" altLang="ko-KR" sz="1150" b="0" dirty="0">
                <a:solidFill>
                  <a:srgbClr val="6B7684"/>
                </a:solidFill>
                <a:latin typeface="맑은 고딕"/>
              </a:rPr>
              <a:t>.</a:t>
            </a:r>
            <a:endParaRPr lang="en-US" sz="1150" b="0" dirty="0">
              <a:solidFill>
                <a:srgbClr val="6B7684"/>
              </a:solidFill>
              <a:latin typeface="맑은 고딕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29</a:t>
            </a:r>
          </a:p>
        </p:txBody>
      </p:sp>
      <p:pic>
        <p:nvPicPr>
          <p:cNvPr id="20" name="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맑은 고딕"/>
              </a:rPr>
              <a:t>감사합니다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3794760"/>
            <a:ext cx="1463040" cy="4572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000" b="0">
                <a:solidFill>
                  <a:srgbClr val="6B7684"/>
                </a:solidFill>
                <a:latin typeface="맑은 고딕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620</TotalTime>
  <Words>2851</Words>
  <Application>Microsoft Office PowerPoint</Application>
  <PresentationFormat>와이드스크린</PresentationFormat>
  <Paragraphs>493</Paragraphs>
  <Slides>29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4" baseType="lpstr">
      <vt:lpstr>맑은 고딕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com2usholdings602</cp:lastModifiedBy>
  <cp:revision>41</cp:revision>
  <dcterms:created xsi:type="dcterms:W3CDTF">2013-01-27T09:14:16Z</dcterms:created>
  <dcterms:modified xsi:type="dcterms:W3CDTF">2026-08-24T10:47:05Z</dcterms:modified>
  <cp:category/>
</cp:coreProperties>
</file>