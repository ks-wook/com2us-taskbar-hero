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72" r:id="rId16"/>
    <p:sldId id="274" r:id="rId17"/>
    <p:sldId id="275" r:id="rId18"/>
    <p:sldId id="276" r:id="rId19"/>
    <p:sldId id="277" r:id="rId20"/>
    <p:sldId id="278" r:id="rId21"/>
    <p:sldId id="279" r:id="rId22"/>
    <p:sldId id="282" r:id="rId23"/>
    <p:sldId id="284" r:id="rId24"/>
    <p:sldId id="286" r:id="rId25"/>
    <p:sldId id="287" r:id="rId26"/>
    <p:sldId id="288" r:id="rId27"/>
    <p:sldId id="289" r:id="rId28"/>
    <p:sldId id="291" r:id="rId29"/>
    <p:sldId id="292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E056294-CB1A-457A-BC77-3D2C0110B84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71"/>
          </p14:sldIdLst>
        </p14:section>
        <p14:section name="제목 없는 구역" id="{6E91ED39-CFAE-4652-AD54-7C7168663919}">
          <p14:sldIdLst>
            <p14:sldId id="272"/>
            <p14:sldId id="274"/>
            <p14:sldId id="275"/>
            <p14:sldId id="276"/>
            <p14:sldId id="277"/>
            <p14:sldId id="278"/>
            <p14:sldId id="279"/>
            <p14:sldId id="282"/>
            <p14:sldId id="284"/>
            <p14:sldId id="286"/>
            <p14:sldId id="287"/>
            <p14:sldId id="288"/>
            <p14:sldId id="289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244654-2EF2-416C-BD24-BC4053C40EC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C5A9FB-44F8-40F0-A994-A91B0B6534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242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C5A9FB-44F8-40F0-A994-A91B0B6534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1356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C5A9FB-44F8-40F0-A994-A91B0B6534F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8470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09387"/>
            <a:ext cx="10058400" cy="1066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 dirty="0">
                <a:solidFill>
                  <a:srgbClr val="FF0000"/>
                </a:solidFill>
                <a:latin typeface="맑은 고딕"/>
              </a:rPr>
              <a:t>2026 </a:t>
            </a:r>
            <a:r>
              <a:rPr sz="2400" b="1" dirty="0" err="1">
                <a:solidFill>
                  <a:srgbClr val="FF0000"/>
                </a:solidFill>
                <a:latin typeface="맑은 고딕"/>
              </a:rPr>
              <a:t>컴투스</a:t>
            </a:r>
            <a:r>
              <a:rPr sz="24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400" b="1" dirty="0" err="1">
                <a:solidFill>
                  <a:srgbClr val="FF0000"/>
                </a:solidFill>
                <a:latin typeface="맑은 고딕"/>
              </a:rPr>
              <a:t>지니어스</a:t>
            </a:r>
            <a:r>
              <a:rPr sz="24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맑은 고딕"/>
              </a:rPr>
              <a:t>8</a:t>
            </a:r>
            <a:r>
              <a:rPr lang="ko-KR" altLang="en-US" sz="2400" b="1" dirty="0">
                <a:solidFill>
                  <a:srgbClr val="FF0000"/>
                </a:solidFill>
                <a:latin typeface="맑은 고딕"/>
              </a:rPr>
              <a:t>기 과제발표</a:t>
            </a:r>
            <a:endParaRPr lang="en-US" altLang="ko-KR" sz="2400" b="1" dirty="0">
              <a:solidFill>
                <a:srgbClr val="FF0000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b="1" dirty="0" err="1">
                <a:solidFill>
                  <a:srgbClr val="E0A526"/>
                </a:solidFill>
                <a:latin typeface="맑은 고딕"/>
              </a:rPr>
              <a:t>테크코어실</a:t>
            </a:r>
            <a:r>
              <a:rPr lang="ko-KR" altLang="en-US" b="1" dirty="0">
                <a:solidFill>
                  <a:srgbClr val="E0A526"/>
                </a:solidFill>
                <a:latin typeface="맑은 고딕"/>
              </a:rPr>
              <a:t> </a:t>
            </a:r>
            <a:r>
              <a:rPr lang="ko-KR" altLang="en-US" b="1" dirty="0" err="1">
                <a:solidFill>
                  <a:srgbClr val="E0A526"/>
                </a:solidFill>
                <a:latin typeface="맑은 고딕"/>
              </a:rPr>
              <a:t>백엔드기술팀</a:t>
            </a:r>
            <a:r>
              <a:rPr lang="ko-KR" altLang="en-US" b="1" dirty="0">
                <a:solidFill>
                  <a:srgbClr val="E0A526"/>
                </a:solidFill>
                <a:latin typeface="맑은 고딕"/>
              </a:rPr>
              <a:t> </a:t>
            </a:r>
            <a:endParaRPr lang="en-US" altLang="ko-KR" b="1" dirty="0">
              <a:solidFill>
                <a:srgbClr val="E0A526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E0A526"/>
                </a:solidFill>
                <a:latin typeface="맑은 고딕"/>
              </a:rPr>
              <a:t>인턴 </a:t>
            </a:r>
            <a:r>
              <a:rPr lang="ko-KR" altLang="en-US" sz="1500" b="1" dirty="0" err="1">
                <a:solidFill>
                  <a:srgbClr val="E0A526"/>
                </a:solidFill>
                <a:latin typeface="맑은 고딕"/>
              </a:rPr>
              <a:t>권순욱</a:t>
            </a:r>
            <a:endParaRPr sz="1500" b="1" dirty="0">
              <a:solidFill>
                <a:srgbClr val="E0A52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311665"/>
            <a:ext cx="10241280" cy="16977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altLang="en-US" sz="4800" b="1" dirty="0">
                <a:solidFill>
                  <a:srgbClr val="FFFFFF"/>
                </a:solidFill>
                <a:latin typeface="맑은 고딕"/>
              </a:rPr>
              <a:t>방치형 게임</a:t>
            </a:r>
            <a:r>
              <a:rPr lang="en-US" altLang="ko-KR" sz="4800" b="1" dirty="0">
                <a:solidFill>
                  <a:srgbClr val="FFFFFF"/>
                </a:solidFill>
                <a:latin typeface="맑은 고딕"/>
              </a:rPr>
              <a:t>(Com2us Taskbar Hero)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endParaRPr sz="48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05840" y="4160520"/>
            <a:ext cx="1463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FE9980-3258-C63B-D742-543BFC2D9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10F6874-1CC6-FA1C-DFB3-9EF1AC1AE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300" name="SH 300"/>
          <p:cNvSpPr/>
          <p:nvPr/>
        </p:nvSpPr>
        <p:spPr>
          <a:xfrm>
            <a:off x="685800" y="2011680"/>
            <a:ext cx="516636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301" name="TB 301"/>
          <p:cNvSpPr txBox="1"/>
          <p:nvPr/>
        </p:nvSpPr>
        <p:spPr>
          <a:xfrm>
            <a:off x="1097280" y="2377440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2F6FE4"/>
                </a:solidFill>
                <a:latin typeface="맑은 고딕"/>
                <a:ea typeface="맑은 고딕"/>
              </a:rPr>
              <a:t>제1부 — 서버</a:t>
            </a:r>
          </a:p>
        </p:txBody>
      </p:sp>
      <p:sp>
        <p:nvSpPr>
          <p:cNvPr id="302" name="TB 302"/>
          <p:cNvSpPr txBox="1"/>
          <p:nvPr/>
        </p:nvSpPr>
        <p:spPr>
          <a:xfrm>
            <a:off x="1097280" y="3017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03" name="TB 303"/>
          <p:cNvSpPr txBox="1"/>
          <p:nvPr/>
        </p:nvSpPr>
        <p:spPr>
          <a:xfrm>
            <a:off x="1645920" y="301752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 환경</a:t>
            </a:r>
          </a:p>
        </p:txBody>
      </p:sp>
      <p:sp>
        <p:nvSpPr>
          <p:cNvPr id="304" name="TB 304"/>
          <p:cNvSpPr txBox="1"/>
          <p:nvPr/>
        </p:nvSpPr>
        <p:spPr>
          <a:xfrm>
            <a:off x="1097280" y="35661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05" name="TB 305"/>
          <p:cNvSpPr txBox="1"/>
          <p:nvPr/>
        </p:nvSpPr>
        <p:spPr>
          <a:xfrm>
            <a:off x="1645920" y="356616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 방식 한눈에 보기</a:t>
            </a:r>
          </a:p>
        </p:txBody>
      </p:sp>
      <p:sp>
        <p:nvSpPr>
          <p:cNvPr id="306" name="TB 306"/>
          <p:cNvSpPr txBox="1"/>
          <p:nvPr/>
        </p:nvSpPr>
        <p:spPr>
          <a:xfrm>
            <a:off x="1097280" y="41148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07" name="TB 307"/>
          <p:cNvSpPr txBox="1"/>
          <p:nvPr/>
        </p:nvSpPr>
        <p:spPr>
          <a:xfrm>
            <a:off x="1645920" y="411480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 루프 — 문서 → 구현 → 검증 → 동기화</a:t>
            </a:r>
          </a:p>
        </p:txBody>
      </p:sp>
      <p:sp>
        <p:nvSpPr>
          <p:cNvPr id="308" name="TB 308"/>
          <p:cNvSpPr txBox="1"/>
          <p:nvPr/>
        </p:nvSpPr>
        <p:spPr>
          <a:xfrm>
            <a:off x="1097280" y="466344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09" name="TB 309"/>
          <p:cNvSpPr txBox="1"/>
          <p:nvPr/>
        </p:nvSpPr>
        <p:spPr>
          <a:xfrm>
            <a:off x="1645920" y="466344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문서 체계</a:t>
            </a:r>
          </a:p>
        </p:txBody>
      </p:sp>
      <p:sp>
        <p:nvSpPr>
          <p:cNvPr id="310" name="TB 310"/>
          <p:cNvSpPr txBox="1"/>
          <p:nvPr/>
        </p:nvSpPr>
        <p:spPr>
          <a:xfrm>
            <a:off x="1097280" y="521208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11" name="TB 311"/>
          <p:cNvSpPr txBox="1"/>
          <p:nvPr/>
        </p:nvSpPr>
        <p:spPr>
          <a:xfrm>
            <a:off x="1645920" y="521208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밸런스 수치를 잡기위한 과정</a:t>
            </a:r>
          </a:p>
        </p:txBody>
      </p:sp>
      <p:sp>
        <p:nvSpPr>
          <p:cNvPr id="312" name="SH 312"/>
          <p:cNvSpPr/>
          <p:nvPr/>
        </p:nvSpPr>
        <p:spPr>
          <a:xfrm>
            <a:off x="6309360" y="2011680"/>
            <a:ext cx="516636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313" name="TB 313"/>
          <p:cNvSpPr txBox="1"/>
          <p:nvPr/>
        </p:nvSpPr>
        <p:spPr>
          <a:xfrm>
            <a:off x="6720840" y="2377440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2F6FE4"/>
                </a:solidFill>
                <a:latin typeface="맑은 고딕"/>
                <a:ea typeface="맑은 고딕"/>
              </a:rPr>
              <a:t>제2부 — 클라이언트(Unity)</a:t>
            </a:r>
          </a:p>
        </p:txBody>
      </p:sp>
      <p:sp>
        <p:nvSpPr>
          <p:cNvPr id="314" name="TB 314"/>
          <p:cNvSpPr txBox="1"/>
          <p:nvPr/>
        </p:nvSpPr>
        <p:spPr>
          <a:xfrm>
            <a:off x="6720840" y="3017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15" name="TB 315"/>
          <p:cNvSpPr txBox="1"/>
          <p:nvPr/>
        </p:nvSpPr>
        <p:spPr>
          <a:xfrm>
            <a:off x="7269480" y="301752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클라이언트 개발 환경</a:t>
            </a:r>
          </a:p>
        </p:txBody>
      </p:sp>
      <p:sp>
        <p:nvSpPr>
          <p:cNvPr id="316" name="TB 316"/>
          <p:cNvSpPr txBox="1"/>
          <p:nvPr/>
        </p:nvSpPr>
        <p:spPr>
          <a:xfrm>
            <a:off x="6720840" y="35661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317" name="TB 317"/>
          <p:cNvSpPr txBox="1"/>
          <p:nvPr/>
        </p:nvSpPr>
        <p:spPr>
          <a:xfrm>
            <a:off x="7269480" y="356616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 방식 한눈에 보기</a:t>
            </a:r>
          </a:p>
        </p:txBody>
      </p:sp>
      <p:sp>
        <p:nvSpPr>
          <p:cNvPr id="318" name="TB 318"/>
          <p:cNvSpPr txBox="1"/>
          <p:nvPr/>
        </p:nvSpPr>
        <p:spPr>
          <a:xfrm>
            <a:off x="6720840" y="41148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319" name="TB 319"/>
          <p:cNvSpPr txBox="1"/>
          <p:nvPr/>
        </p:nvSpPr>
        <p:spPr>
          <a:xfrm>
            <a:off x="7269480" y="411480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UI를 손으로 만들지 않는다 — 에디터 빌더</a:t>
            </a:r>
          </a:p>
        </p:txBody>
      </p:sp>
      <p:sp>
        <p:nvSpPr>
          <p:cNvPr id="320" name="TB 320"/>
          <p:cNvSpPr txBox="1"/>
          <p:nvPr/>
        </p:nvSpPr>
        <p:spPr>
          <a:xfrm>
            <a:off x="6720840" y="466344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321" name="TB 321"/>
          <p:cNvSpPr txBox="1"/>
          <p:nvPr/>
        </p:nvSpPr>
        <p:spPr>
          <a:xfrm>
            <a:off x="7269480" y="466344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자산 파이프라인</a:t>
            </a:r>
          </a:p>
        </p:txBody>
      </p:sp>
      <p:sp>
        <p:nvSpPr>
          <p:cNvPr id="322" name="TB 322"/>
          <p:cNvSpPr txBox="1"/>
          <p:nvPr/>
        </p:nvSpPr>
        <p:spPr>
          <a:xfrm>
            <a:off x="6720840" y="521208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23" name="TB 323"/>
          <p:cNvSpPr txBox="1"/>
          <p:nvPr/>
        </p:nvSpPr>
        <p:spPr>
          <a:xfrm>
            <a:off x="7269480" y="521208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몬스터를 요청 한 줄로 — master-monster 파이프라인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E0A526"/>
                </a:solidFill>
                <a:latin typeface="맑은 고딕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맑은 고딕"/>
              </a:rPr>
              <a:t>서버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1BAC89B-D83A-DDCA-F05E-49CC619E0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스팀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방치형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게임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en-US" sz="1400" b="0" dirty="0">
                <a:solidFill>
                  <a:srgbClr val="6B7684"/>
                </a:solidFill>
                <a:latin typeface="맑은 고딕"/>
              </a:rPr>
              <a:t>(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Taskbar Hero</a:t>
            </a:r>
            <a:r>
              <a:rPr lang="en-US" sz="1400" b="0" dirty="0">
                <a:solidFill>
                  <a:srgbClr val="6B7684"/>
                </a:solidFill>
                <a:latin typeface="맑은 고딕"/>
              </a:rPr>
              <a:t>)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모작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서버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2종 +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공유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라이브러리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+ Unity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클라이언트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AccountServer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17520"/>
            <a:ext cx="25603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계정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인증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서비스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977639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97095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서버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5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GameServer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5" y="3017520"/>
            <a:ext cx="25603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게임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로직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서비스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스테이지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인벤토리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거래소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가챠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88936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공유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TaskbarHero.Common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488936" y="3017520"/>
            <a:ext cx="25603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netstandard2.0 ; net10.0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멀티타겟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4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7A3ECCCD-3735-61BA-896D-BFCDC94E3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77640"/>
            <a:ext cx="3837594" cy="166490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5DD53B63-F9B9-6FED-ABD1-286DE4BD7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594" y="3977640"/>
            <a:ext cx="3068410" cy="166490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6CF6AA3-6411-144A-8837-9AD806B05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6204" y="3977640"/>
            <a:ext cx="2968516" cy="16649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5792416-EF10-C882-BCC0-04A55C763D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00" name="TB 400"/>
          <p:cNvSpPr txBox="1"/>
          <p:nvPr/>
        </p:nvSpPr>
        <p:spPr>
          <a:xfrm>
            <a:off x="685800" y="5779700"/>
            <a:ext cx="3837594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원작 스팀 게임 TBH : 태스크바 히어로</a:t>
            </a:r>
          </a:p>
        </p:txBody>
      </p:sp>
      <p:sp>
        <p:nvSpPr>
          <p:cNvPr id="401" name="TB 401"/>
          <p:cNvSpPr txBox="1"/>
          <p:nvPr/>
        </p:nvSpPr>
        <p:spPr>
          <a:xfrm>
            <a:off x="4980594" y="5779700"/>
            <a:ext cx="64941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모작 : Com2us Taskbar Hero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1. 개발 환경 — 서버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723330"/>
              </p:ext>
            </p:extLst>
          </p:nvPr>
        </p:nvGraphicFramePr>
        <p:xfrm>
          <a:off x="700887" y="1572768"/>
          <a:ext cx="10789920" cy="23957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런타임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.NET 10 · ASP.NET Core Web API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DB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MySQL 8.4 (Docker)</a:t>
                      </a:r>
                      <a:r>
                        <a:rPr 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, Redis 8.2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로깅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ZLogger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개발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도구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Claude Code(CLI) · </a:t>
                      </a:r>
                      <a:r>
                        <a:rPr 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Visual Studio Code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문서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Markdown + Mermaid (ERD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시퀀스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다이어그램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5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026420-D2E0-2907-9D55-DAB3B4453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2. 개발 방식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6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6C292CF-5260-4B8E-455D-15876C9DA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100" name="SH 100"/>
          <p:cNvSpPr/>
          <p:nvPr/>
        </p:nvSpPr>
        <p:spPr>
          <a:xfrm>
            <a:off x="68580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①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기획서 요청</a:t>
            </a:r>
          </a:p>
        </p:txBody>
      </p:sp>
      <p:sp>
        <p:nvSpPr>
          <p:cNvPr id="101" name="SH 101"/>
          <p:cNvSpPr/>
          <p:nvPr/>
        </p:nvSpPr>
        <p:spPr>
          <a:xfrm>
            <a:off x="448056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②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검토 · 확정</a:t>
            </a:r>
          </a:p>
        </p:txBody>
      </p:sp>
      <p:sp>
        <p:nvSpPr>
          <p:cNvPr id="102" name="SH 102"/>
          <p:cNvSpPr/>
          <p:nvPr/>
        </p:nvSpPr>
        <p:spPr>
          <a:xfrm>
            <a:off x="827532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③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문서대로 구현 요청</a:t>
            </a:r>
          </a:p>
        </p:txBody>
      </p:sp>
      <p:sp>
        <p:nvSpPr>
          <p:cNvPr id="103" name="TB 103"/>
          <p:cNvSpPr txBox="1"/>
          <p:nvPr/>
        </p:nvSpPr>
        <p:spPr>
          <a:xfrm>
            <a:off x="3886200" y="203454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4" name="TB 104"/>
          <p:cNvSpPr txBox="1"/>
          <p:nvPr/>
        </p:nvSpPr>
        <p:spPr>
          <a:xfrm>
            <a:off x="7680960" y="203454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5" name="SH 105"/>
          <p:cNvSpPr/>
          <p:nvPr/>
        </p:nvSpPr>
        <p:spPr>
          <a:xfrm>
            <a:off x="68580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⑥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README 현황판 갱신</a:t>
            </a:r>
          </a:p>
        </p:txBody>
      </p:sp>
      <p:sp>
        <p:nvSpPr>
          <p:cNvPr id="106" name="SH 106"/>
          <p:cNvSpPr/>
          <p:nvPr/>
        </p:nvSpPr>
        <p:spPr>
          <a:xfrm>
            <a:off x="448056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⑤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문서 동기화</a:t>
            </a:r>
          </a:p>
        </p:txBody>
      </p:sp>
      <p:sp>
        <p:nvSpPr>
          <p:cNvPr id="107" name="SH 107"/>
          <p:cNvSpPr/>
          <p:nvPr/>
        </p:nvSpPr>
        <p:spPr>
          <a:xfrm>
            <a:off x="827532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④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빌드 + 실서버 검증</a:t>
            </a:r>
          </a:p>
        </p:txBody>
      </p:sp>
      <p:sp>
        <p:nvSpPr>
          <p:cNvPr id="108" name="TB 108"/>
          <p:cNvSpPr txBox="1"/>
          <p:nvPr/>
        </p:nvSpPr>
        <p:spPr>
          <a:xfrm>
            <a:off x="3886200" y="322326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←</a:t>
            </a:r>
          </a:p>
        </p:txBody>
      </p:sp>
      <p:sp>
        <p:nvSpPr>
          <p:cNvPr id="109" name="TB 109"/>
          <p:cNvSpPr txBox="1"/>
          <p:nvPr/>
        </p:nvSpPr>
        <p:spPr>
          <a:xfrm>
            <a:off x="7680960" y="322326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←</a:t>
            </a:r>
          </a:p>
        </p:txBody>
      </p:sp>
      <p:sp>
        <p:nvSpPr>
          <p:cNvPr id="110" name="TB 110"/>
          <p:cNvSpPr txBox="1"/>
          <p:nvPr/>
        </p:nvSpPr>
        <p:spPr>
          <a:xfrm>
            <a:off x="9738360" y="265176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↓</a:t>
            </a:r>
          </a:p>
        </p:txBody>
      </p:sp>
      <p:sp>
        <p:nvSpPr>
          <p:cNvPr id="111" name="TB 111"/>
          <p:cNvSpPr txBox="1"/>
          <p:nvPr/>
        </p:nvSpPr>
        <p:spPr>
          <a:xfrm>
            <a:off x="685800" y="411480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1B2430"/>
                </a:solidFill>
                <a:latin typeface="맑은 고딕"/>
                <a:ea typeface="맑은 고딕"/>
              </a:rPr>
              <a:t>핵심은 기획 문서를 자세히 작성하여 클로드에게 많은 정보를 주는 것</a:t>
            </a:r>
          </a:p>
        </p:txBody>
      </p:sp>
      <p:sp>
        <p:nvSpPr>
          <p:cNvPr id="112" name="SH 112"/>
          <p:cNvSpPr/>
          <p:nvPr/>
        </p:nvSpPr>
        <p:spPr>
          <a:xfrm>
            <a:off x="68580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SH 113"/>
          <p:cNvSpPr/>
          <p:nvPr/>
        </p:nvSpPr>
        <p:spPr>
          <a:xfrm>
            <a:off x="884225" y="5008228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4" name="TB 114"/>
          <p:cNvSpPr txBox="1"/>
          <p:nvPr/>
        </p:nvSpPr>
        <p:spPr>
          <a:xfrm>
            <a:off x="1044245" y="4931887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기획서 단계에서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 API 스키마 · DB 구조 · 에러 코드 · 예외 처리를 확정한다.</a:t>
            </a:r>
          </a:p>
        </p:txBody>
      </p:sp>
      <p:sp>
        <p:nvSpPr>
          <p:cNvPr id="115" name="SH 115"/>
          <p:cNvSpPr/>
          <p:nvPr/>
        </p:nvSpPr>
        <p:spPr>
          <a:xfrm>
            <a:off x="437388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6" name="SH 116"/>
          <p:cNvSpPr/>
          <p:nvPr/>
        </p:nvSpPr>
        <p:spPr>
          <a:xfrm>
            <a:off x="4549140" y="5006340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7" name="TB 117"/>
          <p:cNvSpPr txBox="1"/>
          <p:nvPr/>
        </p:nvSpPr>
        <p:spPr>
          <a:xfrm>
            <a:off x="4716780" y="4944471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구현 단계에서는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 그 문서를 그대로 지시서로 쓴다 → 구현 중 즉흥적인 설계 변경 감소 + 코드를 보지 않아도 문서만으로도 파악 가능</a:t>
            </a:r>
          </a:p>
        </p:txBody>
      </p:sp>
      <p:sp>
        <p:nvSpPr>
          <p:cNvPr id="118" name="SH 118"/>
          <p:cNvSpPr/>
          <p:nvPr/>
        </p:nvSpPr>
        <p:spPr>
          <a:xfrm>
            <a:off x="806196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9" name="SH 119"/>
          <p:cNvSpPr/>
          <p:nvPr/>
        </p:nvSpPr>
        <p:spPr>
          <a:xfrm>
            <a:off x="8229600" y="5006340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20" name="TB 120"/>
          <p:cNvSpPr txBox="1"/>
          <p:nvPr/>
        </p:nvSpPr>
        <p:spPr>
          <a:xfrm>
            <a:off x="8397240" y="4938599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나중에 "왜 이렇게 했더라"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를 코드 주석뿐만 아니라 문서에서 확인할 수 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3. 개발 루프 — 여섯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새 기능은 코드가 아니라 기획서 작성 요청으로 시작한다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기획서부터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1752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design-doc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스킬을 활용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기능 구현을 위한 문서를 상세히 작성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검토 · 확정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17520"/>
            <a:ext cx="3017520" cy="1010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기획서에서 결정되지 않은 이슈를</a:t>
            </a:r>
            <a:endParaRPr lang="en-US" altLang="ko-KR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별도 항목으로 남겨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구현을 위해</a:t>
            </a:r>
            <a:endParaRPr lang="en-US" altLang="ko-KR"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 err="1">
                <a:solidFill>
                  <a:srgbClr val="6B7684"/>
                </a:solidFill>
                <a:latin typeface="맑은 고딕"/>
              </a:rPr>
              <a:t>확정해야할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 사항들을 재검토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55864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문서대로 구현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01752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기획서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5.2를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구현해줘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en-US" sz="1150" dirty="0">
                <a:solidFill>
                  <a:srgbClr val="6B7684"/>
                </a:solidFill>
                <a:latin typeface="맑은 고딕"/>
              </a:rPr>
              <a:t>=&gt;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기획서 확정 후</a:t>
            </a:r>
            <a:r>
              <a:rPr lang="en-US" altLang="ko-KR" sz="115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그대로 구현을 진행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85800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빌드 + 실서버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" y="5120640"/>
            <a:ext cx="3017520" cy="434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빌드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후 서버를 띄우고 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API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를 호출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</a:t>
            </a:r>
            <a:br>
              <a:rPr lang="en-US" altLang="ko-KR" sz="1150" b="0" dirty="0">
                <a:solidFill>
                  <a:srgbClr val="6B7684"/>
                </a:solidFill>
                <a:latin typeface="맑은 고딕"/>
              </a:rPr>
            </a:b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정상동작까지 확인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370832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90288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문서 동기화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512064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변경 사항에 대해 관련이 있는 문서는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정합성을 확인하여 동기화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5864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75320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현황판 갱신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5120640"/>
            <a:ext cx="30175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README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체크리스트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최신화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7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249FBE4D-9AC5-8CBF-D2C7-69EDE1D7F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①②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3.1  ① 기획서부터 요청한다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docs/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세부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/&lt;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기능명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&gt;-기획서.md — design-doc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문서작성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커스텀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스킬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10789920" cy="9144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dirty="0" err="1">
                <a:solidFill>
                  <a:srgbClr val="E6ECF5"/>
                </a:solidFill>
                <a:latin typeface="Consolas"/>
              </a:rPr>
              <a:t>고정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목차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: 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개요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기능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설명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요구사항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데이터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모델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API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명세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처리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흐름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에러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코드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미결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사항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참고</a:t>
            </a:r>
            <a:endParaRPr sz="1400" dirty="0">
              <a:solidFill>
                <a:srgbClr val="E6ECF5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8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DDFCD0D-09D5-7DD0-1B19-0EA5D432E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100" name="TB 100"/>
          <p:cNvSpPr txBox="1"/>
          <p:nvPr/>
        </p:nvSpPr>
        <p:spPr>
          <a:xfrm>
            <a:off x="685800" y="333756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1B2430"/>
                </a:solidFill>
                <a:latin typeface="맑은 고딕"/>
                <a:ea typeface="맑은 고딕"/>
              </a:rPr>
              <a:t>가장 중요하게 지킨 것은 구현의 근거를 문서로 남기는 것</a:t>
            </a:r>
          </a:p>
        </p:txBody>
      </p:sp>
      <p:sp>
        <p:nvSpPr>
          <p:cNvPr id="101" name="SH 101"/>
          <p:cNvSpPr/>
          <p:nvPr/>
        </p:nvSpPr>
        <p:spPr>
          <a:xfrm>
            <a:off x="685800" y="3794760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"그때 이걸 왜 이렇게 구현했지?"</a:t>
            </a:r>
          </a:p>
        </p:txBody>
      </p:sp>
      <p:sp>
        <p:nvSpPr>
          <p:cNvPr id="102" name="TB 102"/>
          <p:cNvSpPr txBox="1"/>
          <p:nvPr/>
        </p:nvSpPr>
        <p:spPr>
          <a:xfrm>
            <a:off x="5783580" y="4023360"/>
            <a:ext cx="594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20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3" name="SH 103"/>
          <p:cNvSpPr/>
          <p:nvPr/>
        </p:nvSpPr>
        <p:spPr>
          <a:xfrm>
            <a:off x="6377940" y="3794760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맑은 고딕"/>
                <a:ea typeface="맑은 고딕"/>
              </a:rPr>
              <a:t>문서를 확인한다.</a:t>
            </a:r>
          </a:p>
        </p:txBody>
      </p:sp>
      <p:sp>
        <p:nvSpPr>
          <p:cNvPr id="104" name="SH 104"/>
          <p:cNvSpPr/>
          <p:nvPr/>
        </p:nvSpPr>
        <p:spPr>
          <a:xfrm>
            <a:off x="685800" y="489204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11480" tIns="137160" rIns="411480" bIns="137160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ko-KR" altLang="en-US" sz="1050" b="1" dirty="0">
                <a:solidFill>
                  <a:srgbClr val="2F6FE4"/>
                </a:solidFill>
                <a:latin typeface="맑은 고딕"/>
                <a:ea typeface="맑은 고딕"/>
              </a:rPr>
              <a:t>예 — 소모품(부스터) 기획서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"버프는 스테이지 클리어 보상에만 적용된다(확정)"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1" dirty="0">
                <a:solidFill>
                  <a:srgbClr val="1B2430"/>
                </a:solidFill>
                <a:latin typeface="맑은 고딕"/>
                <a:ea typeface="맑은 고딕"/>
              </a:rPr>
              <a:t>근거 : </a:t>
            </a: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부스터는 접속해서 직접 스테이지를 도는 플레이를 보상하는 소모품이고, 오프라인 보상은 이미 효율 50% · 12시간 상한으로 조정된 소급 지급이라 그 위에 배율을 얹지 않는다.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③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3.2  ③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문서대로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구현을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요청한다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6566483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기획 문서와 별개로 코드 작성시 </a:t>
            </a:r>
            <a:r>
              <a:rPr lang="ko-KR" altLang="en-US" sz="1400" b="0" dirty="0" err="1">
                <a:solidFill>
                  <a:srgbClr val="6B7684"/>
                </a:solidFill>
                <a:latin typeface="맑은 고딕"/>
              </a:rPr>
              <a:t>지켜야할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 공통 규칙은 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CLAUDE.md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에 명시한다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2414016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368296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컨트롤러에는 HTTP 액션 메서드만 두고, 공통 보조는 GameApiControllerBase에 상속으로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99232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14400" y="3218688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5880" y="3172968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서비스 클래스의 모든 메서드에 /// &lt;summary&gt; 주석 필수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03904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4400" y="4023360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5880" y="3977640"/>
            <a:ext cx="996696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dirty="0">
                <a:solidFill>
                  <a:srgbClr val="1B2430"/>
                </a:solidFill>
                <a:latin typeface="맑은 고딕"/>
              </a:rPr>
              <a:t>DB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결과는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dynamic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금지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en-US" sz="1500" dirty="0">
                <a:solidFill>
                  <a:srgbClr val="1B2430"/>
                </a:solidFill>
                <a:latin typeface="맑은 고딕"/>
              </a:rPr>
              <a:t>=&gt;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스칼라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제네릭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매핑만</a:t>
            </a:r>
            <a:endParaRPr sz="1500" b="0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85800" y="4608576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14400" y="4828032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25880" y="4782312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재화 · 아이템 변경은 단일 트랜잭션, 서버 권위(클라이언트 보고 불신)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684"/>
                </a:solidFill>
                <a:latin typeface="맑은 고딕"/>
              </a:rPr>
              <a:t>구현 요청은 "기획서 5.2를 구현해줘" 같은 형태였다.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9</a:t>
            </a: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88E62FE1-C6EA-3D23-2B17-B5F92EBA5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④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3.3  ④ 빌드 + 실서버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구현 후 빌드와 실제 동작 검증을 거쳐야 완료로 인정했다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200" dirty="0">
                <a:solidFill>
                  <a:srgbClr val="E6ECF5"/>
                </a:solidFill>
                <a:latin typeface="Consolas"/>
              </a:rPr>
              <a:t>dotnet build  → 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서버 실행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헬스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체크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기능 테스트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강제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종료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·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결과 확인</a:t>
            </a:r>
            <a:endParaRPr sz="1200" dirty="0">
              <a:solidFill>
                <a:srgbClr val="E6ECF5"/>
              </a:solidFill>
              <a:latin typeface="Consola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5256" y="361188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904488"/>
            <a:ext cx="48463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서버는</a:t>
            </a:r>
            <a:r>
              <a:rPr lang="en-US"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기능 구현 후 필수적으로 빌드 </a:t>
            </a:r>
            <a:r>
              <a:rPr lang="en-US" altLang="ko-KR" sz="1500" b="1" dirty="0">
                <a:solidFill>
                  <a:srgbClr val="1B2430"/>
                </a:solidFill>
                <a:latin typeface="맑은 고딕"/>
              </a:rPr>
              <a:t>+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테스트 진행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05256" y="4297680"/>
            <a:ext cx="48463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·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기능이 기획서에 맞게 구현이 되었는 지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37376" y="361188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390448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실제 저장소에 붙여 검증한다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4297680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실제 MySQL · Redis에 붙여 API를 호출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결과를 DB에서 직접 대조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테스트로 만든 데이터는 되돌린다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10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FA3B236-C9B1-C3DC-58BF-E5EDC490D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3.4  ⑤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동기화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— 이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프로세스의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핵심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세부 기획서가 정본, 아래 넷은 기획서를 가로질러 모은 집약 참조본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569739"/>
              </p:ext>
            </p:extLst>
          </p:nvPr>
        </p:nvGraphicFramePr>
        <p:xfrm>
          <a:off x="685800" y="1837944"/>
          <a:ext cx="1078992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무엇이 바뀌면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갱신할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문서</a:t>
                      </a:r>
                      <a:endParaRPr sz="130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엔드포인트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요청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/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응답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필드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docs/공통/api-통합.md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DB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테이블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컬럼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마스터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데이터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docs/공통/db-erd-통합.md  ( +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db-schema.sql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에러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코드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docs/공통/error-code-정의.md  + 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TaskbarHero.Common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/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ErrorCode.cs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처리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흐름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SequenceDiagram/README.md  (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기능별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Mermaid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시퀀스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" y="4353341"/>
            <a:ext cx="10789920" cy="1694157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581941"/>
            <a:ext cx="10149840" cy="11792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2F6FE4"/>
                </a:solidFill>
                <a:latin typeface="맑은 고딕"/>
              </a:rPr>
              <a:t>정합성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체크는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양방향으로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한다</a:t>
            </a:r>
            <a:endParaRPr sz="160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dirty="0" err="1">
                <a:solidFill>
                  <a:srgbClr val="1B2430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→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통합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(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빠진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항목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추가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)  · 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통합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→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(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폐기된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항목이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남아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있지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않은지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dirty="0" err="1">
                <a:solidFill>
                  <a:srgbClr val="6B7684"/>
                </a:solidFill>
                <a:latin typeface="맑은 고딕"/>
              </a:rPr>
              <a:t>경로나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이름을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바꿨으면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옛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문자열이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문서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어디에도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남지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않았는지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grep으로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확인한다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.</a:t>
            </a:r>
            <a:endParaRPr lang="en-US" sz="130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300" dirty="0">
                <a:solidFill>
                  <a:srgbClr val="6B7684"/>
                </a:solidFill>
                <a:latin typeface="맑은 고딕"/>
              </a:rPr>
              <a:t>문서의 정합성 확인은 </a:t>
            </a:r>
            <a:r>
              <a:rPr lang="en-US" altLang="ko-KR" sz="1300" dirty="0">
                <a:solidFill>
                  <a:srgbClr val="6B7684"/>
                </a:solidFill>
                <a:latin typeface="맑은 고딕"/>
              </a:rPr>
              <a:t>CLAUDE.MD</a:t>
            </a:r>
            <a:r>
              <a:rPr lang="ko-KR" altLang="en-US" sz="1300" dirty="0">
                <a:solidFill>
                  <a:srgbClr val="6B7684"/>
                </a:solidFill>
                <a:latin typeface="맑은 고딕"/>
              </a:rPr>
              <a:t> 에 명시되어 있다</a:t>
            </a:r>
            <a:r>
              <a:rPr lang="en-US" altLang="ko-KR" sz="1300" dirty="0">
                <a:solidFill>
                  <a:srgbClr val="6B7684"/>
                </a:solidFill>
                <a:latin typeface="맑은 고딕"/>
              </a:rPr>
              <a:t>.</a:t>
            </a:r>
            <a:endParaRPr sz="13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11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1D80C52-7195-9CD7-71FE-C8883C84F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DOCS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4. 문서 체계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정본은 언제나 docs/세부/ — 충돌하면 세부 기획서를 따른다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12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D127069-26EF-9BF9-7010-BFB85677B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200" name="SH 200"/>
          <p:cNvSpPr/>
          <p:nvPr/>
        </p:nvSpPr>
        <p:spPr>
          <a:xfrm>
            <a:off x="685800" y="21031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201" name="SH 201"/>
          <p:cNvSpPr/>
          <p:nvPr/>
        </p:nvSpPr>
        <p:spPr>
          <a:xfrm>
            <a:off x="1234440" y="2606040"/>
            <a:ext cx="12700" cy="26746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2" name="SH 202"/>
          <p:cNvSpPr/>
          <p:nvPr/>
        </p:nvSpPr>
        <p:spPr>
          <a:xfrm>
            <a:off x="1234440" y="2766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3" name="SH 203"/>
          <p:cNvSpPr/>
          <p:nvPr/>
        </p:nvSpPr>
        <p:spPr>
          <a:xfrm>
            <a:off x="1234440" y="2994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4" name="SH 204"/>
          <p:cNvSpPr/>
          <p:nvPr/>
        </p:nvSpPr>
        <p:spPr>
          <a:xfrm>
            <a:off x="1234440" y="3223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5" name="SH 205"/>
          <p:cNvSpPr/>
          <p:nvPr/>
        </p:nvSpPr>
        <p:spPr>
          <a:xfrm>
            <a:off x="1234440" y="3451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6" name="SH 206"/>
          <p:cNvSpPr/>
          <p:nvPr/>
        </p:nvSpPr>
        <p:spPr>
          <a:xfrm>
            <a:off x="1234440" y="4594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7" name="SH 207"/>
          <p:cNvSpPr/>
          <p:nvPr/>
        </p:nvSpPr>
        <p:spPr>
          <a:xfrm>
            <a:off x="1234440" y="5280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8" name="SH 208"/>
          <p:cNvSpPr/>
          <p:nvPr/>
        </p:nvSpPr>
        <p:spPr>
          <a:xfrm>
            <a:off x="1554480" y="3520440"/>
            <a:ext cx="12700" cy="8458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9" name="SH 209"/>
          <p:cNvSpPr/>
          <p:nvPr/>
        </p:nvSpPr>
        <p:spPr>
          <a:xfrm>
            <a:off x="1554480" y="3680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0" name="SH 210"/>
          <p:cNvSpPr/>
          <p:nvPr/>
        </p:nvSpPr>
        <p:spPr>
          <a:xfrm>
            <a:off x="1554480" y="3909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1" name="SH 211"/>
          <p:cNvSpPr/>
          <p:nvPr/>
        </p:nvSpPr>
        <p:spPr>
          <a:xfrm>
            <a:off x="1554480" y="4137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2" name="SH 212"/>
          <p:cNvSpPr/>
          <p:nvPr/>
        </p:nvSpPr>
        <p:spPr>
          <a:xfrm>
            <a:off x="1554480" y="4366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3" name="SH 213"/>
          <p:cNvSpPr/>
          <p:nvPr/>
        </p:nvSpPr>
        <p:spPr>
          <a:xfrm>
            <a:off x="1554480" y="4663440"/>
            <a:ext cx="12700" cy="3886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4" name="SH 214"/>
          <p:cNvSpPr/>
          <p:nvPr/>
        </p:nvSpPr>
        <p:spPr>
          <a:xfrm>
            <a:off x="1554480" y="4823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5" name="SH 215"/>
          <p:cNvSpPr/>
          <p:nvPr/>
        </p:nvSpPr>
        <p:spPr>
          <a:xfrm>
            <a:off x="1554480" y="5052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6" name="TB 216"/>
          <p:cNvSpPr txBox="1"/>
          <p:nvPr/>
        </p:nvSpPr>
        <p:spPr>
          <a:xfrm>
            <a:off x="1097280" y="2423160"/>
            <a:ext cx="5806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1" dirty="0">
                <a:solidFill>
                  <a:srgbClr val="E6ECF5"/>
                </a:solidFill>
                <a:latin typeface="Consolas"/>
                <a:ea typeface="맑은 고딕"/>
              </a:rPr>
              <a:t>docs/</a:t>
            </a:r>
          </a:p>
        </p:txBody>
      </p:sp>
      <p:sp>
        <p:nvSpPr>
          <p:cNvPr id="217" name="TB 217"/>
          <p:cNvSpPr txBox="1"/>
          <p:nvPr/>
        </p:nvSpPr>
        <p:spPr>
          <a:xfrm>
            <a:off x="1417320" y="26517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서버-시스템-전체-개요.md</a:t>
            </a:r>
          </a:p>
        </p:txBody>
      </p:sp>
      <p:sp>
        <p:nvSpPr>
          <p:cNvPr id="218" name="TB 218"/>
          <p:cNvSpPr txBox="1"/>
          <p:nvPr/>
        </p:nvSpPr>
        <p:spPr>
          <a:xfrm>
            <a:off x="4572000" y="26517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최상위 진입 문서</a:t>
            </a:r>
          </a:p>
        </p:txBody>
      </p:sp>
      <p:sp>
        <p:nvSpPr>
          <p:cNvPr id="219" name="TB 219"/>
          <p:cNvSpPr txBox="1"/>
          <p:nvPr/>
        </p:nvSpPr>
        <p:spPr>
          <a:xfrm>
            <a:off x="1417320" y="28803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서버-개발-계획.md</a:t>
            </a:r>
          </a:p>
        </p:txBody>
      </p:sp>
      <p:sp>
        <p:nvSpPr>
          <p:cNvPr id="220" name="TB 220"/>
          <p:cNvSpPr txBox="1"/>
          <p:nvPr/>
        </p:nvSpPr>
        <p:spPr>
          <a:xfrm>
            <a:off x="4572000" y="2880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개발 순서 · 일정</a:t>
            </a:r>
          </a:p>
        </p:txBody>
      </p:sp>
      <p:sp>
        <p:nvSpPr>
          <p:cNvPr id="221" name="TB 221"/>
          <p:cNvSpPr txBox="1"/>
          <p:nvPr/>
        </p:nvSpPr>
        <p:spPr>
          <a:xfrm>
            <a:off x="1417320" y="310896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com2us-taskbar-hero-개발환경.md</a:t>
            </a:r>
          </a:p>
        </p:txBody>
      </p:sp>
      <p:sp>
        <p:nvSpPr>
          <p:cNvPr id="222" name="TB 222"/>
          <p:cNvSpPr txBox="1"/>
          <p:nvPr/>
        </p:nvSpPr>
        <p:spPr>
          <a:xfrm>
            <a:off x="1417320" y="33375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1" dirty="0">
                <a:solidFill>
                  <a:srgbClr val="E0A526"/>
                </a:solidFill>
                <a:latin typeface="Consolas"/>
                <a:ea typeface="맑은 고딕"/>
              </a:rPr>
              <a:t>세부/</a:t>
            </a:r>
          </a:p>
        </p:txBody>
      </p:sp>
      <p:sp>
        <p:nvSpPr>
          <p:cNvPr id="223" name="TB 223"/>
          <p:cNvSpPr txBox="1"/>
          <p:nvPr/>
        </p:nvSpPr>
        <p:spPr>
          <a:xfrm>
            <a:off x="4572000" y="33375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E0A526"/>
                </a:solidFill>
                <a:latin typeface="맑은 고딕"/>
                <a:ea typeface="맑은 고딕"/>
              </a:rPr>
              <a:t>★ 정본 — 기능별 기획서</a:t>
            </a:r>
          </a:p>
        </p:txBody>
      </p:sp>
      <p:sp>
        <p:nvSpPr>
          <p:cNvPr id="224" name="TB 224"/>
          <p:cNvSpPr txBox="1"/>
          <p:nvPr/>
        </p:nvSpPr>
        <p:spPr>
          <a:xfrm>
            <a:off x="1737360" y="35661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account-login · save-data · inventory</a:t>
            </a:r>
          </a:p>
        </p:txBody>
      </p:sp>
      <p:sp>
        <p:nvSpPr>
          <p:cNvPr id="225" name="TB 225"/>
          <p:cNvSpPr txBox="1"/>
          <p:nvPr/>
        </p:nvSpPr>
        <p:spPr>
          <a:xfrm>
            <a:off x="1737360" y="37947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stage-battle · trade · gacha · mail</a:t>
            </a:r>
          </a:p>
        </p:txBody>
      </p:sp>
      <p:sp>
        <p:nvSpPr>
          <p:cNvPr id="226" name="TB 226"/>
          <p:cNvSpPr txBox="1"/>
          <p:nvPr/>
        </p:nvSpPr>
        <p:spPr>
          <a:xfrm>
            <a:off x="1737360" y="40233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attendance · growth · offline-reward</a:t>
            </a:r>
          </a:p>
        </p:txBody>
      </p:sp>
      <p:sp>
        <p:nvSpPr>
          <p:cNvPr id="227" name="TB 227"/>
          <p:cNvSpPr txBox="1"/>
          <p:nvPr/>
        </p:nvSpPr>
        <p:spPr>
          <a:xfrm>
            <a:off x="1737360" y="425196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master-data/</a:t>
            </a:r>
          </a:p>
        </p:txBody>
      </p:sp>
      <p:sp>
        <p:nvSpPr>
          <p:cNvPr id="228" name="TB 228"/>
          <p:cNvSpPr txBox="1"/>
          <p:nvPr/>
        </p:nvSpPr>
        <p:spPr>
          <a:xfrm>
            <a:off x="4572000" y="42519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마스터 값 · 스키마</a:t>
            </a:r>
          </a:p>
        </p:txBody>
      </p:sp>
      <p:sp>
        <p:nvSpPr>
          <p:cNvPr id="229" name="TB 229"/>
          <p:cNvSpPr txBox="1"/>
          <p:nvPr/>
        </p:nvSpPr>
        <p:spPr>
          <a:xfrm>
            <a:off x="1417320" y="44805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공통/</a:t>
            </a:r>
          </a:p>
        </p:txBody>
      </p:sp>
      <p:sp>
        <p:nvSpPr>
          <p:cNvPr id="230" name="TB 230"/>
          <p:cNvSpPr txBox="1"/>
          <p:nvPr/>
        </p:nvSpPr>
        <p:spPr>
          <a:xfrm>
            <a:off x="4572000" y="44805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집약 참조본 + 공유 계약</a:t>
            </a:r>
          </a:p>
        </p:txBody>
      </p:sp>
      <p:sp>
        <p:nvSpPr>
          <p:cNvPr id="231" name="TB 231"/>
          <p:cNvSpPr txBox="1"/>
          <p:nvPr/>
        </p:nvSpPr>
        <p:spPr>
          <a:xfrm>
            <a:off x="1737360" y="47091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api-통합.md · db-erd-통합.md</a:t>
            </a:r>
          </a:p>
        </p:txBody>
      </p:sp>
      <p:sp>
        <p:nvSpPr>
          <p:cNvPr id="232" name="TB 232"/>
          <p:cNvSpPr txBox="1"/>
          <p:nvPr/>
        </p:nvSpPr>
        <p:spPr>
          <a:xfrm>
            <a:off x="1737360" y="49377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error-code-정의.md · 로깅-규칙.md</a:t>
            </a:r>
          </a:p>
        </p:txBody>
      </p:sp>
      <p:sp>
        <p:nvSpPr>
          <p:cNvPr id="233" name="TB 233"/>
          <p:cNvSpPr txBox="1"/>
          <p:nvPr/>
        </p:nvSpPr>
        <p:spPr>
          <a:xfrm>
            <a:off x="1417320" y="51663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images/</a:t>
            </a:r>
          </a:p>
        </p:txBody>
      </p:sp>
      <p:sp>
        <p:nvSpPr>
          <p:cNvPr id="234" name="TB 234"/>
          <p:cNvSpPr txBox="1"/>
          <p:nvPr/>
        </p:nvSpPr>
        <p:spPr>
          <a:xfrm>
            <a:off x="4572000" y="5166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원작 화면 캡처(기획 근거)</a:t>
            </a:r>
          </a:p>
        </p:txBody>
      </p:sp>
      <p:sp>
        <p:nvSpPr>
          <p:cNvPr id="235" name="SH 235"/>
          <p:cNvSpPr/>
          <p:nvPr/>
        </p:nvSpPr>
        <p:spPr>
          <a:xfrm>
            <a:off x="1097280" y="5486400"/>
            <a:ext cx="580644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36" name="TB 236"/>
          <p:cNvSpPr txBox="1"/>
          <p:nvPr/>
        </p:nvSpPr>
        <p:spPr>
          <a:xfrm>
            <a:off x="1097280" y="5669280"/>
            <a:ext cx="3383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SequenceDiagram/README.md</a:t>
            </a:r>
          </a:p>
        </p:txBody>
      </p:sp>
      <p:sp>
        <p:nvSpPr>
          <p:cNvPr id="237" name="TB 237"/>
          <p:cNvSpPr txBox="1"/>
          <p:nvPr/>
        </p:nvSpPr>
        <p:spPr>
          <a:xfrm>
            <a:off x="4572000" y="566928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기능별 처리 흐름</a:t>
            </a:r>
          </a:p>
        </p:txBody>
      </p:sp>
      <p:sp>
        <p:nvSpPr>
          <p:cNvPr id="238" name="SH 238"/>
          <p:cNvSpPr/>
          <p:nvPr/>
        </p:nvSpPr>
        <p:spPr>
          <a:xfrm>
            <a:off x="7452360" y="2103120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정본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docs/세부/ 가 언제나 정본이다. 충돌하면 세부 기획서를 따른다.</a:t>
            </a:r>
          </a:p>
        </p:txBody>
      </p:sp>
      <p:sp>
        <p:nvSpPr>
          <p:cNvPr id="239" name="SH 239"/>
          <p:cNvSpPr/>
          <p:nvPr/>
        </p:nvSpPr>
        <p:spPr>
          <a:xfrm>
            <a:off x="7452360" y="3337560"/>
            <a:ext cx="4023360" cy="12573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집약 참조본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docs/공통/ 은 여러 기획서에 흩어진 내용을 한 장에 모은 편의용. 단, 클라이언트와 공유하는 계약(에러 코드 숫자 값 등)은 여기서 확인한다.</a:t>
            </a:r>
          </a:p>
        </p:txBody>
      </p:sp>
      <p:sp>
        <p:nvSpPr>
          <p:cNvPr id="240" name="SH 240"/>
          <p:cNvSpPr/>
          <p:nvPr/>
        </p:nvSpPr>
        <p:spPr>
          <a:xfrm>
            <a:off x="7452360" y="4869180"/>
            <a:ext cx="4023360" cy="12573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그림으로 고정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원작 게임 화면 캡처를 docs/images/에 두고 기획서에서 참조해, "무엇을 모작하는지"를 글이 아니라 그림으로 고정했다.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5. 밸런스 수치를 잡기위한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기획서로 정할 수 있는 것은 규칙이지 수치가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789920" cy="625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 dirty="0">
                <a:solidFill>
                  <a:srgbClr val="1B2430"/>
                </a:solidFill>
                <a:latin typeface="맑은 고딕"/>
              </a:rPr>
              <a:t>"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몬스터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체력을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얼마로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둘까"는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문서로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합의할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수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없고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재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봐야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안다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.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그런데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이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게임에서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그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측정은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원래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불가능했다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dirty="0" err="1">
                <a:solidFill>
                  <a:srgbClr val="6B7684"/>
                </a:solidFill>
                <a:latin typeface="맑은 고딕"/>
              </a:rPr>
              <a:t>전투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계산이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클라이언트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권위라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서버는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스탯을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로드조차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하지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클리어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시간을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알려면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Unity를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켜고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스테이지에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들어가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사람이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스톱워치를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재야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했다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13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D9CAEE2-DE9A-9F8F-9EEF-997D475F4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00" name="TB 500"/>
          <p:cNvSpPr txBox="1"/>
          <p:nvPr/>
        </p:nvSpPr>
        <p:spPr>
          <a:xfrm>
            <a:off x="685800" y="301752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FF0000"/>
                </a:solidFill>
                <a:latin typeface="맑은 고딕"/>
                <a:ea typeface="맑은 고딕"/>
              </a:rPr>
              <a:t>기준이 없는 명령은 토큰 낭비만 초래했다..</a:t>
            </a:r>
          </a:p>
        </p:txBody>
      </p:sp>
      <p:sp>
        <p:nvSpPr>
          <p:cNvPr id="501" name="SH 501"/>
          <p:cNvSpPr/>
          <p:nvPr/>
        </p:nvSpPr>
        <p:spPr>
          <a:xfrm>
            <a:off x="685800" y="361188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502" name="TB 502"/>
          <p:cNvSpPr txBox="1"/>
          <p:nvPr/>
        </p:nvSpPr>
        <p:spPr>
          <a:xfrm>
            <a:off x="1097280" y="402336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6B7684"/>
                </a:solidFill>
                <a:latin typeface="맑은 고딕"/>
                <a:ea typeface="맑은 고딕"/>
              </a:rPr>
              <a:t>· ‘지금 난이도가 너무 쉬운데, 좀 더 난이도 있게 만들어줘.’</a:t>
            </a:r>
          </a:p>
        </p:txBody>
      </p:sp>
      <p:sp>
        <p:nvSpPr>
          <p:cNvPr id="503" name="SH 503"/>
          <p:cNvSpPr/>
          <p:nvPr/>
        </p:nvSpPr>
        <p:spPr>
          <a:xfrm>
            <a:off x="1097280" y="4754880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504" name="TB 504"/>
          <p:cNvSpPr txBox="1"/>
          <p:nvPr/>
        </p:nvSpPr>
        <p:spPr>
          <a:xfrm>
            <a:off x="1097280" y="498348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  <a:r>
              <a:rPr lang="ko-KR" altLang="en-US" sz="1200" b="1" dirty="0">
                <a:solidFill>
                  <a:srgbClr val="1B2430"/>
                </a:solidFill>
                <a:latin typeface="맑은 고딕"/>
                <a:ea typeface="맑은 고딕"/>
              </a:rPr>
              <a:t> 너무 어려워지거나 인게임 전투에 변화가 거의 없음</a:t>
            </a:r>
          </a:p>
        </p:txBody>
      </p:sp>
      <p:sp>
        <p:nvSpPr>
          <p:cNvPr id="505" name="SH 505"/>
          <p:cNvSpPr/>
          <p:nvPr/>
        </p:nvSpPr>
        <p:spPr>
          <a:xfrm>
            <a:off x="6309360" y="361188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506" name="TB 506"/>
          <p:cNvSpPr txBox="1"/>
          <p:nvPr/>
        </p:nvSpPr>
        <p:spPr>
          <a:xfrm>
            <a:off x="6720840" y="402336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6B7684"/>
                </a:solidFill>
                <a:latin typeface="맑은 고딕"/>
                <a:ea typeface="맑은 고딕"/>
              </a:rPr>
              <a:t>· ‘보스 공격력이 너무 강한데, 지금보다는 쉽게 만들어줘.’</a:t>
            </a:r>
          </a:p>
        </p:txBody>
      </p:sp>
      <p:sp>
        <p:nvSpPr>
          <p:cNvPr id="507" name="SH 507"/>
          <p:cNvSpPr/>
          <p:nvPr/>
        </p:nvSpPr>
        <p:spPr>
          <a:xfrm>
            <a:off x="6720840" y="4754880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508" name="TB 508"/>
          <p:cNvSpPr txBox="1"/>
          <p:nvPr/>
        </p:nvSpPr>
        <p:spPr>
          <a:xfrm>
            <a:off x="6720840" y="498348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  <a:r>
              <a:rPr lang="ko-KR" altLang="en-US" sz="1200" b="1" dirty="0">
                <a:solidFill>
                  <a:srgbClr val="1B2430"/>
                </a:solidFill>
                <a:latin typeface="맑은 고딕"/>
                <a:ea typeface="맑은 고딕"/>
              </a:rPr>
              <a:t> 보스가 너무 약해져서 잡몹과 똑같이 변함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5.1  스크립트로만 구현한 인게임 전투 하네스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tools/balance_sim.py — 한 스테이지 전투를 1/60초 고정 스텝으로 압축 실행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796812"/>
              </p:ext>
            </p:extLst>
          </p:nvPr>
        </p:nvGraphicFramePr>
        <p:xfrm>
          <a:off x="685800" y="1861349"/>
          <a:ext cx="1078992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씬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하네스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(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BattleDevScene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등)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밸런스 시뮬레이터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무엇을 잘라냈나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로그인 · 스테이지 진입 · 게임 흐름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거기에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더해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Unity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렌더링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실시간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무엇</a:t>
                      </a:r>
                      <a:r>
                        <a:rPr lang="ko-KR" alt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이 필요한가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화면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</a:t>
                      </a:r>
                      <a:r>
                        <a:rPr 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lang="ko-KR" alt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전투 상황 확인용 </a:t>
                      </a:r>
                      <a:r>
                        <a:rPr lang="en-US" altLang="ko-KR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UI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규칙과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수치만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누가 읽나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사람이 눈으로 (타격감 · 외형)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기계가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수치로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(초 · %)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한 판 도는 비용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에디터 켜고 플레이 모드 진입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한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프로세스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, 100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스테이지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전수도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한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명령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14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3171C95-35FF-4499-CD59-CBA30A1B7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105" y="5029200"/>
            <a:ext cx="3180786" cy="132588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AF15316-FD53-EE86-DCC7-38B719206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211" y="5029200"/>
            <a:ext cx="5656204" cy="132588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5F50D3-CFEC-7D76-6218-CC82DD2807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600" name="SH 600"/>
          <p:cNvSpPr/>
          <p:nvPr/>
        </p:nvSpPr>
        <p:spPr>
          <a:xfrm>
            <a:off x="685800" y="4297680"/>
            <a:ext cx="10789920" cy="64008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137160" rIns="365760" bIns="137160" rtlCol="0" anchor="ctr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왜 필요할까?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   =&gt; 실제 유니티 환경에서 측정 시, 유니티를 실행하고 클리어 시간을 측정하는 과정이 굉장히 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오래걸림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 + 유니티 MCP를 통한 환경에서의 시간 측정도 굉장히 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부정확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하여 토큰만 낭비하는 일이 많아짐.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5.2  하드코딩을 최소화한다 — 무엇을 어디서 읽는가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하네스가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실제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게임과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갈라지면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산출한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밸런스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근거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전체가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무효가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1440237"/>
              </p:ext>
            </p:extLst>
          </p:nvPr>
        </p:nvGraphicFramePr>
        <p:xfrm>
          <a:off x="777240" y="1870845"/>
          <a:ext cx="10789920" cy="189003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681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마스터 수치 (몬스터 · 스폰 · 직업 · 레벨 · 스킬 계수 · 아이템 · 강화 · 룬)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서버의 마스터 데이터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상수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주기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동시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상한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이동속도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피해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배수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파티별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사거리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유니티 클라이언트의 전투관련 상수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스킬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모션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길이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광역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판정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반경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Assets/Prefabs/Effects/*.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prefab의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프레임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수 · fps · 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스케일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 </a:t>
                      </a:r>
                      <a:r>
                        <a:rPr lang="ko-KR" altLang="en-US"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스킬 이펙트의 타격범위</a:t>
                      </a:r>
                      <a:endParaRPr sz="10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15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390CC36-B6E0-089A-AC7B-2F16ABE77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063" y="4095535"/>
            <a:ext cx="3279710" cy="21051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6699D71-8014-433D-E074-BF7871B1C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5.3  ① 1차 — 시간을 맞춘다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목표와 기준 파티를 문서에 못 박고 100 스테이지를 맞춘 뒤 baseline으로 대조</a:t>
            </a:r>
          </a:p>
        </p:txBody>
      </p:sp>
      <p:pic>
        <p:nvPicPr>
          <p:cNvPr id="7" name="Picture 6" descr="밸런싱-과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72" y="2227881"/>
            <a:ext cx="8001000" cy="33349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887968" y="2103120"/>
            <a:ext cx="2651760" cy="339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2F6FE4"/>
                </a:solidFill>
                <a:latin typeface="맑은 고딕"/>
              </a:rPr>
              <a:t>실제</a:t>
            </a:r>
            <a:r>
              <a:rPr sz="13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2F6FE4"/>
                </a:solidFill>
                <a:latin typeface="맑은 고딕"/>
              </a:rPr>
              <a:t>요청은</a:t>
            </a:r>
            <a:r>
              <a:rPr sz="1300" b="1" dirty="0">
                <a:solidFill>
                  <a:srgbClr val="2F6FE4"/>
                </a:solidFill>
                <a:latin typeface="맑은 고딕"/>
              </a:rPr>
              <a:t> 한 줄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250" b="1" dirty="0">
                <a:solidFill>
                  <a:srgbClr val="1B2430"/>
                </a:solidFill>
                <a:latin typeface="맑은 고딕"/>
              </a:rPr>
              <a:t>"1-10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스테이지를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회원가입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후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성장에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투자하지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않은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상태로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1분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안에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아슬아슬하게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깰 수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있도록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리밸런싱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해줘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"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이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명령에는 어떤 환경에서 어떤 조건이 되도록 밸런스를 </a:t>
            </a:r>
            <a:r>
              <a:rPr lang="ko-KR" altLang="en-US" sz="1150" dirty="0" err="1">
                <a:solidFill>
                  <a:srgbClr val="6B7684"/>
                </a:solidFill>
                <a:latin typeface="맑은 고딕"/>
              </a:rPr>
              <a:t>맞춰야함을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 확실히 알 수 있으므로 </a:t>
            </a:r>
            <a:r>
              <a:rPr lang="ko-KR" altLang="en-US" sz="1150" dirty="0" err="1">
                <a:solidFill>
                  <a:srgbClr val="6B7684"/>
                </a:solidFill>
                <a:latin typeface="맑은 고딕"/>
              </a:rPr>
              <a:t>하네스를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 통해 수치를 잡을 수 있다</a:t>
            </a:r>
            <a:r>
              <a:rPr lang="en-US" altLang="ko-KR" sz="1150" dirty="0">
                <a:solidFill>
                  <a:srgbClr val="6B7684"/>
                </a:solidFill>
                <a:latin typeface="맑은 고딕"/>
              </a:rPr>
              <a:t>.</a:t>
            </a:r>
            <a:endParaRPr lang="en-US"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150" b="0" dirty="0" err="1">
                <a:solidFill>
                  <a:srgbClr val="1B2430"/>
                </a:solidFill>
                <a:latin typeface="맑은 고딕"/>
              </a:rPr>
              <a:t>여기까지로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시간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목표는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전부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달성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(91~108%).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그런데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보스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최저체력이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63·49·54·40·33% —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체력이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거의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닳지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않아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긴장감이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1B2430"/>
                </a:solidFill>
                <a:latin typeface="맑은 고딕"/>
              </a:rPr>
              <a:t>없었다</a:t>
            </a:r>
            <a:r>
              <a:rPr sz="1150" b="0" dirty="0">
                <a:solidFill>
                  <a:srgbClr val="1B2430"/>
                </a:solidFill>
                <a:latin typeface="맑은 고딕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16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891CF5E-13CA-1D42-96F5-789C3F190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5.3  ② 2차 — "아슬아슬하게"를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처음부터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계획된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것이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아니라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1차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측정이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드러낸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사실에서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시작됐다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밸런싱-과정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647" y="1965960"/>
            <a:ext cx="7996225" cy="1874519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3931919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투자 기여도 측정 → 구조 재설계 → 전체 검증 → 보스 별도 조정 → 난수 최악값 보정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89120"/>
          <a:ext cx="10789920" cy="1810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측정이 알려 준 것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그래서 바꾼 것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투자해도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생존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격차가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거의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없다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장비 등급 · 강화 · 스킬을 기준 파티에 포함시켜 투자에 의미를 준다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공격력만 올리면 레인저만 전멸한다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원인은 체력이 아니라 광역 처리력 → class_master의 체력 격차를 좁힌다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1지역 보스에서 전 직업 전멸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강몹 8마리가 60초 내내 붙는다 → 보스 공격력만 따로 이분 탐색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시드를 바꾸면 전멸이 나온다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취약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직업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체력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보정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+ 1지역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공격력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소폭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하향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309360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마지막 줄은 하네스가 아니면 못 잡는다 — 난수로 결과가 흔들려 --repeat로 최악값을, 그것도 4직업 × 10스테이지를 다 돌려야 보인다.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17</a:t>
            </a:r>
          </a:p>
        </p:txBody>
      </p:sp>
      <p:pic>
        <p:nvPicPr>
          <p:cNvPr id="12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5.3  ③ 결과 — 실제 게임에서의 1-10 보스전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명령 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: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신규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계정이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아무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투자도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하지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않은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상태로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1지역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보스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를 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1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분 내외로 아슬아슬하게 클리어하도록 밸런스를 조정해줘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1-10-스테이지-리밸런싱-결과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433" y="2011680"/>
            <a:ext cx="2927773" cy="41605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626364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1지역 보스(암흑 마법사) — 60.6초 클리어 · 최저 체력 23%  (3.7배속)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2148840"/>
          <a:ext cx="4434840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리밸런싱 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지금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1지역 일반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15~27초 · 체력 62~100%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30~50초 · 85% → 46%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1-10 보스(기사)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35.6초 전멸(패배)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60.6초 클리어 · 최저 23%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1-10 보스(타직업)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24~31초 · 편차 큼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46~61초 · 23~66%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투자 요구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없음(1지역 내내 여유)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2지역 중반부터 장비작·스킬작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937760"/>
            <a:ext cx="4434840" cy="473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치명타</a:t>
            </a:r>
            <a:r>
              <a:rPr lang="en-US" altLang="ko-KR" sz="1300" b="1" dirty="0">
                <a:solidFill>
                  <a:srgbClr val="2F6FE4"/>
                </a:solidFill>
                <a:latin typeface="맑은 고딕"/>
              </a:rPr>
              <a:t>, </a:t>
            </a:r>
            <a:r>
              <a:rPr lang="ko-KR" altLang="en-US" sz="1300" b="1" dirty="0" err="1">
                <a:solidFill>
                  <a:srgbClr val="2F6FE4"/>
                </a:solidFill>
                <a:latin typeface="맑은 고딕"/>
              </a:rPr>
              <a:t>몹</a:t>
            </a: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 흩어짐 등에 의한 변수가 있으나 실제 전투 시간을 비교적 정확히 맞출 수 있게 되었다</a:t>
            </a:r>
            <a:r>
              <a:rPr lang="en-US" altLang="ko-KR" sz="1300" b="1" dirty="0">
                <a:solidFill>
                  <a:srgbClr val="2F6FE4"/>
                </a:solidFill>
                <a:latin typeface="맑은 고딕"/>
              </a:rPr>
              <a:t>.</a:t>
            </a: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 </a:t>
            </a:r>
            <a:endParaRPr sz="1300" b="1" dirty="0">
              <a:solidFill>
                <a:srgbClr val="2F6FE4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18</a:t>
            </a:r>
          </a:p>
        </p:txBody>
      </p:sp>
      <p:pic>
        <p:nvPicPr>
          <p:cNvPr id="12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E0A526"/>
                </a:solidFill>
                <a:latin typeface="맑은 고딕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맑은 고딕"/>
              </a:rPr>
              <a:t>클라이언트 (Unity)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6. 클라이언트 개발 환경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762000"/>
              </p:ext>
            </p:extLst>
          </p:nvPr>
        </p:nvGraphicFramePr>
        <p:xfrm>
          <a:off x="685800" y="1694954"/>
          <a:ext cx="10789920" cy="29626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엔진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Unity 6000.5.3f1 (Unity 6) · URP 2D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씬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4개 (Title</a:t>
                      </a:r>
                      <a:r>
                        <a:rPr 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CreateCharacter</a:t>
                      </a:r>
                      <a:r>
                        <a:rPr 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, 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Game</a:t>
                      </a:r>
                      <a:r>
                        <a:rPr 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TeamList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 +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개발용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하네스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씬 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3개</a:t>
                      </a:r>
                      <a:r>
                        <a:rPr 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(</a:t>
                      </a:r>
                      <a:r>
                        <a:rPr lang="en-US"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BattaleDevScene</a:t>
                      </a:r>
                      <a:r>
                        <a:rPr 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, </a:t>
                      </a:r>
                      <a:r>
                        <a:rPr lang="en-US"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AnimDevScene</a:t>
                      </a:r>
                      <a:r>
                        <a:rPr 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, </a:t>
                      </a:r>
                      <a:r>
                        <a:rPr lang="en-US"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CharacterDevScene</a:t>
                      </a:r>
                      <a:r>
                        <a:rPr 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통신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UnityWebRequest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공유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DTO —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JsonUtility와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서버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System.Text.Json이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같은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JSON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정적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데이터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Assets/Resources/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MasterData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/*.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json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17개 —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마스터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DB에서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추출기로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생성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아트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사운드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아이템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아이콘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96종</a:t>
                      </a:r>
                      <a:r>
                        <a:rPr 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사운드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67종</a:t>
                      </a:r>
                      <a:r>
                        <a:rPr 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AI</a:t>
                      </a:r>
                      <a:r>
                        <a:rPr lang="ko-KR" alt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를 통해 생성</a:t>
                      </a:r>
                      <a:r>
                        <a:rPr lang="en-US" altLang="ko-KR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, </a:t>
                      </a:r>
                      <a:r>
                        <a:rPr lang="ko-KR" altLang="en-US"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인게임</a:t>
                      </a:r>
                      <a:r>
                        <a:rPr lang="ko-KR" alt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적용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개발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도구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Claude Code + Unity MCP(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에디터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원격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조작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에디터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메뉴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TaskbarHero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/*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20</a:t>
            </a:r>
          </a:p>
        </p:txBody>
      </p:sp>
      <p:pic>
        <p:nvPicPr>
          <p:cNvPr id="8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7. 개발 방식 한눈에 보기 — 서버와 무엇이 다른가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21</a:t>
            </a:r>
          </a:p>
        </p:txBody>
      </p:sp>
      <p:sp>
        <p:nvSpPr>
          <p:cNvPr id="100" name="SH 100"/>
          <p:cNvSpPr/>
          <p:nvPr/>
        </p:nvSpPr>
        <p:spPr>
          <a:xfrm>
            <a:off x="685800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1" name="TB 101"/>
          <p:cNvSpPr txBox="1"/>
          <p:nvPr/>
        </p:nvSpPr>
        <p:spPr>
          <a:xfrm>
            <a:off x="914400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2F6FE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02" name="SH 102"/>
          <p:cNvSpPr/>
          <p:nvPr/>
        </p:nvSpPr>
        <p:spPr>
          <a:xfrm>
            <a:off x="914400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03" name="TB 103"/>
          <p:cNvSpPr txBox="1"/>
          <p:nvPr/>
        </p:nvSpPr>
        <p:spPr>
          <a:xfrm>
            <a:off x="914400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서버 계약 확정</a:t>
            </a:r>
          </a:p>
        </p:txBody>
      </p:sp>
      <p:sp>
        <p:nvSpPr>
          <p:cNvPr id="104" name="SH 104"/>
          <p:cNvSpPr/>
          <p:nvPr/>
        </p:nvSpPr>
        <p:spPr>
          <a:xfrm>
            <a:off x="2898648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5" name="TB 105"/>
          <p:cNvSpPr txBox="1"/>
          <p:nvPr/>
        </p:nvSpPr>
        <p:spPr>
          <a:xfrm>
            <a:off x="3127248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2F6FE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06" name="SH 106"/>
          <p:cNvSpPr/>
          <p:nvPr/>
        </p:nvSpPr>
        <p:spPr>
          <a:xfrm>
            <a:off x="3127248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07" name="TB 107"/>
          <p:cNvSpPr txBox="1"/>
          <p:nvPr/>
        </p:nvSpPr>
        <p:spPr>
          <a:xfrm>
            <a:off x="3127248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클라 UI 기획서</a:t>
            </a:r>
          </a:p>
        </p:txBody>
      </p:sp>
      <p:sp>
        <p:nvSpPr>
          <p:cNvPr id="108" name="SH 108"/>
          <p:cNvSpPr/>
          <p:nvPr/>
        </p:nvSpPr>
        <p:spPr>
          <a:xfrm>
            <a:off x="5111496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9" name="TB 109"/>
          <p:cNvSpPr txBox="1"/>
          <p:nvPr/>
        </p:nvSpPr>
        <p:spPr>
          <a:xfrm>
            <a:off x="5340096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0" name="SH 110"/>
          <p:cNvSpPr/>
          <p:nvPr/>
        </p:nvSpPr>
        <p:spPr>
          <a:xfrm>
            <a:off x="5340096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1" name="TB 111"/>
          <p:cNvSpPr txBox="1"/>
          <p:nvPr/>
        </p:nvSpPr>
        <p:spPr>
          <a:xfrm>
            <a:off x="5340096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에디터 빌더로 화면을 굽고 런타임 컨트롤러 배선</a:t>
            </a:r>
          </a:p>
        </p:txBody>
      </p:sp>
      <p:sp>
        <p:nvSpPr>
          <p:cNvPr id="112" name="SH 112"/>
          <p:cNvSpPr/>
          <p:nvPr/>
        </p:nvSpPr>
        <p:spPr>
          <a:xfrm>
            <a:off x="7324344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TB 113"/>
          <p:cNvSpPr txBox="1"/>
          <p:nvPr/>
        </p:nvSpPr>
        <p:spPr>
          <a:xfrm>
            <a:off x="7552944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4" name="SH 114"/>
          <p:cNvSpPr/>
          <p:nvPr/>
        </p:nvSpPr>
        <p:spPr>
          <a:xfrm>
            <a:off x="7552944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5" name="TB 115"/>
          <p:cNvSpPr txBox="1"/>
          <p:nvPr/>
        </p:nvSpPr>
        <p:spPr>
          <a:xfrm>
            <a:off x="7552944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Unity MCP로 플레이 모드 진입 · 검증</a:t>
            </a:r>
          </a:p>
        </p:txBody>
      </p:sp>
      <p:sp>
        <p:nvSpPr>
          <p:cNvPr id="116" name="SH 116"/>
          <p:cNvSpPr/>
          <p:nvPr/>
        </p:nvSpPr>
        <p:spPr>
          <a:xfrm>
            <a:off x="9537192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7" name="TB 117"/>
          <p:cNvSpPr txBox="1"/>
          <p:nvPr/>
        </p:nvSpPr>
        <p:spPr>
          <a:xfrm>
            <a:off x="9765792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118" name="SH 118"/>
          <p:cNvSpPr/>
          <p:nvPr/>
        </p:nvSpPr>
        <p:spPr>
          <a:xfrm>
            <a:off x="9765792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9" name="TB 119"/>
          <p:cNvSpPr txBox="1"/>
          <p:nvPr/>
        </p:nvSpPr>
        <p:spPr>
          <a:xfrm>
            <a:off x="9765792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문서 · 현황판 갱신</a:t>
            </a:r>
          </a:p>
        </p:txBody>
      </p:sp>
      <p:sp>
        <p:nvSpPr>
          <p:cNvPr id="120" name="TB 120"/>
          <p:cNvSpPr txBox="1"/>
          <p:nvPr/>
        </p:nvSpPr>
        <p:spPr>
          <a:xfrm>
            <a:off x="2624328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1" name="TB 121"/>
          <p:cNvSpPr txBox="1"/>
          <p:nvPr/>
        </p:nvSpPr>
        <p:spPr>
          <a:xfrm>
            <a:off x="4837176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2" name="TB 122"/>
          <p:cNvSpPr txBox="1"/>
          <p:nvPr/>
        </p:nvSpPr>
        <p:spPr>
          <a:xfrm>
            <a:off x="7050024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3" name="TB 123"/>
          <p:cNvSpPr txBox="1"/>
          <p:nvPr/>
        </p:nvSpPr>
        <p:spPr>
          <a:xfrm>
            <a:off x="9262872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4" name="SH 124"/>
          <p:cNvSpPr/>
          <p:nvPr/>
        </p:nvSpPr>
        <p:spPr>
          <a:xfrm>
            <a:off x="685800" y="4754880"/>
            <a:ext cx="10789920" cy="82296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91440" rIns="365760" bIns="91440" rtlCol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서버가 확정한 계약 위에서</a:t>
            </a:r>
            <a:r>
              <a:rPr lang="ko-KR" altLang="en-US" sz="1200" b="0" dirty="0">
                <a:solidFill>
                  <a:srgbClr val="6B7684"/>
                </a:solidFill>
                <a:latin typeface="맑은 고딕"/>
                <a:ea typeface="맑은 고딕"/>
              </a:rPr>
              <a:t>  ·  화면을 손으로 조립하지 않고 "화면을 만드는 코드"로 굽는다</a:t>
            </a:r>
          </a:p>
        </p:txBody>
      </p:sp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8. UI를 손으로 만들지 않는다 — 에디터 빌더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0" dirty="0" err="1">
                <a:solidFill>
                  <a:srgbClr val="6B7684"/>
                </a:solidFill>
                <a:latin typeface="맑은 고딕"/>
              </a:rPr>
              <a:t>클로드는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 유니티 에디터의 화면을 눈으로 확인하지 못한다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.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에디터-빌더-스크립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5760720" cy="3495635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5598755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에디터 메뉴 TaskbarHero/UI — 화면별 빌더가 메뉴 항목으로 노출된다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3643" y="2477543"/>
            <a:ext cx="4709160" cy="2563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dirty="0">
                <a:solidFill>
                  <a:srgbClr val="1B2430"/>
                </a:solidFill>
                <a:latin typeface="맑은 고딕"/>
              </a:rPr>
              <a:t>AI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에이전트는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Inspector에서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오브젝트를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끌어다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놓거나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화면을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눈으로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보며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배치를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다듬을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수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없다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00" b="0" dirty="0" err="1">
                <a:solidFill>
                  <a:srgbClr val="6B7684"/>
                </a:solidFill>
                <a:latin typeface="맑은 고딕"/>
              </a:rPr>
              <a:t>그래서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UI를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손으로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조립하는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대신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계층을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생성하는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에디터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스크립트"를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작성해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메뉴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한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번으로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화면을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굽는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방식을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택했다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300" b="1" dirty="0">
                <a:solidFill>
                  <a:srgbClr val="2F6FE4"/>
                </a:solidFill>
                <a:latin typeface="맑은 고딕"/>
              </a:rPr>
              <a:t>Assets/Editor/ </a:t>
            </a:r>
            <a:r>
              <a:rPr sz="1300" b="1" dirty="0" err="1">
                <a:solidFill>
                  <a:srgbClr val="2F6FE4"/>
                </a:solidFill>
                <a:latin typeface="맑은 고딕"/>
              </a:rPr>
              <a:t>에디터</a:t>
            </a:r>
            <a:r>
              <a:rPr sz="13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2F6FE4"/>
                </a:solidFill>
                <a:latin typeface="맑은 고딕"/>
              </a:rPr>
              <a:t>스크립트</a:t>
            </a:r>
            <a:r>
              <a:rPr sz="1300" b="1" dirty="0">
                <a:solidFill>
                  <a:srgbClr val="2F6FE4"/>
                </a:solidFill>
                <a:latin typeface="맑은 고딕"/>
              </a:rPr>
              <a:t> 35개, </a:t>
            </a:r>
            <a:r>
              <a:rPr sz="1300" b="1" dirty="0" err="1">
                <a:solidFill>
                  <a:srgbClr val="2F6FE4"/>
                </a:solidFill>
                <a:latin typeface="맑은 고딕"/>
              </a:rPr>
              <a:t>그중</a:t>
            </a:r>
            <a:r>
              <a:rPr sz="1300" b="1" dirty="0">
                <a:solidFill>
                  <a:srgbClr val="2F6FE4"/>
                </a:solidFill>
                <a:latin typeface="맑은 고딕"/>
              </a:rPr>
              <a:t> 13개가 *</a:t>
            </a:r>
            <a:r>
              <a:rPr sz="1300" b="1" dirty="0" err="1">
                <a:solidFill>
                  <a:srgbClr val="2F6FE4"/>
                </a:solidFill>
                <a:latin typeface="맑은 고딕"/>
              </a:rPr>
              <a:t>UiBuilder</a:t>
            </a:r>
            <a:endParaRPr sz="130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 dirty="0" err="1">
                <a:solidFill>
                  <a:srgbClr val="1B2430"/>
                </a:solidFill>
                <a:latin typeface="맑은 고딕"/>
              </a:rPr>
              <a:t>재현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가능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 · 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화면이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코드에서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재생성된다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깨지면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다시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굽는다</a:t>
            </a:r>
            <a:endParaRPr sz="1000" b="0" dirty="0">
              <a:solidFill>
                <a:srgbClr val="1B2430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 dirty="0" err="1">
                <a:solidFill>
                  <a:srgbClr val="1B2430"/>
                </a:solidFill>
                <a:latin typeface="맑은 고딕"/>
              </a:rPr>
              <a:t>리뷰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가능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 ·  UI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변경이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.unity/.prefab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바이너리가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아니라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1000" dirty="0">
                <a:solidFill>
                  <a:srgbClr val="1B2430"/>
                </a:solidFill>
                <a:latin typeface="맑은 고딕"/>
              </a:rPr>
              <a:t>코드 변경을 통해 이뤄져</a:t>
            </a:r>
            <a:r>
              <a:rPr lang="en-US" altLang="ko-KR" sz="1000" dirty="0">
                <a:solidFill>
                  <a:srgbClr val="1B2430"/>
                </a:solidFill>
                <a:latin typeface="맑은 고딕"/>
              </a:rPr>
              <a:t>, </a:t>
            </a:r>
            <a:r>
              <a:rPr lang="ko-KR" altLang="en-US" sz="1000" dirty="0" err="1">
                <a:solidFill>
                  <a:srgbClr val="1B2430"/>
                </a:solidFill>
                <a:latin typeface="맑은 고딕"/>
              </a:rPr>
              <a:t>클로드에서</a:t>
            </a:r>
            <a:r>
              <a:rPr lang="ko-KR" altLang="en-US" sz="1000" dirty="0">
                <a:solidFill>
                  <a:srgbClr val="1B2430"/>
                </a:solidFill>
                <a:latin typeface="맑은 고딕"/>
              </a:rPr>
              <a:t> 빠르게 변경사항을 캐치할 수 있다</a:t>
            </a:r>
            <a:r>
              <a:rPr lang="en-US" altLang="ko-KR" sz="1000" dirty="0">
                <a:solidFill>
                  <a:srgbClr val="1B2430"/>
                </a:solidFill>
                <a:latin typeface="맑은 고딕"/>
              </a:rPr>
              <a:t>.</a:t>
            </a:r>
            <a:endParaRPr sz="1000" b="0" dirty="0">
              <a:solidFill>
                <a:srgbClr val="1B2430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dirty="0" err="1">
                <a:solidFill>
                  <a:srgbClr val="1B2430"/>
                </a:solidFill>
                <a:latin typeface="맑은 고딕"/>
              </a:rPr>
              <a:t>대화로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수정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가능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 ·  "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패널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폭을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줄여라"를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빌더의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숫자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하나로</a:t>
            </a:r>
            <a:endParaRPr sz="1000" b="0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22</a:t>
            </a:r>
          </a:p>
        </p:txBody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HARNESS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8.1  개발용 하네스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인게임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전투를 개발하기 위한 개발용 씬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BattleDev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71" y="2057400"/>
            <a:ext cx="5093738" cy="301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85800" y="51663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dirty="0" err="1">
                <a:solidFill>
                  <a:srgbClr val="6B7684"/>
                </a:solidFill>
                <a:latin typeface="맑은 고딕"/>
              </a:rPr>
              <a:t>BattleDevScene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파티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4인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스탯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스킬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쿨다운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소환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선택을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IMGUI로</a:t>
            </a:r>
            <a:endParaRPr sz="11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9" name="Picture 8" descr="AnimDevSce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81" y="2057400"/>
            <a:ext cx="5191037" cy="301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6309360" y="51663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AnimDevScene — 클립 목록 · 직업/성별 전환 · 무기 강화 단계별 이펙트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32120"/>
            <a:ext cx="10789920" cy="7709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BattleDevScene은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로그인·스테이지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진입을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거치지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전투만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켠다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광역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데미지가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몇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대에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들어갔는지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쿨다운이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실제로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도는지를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숫자로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확인한다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이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IMGUI는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개발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전용이라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serverMode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=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true인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GameScene에서는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OnGUI가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자동으로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생략된다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진입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단계가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짧을수록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원격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검증의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실패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지점이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줄고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측정값도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다른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시스템에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오염되지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않는다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23</a:t>
            </a:r>
          </a:p>
        </p:txBody>
      </p:sp>
      <p:pic>
        <p:nvPicPr>
          <p:cNvPr id="13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ASSETS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9. 자산 파이프라인 — 코드로 생성한다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아트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리소스를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외주·구매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없이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이미지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생성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을 통해 클라이언트에서 활용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785644"/>
              </p:ext>
            </p:extLst>
          </p:nvPr>
        </p:nvGraphicFramePr>
        <p:xfrm>
          <a:off x="685800" y="1892808"/>
          <a:ext cx="10789920" cy="31272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자산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도구</a:t>
                      </a:r>
                      <a:endParaRPr sz="120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산출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아이템 · 스킬 · UI 아이콘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pixel-item-icons 스킬 (절차적 픽셀 아트 + 팔레트 레지스트리)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Assets/Art/Icon/ — 아이템 96종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전투 · 버프 · 투사체 이펙트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unity-pixel-vfx 스킬 (프레임 시퀀스 PNG)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Assets/Art/Effect/*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BGM · 효과음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tools/poe-sfx/generate_sound.py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Assets/Sound/ — 67종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마스터 데이터 번들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tools/master_data_export.py (마스터 DB → camelCase JSON)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Resources/MasterData/*.json — 17개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몬스터(능력치+외형+프리팹)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master-monster 스킬 + master_monster_tool.py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monster_{code}.prefab — 12종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24</a:t>
            </a:r>
          </a:p>
        </p:txBody>
      </p:sp>
      <p:pic>
        <p:nvPicPr>
          <p:cNvPr id="1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10. 몬스터를 요청 한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줄로</a:t>
            </a:r>
            <a:r>
              <a:rPr lang="en-US" sz="3000" b="1" dirty="0">
                <a:solidFill>
                  <a:srgbClr val="1B2430"/>
                </a:solidFill>
                <a:latin typeface="맑은 고딕"/>
              </a:rPr>
              <a:t> -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스테이지별 몬스터 작업 자동화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검은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갑옷의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스켈레톤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기사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2지역 5스테이지에 4마리" → 그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몬스터가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실제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전투에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나온다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25</a:t>
            </a:r>
          </a:p>
        </p:txBody>
      </p:sp>
      <p:sp>
        <p:nvSpPr>
          <p:cNvPr id="100" name="SH 100"/>
          <p:cNvSpPr/>
          <p:nvPr/>
        </p:nvSpPr>
        <p:spPr>
          <a:xfrm>
            <a:off x="1328881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1" name="TB 101"/>
          <p:cNvSpPr txBox="1"/>
          <p:nvPr/>
        </p:nvSpPr>
        <p:spPr>
          <a:xfrm>
            <a:off x="1443181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102" name="TB 102"/>
          <p:cNvSpPr txBox="1"/>
          <p:nvPr/>
        </p:nvSpPr>
        <p:spPr>
          <a:xfrm>
            <a:off x="1443181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입력 해석</a:t>
            </a:r>
          </a:p>
        </p:txBody>
      </p:sp>
      <p:sp>
        <p:nvSpPr>
          <p:cNvPr id="103" name="SH 103"/>
          <p:cNvSpPr/>
          <p:nvPr/>
        </p:nvSpPr>
        <p:spPr>
          <a:xfrm>
            <a:off x="2896423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4" name="TB 104"/>
          <p:cNvSpPr txBox="1"/>
          <p:nvPr/>
        </p:nvSpPr>
        <p:spPr>
          <a:xfrm>
            <a:off x="3010723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05" name="TB 105"/>
          <p:cNvSpPr txBox="1"/>
          <p:nvPr/>
        </p:nvSpPr>
        <p:spPr>
          <a:xfrm>
            <a:off x="3010723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능력치 · 외형 결정</a:t>
            </a:r>
          </a:p>
        </p:txBody>
      </p:sp>
      <p:sp>
        <p:nvSpPr>
          <p:cNvPr id="106" name="SH 106"/>
          <p:cNvSpPr/>
          <p:nvPr/>
        </p:nvSpPr>
        <p:spPr>
          <a:xfrm>
            <a:off x="4463965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7" name="TB 107"/>
          <p:cNvSpPr txBox="1"/>
          <p:nvPr/>
        </p:nvSpPr>
        <p:spPr>
          <a:xfrm>
            <a:off x="4578265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08" name="TB 108"/>
          <p:cNvSpPr txBox="1"/>
          <p:nvPr/>
        </p:nvSpPr>
        <p:spPr>
          <a:xfrm>
            <a:off x="4578265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정본 + 스폰 반영</a:t>
            </a:r>
          </a:p>
        </p:txBody>
      </p:sp>
      <p:sp>
        <p:nvSpPr>
          <p:cNvPr id="109" name="SH 109"/>
          <p:cNvSpPr/>
          <p:nvPr/>
        </p:nvSpPr>
        <p:spPr>
          <a:xfrm>
            <a:off x="6031507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0" name="TB 110"/>
          <p:cNvSpPr txBox="1"/>
          <p:nvPr/>
        </p:nvSpPr>
        <p:spPr>
          <a:xfrm>
            <a:off x="6145807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E0A526"/>
                </a:solidFill>
                <a:latin typeface="맑은 고딕"/>
                <a:ea typeface="맑은 고딕"/>
              </a:rPr>
              <a:t>④</a:t>
            </a:r>
          </a:p>
        </p:txBody>
      </p:sp>
      <p:sp>
        <p:nvSpPr>
          <p:cNvPr id="111" name="TB 111"/>
          <p:cNvSpPr txBox="1"/>
          <p:nvPr/>
        </p:nvSpPr>
        <p:spPr>
          <a:xfrm>
            <a:off x="6145807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프리팹 생성</a:t>
            </a:r>
          </a:p>
        </p:txBody>
      </p:sp>
      <p:sp>
        <p:nvSpPr>
          <p:cNvPr id="112" name="SH 112"/>
          <p:cNvSpPr/>
          <p:nvPr/>
        </p:nvSpPr>
        <p:spPr>
          <a:xfrm>
            <a:off x="7599049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TB 113"/>
          <p:cNvSpPr txBox="1"/>
          <p:nvPr/>
        </p:nvSpPr>
        <p:spPr>
          <a:xfrm>
            <a:off x="7713349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E0A526"/>
                </a:solidFill>
                <a:latin typeface="맑은 고딕"/>
                <a:ea typeface="맑은 고딕"/>
              </a:rPr>
              <a:t>⑤</a:t>
            </a:r>
          </a:p>
        </p:txBody>
      </p:sp>
      <p:sp>
        <p:nvSpPr>
          <p:cNvPr id="114" name="TB 114"/>
          <p:cNvSpPr txBox="1"/>
          <p:nvPr/>
        </p:nvSpPr>
        <p:spPr>
          <a:xfrm>
            <a:off x="7713349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 err="1">
                <a:solidFill>
                  <a:srgbClr val="1B2430"/>
                </a:solidFill>
                <a:latin typeface="맑은 고딕"/>
                <a:ea typeface="맑은 고딕"/>
              </a:rPr>
              <a:t>인게임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 전투 적용</a:t>
            </a:r>
          </a:p>
        </p:txBody>
      </p:sp>
      <p:sp>
        <p:nvSpPr>
          <p:cNvPr id="115" name="SH 115"/>
          <p:cNvSpPr/>
          <p:nvPr/>
        </p:nvSpPr>
        <p:spPr>
          <a:xfrm>
            <a:off x="9166591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6" name="TB 116"/>
          <p:cNvSpPr txBox="1"/>
          <p:nvPr/>
        </p:nvSpPr>
        <p:spPr>
          <a:xfrm>
            <a:off x="9280891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⑥</a:t>
            </a:r>
          </a:p>
        </p:txBody>
      </p:sp>
      <p:sp>
        <p:nvSpPr>
          <p:cNvPr id="117" name="TB 117"/>
          <p:cNvSpPr txBox="1"/>
          <p:nvPr/>
        </p:nvSpPr>
        <p:spPr>
          <a:xfrm>
            <a:off x="9280891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121" name="TB 121"/>
          <p:cNvSpPr txBox="1"/>
          <p:nvPr/>
        </p:nvSpPr>
        <p:spPr>
          <a:xfrm>
            <a:off x="2713543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2" name="TB 122"/>
          <p:cNvSpPr txBox="1"/>
          <p:nvPr/>
        </p:nvSpPr>
        <p:spPr>
          <a:xfrm>
            <a:off x="4281085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3" name="TB 123"/>
          <p:cNvSpPr txBox="1"/>
          <p:nvPr/>
        </p:nvSpPr>
        <p:spPr>
          <a:xfrm>
            <a:off x="5848627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4" name="TB 124"/>
          <p:cNvSpPr txBox="1"/>
          <p:nvPr/>
        </p:nvSpPr>
        <p:spPr>
          <a:xfrm>
            <a:off x="7416169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5" name="TB 125"/>
          <p:cNvSpPr txBox="1"/>
          <p:nvPr/>
        </p:nvSpPr>
        <p:spPr>
          <a:xfrm>
            <a:off x="8983711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7" name="SH 127"/>
          <p:cNvSpPr/>
          <p:nvPr/>
        </p:nvSpPr>
        <p:spPr>
          <a:xfrm>
            <a:off x="1328881" y="4366260"/>
            <a:ext cx="4519746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③ 도구(CLI)</a:t>
            </a:r>
          </a:p>
        </p:txBody>
      </p:sp>
      <p:sp>
        <p:nvSpPr>
          <p:cNvPr id="128" name="SH 128"/>
          <p:cNvSpPr/>
          <p:nvPr/>
        </p:nvSpPr>
        <p:spPr>
          <a:xfrm>
            <a:off x="1420321" y="4183380"/>
            <a:ext cx="4336866" cy="190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29" name="SH 129"/>
          <p:cNvSpPr/>
          <p:nvPr/>
        </p:nvSpPr>
        <p:spPr>
          <a:xfrm>
            <a:off x="1420321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0" name="SH 130"/>
          <p:cNvSpPr/>
          <p:nvPr/>
        </p:nvSpPr>
        <p:spPr>
          <a:xfrm>
            <a:off x="5738137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1" name="SH 131"/>
          <p:cNvSpPr/>
          <p:nvPr/>
        </p:nvSpPr>
        <p:spPr>
          <a:xfrm>
            <a:off x="3579229" y="418338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2" name="SH 132"/>
          <p:cNvSpPr/>
          <p:nvPr/>
        </p:nvSpPr>
        <p:spPr>
          <a:xfrm>
            <a:off x="6031507" y="4366260"/>
            <a:ext cx="2952204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④⑤ Unity MCP</a:t>
            </a:r>
          </a:p>
        </p:txBody>
      </p:sp>
      <p:sp>
        <p:nvSpPr>
          <p:cNvPr id="133" name="SH 133"/>
          <p:cNvSpPr/>
          <p:nvPr/>
        </p:nvSpPr>
        <p:spPr>
          <a:xfrm>
            <a:off x="6122947" y="4183380"/>
            <a:ext cx="2769324" cy="190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4" name="SH 134"/>
          <p:cNvSpPr/>
          <p:nvPr/>
        </p:nvSpPr>
        <p:spPr>
          <a:xfrm>
            <a:off x="6122947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5" name="SH 135"/>
          <p:cNvSpPr/>
          <p:nvPr/>
        </p:nvSpPr>
        <p:spPr>
          <a:xfrm>
            <a:off x="8873221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6" name="SH 136"/>
          <p:cNvSpPr/>
          <p:nvPr/>
        </p:nvSpPr>
        <p:spPr>
          <a:xfrm>
            <a:off x="7498084" y="418338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10.1  몬스터의 외형을 자동 결정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CharacterDevScene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능력치는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자동이지만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뽑힌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외형이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쓸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만한지는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사람이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봐야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몬스터-외형자동결정-결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6675120" cy="37033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20000" y="2788045"/>
            <a:ext cx="3886200" cy="21505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왼쪽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몬스터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목록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코드·이름·hp·atk와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추천값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대비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편차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, [PR](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Prefab·Recipe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)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보유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표시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가운데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외형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프리뷰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고른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몬스터의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프리팹을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그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자리에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세운다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오른쪽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능력치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·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외형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·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산출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추천값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채우기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레시피와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시드가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고른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파트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목록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외형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재생성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저장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스니펫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복사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26</a:t>
            </a:r>
          </a:p>
        </p:txBody>
      </p:sp>
      <p:pic>
        <p:nvPicPr>
          <p:cNvPr id="10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10.2  파이프라인의 산출물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현재 게임의 몬스터 12종(일반 7 + Act별 보스 5)이 전부 이 파이프라인 산출물</a:t>
            </a:r>
          </a:p>
        </p:txBody>
      </p:sp>
      <p:pic>
        <p:nvPicPr>
          <p:cNvPr id="7" name="Picture 6" descr="몬스터-자동생성-전투.png"/>
          <p:cNvPicPr>
            <a:picLocks noChangeAspect="1"/>
          </p:cNvPicPr>
          <p:nvPr/>
        </p:nvPicPr>
        <p:blipFill>
          <a:blip r:embed="rId2"/>
          <a:srcRect l="36124"/>
          <a:stretch>
            <a:fillRect/>
          </a:stretch>
        </p:blipFill>
        <p:spPr>
          <a:xfrm>
            <a:off x="1549598" y="2148840"/>
            <a:ext cx="3850244" cy="18836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57200" y="4123944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생성된 몬스터가 실제 전투에 등장 — 오른쪽 6종이 모두 파이프라인 산출물</a:t>
            </a:r>
          </a:p>
        </p:txBody>
      </p:sp>
      <p:pic>
        <p:nvPicPr>
          <p:cNvPr id="9" name="Picture 8" descr="몬스터-자동생성-라인업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400" y="2148840"/>
            <a:ext cx="5074360" cy="18836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6675120" y="4123944"/>
            <a:ext cx="5074920" cy="189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인게임에 등장하는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12종 — </a:t>
            </a:r>
            <a:r>
              <a:rPr lang="en-US" sz="1100" b="0" dirty="0">
                <a:solidFill>
                  <a:srgbClr val="6B7684"/>
                </a:solidFill>
                <a:latin typeface="맑은 고딕"/>
              </a:rPr>
              <a:t>1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지역 </a:t>
            </a:r>
            <a:r>
              <a:rPr lang="en-US" altLang="ko-KR" sz="1100" b="0" dirty="0">
                <a:solidFill>
                  <a:srgbClr val="6B7684"/>
                </a:solidFill>
                <a:latin typeface="맑은 고딕"/>
              </a:rPr>
              <a:t>~ 5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지역</a:t>
            </a:r>
            <a:endParaRPr sz="11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4754880"/>
            <a:ext cx="10789920" cy="11773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외형만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바꾸는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요청은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서버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손으로 만든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프리팹이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하나도 없다 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—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전부 태그 → 레시피 →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→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스폰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테이블을 거쳐 전투에 들어왔다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이름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·HP·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공격력은 서버 정본에서 추출한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번들에서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읽는다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정본·DB·번들을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건드리지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않는다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같은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경로에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덮어써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GUID가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유지되므로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뽑아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달라"를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몇 번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반복해도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DB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재적용도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씬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수정도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없다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27</a:t>
            </a:r>
          </a:p>
        </p:txBody>
      </p:sp>
      <p:pic>
        <p:nvPicPr>
          <p:cNvPr id="13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 err="1">
                <a:solidFill>
                  <a:srgbClr val="1B2430"/>
                </a:solidFill>
                <a:latin typeface="맑은 고딕"/>
              </a:rPr>
              <a:t>정리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—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과제 진행 간 세가지 축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624328"/>
            <a:ext cx="30175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를 기반으로 작업을 시작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5256" y="3017520"/>
            <a:ext cx="3017520" cy="1662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코드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작성을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바로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시키지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기획서를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먼저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확정한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뒤 그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문서를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기반으로만 작업을 진행한다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확정"과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그렇게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정한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이유"를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함께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남겨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그때 왜 이렇게 했지 라는 질문에 대해 스스로 답을 찾을 수 있도록 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만드는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절차를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코드로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90288" y="3017520"/>
            <a:ext cx="30175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화면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아이콘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이펙트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마스터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번들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산출물을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직접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편집하지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그것을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생성하는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스크립트를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남겼다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그래서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어느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것이든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만들어라"가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실행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가능한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요청이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된다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624328"/>
            <a:ext cx="30175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유니티 </a:t>
            </a:r>
            <a:r>
              <a:rPr lang="en-US" altLang="ko-KR" sz="1500" b="1" dirty="0">
                <a:solidFill>
                  <a:srgbClr val="1B2430"/>
                </a:solidFill>
                <a:latin typeface="맑은 고딕"/>
              </a:rPr>
              <a:t>MCP +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1500" b="1" dirty="0" err="1">
                <a:solidFill>
                  <a:srgbClr val="1B2430"/>
                </a:solidFill>
                <a:latin typeface="맑은 고딕"/>
              </a:rPr>
              <a:t>하네스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 구성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75320" y="3017520"/>
            <a:ext cx="3017520" cy="1892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개발자가 직접 보는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씬이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 아닌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클로드를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 위한 개발용 </a:t>
            </a:r>
            <a:r>
              <a:rPr lang="en-US" altLang="ko-KR" sz="1150" b="0" dirty="0" err="1">
                <a:solidFill>
                  <a:srgbClr val="6B7684"/>
                </a:solidFill>
                <a:latin typeface="맑은 고딕"/>
              </a:rPr>
              <a:t>DevScene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들을 추가하여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구현에 대한 검증과 테스트가 효율적으로 이뤄지도록 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lang="en-US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아이템 및 몬스터 등 일부 리소스에 대한 클라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서버 작업을 자동화하여 효율적으로 과제를 진행할 수 있도록 구성하였다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  <a:endParaRPr lang="en-US"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28</a:t>
            </a:r>
          </a:p>
        </p:txBody>
      </p:sp>
      <p:pic>
        <p:nvPicPr>
          <p:cNvPr id="2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794760"/>
            <a:ext cx="1463040" cy="457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</TotalTime>
  <Words>2653</Words>
  <Application>Microsoft Office PowerPoint</Application>
  <PresentationFormat>와이드스크린</PresentationFormat>
  <Paragraphs>421</Paragraphs>
  <Slides>29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4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com2usholdings602</cp:lastModifiedBy>
  <cp:revision>26</cp:revision>
  <dcterms:created xsi:type="dcterms:W3CDTF">2013-01-27T09:14:16Z</dcterms:created>
  <dcterms:modified xsi:type="dcterms:W3CDTF">2026-08-13T06:57:29Z</dcterms:modified>
  <cp:category/>
</cp:coreProperties>
</file>