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5" r:id="rId11"/>
    <p:sldId id="297" r:id="rId12"/>
    <p:sldId id="298" r:id="rId13"/>
    <p:sldId id="300" r:id="rId14"/>
    <p:sldId id="267" r:id="rId15"/>
    <p:sldId id="268" r:id="rId16"/>
    <p:sldId id="269" r:id="rId17"/>
    <p:sldId id="270" r:id="rId18"/>
    <p:sldId id="271" r:id="rId19"/>
    <p:sldId id="272" r:id="rId20"/>
    <p:sldId id="277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73" r:id="rId36"/>
    <p:sldId id="274" r:id="rId37"/>
    <p:sldId id="275" r:id="rId38"/>
    <p:sldId id="276" r:id="rId39"/>
    <p:sldId id="293" r:id="rId40"/>
    <p:sldId id="294" r:id="rId4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hvl5lWgQYF+5+841CAmgrQLhPS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17F4239-6CF6-4BE5-99FF-9D92B26D0C97}">
  <a:tblStyle styleId="{117F4239-6CF6-4BE5-99FF-9D92B26D0C9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93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24" y="1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6" name="Google Shape;3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2" name="Google Shape;3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6" name="Google Shape;4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265489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7" name="Google Shape;6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2" name="Google Shape;64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9" name="Google Shape;65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0" name="Google Shape;66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4" name="Google Shape;68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4" name="Google Shape;7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8" name="Google Shape;71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4" name="Google Shape;83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5" name="Google Shape;88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3" name="Google Shape;89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7" name="Google Shape;92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1" name="Google Shape;96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6" name="Google Shape;99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1" name="Google Shape;102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2" name="Google Shape;106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8" name="Google Shape;107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3" name="Google Shape;110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4" name="Google Shape;112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8" name="Google Shape;116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1" name="Google Shape;118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7" name="Google Shape;119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6" name="Google Shape;121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0" name="Google Shape;77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1" name="Google Shape;79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6" name="Google Shape;80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9" name="Google Shape;81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3" name="Google Shape;123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5" name="Google Shape;125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4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4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4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4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914400" y="1409387"/>
            <a:ext cx="10058400" cy="1066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 컴투스 지니어스 8기 과제발표</a:t>
            </a:r>
            <a:endParaRPr sz="2400" b="1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테크코어실 백엔드기술팀 </a:t>
            </a:r>
            <a:endParaRPr sz="1800" b="1" i="0" u="none" strike="noStrike" cap="none">
              <a:solidFill>
                <a:srgbClr val="E0A5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인턴 권순욱</a:t>
            </a:r>
            <a:endParaRPr sz="1500" b="1" i="0" u="none" strike="noStrike" cap="none">
              <a:solidFill>
                <a:srgbClr val="E0A5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914400" y="3311665"/>
            <a:ext cx="10241280" cy="169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방치형 게임(Com2us Taskbar Hero)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005840" y="4160520"/>
            <a:ext cx="14630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305" y="-4572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목차</a:t>
            </a:r>
            <a:endParaRPr sz="30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/>
          <p:nvPr/>
        </p:nvSpPr>
        <p:spPr>
          <a:xfrm>
            <a:off x="685800" y="2011680"/>
            <a:ext cx="5166360" cy="424650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097280" y="237744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제1부 — 서버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097280" y="317296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645920" y="3172968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아키텍처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097280" y="509320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645920" y="5093208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시 각 단계에 대해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1097280" y="5477256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645920" y="5477256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 체계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6309360" y="2011680"/>
            <a:ext cx="5166360" cy="3447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6720840" y="237744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제2부 — 클라이언트(Unity)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6720840" y="28529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7269480" y="2852928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소개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6720840" y="3282696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7269480" y="3282696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Claude AI를 이용한 유니티 클라이언트 개발</a:t>
            </a:r>
            <a:endParaRPr sz="1250" b="0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6720840" y="371246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7269480" y="3712464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사운드 리소스 생성 및 관리</a:t>
            </a:r>
            <a:endParaRPr sz="1250" b="0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1097280" y="27889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250" b="1" i="0" u="none" strike="noStrike" cap="none">
              <a:solidFill>
                <a:srgbClr val="E0A5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1645920" y="278892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개요</a:t>
            </a:r>
            <a:endParaRPr sz="1250" b="0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1097280" y="586130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1645920" y="5861304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 관리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6720840" y="414223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7269480" y="4142232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개발용 하네스 씬 구성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6720840" y="457200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7269480" y="4572000"/>
            <a:ext cx="3794760" cy="24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아이템 생성 기능 자동화</a:t>
            </a:r>
            <a:endParaRPr sz="1250" b="0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1097280" y="3557015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250" b="1" i="0" u="none" strike="noStrike" cap="none">
              <a:solidFill>
                <a:srgbClr val="E0A5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1645920" y="3557015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데이터베이스 설계</a:t>
            </a:r>
            <a:endParaRPr sz="1250" b="0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" name="Google Shape;126;p2"/>
          <p:cNvSpPr txBox="1"/>
          <p:nvPr/>
        </p:nvSpPr>
        <p:spPr>
          <a:xfrm>
            <a:off x="1097280" y="3941063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250" b="1" i="0" u="none" strike="noStrike" cap="none">
              <a:solidFill>
                <a:srgbClr val="E0A5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Google Shape;127;p2"/>
          <p:cNvSpPr txBox="1"/>
          <p:nvPr/>
        </p:nvSpPr>
        <p:spPr>
          <a:xfrm>
            <a:off x="1645920" y="3941063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가챠 뽑기</a:t>
            </a:r>
            <a:endParaRPr sz="1250" b="0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01" name="TocBatch9301"/>
          <p:cNvSpPr txBox="1"/>
          <p:nvPr/>
        </p:nvSpPr>
        <p:spPr>
          <a:xfrm>
            <a:off x="1097280" y="470916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2" name="TocBatch9302"/>
          <p:cNvSpPr txBox="1"/>
          <p:nvPr/>
        </p:nvSpPr>
        <p:spPr>
          <a:xfrm>
            <a:off x="1645920" y="470916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배치 서버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0" name="TocNum5"/>
          <p:cNvSpPr txBox="1"/>
          <p:nvPr/>
        </p:nvSpPr>
        <p:spPr>
          <a:xfrm>
            <a:off x="1097280" y="432511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1250" b="1" i="0" u="none" strike="noStrike" cap="none">
              <a:solidFill>
                <a:srgbClr val="E0A5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11" name="TocTtl5"/>
          <p:cNvSpPr txBox="1"/>
          <p:nvPr/>
        </p:nvSpPr>
        <p:spPr>
          <a:xfrm>
            <a:off x="1645920" y="4325112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거래소 구매</a:t>
            </a:r>
            <a:endParaRPr sz="1250" b="0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01" name="TocNum16"/>
          <p:cNvSpPr txBox="1"/>
          <p:nvPr/>
        </p:nvSpPr>
        <p:spPr>
          <a:xfrm>
            <a:off x="6720840" y="500176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2" name="TocTtl16"/>
          <p:cNvSpPr txBox="1"/>
          <p:nvPr/>
        </p:nvSpPr>
        <p:spPr>
          <a:xfrm>
            <a:off x="7269480" y="5001768"/>
            <a:ext cx="3794760" cy="24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밸런스 수치 조절 하네스</a:t>
            </a:r>
            <a:endParaRPr sz="1250" b="0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1097280" y="26517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1097280" y="310896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OVERVIEW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685800" y="914400"/>
            <a:ext cx="10881360" cy="51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프로젝트 개요</a:t>
            </a:r>
            <a:endParaRPr sz="30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85800" y="2148840"/>
            <a:ext cx="24917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905256" y="2331720"/>
            <a:ext cx="20528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905256" y="2624328"/>
            <a:ext cx="20528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AccountServer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905256" y="3017520"/>
            <a:ext cx="2052828" cy="20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계정 · 인증 서비스</a:t>
            </a:r>
            <a:endParaRPr sz="11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3451860" y="2148840"/>
            <a:ext cx="24917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3671316" y="2331720"/>
            <a:ext cx="20528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3671316" y="2624328"/>
            <a:ext cx="20528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GameServer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3671316" y="3017520"/>
            <a:ext cx="2052828" cy="23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컨텐츠 제공</a:t>
            </a:r>
            <a:endParaRPr sz="11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8983980" y="2148840"/>
            <a:ext cx="24917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9203436" y="2331720"/>
            <a:ext cx="20528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9203436" y="2624328"/>
            <a:ext cx="20528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TaskbarHero.Common</a:t>
            </a:r>
            <a:endParaRPr sz="15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9203436" y="3017520"/>
            <a:ext cx="2052828" cy="47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클라, 서버간 공유 클래스</a:t>
            </a:r>
            <a:endParaRPr sz="11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Ex) Dto, 에러코드…</a:t>
            </a:r>
            <a:endParaRPr sz="11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3977640"/>
            <a:ext cx="3837594" cy="1664900"/>
          </a:xfrm>
          <a:prstGeom prst="rect">
            <a:avLst/>
          </a:prstGeom>
          <a:noFill/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9" name="Google Shape;169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80594" y="3977640"/>
            <a:ext cx="3068410" cy="1664900"/>
          </a:xfrm>
          <a:prstGeom prst="rect">
            <a:avLst/>
          </a:prstGeom>
          <a:noFill/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0" name="Google Shape;170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06204" y="3977640"/>
            <a:ext cx="2968516" cy="166490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171" name="Google Shape;171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4"/>
          <p:cNvSpPr txBox="1"/>
          <p:nvPr/>
        </p:nvSpPr>
        <p:spPr>
          <a:xfrm>
            <a:off x="685800" y="5779700"/>
            <a:ext cx="383759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원작 스팀 게임 TBH : 태스크바 히어로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4980594" y="5779700"/>
            <a:ext cx="649412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모작 : Com2us Taskbar Hero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6217920" y="2148840"/>
            <a:ext cx="24917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6437376" y="2331720"/>
            <a:ext cx="2052828" cy="250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스케줄링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6437376" y="2624328"/>
            <a:ext cx="20528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BatchServer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6437376" y="2949569"/>
            <a:ext cx="2052828" cy="557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주기 배치 전담 워커</a:t>
            </a:r>
            <a:endParaRPr sz="80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보관기간 만료 메일 정리</a:t>
            </a:r>
            <a:endParaRPr sz="80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보스러시 시즌 순위별 보상 지급(정산)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5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5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685800" y="914400"/>
            <a:ext cx="328615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시스템 아키텍처</a:t>
            </a:r>
            <a:endParaRPr sz="30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85800" y="2240280"/>
            <a:ext cx="1965960" cy="78814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832104" y="2359152"/>
            <a:ext cx="411480" cy="41148"/>
          </a:xfrm>
          <a:prstGeom prst="rect">
            <a:avLst/>
          </a:prstGeom>
          <a:solidFill>
            <a:srgbClr val="6B768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832104" y="2468880"/>
            <a:ext cx="1673351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Unity 클라이언트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3246120" y="1828800"/>
            <a:ext cx="3383280" cy="2468880"/>
          </a:xfrm>
          <a:prstGeom prst="roundRect">
            <a:avLst>
              <a:gd name="adj" fmla="val 3000"/>
            </a:avLst>
          </a:prstGeom>
          <a:noFill/>
          <a:ln w="12700" cap="flat" cmpd="sng">
            <a:solidFill>
              <a:srgbClr val="D8DEE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3364991" y="1892807"/>
            <a:ext cx="3145536" cy="146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애플리케이션 서버</a:t>
            </a:r>
            <a:endParaRPr sz="950" b="1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3364992" y="2084832"/>
            <a:ext cx="3145536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3511296" y="2157984"/>
            <a:ext cx="411480" cy="41148"/>
          </a:xfrm>
          <a:prstGeom prst="rect">
            <a:avLst/>
          </a:prstGeom>
          <a:solidFill>
            <a:srgbClr val="2F6F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3511296" y="2212848"/>
            <a:ext cx="28529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AccountServer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3511296" y="2414016"/>
            <a:ext cx="285292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:5160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3511296" y="2560320"/>
            <a:ext cx="285292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계정 생성 · 로그인 · 토큰 발급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3364992" y="2852928"/>
            <a:ext cx="3145536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3511296" y="2926080"/>
            <a:ext cx="411480" cy="41148"/>
          </a:xfrm>
          <a:prstGeom prst="rect">
            <a:avLst/>
          </a:prstGeom>
          <a:solidFill>
            <a:srgbClr val="1B9E6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3511296" y="2980944"/>
            <a:ext cx="28529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GameServer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3511296" y="3182112"/>
            <a:ext cx="285292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1B9E6F"/>
                </a:solidFill>
                <a:latin typeface="Malgun Gothic"/>
                <a:ea typeface="Malgun Gothic"/>
                <a:cs typeface="Malgun Gothic"/>
                <a:sym typeface="Malgun Gothic"/>
              </a:rPr>
              <a:t>:5247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3511296" y="3328416"/>
            <a:ext cx="28530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진행도 load, 게임 콘텐츠 진행</a:t>
            </a:r>
            <a:endParaRPr sz="8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7269480" y="1828800"/>
            <a:ext cx="4206240" cy="2468880"/>
          </a:xfrm>
          <a:prstGeom prst="roundRect">
            <a:avLst>
              <a:gd name="adj" fmla="val 3000"/>
            </a:avLst>
          </a:prstGeom>
          <a:noFill/>
          <a:ln w="12700" cap="flat" cmpd="sng">
            <a:solidFill>
              <a:srgbClr val="D8DEE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7383780" y="1912908"/>
            <a:ext cx="3968496" cy="146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Database</a:t>
            </a:r>
            <a:endParaRPr sz="950" b="1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7397496" y="2135124"/>
            <a:ext cx="3968496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7543800" y="2253996"/>
            <a:ext cx="411480" cy="411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7543800" y="2363724"/>
            <a:ext cx="367588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Cache(Redis 8.2)</a:t>
            </a:r>
            <a:endParaRPr sz="12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7543800" y="2583179"/>
            <a:ext cx="3675887" cy="130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:36379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7543800" y="2756916"/>
            <a:ext cx="3675887" cy="31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 로그인 인증 토큰</a:t>
            </a:r>
            <a:endParaRPr sz="8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랭킹 데이터 캐싱</a:t>
            </a:r>
            <a:endParaRPr sz="8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7388352" y="3236976"/>
            <a:ext cx="3968496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7534656" y="3355848"/>
            <a:ext cx="411480" cy="41148"/>
          </a:xfrm>
          <a:prstGeom prst="rect">
            <a:avLst/>
          </a:prstGeom>
          <a:solidFill>
            <a:srgbClr val="2A5C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 txBox="1"/>
          <p:nvPr/>
        </p:nvSpPr>
        <p:spPr>
          <a:xfrm>
            <a:off x="7534656" y="3465576"/>
            <a:ext cx="367588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Database (MySQL 8.4)</a:t>
            </a:r>
            <a:endParaRPr sz="12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7534656" y="3685032"/>
            <a:ext cx="3675887" cy="130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2A5C9A"/>
                </a:solidFill>
                <a:latin typeface="Malgun Gothic"/>
                <a:ea typeface="Malgun Gothic"/>
                <a:cs typeface="Malgun Gothic"/>
                <a:sym typeface="Malgun Gothic"/>
              </a:rPr>
              <a:t>:33306 · SqlKata + Dapper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7534656" y="3819111"/>
            <a:ext cx="3675887" cy="381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taskbar_hero_account – 사용자 계정 관리</a:t>
            </a:r>
            <a:endParaRPr sz="70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taskbar_hero_game – 게임 컨텐츠 관련 관리</a:t>
            </a:r>
            <a:endParaRPr sz="70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taskbar_hero_master – 게임 마스터 데이터</a:t>
            </a:r>
            <a:endParaRPr sz="70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16" name="Google Shape;216;p5"/>
          <p:cNvCxnSpPr/>
          <p:nvPr/>
        </p:nvCxnSpPr>
        <p:spPr>
          <a:xfrm>
            <a:off x="2651760" y="2404872"/>
            <a:ext cx="713232" cy="0"/>
          </a:xfrm>
          <a:prstGeom prst="straightConnector1">
            <a:avLst/>
          </a:prstGeom>
          <a:noFill/>
          <a:ln w="15875" cap="flat" cmpd="sng">
            <a:solidFill>
              <a:srgbClr val="6B7684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17" name="Google Shape;217;p5"/>
          <p:cNvSpPr txBox="1"/>
          <p:nvPr/>
        </p:nvSpPr>
        <p:spPr>
          <a:xfrm>
            <a:off x="2697480" y="2148840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 txBox="1"/>
          <p:nvPr/>
        </p:nvSpPr>
        <p:spPr>
          <a:xfrm>
            <a:off x="2697480" y="2871216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5"/>
          <p:cNvCxnSpPr/>
          <p:nvPr/>
        </p:nvCxnSpPr>
        <p:spPr>
          <a:xfrm>
            <a:off x="6629400" y="2404872"/>
            <a:ext cx="640080" cy="0"/>
          </a:xfrm>
          <a:prstGeom prst="straightConnector1">
            <a:avLst/>
          </a:prstGeom>
          <a:noFill/>
          <a:ln w="15875" cap="flat" cmpd="sng">
            <a:solidFill>
              <a:srgbClr val="6B7684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20" name="Google Shape;220;p5"/>
          <p:cNvSpPr txBox="1"/>
          <p:nvPr/>
        </p:nvSpPr>
        <p:spPr>
          <a:xfrm>
            <a:off x="6720840" y="2148840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p5"/>
          <p:cNvCxnSpPr/>
          <p:nvPr/>
        </p:nvCxnSpPr>
        <p:spPr>
          <a:xfrm>
            <a:off x="6629400" y="3383280"/>
            <a:ext cx="640080" cy="0"/>
          </a:xfrm>
          <a:prstGeom prst="straightConnector1">
            <a:avLst/>
          </a:prstGeom>
          <a:noFill/>
          <a:ln w="15875" cap="flat" cmpd="sng">
            <a:solidFill>
              <a:srgbClr val="6B7684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22" name="Google Shape;222;p5"/>
          <p:cNvSpPr txBox="1"/>
          <p:nvPr/>
        </p:nvSpPr>
        <p:spPr>
          <a:xfrm>
            <a:off x="6720840" y="312724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685800" y="4498848"/>
            <a:ext cx="10789920" cy="1572768"/>
          </a:xfrm>
          <a:prstGeom prst="roundRect">
            <a:avLst>
              <a:gd name="adj" fmla="val 3000"/>
            </a:avLst>
          </a:prstGeom>
          <a:noFill/>
          <a:ln w="12700" cap="flat" cmpd="sng">
            <a:solidFill>
              <a:srgbClr val="D8DEE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868680" y="4828032"/>
            <a:ext cx="2487168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1014983" y="4946904"/>
            <a:ext cx="411480" cy="41148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1014983" y="505663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로그 JSON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3538728" y="4828032"/>
            <a:ext cx="2487168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3685032" y="4946904"/>
            <a:ext cx="411480" cy="41148"/>
          </a:xfrm>
          <a:prstGeom prst="rect">
            <a:avLst/>
          </a:prstGeom>
          <a:solidFill>
            <a:srgbClr val="B960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 txBox="1"/>
          <p:nvPr/>
        </p:nvSpPr>
        <p:spPr>
          <a:xfrm>
            <a:off x="3685032" y="505663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fluentd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5"/>
          <p:cNvSpPr txBox="1"/>
          <p:nvPr/>
        </p:nvSpPr>
        <p:spPr>
          <a:xfrm>
            <a:off x="3685032" y="5276088"/>
            <a:ext cx="2194560" cy="130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B9601C"/>
                </a:solidFill>
                <a:latin typeface="Malgun Gothic"/>
                <a:ea typeface="Malgun Gothic"/>
                <a:cs typeface="Malgun Gothic"/>
                <a:sym typeface="Malgun Gothic"/>
              </a:rPr>
              <a:t>:24220 (LogDB 전달)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6208776" y="4828032"/>
            <a:ext cx="2487168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6355080" y="4946904"/>
            <a:ext cx="411480" cy="41148"/>
          </a:xfrm>
          <a:prstGeom prst="rect">
            <a:avLst/>
          </a:prstGeom>
          <a:solidFill>
            <a:srgbClr val="6B4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 txBox="1"/>
          <p:nvPr/>
        </p:nvSpPr>
        <p:spPr>
          <a:xfrm>
            <a:off x="6355080" y="5056632"/>
            <a:ext cx="2194560" cy="176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LogDB(TimescaleDB)</a:t>
            </a:r>
            <a:endParaRPr sz="115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4" name="Google Shape;234;p5"/>
          <p:cNvSpPr txBox="1"/>
          <p:nvPr/>
        </p:nvSpPr>
        <p:spPr>
          <a:xfrm>
            <a:off x="6355080" y="5276088"/>
            <a:ext cx="219456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6B4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5432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5"/>
          <p:cNvSpPr txBox="1"/>
          <p:nvPr/>
        </p:nvSpPr>
        <p:spPr>
          <a:xfrm>
            <a:off x="6355080" y="5449824"/>
            <a:ext cx="2194560" cy="143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 테이블 데이터 관리</a:t>
            </a:r>
            <a:endParaRPr sz="8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8878824" y="4828032"/>
            <a:ext cx="2487168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9025128" y="4946904"/>
            <a:ext cx="411480" cy="41148"/>
          </a:xfrm>
          <a:prstGeom prst="rect">
            <a:avLst/>
          </a:prstGeom>
          <a:solidFill>
            <a:srgbClr val="0E8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 txBox="1"/>
          <p:nvPr/>
        </p:nvSpPr>
        <p:spPr>
          <a:xfrm>
            <a:off x="9025128" y="505663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Grafana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5"/>
          <p:cNvSpPr txBox="1"/>
          <p:nvPr/>
        </p:nvSpPr>
        <p:spPr>
          <a:xfrm>
            <a:off x="9025128" y="5276088"/>
            <a:ext cx="2194560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0E8AA8"/>
                </a:solidFill>
                <a:latin typeface="Malgun Gothic"/>
                <a:ea typeface="Malgun Gothic"/>
                <a:cs typeface="Malgun Gothic"/>
                <a:sym typeface="Malgun Gothic"/>
              </a:rPr>
              <a:t>:3000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5"/>
          <p:cNvSpPr txBox="1"/>
          <p:nvPr/>
        </p:nvSpPr>
        <p:spPr>
          <a:xfrm>
            <a:off x="9025128" y="5449824"/>
            <a:ext cx="2194560" cy="15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로그DB 기반 대시보드</a:t>
            </a:r>
            <a:endParaRPr sz="8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41" name="Google Shape;241;p5"/>
          <p:cNvCxnSpPr/>
          <p:nvPr/>
        </p:nvCxnSpPr>
        <p:spPr>
          <a:xfrm>
            <a:off x="3355848" y="5385816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B9601C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42" name="Google Shape;242;p5"/>
          <p:cNvCxnSpPr/>
          <p:nvPr/>
        </p:nvCxnSpPr>
        <p:spPr>
          <a:xfrm>
            <a:off x="6025896" y="5385816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B9601C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43" name="Google Shape;243;p5"/>
          <p:cNvCxnSpPr/>
          <p:nvPr/>
        </p:nvCxnSpPr>
        <p:spPr>
          <a:xfrm>
            <a:off x="8695944" y="5385816"/>
            <a:ext cx="182880" cy="0"/>
          </a:xfrm>
          <a:prstGeom prst="straightConnector1">
            <a:avLst/>
          </a:prstGeom>
          <a:noFill/>
          <a:ln w="19050" cap="flat" cmpd="sng">
            <a:solidFill>
              <a:srgbClr val="B9601C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44" name="Google Shape;244;p5"/>
          <p:cNvSpPr txBox="1"/>
          <p:nvPr/>
        </p:nvSpPr>
        <p:spPr>
          <a:xfrm>
            <a:off x="685800" y="6163056"/>
            <a:ext cx="9966960" cy="146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로그인  →  ② 토큰 저장(Redis)  →  ③ 게임 API(userId + token 헤더)  →  ④ 토큰 검증   ·   서버끼리 HTTP 호출 없이 Redis 토큰만 공유</a:t>
            </a:r>
            <a:endParaRPr sz="9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45" name="Google Shape;245;p5"/>
          <p:cNvCxnSpPr/>
          <p:nvPr/>
        </p:nvCxnSpPr>
        <p:spPr>
          <a:xfrm>
            <a:off x="1668779" y="3063240"/>
            <a:ext cx="1707600" cy="109800"/>
          </a:xfrm>
          <a:prstGeom prst="bentConnector3">
            <a:avLst>
              <a:gd name="adj1" fmla="val 628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46" name="Google Shape;246;p5"/>
          <p:cNvSpPr txBox="1"/>
          <p:nvPr/>
        </p:nvSpPr>
        <p:spPr>
          <a:xfrm>
            <a:off x="685800" y="914400"/>
            <a:ext cx="328615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시스템 아키텍처</a:t>
            </a:r>
            <a:endParaRPr sz="30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7" name="Google Shape;247;p5"/>
          <p:cNvSpPr txBox="1"/>
          <p:nvPr/>
        </p:nvSpPr>
        <p:spPr>
          <a:xfrm>
            <a:off x="1193125" y="3849624"/>
            <a:ext cx="1883664" cy="15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로그 기록</a:t>
            </a:r>
            <a:endParaRPr sz="8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3364992" y="3621024"/>
            <a:ext cx="3145536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3511296" y="3694176"/>
            <a:ext cx="411480" cy="41148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 txBox="1"/>
          <p:nvPr/>
        </p:nvSpPr>
        <p:spPr>
          <a:xfrm>
            <a:off x="3511296" y="3749040"/>
            <a:ext cx="28529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BatchServer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"/>
          <p:cNvSpPr txBox="1"/>
          <p:nvPr/>
        </p:nvSpPr>
        <p:spPr>
          <a:xfrm>
            <a:off x="3511296" y="3950208"/>
            <a:ext cx="2852928" cy="130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ko-KR" altLang="en-US" sz="850" b="1" dirty="0">
                <a:solidFill>
                  <a:srgbClr val="E0A526"/>
                </a:solidFill>
                <a:latin typeface="Malgun Gothic"/>
                <a:ea typeface="Malgun Gothic"/>
                <a:sym typeface="Malgun Gothic"/>
              </a:rPr>
              <a:t>스케줄링 담당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5"/>
          <p:cNvSpPr txBox="1"/>
          <p:nvPr/>
        </p:nvSpPr>
        <p:spPr>
          <a:xfrm>
            <a:off x="3511296" y="4096512"/>
            <a:ext cx="2852928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거래소 만료 · 메일 GC · 시즌 정산 · 히스토리 집계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" name="Google Shape;253;p5"/>
          <p:cNvCxnSpPr/>
          <p:nvPr/>
        </p:nvCxnSpPr>
        <p:spPr>
          <a:xfrm>
            <a:off x="6629400" y="3941064"/>
            <a:ext cx="640080" cy="0"/>
          </a:xfrm>
          <a:prstGeom prst="straightConnector1">
            <a:avLst/>
          </a:prstGeom>
          <a:noFill/>
          <a:ln w="15875" cap="flat" cmpd="sng">
            <a:solidFill>
              <a:srgbClr val="6B7684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54" name="Google Shape;254;p5"/>
          <p:cNvCxnSpPr>
            <a:endCxn id="224" idx="0"/>
          </p:cNvCxnSpPr>
          <p:nvPr/>
        </p:nvCxnSpPr>
        <p:spPr>
          <a:xfrm rot="5400000">
            <a:off x="1979664" y="3451932"/>
            <a:ext cx="1508700" cy="1243500"/>
          </a:xfrm>
          <a:prstGeom prst="bentConnector3">
            <a:avLst>
              <a:gd name="adj1" fmla="val 789"/>
            </a:avLst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6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AUTH</a:t>
            </a: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685800" y="749808"/>
            <a:ext cx="822960" cy="54864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6"/>
          <p:cNvSpPr txBox="1"/>
          <p:nvPr/>
        </p:nvSpPr>
        <p:spPr>
          <a:xfrm>
            <a:off x="685800" y="914400"/>
            <a:ext cx="1088136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2.1  인증 설계 — 커스텀 토큰 방식 + 중복 로그인 차단</a:t>
            </a:r>
            <a:endParaRPr sz="30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548640" y="1810512"/>
            <a:ext cx="7452360" cy="39502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685800" y="1965960"/>
            <a:ext cx="1325880" cy="310896"/>
          </a:xfrm>
          <a:prstGeom prst="rect">
            <a:avLst/>
          </a:prstGeom>
          <a:solidFill>
            <a:srgbClr val="EEF2F9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"/>
          <p:cNvSpPr txBox="1"/>
          <p:nvPr/>
        </p:nvSpPr>
        <p:spPr>
          <a:xfrm>
            <a:off x="685800" y="2039112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기기 A</a:t>
            </a:r>
            <a:endParaRPr/>
          </a:p>
        </p:txBody>
      </p:sp>
      <p:sp>
        <p:nvSpPr>
          <p:cNvPr id="268" name="Google Shape;268;p6"/>
          <p:cNvSpPr/>
          <p:nvPr/>
        </p:nvSpPr>
        <p:spPr>
          <a:xfrm>
            <a:off x="1344168" y="2276856"/>
            <a:ext cx="9144" cy="3127248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2148840" y="1965960"/>
            <a:ext cx="1325880" cy="310896"/>
          </a:xfrm>
          <a:prstGeom prst="rect">
            <a:avLst/>
          </a:prstGeom>
          <a:solidFill>
            <a:srgbClr val="EEF2F9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6"/>
          <p:cNvSpPr txBox="1"/>
          <p:nvPr/>
        </p:nvSpPr>
        <p:spPr>
          <a:xfrm>
            <a:off x="2148840" y="2039112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기기 B</a:t>
            </a:r>
            <a:endParaRPr/>
          </a:p>
        </p:txBody>
      </p:sp>
      <p:sp>
        <p:nvSpPr>
          <p:cNvPr id="271" name="Google Shape;271;p6"/>
          <p:cNvSpPr/>
          <p:nvPr/>
        </p:nvSpPr>
        <p:spPr>
          <a:xfrm>
            <a:off x="2807208" y="2276856"/>
            <a:ext cx="9144" cy="3127248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3611880" y="1965960"/>
            <a:ext cx="1325880" cy="3108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6"/>
          <p:cNvSpPr txBox="1"/>
          <p:nvPr/>
        </p:nvSpPr>
        <p:spPr>
          <a:xfrm>
            <a:off x="3611880" y="2039112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AccountServer</a:t>
            </a:r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4270248" y="2276856"/>
            <a:ext cx="9144" cy="3127248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5074920" y="1965960"/>
            <a:ext cx="1325880" cy="3108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6"/>
          <p:cNvSpPr txBox="1"/>
          <p:nvPr/>
        </p:nvSpPr>
        <p:spPr>
          <a:xfrm>
            <a:off x="5074920" y="2039112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GameServer</a:t>
            </a:r>
            <a:endParaRPr/>
          </a:p>
        </p:txBody>
      </p:sp>
      <p:sp>
        <p:nvSpPr>
          <p:cNvPr id="277" name="Google Shape;277;p6"/>
          <p:cNvSpPr/>
          <p:nvPr/>
        </p:nvSpPr>
        <p:spPr>
          <a:xfrm>
            <a:off x="5733288" y="2276856"/>
            <a:ext cx="9144" cy="3127248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6537960" y="1965960"/>
            <a:ext cx="1325880" cy="3108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6"/>
          <p:cNvSpPr txBox="1"/>
          <p:nvPr/>
        </p:nvSpPr>
        <p:spPr>
          <a:xfrm>
            <a:off x="6537960" y="2039112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Redis</a:t>
            </a:r>
            <a:endParaRPr/>
          </a:p>
        </p:txBody>
      </p:sp>
      <p:sp>
        <p:nvSpPr>
          <p:cNvPr id="280" name="Google Shape;280;p6"/>
          <p:cNvSpPr/>
          <p:nvPr/>
        </p:nvSpPr>
        <p:spPr>
          <a:xfrm>
            <a:off x="7196328" y="2276856"/>
            <a:ext cx="9144" cy="3127248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" name="Google Shape;281;p6"/>
          <p:cNvCxnSpPr/>
          <p:nvPr/>
        </p:nvCxnSpPr>
        <p:spPr>
          <a:xfrm>
            <a:off x="1348740" y="2505456"/>
            <a:ext cx="2926080" cy="0"/>
          </a:xfrm>
          <a:prstGeom prst="straightConnector1">
            <a:avLst/>
          </a:prstGeom>
          <a:noFill/>
          <a:ln w="12700" cap="flat" cmpd="sng">
            <a:solidFill>
              <a:srgbClr val="2F6FE4"/>
            </a:solidFill>
            <a:prstDash val="solid"/>
            <a:round/>
            <a:headEnd type="none" w="sm" len="sm"/>
            <a:tailEnd type="triangl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82" name="Google Shape;282;p6"/>
          <p:cNvSpPr txBox="1"/>
          <p:nvPr/>
        </p:nvSpPr>
        <p:spPr>
          <a:xfrm>
            <a:off x="1348740" y="2350008"/>
            <a:ext cx="29260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 /login  { email, password }</a:t>
            </a:r>
            <a:endParaRPr/>
          </a:p>
        </p:txBody>
      </p:sp>
      <p:cxnSp>
        <p:nvCxnSpPr>
          <p:cNvPr id="283" name="Google Shape;283;p6"/>
          <p:cNvCxnSpPr/>
          <p:nvPr/>
        </p:nvCxnSpPr>
        <p:spPr>
          <a:xfrm>
            <a:off x="4274820" y="2798064"/>
            <a:ext cx="2926080" cy="0"/>
          </a:xfrm>
          <a:prstGeom prst="straightConnector1">
            <a:avLst/>
          </a:prstGeom>
          <a:noFill/>
          <a:ln w="12700" cap="flat" cmpd="sng">
            <a:solidFill>
              <a:srgbClr val="2F6FE4"/>
            </a:solidFill>
            <a:prstDash val="solid"/>
            <a:round/>
            <a:headEnd type="none" w="sm" len="sm"/>
            <a:tailEnd type="triangl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84" name="Google Shape;284;p6"/>
          <p:cNvSpPr txBox="1"/>
          <p:nvPr/>
        </p:nvSpPr>
        <p:spPr>
          <a:xfrm>
            <a:off x="4274820" y="2642616"/>
            <a:ext cx="29260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토큰 발급 → 저장  auth:token:{uid} = A  (TTL 24h)</a:t>
            </a:r>
            <a:endParaRPr/>
          </a:p>
        </p:txBody>
      </p:sp>
      <p:cxnSp>
        <p:nvCxnSpPr>
          <p:cNvPr id="285" name="Google Shape;285;p6"/>
          <p:cNvCxnSpPr/>
          <p:nvPr/>
        </p:nvCxnSpPr>
        <p:spPr>
          <a:xfrm>
            <a:off x="1348740" y="3218688"/>
            <a:ext cx="4389120" cy="0"/>
          </a:xfrm>
          <a:prstGeom prst="straightConnector1">
            <a:avLst/>
          </a:prstGeom>
          <a:noFill/>
          <a:ln w="12700" cap="flat" cmpd="sng">
            <a:solidFill>
              <a:srgbClr val="6B7684"/>
            </a:solidFill>
            <a:prstDash val="solid"/>
            <a:round/>
            <a:headEnd type="none" w="sm" len="sm"/>
            <a:tailEnd type="triangl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86" name="Google Shape;286;p6"/>
          <p:cNvSpPr txBox="1"/>
          <p:nvPr/>
        </p:nvSpPr>
        <p:spPr>
          <a:xfrm>
            <a:off x="1348740" y="3063240"/>
            <a:ext cx="43891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API 요청  (userId + token A)</a:t>
            </a:r>
            <a:endParaRPr/>
          </a:p>
        </p:txBody>
      </p:sp>
      <p:cxnSp>
        <p:nvCxnSpPr>
          <p:cNvPr id="287" name="Google Shape;287;p6"/>
          <p:cNvCxnSpPr/>
          <p:nvPr/>
        </p:nvCxnSpPr>
        <p:spPr>
          <a:xfrm>
            <a:off x="5737860" y="3511296"/>
            <a:ext cx="1463040" cy="0"/>
          </a:xfrm>
          <a:prstGeom prst="straightConnector1">
            <a:avLst/>
          </a:prstGeom>
          <a:noFill/>
          <a:ln w="12700" cap="flat" cmpd="sng">
            <a:solidFill>
              <a:srgbClr val="1B9E6F"/>
            </a:solidFill>
            <a:prstDash val="solid"/>
            <a:round/>
            <a:headEnd type="none" w="sm" len="sm"/>
            <a:tailEnd type="triangl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88" name="Google Shape;288;p6"/>
          <p:cNvSpPr txBox="1"/>
          <p:nvPr/>
        </p:nvSpPr>
        <p:spPr>
          <a:xfrm>
            <a:off x="5737860" y="3355848"/>
            <a:ext cx="146304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1B9E6F"/>
                </a:solidFill>
                <a:latin typeface="Malgun Gothic"/>
                <a:ea typeface="Malgun Gothic"/>
                <a:cs typeface="Malgun Gothic"/>
                <a:sym typeface="Malgun Gothic"/>
              </a:rPr>
              <a:t>토큰 대조 → 일치</a:t>
            </a:r>
            <a:endParaRPr/>
          </a:p>
        </p:txBody>
      </p:sp>
      <p:cxnSp>
        <p:nvCxnSpPr>
          <p:cNvPr id="289" name="Google Shape;289;p6"/>
          <p:cNvCxnSpPr/>
          <p:nvPr/>
        </p:nvCxnSpPr>
        <p:spPr>
          <a:xfrm>
            <a:off x="2811780" y="3968496"/>
            <a:ext cx="1463040" cy="0"/>
          </a:xfrm>
          <a:prstGeom prst="straightConnector1">
            <a:avLst/>
          </a:prstGeom>
          <a:noFill/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triangl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90" name="Google Shape;290;p6"/>
          <p:cNvSpPr txBox="1"/>
          <p:nvPr/>
        </p:nvSpPr>
        <p:spPr>
          <a:xfrm>
            <a:off x="2811780" y="3813048"/>
            <a:ext cx="146304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 /login  (같은 계정)</a:t>
            </a:r>
            <a:endParaRPr/>
          </a:p>
        </p:txBody>
      </p:sp>
      <p:cxnSp>
        <p:nvCxnSpPr>
          <p:cNvPr id="291" name="Google Shape;291;p6"/>
          <p:cNvCxnSpPr/>
          <p:nvPr/>
        </p:nvCxnSpPr>
        <p:spPr>
          <a:xfrm>
            <a:off x="4274820" y="4261104"/>
            <a:ext cx="2926080" cy="0"/>
          </a:xfrm>
          <a:prstGeom prst="straightConnector1">
            <a:avLst/>
          </a:prstGeom>
          <a:noFill/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triangl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92" name="Google Shape;292;p6"/>
          <p:cNvSpPr txBox="1"/>
          <p:nvPr/>
        </p:nvSpPr>
        <p:spPr>
          <a:xfrm>
            <a:off x="4274820" y="4105656"/>
            <a:ext cx="292608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토큰 덮어쓰기  = B</a:t>
            </a:r>
            <a:endParaRPr/>
          </a:p>
        </p:txBody>
      </p:sp>
      <p:cxnSp>
        <p:nvCxnSpPr>
          <p:cNvPr id="293" name="Google Shape;293;p6"/>
          <p:cNvCxnSpPr/>
          <p:nvPr/>
        </p:nvCxnSpPr>
        <p:spPr>
          <a:xfrm>
            <a:off x="1348740" y="4718304"/>
            <a:ext cx="4389120" cy="0"/>
          </a:xfrm>
          <a:prstGeom prst="straightConnector1">
            <a:avLst/>
          </a:prstGeom>
          <a:noFill/>
          <a:ln w="12700" cap="flat" cmpd="sng">
            <a:solidFill>
              <a:srgbClr val="6B7684"/>
            </a:solidFill>
            <a:prstDash val="solid"/>
            <a:round/>
            <a:headEnd type="none" w="sm" len="sm"/>
            <a:tailEnd type="triangl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94" name="Google Shape;294;p6"/>
          <p:cNvSpPr txBox="1"/>
          <p:nvPr/>
        </p:nvSpPr>
        <p:spPr>
          <a:xfrm>
            <a:off x="1348740" y="4562856"/>
            <a:ext cx="43891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요청  (token A)</a:t>
            </a:r>
            <a:endParaRPr/>
          </a:p>
        </p:txBody>
      </p:sp>
      <p:cxnSp>
        <p:nvCxnSpPr>
          <p:cNvPr id="295" name="Google Shape;295;p6"/>
          <p:cNvCxnSpPr/>
          <p:nvPr/>
        </p:nvCxnSpPr>
        <p:spPr>
          <a:xfrm>
            <a:off x="5737860" y="5010912"/>
            <a:ext cx="1463040" cy="0"/>
          </a:xfrm>
          <a:prstGeom prst="straightConnector1">
            <a:avLst/>
          </a:prstGeom>
          <a:noFill/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triangl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96" name="Google Shape;296;p6"/>
          <p:cNvSpPr txBox="1"/>
          <p:nvPr/>
        </p:nvSpPr>
        <p:spPr>
          <a:xfrm>
            <a:off x="5737860" y="4855464"/>
            <a:ext cx="146304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대조 → 불일치</a:t>
            </a:r>
            <a:endParaRPr/>
          </a:p>
        </p:txBody>
      </p:sp>
      <p:cxnSp>
        <p:nvCxnSpPr>
          <p:cNvPr id="297" name="Google Shape;297;p6"/>
          <p:cNvCxnSpPr/>
          <p:nvPr/>
        </p:nvCxnSpPr>
        <p:spPr>
          <a:xfrm rot="10800000">
            <a:off x="1348740" y="5303520"/>
            <a:ext cx="4389120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dash"/>
            <a:round/>
            <a:headEnd type="none" w="sm" len="sm"/>
            <a:tailEnd type="triangl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98" name="Google Shape;298;p6"/>
          <p:cNvSpPr txBox="1"/>
          <p:nvPr/>
        </p:nvSpPr>
        <p:spPr>
          <a:xfrm>
            <a:off x="1348740" y="5148072"/>
            <a:ext cx="438912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401  InvalidToken(1004)</a:t>
            </a:r>
            <a:endParaRPr/>
          </a:p>
        </p:txBody>
      </p:sp>
      <p:sp>
        <p:nvSpPr>
          <p:cNvPr id="299" name="Google Shape;299;p6"/>
          <p:cNvSpPr txBox="1"/>
          <p:nvPr/>
        </p:nvSpPr>
        <p:spPr>
          <a:xfrm>
            <a:off x="4315968" y="2871216"/>
            <a:ext cx="283464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9AA5B4"/>
                </a:solidFill>
                <a:latin typeface="Malgun Gothic"/>
                <a:ea typeface="Malgun Gothic"/>
                <a:cs typeface="Malgun Gothic"/>
                <a:sym typeface="Malgun Gothic"/>
              </a:rPr>
              <a:t>MySQL user_auth_token 은 계정당 1행 UPSERT</a:t>
            </a:r>
            <a:endParaRPr/>
          </a:p>
        </p:txBody>
      </p:sp>
      <p:sp>
        <p:nvSpPr>
          <p:cNvPr id="300" name="Google Shape;300;p6"/>
          <p:cNvSpPr txBox="1"/>
          <p:nvPr/>
        </p:nvSpPr>
        <p:spPr>
          <a:xfrm>
            <a:off x="2834640" y="4370832"/>
            <a:ext cx="30175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1" i="0" u="none" strike="noStrike" cap="non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← 이 순간 A 기기의 세션이 끊긴다</a:t>
            </a:r>
            <a:endParaRPr/>
          </a:p>
        </p:txBody>
      </p:sp>
      <p:sp>
        <p:nvSpPr>
          <p:cNvPr id="301" name="Google Shape;301;p6"/>
          <p:cNvSpPr/>
          <p:nvPr/>
        </p:nvSpPr>
        <p:spPr>
          <a:xfrm>
            <a:off x="8183880" y="1810512"/>
            <a:ext cx="3291840" cy="12070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8385048" y="1993392"/>
            <a:ext cx="411480" cy="36576"/>
          </a:xfrm>
          <a:prstGeom prst="rect">
            <a:avLst/>
          </a:prstGeom>
          <a:solidFill>
            <a:srgbClr val="2F6F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"/>
          <p:cNvSpPr txBox="1"/>
          <p:nvPr/>
        </p:nvSpPr>
        <p:spPr>
          <a:xfrm>
            <a:off x="8385048" y="2103120"/>
            <a:ext cx="28896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 </a:t>
            </a:r>
            <a:r>
              <a:rPr lang="en-US" sz="1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토큰</a:t>
            </a:r>
            <a:endParaRPr/>
          </a:p>
        </p:txBody>
      </p:sp>
      <p:sp>
        <p:nvSpPr>
          <p:cNvPr id="304" name="Google Shape;304;p6"/>
          <p:cNvSpPr txBox="1"/>
          <p:nvPr/>
        </p:nvSpPr>
        <p:spPr>
          <a:xfrm>
            <a:off x="8385048" y="2414016"/>
            <a:ext cx="28895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Base64(userId : timestamp : salt : hash)</a:t>
            </a:r>
            <a:endParaRPr/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HMAC-SHA256 서명 · 만료 24시간</a:t>
            </a:r>
            <a:endParaRPr/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SecretKey는 AccountServer만 안다</a:t>
            </a:r>
            <a:endParaRPr/>
          </a:p>
        </p:txBody>
      </p:sp>
      <p:sp>
        <p:nvSpPr>
          <p:cNvPr id="305" name="Google Shape;305;p6"/>
          <p:cNvSpPr/>
          <p:nvPr/>
        </p:nvSpPr>
        <p:spPr>
          <a:xfrm>
            <a:off x="8183880" y="3154680"/>
            <a:ext cx="3291840" cy="12070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8385048" y="3337560"/>
            <a:ext cx="41148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6"/>
          <p:cNvSpPr txBox="1"/>
          <p:nvPr/>
        </p:nvSpPr>
        <p:spPr>
          <a:xfrm>
            <a:off x="8385048" y="3447288"/>
            <a:ext cx="28896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새 기기 로그인 - 이전 로그인 기기 토큰 덮어쓰기</a:t>
            </a:r>
            <a:endParaRPr/>
          </a:p>
        </p:txBody>
      </p:sp>
      <p:sp>
        <p:nvSpPr>
          <p:cNvPr id="308" name="Google Shape;308;p6"/>
          <p:cNvSpPr txBox="1"/>
          <p:nvPr/>
        </p:nvSpPr>
        <p:spPr>
          <a:xfrm>
            <a:off x="8385048" y="3758184"/>
            <a:ext cx="28896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user_auth_token 은 계정당 1행 UPSERT</a:t>
            </a:r>
            <a:endParaRPr/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Redis 토큰값을 새 토큰으로 덮어쓴다</a:t>
            </a:r>
            <a:endParaRPr/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이전 토큰은 대조 불일치 → 다음 요청부터 401 (</a:t>
            </a:r>
            <a:r>
              <a:rPr lang="en-US" sz="80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로그아웃)</a:t>
            </a:r>
            <a:endParaRPr/>
          </a:p>
        </p:txBody>
      </p:sp>
      <p:sp>
        <p:nvSpPr>
          <p:cNvPr id="309" name="Google Shape;309;p6"/>
          <p:cNvSpPr/>
          <p:nvPr/>
        </p:nvSpPr>
        <p:spPr>
          <a:xfrm>
            <a:off x="8183880" y="4498848"/>
            <a:ext cx="3291840" cy="12070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8385048" y="4681728"/>
            <a:ext cx="411480" cy="36576"/>
          </a:xfrm>
          <a:prstGeom prst="rect">
            <a:avLst/>
          </a:prstGeom>
          <a:solidFill>
            <a:srgbClr val="1B9E6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6"/>
          <p:cNvSpPr txBox="1"/>
          <p:nvPr/>
        </p:nvSpPr>
        <p:spPr>
          <a:xfrm>
            <a:off x="8385048" y="4791456"/>
            <a:ext cx="28896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계정서버, 게임서버는 별개로 동작</a:t>
            </a:r>
            <a:endParaRPr/>
          </a:p>
        </p:txBody>
      </p:sp>
      <p:sp>
        <p:nvSpPr>
          <p:cNvPr id="312" name="Google Shape;312;p6"/>
          <p:cNvSpPr txBox="1"/>
          <p:nvPr/>
        </p:nvSpPr>
        <p:spPr>
          <a:xfrm>
            <a:off x="8419223" y="5018502"/>
            <a:ext cx="2889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두 서버</a:t>
            </a:r>
            <a:r>
              <a:rPr lang="en-US" sz="80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는 redis로 인증 토큰만 공유, 서로 통신하지 않는다.</a:t>
            </a:r>
            <a:endParaRPr/>
          </a:p>
        </p:txBody>
      </p:sp>
      <p:sp>
        <p:nvSpPr>
          <p:cNvPr id="313" name="Google Shape;313;p6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/>
          </a:p>
        </p:txBody>
      </p:sp>
      <p:sp>
        <p:nvSpPr>
          <p:cNvPr id="3" name="Google Shape;264;p6">
            <a:extLst>
              <a:ext uri="{FF2B5EF4-FFF2-40B4-BE49-F238E27FC236}">
                <a16:creationId xmlns:a16="http://schemas.microsoft.com/office/drawing/2014/main" id="{7FF4DF4D-D7D1-1462-652B-2A90CA9E76C8}"/>
              </a:ext>
            </a:extLst>
          </p:cNvPr>
          <p:cNvSpPr txBox="1"/>
          <p:nvPr/>
        </p:nvSpPr>
        <p:spPr>
          <a:xfrm>
            <a:off x="3331079" y="5659576"/>
            <a:ext cx="1969777" cy="21544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중복 로그인 예시 시퀀스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7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DATABASE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685800" y="749808"/>
            <a:ext cx="822960" cy="54864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 txBox="1"/>
          <p:nvPr/>
        </p:nvSpPr>
        <p:spPr>
          <a:xfrm>
            <a:off x="685800" y="914400"/>
            <a:ext cx="1088136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 데이터베이스 설계</a:t>
            </a:r>
            <a:endParaRPr sz="30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3" name="Google Shape;323;p7"/>
          <p:cNvSpPr/>
          <p:nvPr/>
        </p:nvSpPr>
        <p:spPr>
          <a:xfrm>
            <a:off x="8922890" y="2041451"/>
            <a:ext cx="2487168" cy="39478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 txBox="1"/>
          <p:nvPr/>
        </p:nvSpPr>
        <p:spPr>
          <a:xfrm>
            <a:off x="9105770" y="2224331"/>
            <a:ext cx="212140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MySQL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7"/>
          <p:cNvSpPr txBox="1"/>
          <p:nvPr/>
        </p:nvSpPr>
        <p:spPr>
          <a:xfrm>
            <a:off x="9105770" y="2498651"/>
            <a:ext cx="21214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Account 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9105770" y="2864411"/>
            <a:ext cx="411480" cy="36576"/>
          </a:xfrm>
          <a:prstGeom prst="rect">
            <a:avLst/>
          </a:prstGeom>
          <a:solidFill>
            <a:srgbClr val="2F6F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 txBox="1"/>
          <p:nvPr/>
        </p:nvSpPr>
        <p:spPr>
          <a:xfrm>
            <a:off x="9105770" y="3266747"/>
            <a:ext cx="2121408" cy="416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taskbar_hero_account</a:t>
            </a:r>
            <a:endParaRPr sz="950" b="0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로그인을 위한 유저 계정정보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6189748" y="2041450"/>
            <a:ext cx="2487168" cy="394786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7"/>
          <p:cNvSpPr txBox="1"/>
          <p:nvPr/>
        </p:nvSpPr>
        <p:spPr>
          <a:xfrm>
            <a:off x="6372628" y="2224331"/>
            <a:ext cx="212140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B9E6F"/>
                </a:solidFill>
                <a:latin typeface="Malgun Gothic"/>
                <a:ea typeface="Malgun Gothic"/>
                <a:cs typeface="Malgun Gothic"/>
                <a:sym typeface="Malgun Gothic"/>
              </a:rPr>
              <a:t>MySQL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7"/>
          <p:cNvSpPr txBox="1"/>
          <p:nvPr/>
        </p:nvSpPr>
        <p:spPr>
          <a:xfrm>
            <a:off x="6372628" y="2498651"/>
            <a:ext cx="21214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Game 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6372628" y="2864411"/>
            <a:ext cx="411480" cy="36576"/>
          </a:xfrm>
          <a:prstGeom prst="rect">
            <a:avLst/>
          </a:prstGeom>
          <a:solidFill>
            <a:srgbClr val="1B9E6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 txBox="1"/>
          <p:nvPr/>
        </p:nvSpPr>
        <p:spPr>
          <a:xfrm>
            <a:off x="6372628" y="3266747"/>
            <a:ext cx="2121408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taskbar_hero_game</a:t>
            </a:r>
            <a:endParaRPr sz="950" b="0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플레이어 세이브 데이터 전부. 모든 테이블이 user_id로 계정에 매달린다.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685800" y="2041451"/>
            <a:ext cx="2487168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7"/>
          <p:cNvSpPr txBox="1"/>
          <p:nvPr/>
        </p:nvSpPr>
        <p:spPr>
          <a:xfrm>
            <a:off x="868680" y="2224331"/>
            <a:ext cx="212140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Redis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7"/>
          <p:cNvSpPr txBox="1"/>
          <p:nvPr/>
        </p:nvSpPr>
        <p:spPr>
          <a:xfrm>
            <a:off x="868680" y="2498651"/>
            <a:ext cx="2121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토큰 관리, 랭킹 정보 캐싱</a:t>
            </a:r>
            <a:endParaRPr sz="14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868680" y="2882699"/>
            <a:ext cx="41148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7"/>
          <p:cNvSpPr txBox="1"/>
          <p:nvPr/>
        </p:nvSpPr>
        <p:spPr>
          <a:xfrm>
            <a:off x="868680" y="3266747"/>
            <a:ext cx="2121300" cy="3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auth:token · rank:bossrush</a:t>
            </a:r>
            <a:endParaRPr sz="950" b="0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 토큰 관리, 랭킹 정보 캐싱 관리</a:t>
            </a:r>
            <a:endParaRPr sz="9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8" name="Google Shape;338;p7"/>
          <p:cNvSpPr/>
          <p:nvPr/>
        </p:nvSpPr>
        <p:spPr>
          <a:xfrm>
            <a:off x="3392424" y="2041451"/>
            <a:ext cx="2487168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7"/>
          <p:cNvSpPr txBox="1"/>
          <p:nvPr/>
        </p:nvSpPr>
        <p:spPr>
          <a:xfrm>
            <a:off x="3575303" y="2224331"/>
            <a:ext cx="212140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6B4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TimescaleDB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7"/>
          <p:cNvSpPr txBox="1"/>
          <p:nvPr/>
        </p:nvSpPr>
        <p:spPr>
          <a:xfrm>
            <a:off x="3575303" y="2498651"/>
            <a:ext cx="21214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 DB(logdb)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"/>
          <p:cNvSpPr/>
          <p:nvPr/>
        </p:nvSpPr>
        <p:spPr>
          <a:xfrm>
            <a:off x="3575303" y="2864411"/>
            <a:ext cx="411480" cy="36576"/>
          </a:xfrm>
          <a:prstGeom prst="rect">
            <a:avLst/>
          </a:prstGeom>
          <a:solidFill>
            <a:srgbClr val="6B4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7"/>
          <p:cNvSpPr txBox="1"/>
          <p:nvPr/>
        </p:nvSpPr>
        <p:spPr>
          <a:xfrm>
            <a:off x="3575303" y="3266747"/>
            <a:ext cx="2121408" cy="763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fluentd 적재</a:t>
            </a:r>
            <a:endParaRPr sz="950" b="0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Timescale db를 사용하며, 게임 운영을 위한 로그를 관리</a:t>
            </a:r>
            <a:endParaRPr sz="950" b="0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endParaRPr sz="9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3" name="Google Shape;343;p7"/>
          <p:cNvSpPr/>
          <p:nvPr/>
        </p:nvSpPr>
        <p:spPr>
          <a:xfrm>
            <a:off x="685800" y="4572000"/>
            <a:ext cx="525797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886968" y="4754880"/>
            <a:ext cx="411480" cy="36576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7"/>
          <p:cNvSpPr txBox="1"/>
          <p:nvPr/>
        </p:nvSpPr>
        <p:spPr>
          <a:xfrm>
            <a:off x="886968" y="4882896"/>
            <a:ext cx="313639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마스터 데이터는 서버 실행 시 인메모리 캐싱</a:t>
            </a:r>
            <a:endParaRPr sz="12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6" name="Google Shape;346;p7"/>
          <p:cNvSpPr txBox="1"/>
          <p:nvPr/>
        </p:nvSpPr>
        <p:spPr>
          <a:xfrm>
            <a:off x="886975" y="5248650"/>
            <a:ext cx="50991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 · 스테이지 · 아이템 등 마스터 27종은 읽기 전용 정의라 기동 시 인메모리에 캐싱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7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p7" descr="💿 데이터베이스 기본 개념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71973" y="4421537"/>
            <a:ext cx="922718" cy="92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7" descr="💿 데이터베이스 기본 개념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05115" y="4357942"/>
            <a:ext cx="922718" cy="922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8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ERD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685800" y="749808"/>
            <a:ext cx="822960" cy="54864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 txBox="1"/>
          <p:nvPr/>
        </p:nvSpPr>
        <p:spPr>
          <a:xfrm>
            <a:off x="685800" y="914400"/>
            <a:ext cx="1088136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3.1  계정, 게임 DB</a:t>
            </a:r>
            <a:endParaRPr sz="30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685800" y="1947672"/>
            <a:ext cx="1783080" cy="13258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685800" y="1947672"/>
            <a:ext cx="54864" cy="1325880"/>
          </a:xfrm>
          <a:prstGeom prst="rect">
            <a:avLst/>
          </a:prstGeom>
          <a:solidFill>
            <a:srgbClr val="2F6F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 txBox="1"/>
          <p:nvPr/>
        </p:nvSpPr>
        <p:spPr>
          <a:xfrm>
            <a:off x="841248" y="2029968"/>
            <a:ext cx="15361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game_player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8"/>
          <p:cNvSpPr txBox="1"/>
          <p:nvPr/>
        </p:nvSpPr>
        <p:spPr>
          <a:xfrm>
            <a:off x="841248" y="2249424"/>
            <a:ext cx="1536192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user_id  PK · 계정당 1행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841248" y="2450592"/>
            <a:ext cx="1472184" cy="9144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 txBox="1"/>
          <p:nvPr/>
        </p:nvSpPr>
        <p:spPr>
          <a:xfrm>
            <a:off x="841248" y="2523744"/>
            <a:ext cx="153619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 · stage · difficulty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max_stage_cleared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inventory_capacity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last_active_at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2468880" y="2604211"/>
            <a:ext cx="274319" cy="12801"/>
          </a:xfrm>
          <a:prstGeom prst="rect">
            <a:avLst/>
          </a:prstGeom>
          <a:solidFill>
            <a:srgbClr val="9AA5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2736799" y="2121408"/>
            <a:ext cx="12801" cy="3771900"/>
          </a:xfrm>
          <a:prstGeom prst="rect">
            <a:avLst/>
          </a:prstGeom>
          <a:solidFill>
            <a:srgbClr val="9AA5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2743200" y="2115007"/>
            <a:ext cx="274319" cy="12801"/>
          </a:xfrm>
          <a:prstGeom prst="rect">
            <a:avLst/>
          </a:prstGeom>
          <a:solidFill>
            <a:srgbClr val="9AA5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3017520" y="1947672"/>
            <a:ext cx="251460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3017520" y="1947672"/>
            <a:ext cx="54864" cy="347472"/>
          </a:xfrm>
          <a:prstGeom prst="rect">
            <a:avLst/>
          </a:prstGeom>
          <a:solidFill>
            <a:srgbClr val="1B9E6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8"/>
          <p:cNvSpPr txBox="1"/>
          <p:nvPr/>
        </p:nvSpPr>
        <p:spPr>
          <a:xfrm>
            <a:off x="3172968" y="1991563"/>
            <a:ext cx="226771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player_character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8"/>
          <p:cNvSpPr txBox="1"/>
          <p:nvPr/>
        </p:nvSpPr>
        <p:spPr>
          <a:xfrm>
            <a:off x="3172968" y="2136038"/>
            <a:ext cx="226771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(user_id, character_id)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2743200" y="2457907"/>
            <a:ext cx="274319" cy="12801"/>
          </a:xfrm>
          <a:prstGeom prst="rect">
            <a:avLst/>
          </a:prstGeom>
          <a:solidFill>
            <a:srgbClr val="9AA5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3017520" y="2290572"/>
            <a:ext cx="251460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3017520" y="2290572"/>
            <a:ext cx="54864" cy="347472"/>
          </a:xfrm>
          <a:prstGeom prst="rect">
            <a:avLst/>
          </a:prstGeom>
          <a:solidFill>
            <a:srgbClr val="2F6F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/>
          <p:cNvSpPr txBox="1"/>
          <p:nvPr/>
        </p:nvSpPr>
        <p:spPr>
          <a:xfrm>
            <a:off x="3172968" y="2334463"/>
            <a:ext cx="226771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player_item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8"/>
          <p:cNvSpPr txBox="1"/>
          <p:nvPr/>
        </p:nvSpPr>
        <p:spPr>
          <a:xfrm>
            <a:off x="3172968" y="2478938"/>
            <a:ext cx="226771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player_item_id PK · (user_id, slot) UQ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2743200" y="2800807"/>
            <a:ext cx="274319" cy="12801"/>
          </a:xfrm>
          <a:prstGeom prst="rect">
            <a:avLst/>
          </a:prstGeom>
          <a:solidFill>
            <a:srgbClr val="1B9E6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3017520" y="2633472"/>
            <a:ext cx="251460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8"/>
          <p:cNvSpPr/>
          <p:nvPr/>
        </p:nvSpPr>
        <p:spPr>
          <a:xfrm>
            <a:off x="3017520" y="2633472"/>
            <a:ext cx="54864" cy="347472"/>
          </a:xfrm>
          <a:prstGeom prst="rect">
            <a:avLst/>
          </a:prstGeom>
          <a:solidFill>
            <a:srgbClr val="2F6F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8"/>
          <p:cNvSpPr txBox="1"/>
          <p:nvPr/>
        </p:nvSpPr>
        <p:spPr>
          <a:xfrm>
            <a:off x="3172968" y="2677363"/>
            <a:ext cx="226771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player_cube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8"/>
          <p:cNvSpPr txBox="1"/>
          <p:nvPr/>
        </p:nvSpPr>
        <p:spPr>
          <a:xfrm>
            <a:off x="3172968" y="2821838"/>
            <a:ext cx="226771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user_id PK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2743200" y="3143707"/>
            <a:ext cx="274319" cy="12801"/>
          </a:xfrm>
          <a:prstGeom prst="rect">
            <a:avLst/>
          </a:prstGeom>
          <a:solidFill>
            <a:srgbClr val="9AA5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8"/>
          <p:cNvSpPr/>
          <p:nvPr/>
        </p:nvSpPr>
        <p:spPr>
          <a:xfrm>
            <a:off x="3017520" y="2976372"/>
            <a:ext cx="251460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8"/>
          <p:cNvSpPr/>
          <p:nvPr/>
        </p:nvSpPr>
        <p:spPr>
          <a:xfrm>
            <a:off x="3017520" y="2976372"/>
            <a:ext cx="54864" cy="347472"/>
          </a:xfrm>
          <a:prstGeom prst="rect">
            <a:avLst/>
          </a:prstGeom>
          <a:solidFill>
            <a:srgbClr val="2F6F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8"/>
          <p:cNvSpPr txBox="1"/>
          <p:nvPr/>
        </p:nvSpPr>
        <p:spPr>
          <a:xfrm>
            <a:off x="3172968" y="3020263"/>
            <a:ext cx="226771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player_rune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8"/>
          <p:cNvSpPr txBox="1"/>
          <p:nvPr/>
        </p:nvSpPr>
        <p:spPr>
          <a:xfrm>
            <a:off x="3172968" y="3164738"/>
            <a:ext cx="226771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(user_id, rune_code)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8"/>
          <p:cNvSpPr/>
          <p:nvPr/>
        </p:nvSpPr>
        <p:spPr>
          <a:xfrm>
            <a:off x="2743200" y="3486607"/>
            <a:ext cx="274319" cy="12801"/>
          </a:xfrm>
          <a:prstGeom prst="rect">
            <a:avLst/>
          </a:prstGeom>
          <a:solidFill>
            <a:srgbClr val="9AA5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3017520" y="3319272"/>
            <a:ext cx="251460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3017520" y="3319272"/>
            <a:ext cx="54864" cy="347472"/>
          </a:xfrm>
          <a:prstGeom prst="rect">
            <a:avLst/>
          </a:prstGeom>
          <a:solidFill>
            <a:srgbClr val="2F6F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8"/>
          <p:cNvSpPr txBox="1"/>
          <p:nvPr/>
        </p:nvSpPr>
        <p:spPr>
          <a:xfrm>
            <a:off x="3172968" y="3363163"/>
            <a:ext cx="226771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player_buff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8"/>
          <p:cNvSpPr txBox="1"/>
          <p:nvPr/>
        </p:nvSpPr>
        <p:spPr>
          <a:xfrm>
            <a:off x="3172968" y="3507638"/>
            <a:ext cx="226771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(user_id, buff_type)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2743200" y="3829507"/>
            <a:ext cx="274319" cy="12801"/>
          </a:xfrm>
          <a:prstGeom prst="rect">
            <a:avLst/>
          </a:prstGeom>
          <a:solidFill>
            <a:srgbClr val="1B9E6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8"/>
          <p:cNvSpPr/>
          <p:nvPr/>
        </p:nvSpPr>
        <p:spPr>
          <a:xfrm>
            <a:off x="3017520" y="3662172"/>
            <a:ext cx="251460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8"/>
          <p:cNvSpPr/>
          <p:nvPr/>
        </p:nvSpPr>
        <p:spPr>
          <a:xfrm>
            <a:off x="3017520" y="3662172"/>
            <a:ext cx="54864" cy="347472"/>
          </a:xfrm>
          <a:prstGeom prst="rect">
            <a:avLst/>
          </a:prstGeom>
          <a:solidFill>
            <a:srgbClr val="2F6F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8"/>
          <p:cNvSpPr txBox="1"/>
          <p:nvPr/>
        </p:nvSpPr>
        <p:spPr>
          <a:xfrm>
            <a:off x="3172968" y="3706063"/>
            <a:ext cx="226771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player_attendance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8"/>
          <p:cNvSpPr txBox="1"/>
          <p:nvPr/>
        </p:nvSpPr>
        <p:spPr>
          <a:xfrm>
            <a:off x="3172968" y="3850538"/>
            <a:ext cx="226771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user_id PK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8"/>
          <p:cNvSpPr/>
          <p:nvPr/>
        </p:nvSpPr>
        <p:spPr>
          <a:xfrm>
            <a:off x="2743200" y="4172407"/>
            <a:ext cx="274319" cy="12801"/>
          </a:xfrm>
          <a:prstGeom prst="rect">
            <a:avLst/>
          </a:prstGeom>
          <a:solidFill>
            <a:srgbClr val="9AA5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8"/>
          <p:cNvSpPr/>
          <p:nvPr/>
        </p:nvSpPr>
        <p:spPr>
          <a:xfrm>
            <a:off x="3017520" y="4005072"/>
            <a:ext cx="251460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8"/>
          <p:cNvSpPr/>
          <p:nvPr/>
        </p:nvSpPr>
        <p:spPr>
          <a:xfrm>
            <a:off x="3017520" y="4005072"/>
            <a:ext cx="54864" cy="347472"/>
          </a:xfrm>
          <a:prstGeom prst="rect">
            <a:avLst/>
          </a:prstGeom>
          <a:solidFill>
            <a:srgbClr val="2F6F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8"/>
          <p:cNvSpPr txBox="1"/>
          <p:nvPr/>
        </p:nvSpPr>
        <p:spPr>
          <a:xfrm>
            <a:off x="3172968" y="4048963"/>
            <a:ext cx="226771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player_mail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8"/>
          <p:cNvSpPr txBox="1"/>
          <p:nvPr/>
        </p:nvSpPr>
        <p:spPr>
          <a:xfrm>
            <a:off x="3172968" y="4193438"/>
            <a:ext cx="226771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mail_id PK · user_id IDX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8"/>
          <p:cNvSpPr/>
          <p:nvPr/>
        </p:nvSpPr>
        <p:spPr>
          <a:xfrm>
            <a:off x="2743200" y="4515307"/>
            <a:ext cx="274319" cy="12801"/>
          </a:xfrm>
          <a:prstGeom prst="rect">
            <a:avLst/>
          </a:prstGeom>
          <a:solidFill>
            <a:srgbClr val="9AA5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8"/>
          <p:cNvSpPr/>
          <p:nvPr/>
        </p:nvSpPr>
        <p:spPr>
          <a:xfrm>
            <a:off x="3017520" y="4347972"/>
            <a:ext cx="251460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8"/>
          <p:cNvSpPr/>
          <p:nvPr/>
        </p:nvSpPr>
        <p:spPr>
          <a:xfrm>
            <a:off x="3017520" y="4347972"/>
            <a:ext cx="54864" cy="347472"/>
          </a:xfrm>
          <a:prstGeom prst="rect">
            <a:avLst/>
          </a:prstGeom>
          <a:solidFill>
            <a:srgbClr val="6B4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8"/>
          <p:cNvSpPr txBox="1"/>
          <p:nvPr/>
        </p:nvSpPr>
        <p:spPr>
          <a:xfrm>
            <a:off x="3172968" y="4391863"/>
            <a:ext cx="226771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trade_listing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8"/>
          <p:cNvSpPr txBox="1"/>
          <p:nvPr/>
        </p:nvSpPr>
        <p:spPr>
          <a:xfrm>
            <a:off x="3172968" y="4536338"/>
            <a:ext cx="226771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listing_id PK · (status, item_code, price)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2743200" y="4858207"/>
            <a:ext cx="274319" cy="12801"/>
          </a:xfrm>
          <a:prstGeom prst="rect">
            <a:avLst/>
          </a:prstGeom>
          <a:solidFill>
            <a:srgbClr val="9AA5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8"/>
          <p:cNvSpPr/>
          <p:nvPr/>
        </p:nvSpPr>
        <p:spPr>
          <a:xfrm>
            <a:off x="3017520" y="4690872"/>
            <a:ext cx="251460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8"/>
          <p:cNvSpPr/>
          <p:nvPr/>
        </p:nvSpPr>
        <p:spPr>
          <a:xfrm>
            <a:off x="3017520" y="4690872"/>
            <a:ext cx="54864" cy="347472"/>
          </a:xfrm>
          <a:prstGeom prst="rect">
            <a:avLst/>
          </a:prstGeom>
          <a:solidFill>
            <a:srgbClr val="2F6F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8"/>
          <p:cNvSpPr txBox="1"/>
          <p:nvPr/>
        </p:nvSpPr>
        <p:spPr>
          <a:xfrm>
            <a:off x="3172968" y="4734763"/>
            <a:ext cx="226771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player_gacha_counter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8"/>
          <p:cNvSpPr txBox="1"/>
          <p:nvPr/>
        </p:nvSpPr>
        <p:spPr>
          <a:xfrm>
            <a:off x="3172968" y="4879238"/>
            <a:ext cx="226771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(user_id, gacha_code, grade)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2743200" y="5201107"/>
            <a:ext cx="274319" cy="12801"/>
          </a:xfrm>
          <a:prstGeom prst="rect">
            <a:avLst/>
          </a:prstGeom>
          <a:solidFill>
            <a:srgbClr val="9AA5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8"/>
          <p:cNvSpPr/>
          <p:nvPr/>
        </p:nvSpPr>
        <p:spPr>
          <a:xfrm>
            <a:off x="3017520" y="5033772"/>
            <a:ext cx="251460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8"/>
          <p:cNvSpPr/>
          <p:nvPr/>
        </p:nvSpPr>
        <p:spPr>
          <a:xfrm>
            <a:off x="3017520" y="5033772"/>
            <a:ext cx="54864" cy="347472"/>
          </a:xfrm>
          <a:prstGeom prst="rect">
            <a:avLst/>
          </a:prstGeom>
          <a:solidFill>
            <a:srgbClr val="2F6F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8"/>
          <p:cNvSpPr txBox="1"/>
          <p:nvPr/>
        </p:nvSpPr>
        <p:spPr>
          <a:xfrm>
            <a:off x="3172968" y="5077663"/>
            <a:ext cx="226771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player_gacha_pull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8"/>
          <p:cNvSpPr txBox="1"/>
          <p:nvPr/>
        </p:nvSpPr>
        <p:spPr>
          <a:xfrm>
            <a:off x="3172968" y="5222138"/>
            <a:ext cx="226771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pull_id PK · (user_id, pull_id)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8"/>
          <p:cNvSpPr/>
          <p:nvPr/>
        </p:nvSpPr>
        <p:spPr>
          <a:xfrm>
            <a:off x="2743200" y="5544007"/>
            <a:ext cx="274319" cy="12801"/>
          </a:xfrm>
          <a:prstGeom prst="rect">
            <a:avLst/>
          </a:prstGeom>
          <a:solidFill>
            <a:srgbClr val="9AA5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3017520" y="5376672"/>
            <a:ext cx="251460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8"/>
          <p:cNvSpPr/>
          <p:nvPr/>
        </p:nvSpPr>
        <p:spPr>
          <a:xfrm>
            <a:off x="3017520" y="5376672"/>
            <a:ext cx="54864" cy="347472"/>
          </a:xfrm>
          <a:prstGeom prst="rect">
            <a:avLst/>
          </a:prstGeom>
          <a:solidFill>
            <a:srgbClr val="2F6F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8"/>
          <p:cNvSpPr txBox="1"/>
          <p:nvPr/>
        </p:nvSpPr>
        <p:spPr>
          <a:xfrm>
            <a:off x="3172968" y="5420563"/>
            <a:ext cx="226771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boss_rush_record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8"/>
          <p:cNvSpPr txBox="1"/>
          <p:nvPr/>
        </p:nvSpPr>
        <p:spPr>
          <a:xfrm>
            <a:off x="3172968" y="5565038"/>
            <a:ext cx="226771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(season_id, user_id)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8"/>
          <p:cNvSpPr/>
          <p:nvPr/>
        </p:nvSpPr>
        <p:spPr>
          <a:xfrm>
            <a:off x="2743200" y="5886907"/>
            <a:ext cx="274319" cy="12801"/>
          </a:xfrm>
          <a:prstGeom prst="rect">
            <a:avLst/>
          </a:prstGeom>
          <a:solidFill>
            <a:srgbClr val="9AA5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8"/>
          <p:cNvSpPr/>
          <p:nvPr/>
        </p:nvSpPr>
        <p:spPr>
          <a:xfrm>
            <a:off x="3017520" y="5719572"/>
            <a:ext cx="251460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8"/>
          <p:cNvSpPr/>
          <p:nvPr/>
        </p:nvSpPr>
        <p:spPr>
          <a:xfrm>
            <a:off x="3017520" y="5719572"/>
            <a:ext cx="54864" cy="347472"/>
          </a:xfrm>
          <a:prstGeom prst="rect">
            <a:avLst/>
          </a:prstGeom>
          <a:solidFill>
            <a:srgbClr val="2F6F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8"/>
          <p:cNvSpPr txBox="1"/>
          <p:nvPr/>
        </p:nvSpPr>
        <p:spPr>
          <a:xfrm>
            <a:off x="3172968" y="5763463"/>
            <a:ext cx="226771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boss_rush_run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8"/>
          <p:cNvSpPr txBox="1"/>
          <p:nvPr/>
        </p:nvSpPr>
        <p:spPr>
          <a:xfrm>
            <a:off x="3172968" y="5907938"/>
            <a:ext cx="226771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run_id PK · (user_id, started_at)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8"/>
          <p:cNvSpPr/>
          <p:nvPr/>
        </p:nvSpPr>
        <p:spPr>
          <a:xfrm>
            <a:off x="6080760" y="1947672"/>
            <a:ext cx="237744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8"/>
          <p:cNvSpPr/>
          <p:nvPr/>
        </p:nvSpPr>
        <p:spPr>
          <a:xfrm>
            <a:off x="6080760" y="1947672"/>
            <a:ext cx="54864" cy="347472"/>
          </a:xfrm>
          <a:prstGeom prst="rect">
            <a:avLst/>
          </a:prstGeom>
          <a:solidFill>
            <a:srgbClr val="1B9E6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8"/>
          <p:cNvSpPr txBox="1"/>
          <p:nvPr/>
        </p:nvSpPr>
        <p:spPr>
          <a:xfrm>
            <a:off x="6236208" y="1991563"/>
            <a:ext cx="213055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player_skill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8"/>
          <p:cNvSpPr txBox="1"/>
          <p:nvPr/>
        </p:nvSpPr>
        <p:spPr>
          <a:xfrm>
            <a:off x="6236208" y="2136038"/>
            <a:ext cx="213055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(user_id, character_id, skill_code)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8"/>
          <p:cNvSpPr/>
          <p:nvPr/>
        </p:nvSpPr>
        <p:spPr>
          <a:xfrm>
            <a:off x="6080760" y="2290572"/>
            <a:ext cx="237744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8"/>
          <p:cNvSpPr/>
          <p:nvPr/>
        </p:nvSpPr>
        <p:spPr>
          <a:xfrm>
            <a:off x="6080760" y="2290572"/>
            <a:ext cx="54864" cy="347472"/>
          </a:xfrm>
          <a:prstGeom prst="rect">
            <a:avLst/>
          </a:prstGeom>
          <a:solidFill>
            <a:srgbClr val="1B9E6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8"/>
          <p:cNvSpPr txBox="1"/>
          <p:nvPr/>
        </p:nvSpPr>
        <p:spPr>
          <a:xfrm>
            <a:off x="6236208" y="2334463"/>
            <a:ext cx="213055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player_item_equipped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8"/>
          <p:cNvSpPr txBox="1"/>
          <p:nvPr/>
        </p:nvSpPr>
        <p:spPr>
          <a:xfrm>
            <a:off x="6236208" y="2478938"/>
            <a:ext cx="213055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player_item_id PK · UQ(user, char, slot)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8"/>
          <p:cNvSpPr/>
          <p:nvPr/>
        </p:nvSpPr>
        <p:spPr>
          <a:xfrm>
            <a:off x="6080760" y="4005072"/>
            <a:ext cx="237744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8"/>
          <p:cNvSpPr/>
          <p:nvPr/>
        </p:nvSpPr>
        <p:spPr>
          <a:xfrm>
            <a:off x="6080760" y="4005072"/>
            <a:ext cx="54864" cy="347472"/>
          </a:xfrm>
          <a:prstGeom prst="rect">
            <a:avLst/>
          </a:prstGeom>
          <a:solidFill>
            <a:srgbClr val="2F6F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8"/>
          <p:cNvSpPr txBox="1"/>
          <p:nvPr/>
        </p:nvSpPr>
        <p:spPr>
          <a:xfrm>
            <a:off x="6236208" y="4048963"/>
            <a:ext cx="213055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player_mail_reward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8"/>
          <p:cNvSpPr txBox="1"/>
          <p:nvPr/>
        </p:nvSpPr>
        <p:spPr>
          <a:xfrm>
            <a:off x="6236208" y="4193438"/>
            <a:ext cx="213055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(mail_id, seq)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8"/>
          <p:cNvSpPr/>
          <p:nvPr/>
        </p:nvSpPr>
        <p:spPr>
          <a:xfrm>
            <a:off x="6080760" y="5033772"/>
            <a:ext cx="237744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8"/>
          <p:cNvSpPr/>
          <p:nvPr/>
        </p:nvSpPr>
        <p:spPr>
          <a:xfrm>
            <a:off x="6080760" y="5033772"/>
            <a:ext cx="54864" cy="347472"/>
          </a:xfrm>
          <a:prstGeom prst="rect">
            <a:avLst/>
          </a:prstGeom>
          <a:solidFill>
            <a:srgbClr val="2F6F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8"/>
          <p:cNvSpPr txBox="1"/>
          <p:nvPr/>
        </p:nvSpPr>
        <p:spPr>
          <a:xfrm>
            <a:off x="6236208" y="5077663"/>
            <a:ext cx="213055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player_gacha_pull_item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8"/>
          <p:cNvSpPr txBox="1"/>
          <p:nvPr/>
        </p:nvSpPr>
        <p:spPr>
          <a:xfrm>
            <a:off x="6236208" y="5222138"/>
            <a:ext cx="213055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(pull_id, seq)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8"/>
          <p:cNvSpPr/>
          <p:nvPr/>
        </p:nvSpPr>
        <p:spPr>
          <a:xfrm>
            <a:off x="6080760" y="5376672"/>
            <a:ext cx="237744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8"/>
          <p:cNvSpPr/>
          <p:nvPr/>
        </p:nvSpPr>
        <p:spPr>
          <a:xfrm>
            <a:off x="6080760" y="5376672"/>
            <a:ext cx="54864" cy="347472"/>
          </a:xfrm>
          <a:prstGeom prst="rect">
            <a:avLst/>
          </a:prstGeom>
          <a:solidFill>
            <a:srgbClr val="6B4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8"/>
          <p:cNvSpPr txBox="1"/>
          <p:nvPr/>
        </p:nvSpPr>
        <p:spPr>
          <a:xfrm>
            <a:off x="6236208" y="5420563"/>
            <a:ext cx="213055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boss_rush_season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8"/>
          <p:cNvSpPr txBox="1"/>
          <p:nvPr/>
        </p:nvSpPr>
        <p:spPr>
          <a:xfrm>
            <a:off x="6236208" y="5565038"/>
            <a:ext cx="213055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season_id PK · start_at UQ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8"/>
          <p:cNvSpPr/>
          <p:nvPr/>
        </p:nvSpPr>
        <p:spPr>
          <a:xfrm>
            <a:off x="6080760" y="5719572"/>
            <a:ext cx="237744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8"/>
          <p:cNvSpPr/>
          <p:nvPr/>
        </p:nvSpPr>
        <p:spPr>
          <a:xfrm>
            <a:off x="6080760" y="5719572"/>
            <a:ext cx="54864" cy="347472"/>
          </a:xfrm>
          <a:prstGeom prst="rect">
            <a:avLst/>
          </a:prstGeom>
          <a:solidFill>
            <a:srgbClr val="2F6F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8"/>
          <p:cNvSpPr txBox="1"/>
          <p:nvPr/>
        </p:nvSpPr>
        <p:spPr>
          <a:xfrm>
            <a:off x="6236208" y="5763463"/>
            <a:ext cx="213055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boss_rush_run_round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8"/>
          <p:cNvSpPr txBox="1"/>
          <p:nvPr/>
        </p:nvSpPr>
        <p:spPr>
          <a:xfrm>
            <a:off x="6236208" y="5907938"/>
            <a:ext cx="213055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(run_id, round)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8"/>
          <p:cNvSpPr/>
          <p:nvPr/>
        </p:nvSpPr>
        <p:spPr>
          <a:xfrm>
            <a:off x="5532120" y="2032711"/>
            <a:ext cx="548640" cy="12801"/>
          </a:xfrm>
          <a:prstGeom prst="rect">
            <a:avLst/>
          </a:prstGeom>
          <a:solidFill>
            <a:srgbClr val="9AA5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8"/>
          <p:cNvSpPr/>
          <p:nvPr/>
        </p:nvSpPr>
        <p:spPr>
          <a:xfrm>
            <a:off x="5532120" y="2197303"/>
            <a:ext cx="320040" cy="12801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8"/>
          <p:cNvSpPr/>
          <p:nvPr/>
        </p:nvSpPr>
        <p:spPr>
          <a:xfrm>
            <a:off x="5845759" y="2203703"/>
            <a:ext cx="12801" cy="178308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8"/>
          <p:cNvSpPr/>
          <p:nvPr/>
        </p:nvSpPr>
        <p:spPr>
          <a:xfrm>
            <a:off x="5852160" y="2375611"/>
            <a:ext cx="228600" cy="12801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8"/>
          <p:cNvSpPr/>
          <p:nvPr/>
        </p:nvSpPr>
        <p:spPr>
          <a:xfrm>
            <a:off x="5532120" y="2540203"/>
            <a:ext cx="548640" cy="12801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8"/>
          <p:cNvSpPr/>
          <p:nvPr/>
        </p:nvSpPr>
        <p:spPr>
          <a:xfrm>
            <a:off x="5532120" y="4172407"/>
            <a:ext cx="548640" cy="12801"/>
          </a:xfrm>
          <a:prstGeom prst="rect">
            <a:avLst/>
          </a:prstGeom>
          <a:solidFill>
            <a:srgbClr val="9AA5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8"/>
          <p:cNvSpPr/>
          <p:nvPr/>
        </p:nvSpPr>
        <p:spPr>
          <a:xfrm>
            <a:off x="5532120" y="5201107"/>
            <a:ext cx="548640" cy="12801"/>
          </a:xfrm>
          <a:prstGeom prst="rect">
            <a:avLst/>
          </a:prstGeom>
          <a:solidFill>
            <a:srgbClr val="9AA5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8"/>
          <p:cNvSpPr/>
          <p:nvPr/>
        </p:nvSpPr>
        <p:spPr>
          <a:xfrm>
            <a:off x="5532120" y="5489143"/>
            <a:ext cx="548640" cy="12801"/>
          </a:xfrm>
          <a:prstGeom prst="rect">
            <a:avLst/>
          </a:prstGeom>
          <a:solidFill>
            <a:srgbClr val="9AA5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8"/>
          <p:cNvSpPr/>
          <p:nvPr/>
        </p:nvSpPr>
        <p:spPr>
          <a:xfrm>
            <a:off x="5852160" y="5598871"/>
            <a:ext cx="228600" cy="12801"/>
          </a:xfrm>
          <a:prstGeom prst="rect">
            <a:avLst/>
          </a:prstGeom>
          <a:solidFill>
            <a:srgbClr val="6B4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8"/>
          <p:cNvSpPr/>
          <p:nvPr/>
        </p:nvSpPr>
        <p:spPr>
          <a:xfrm>
            <a:off x="5845759" y="5605272"/>
            <a:ext cx="12801" cy="370332"/>
          </a:xfrm>
          <a:prstGeom prst="rect">
            <a:avLst/>
          </a:prstGeom>
          <a:solidFill>
            <a:srgbClr val="6B4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8"/>
          <p:cNvSpPr/>
          <p:nvPr/>
        </p:nvSpPr>
        <p:spPr>
          <a:xfrm>
            <a:off x="5532120" y="5969203"/>
            <a:ext cx="320040" cy="12801"/>
          </a:xfrm>
          <a:prstGeom prst="rect">
            <a:avLst/>
          </a:prstGeom>
          <a:solidFill>
            <a:srgbClr val="6B4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8"/>
          <p:cNvSpPr/>
          <p:nvPr/>
        </p:nvSpPr>
        <p:spPr>
          <a:xfrm>
            <a:off x="5532120" y="5804611"/>
            <a:ext cx="548640" cy="12801"/>
          </a:xfrm>
          <a:prstGeom prst="rect">
            <a:avLst/>
          </a:prstGeom>
          <a:solidFill>
            <a:srgbClr val="9AA5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8"/>
          <p:cNvSpPr/>
          <p:nvPr/>
        </p:nvSpPr>
        <p:spPr>
          <a:xfrm>
            <a:off x="8915400" y="1947672"/>
            <a:ext cx="2560320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8"/>
          <p:cNvSpPr txBox="1"/>
          <p:nvPr/>
        </p:nvSpPr>
        <p:spPr>
          <a:xfrm>
            <a:off x="9098280" y="2084831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MySQL · Account 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8"/>
          <p:cNvSpPr/>
          <p:nvPr/>
        </p:nvSpPr>
        <p:spPr>
          <a:xfrm>
            <a:off x="9098280" y="2304288"/>
            <a:ext cx="219456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8"/>
          <p:cNvSpPr/>
          <p:nvPr/>
        </p:nvSpPr>
        <p:spPr>
          <a:xfrm>
            <a:off x="9098280" y="2304288"/>
            <a:ext cx="54864" cy="347472"/>
          </a:xfrm>
          <a:prstGeom prst="rect">
            <a:avLst/>
          </a:prstGeom>
          <a:solidFill>
            <a:srgbClr val="2F6F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8"/>
          <p:cNvSpPr txBox="1"/>
          <p:nvPr/>
        </p:nvSpPr>
        <p:spPr>
          <a:xfrm>
            <a:off x="9253728" y="2348179"/>
            <a:ext cx="194767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8"/>
          <p:cNvSpPr txBox="1"/>
          <p:nvPr/>
        </p:nvSpPr>
        <p:spPr>
          <a:xfrm>
            <a:off x="9253728" y="2492654"/>
            <a:ext cx="194767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user_id PK · email UQ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8"/>
          <p:cNvSpPr/>
          <p:nvPr/>
        </p:nvSpPr>
        <p:spPr>
          <a:xfrm>
            <a:off x="10189159" y="2651760"/>
            <a:ext cx="12801" cy="182880"/>
          </a:xfrm>
          <a:prstGeom prst="rect">
            <a:avLst/>
          </a:prstGeom>
          <a:solidFill>
            <a:srgbClr val="1B9E6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8"/>
          <p:cNvSpPr/>
          <p:nvPr/>
        </p:nvSpPr>
        <p:spPr>
          <a:xfrm>
            <a:off x="9098280" y="2834640"/>
            <a:ext cx="219456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8"/>
          <p:cNvSpPr/>
          <p:nvPr/>
        </p:nvSpPr>
        <p:spPr>
          <a:xfrm>
            <a:off x="9098280" y="2834640"/>
            <a:ext cx="54864" cy="347472"/>
          </a:xfrm>
          <a:prstGeom prst="rect">
            <a:avLst/>
          </a:prstGeom>
          <a:solidFill>
            <a:srgbClr val="2F6F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8"/>
          <p:cNvSpPr txBox="1"/>
          <p:nvPr/>
        </p:nvSpPr>
        <p:spPr>
          <a:xfrm>
            <a:off x="9253728" y="2878531"/>
            <a:ext cx="194767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user_auth_token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8"/>
          <p:cNvSpPr txBox="1"/>
          <p:nvPr/>
        </p:nvSpPr>
        <p:spPr>
          <a:xfrm>
            <a:off x="9253728" y="3023006"/>
            <a:ext cx="1947672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user_id PK · 사용자당 1행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8"/>
          <p:cNvSpPr/>
          <p:nvPr/>
        </p:nvSpPr>
        <p:spPr>
          <a:xfrm>
            <a:off x="8915400" y="3703323"/>
            <a:ext cx="2560200" cy="132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8"/>
          <p:cNvSpPr txBox="1"/>
          <p:nvPr/>
        </p:nvSpPr>
        <p:spPr>
          <a:xfrm>
            <a:off x="9098280" y="3840480"/>
            <a:ext cx="2194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계정 단위 관계정리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8"/>
          <p:cNvSpPr/>
          <p:nvPr/>
        </p:nvSpPr>
        <p:spPr>
          <a:xfrm>
            <a:off x="9098280" y="4133087"/>
            <a:ext cx="91440" cy="146304"/>
          </a:xfrm>
          <a:prstGeom prst="rect">
            <a:avLst/>
          </a:prstGeom>
          <a:solidFill>
            <a:srgbClr val="2F6F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8"/>
          <p:cNvSpPr txBox="1"/>
          <p:nvPr/>
        </p:nvSpPr>
        <p:spPr>
          <a:xfrm>
            <a:off x="9281160" y="4137659"/>
            <a:ext cx="2011679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계정 공유 — user_id 소유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8"/>
          <p:cNvSpPr/>
          <p:nvPr/>
        </p:nvSpPr>
        <p:spPr>
          <a:xfrm>
            <a:off x="9098280" y="4389120"/>
            <a:ext cx="91440" cy="146304"/>
          </a:xfrm>
          <a:prstGeom prst="rect">
            <a:avLst/>
          </a:prstGeom>
          <a:solidFill>
            <a:srgbClr val="1B9E6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8"/>
          <p:cNvSpPr txBox="1"/>
          <p:nvPr/>
        </p:nvSpPr>
        <p:spPr>
          <a:xfrm>
            <a:off x="9281160" y="4393692"/>
            <a:ext cx="2011679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캐릭터별 — character_id 종속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8"/>
          <p:cNvSpPr/>
          <p:nvPr/>
        </p:nvSpPr>
        <p:spPr>
          <a:xfrm>
            <a:off x="9098280" y="4645152"/>
            <a:ext cx="91440" cy="146304"/>
          </a:xfrm>
          <a:prstGeom prst="rect">
            <a:avLst/>
          </a:prstGeom>
          <a:solidFill>
            <a:srgbClr val="6B4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8"/>
          <p:cNvSpPr txBox="1"/>
          <p:nvPr/>
        </p:nvSpPr>
        <p:spPr>
          <a:xfrm>
            <a:off x="9281160" y="4649724"/>
            <a:ext cx="2011679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전역 — 계정에 속하지 않음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8"/>
          <p:cNvSpPr/>
          <p:nvPr/>
        </p:nvSpPr>
        <p:spPr>
          <a:xfrm>
            <a:off x="9098280" y="4937760"/>
            <a:ext cx="2194560" cy="9144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8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9" name="Google Shape;489;p1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0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PRINCIPLES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685800" y="749808"/>
            <a:ext cx="822960" cy="54864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0"/>
          <p:cNvSpPr txBox="1"/>
          <p:nvPr/>
        </p:nvSpPr>
        <p:spPr>
          <a:xfrm>
            <a:off x="685800" y="914400"/>
            <a:ext cx="1088136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3.2  </a:t>
            </a:r>
            <a:r>
              <a:rPr lang="en-US" sz="3000" b="1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스키마</a:t>
            </a:r>
            <a:r>
              <a:rPr lang="en-US" sz="3000" b="1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3000" b="1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설계 시 유의한 것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685800" y="2103120"/>
            <a:ext cx="5266944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886968" y="2286000"/>
            <a:ext cx="411480" cy="36576"/>
          </a:xfrm>
          <a:prstGeom prst="rect">
            <a:avLst/>
          </a:prstGeom>
          <a:solidFill>
            <a:srgbClr val="2F6F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0"/>
          <p:cNvSpPr txBox="1"/>
          <p:nvPr/>
        </p:nvSpPr>
        <p:spPr>
          <a:xfrm>
            <a:off x="886968" y="2414015"/>
            <a:ext cx="48646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JSON </a:t>
            </a:r>
            <a:r>
              <a:rPr lang="en-US" sz="1250" b="1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컬럼을</a:t>
            </a:r>
            <a:r>
              <a:rPr lang="en-US" sz="1250" b="1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50" b="1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두지</a:t>
            </a:r>
            <a:r>
              <a:rPr lang="en-US" sz="1250" b="1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50" b="1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않는다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0"/>
          <p:cNvSpPr txBox="1"/>
          <p:nvPr/>
        </p:nvSpPr>
        <p:spPr>
          <a:xfrm>
            <a:off x="886968" y="2761487"/>
            <a:ext cx="4864608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제1정규</a:t>
            </a:r>
            <a:r>
              <a:rPr lang="en-US" sz="950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형에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의거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, 한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컬럼당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하나의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데이터만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886968" y="3529584"/>
            <a:ext cx="4864608" cy="9144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0"/>
          <p:cNvSpPr txBox="1"/>
          <p:nvPr/>
        </p:nvSpPr>
        <p:spPr>
          <a:xfrm>
            <a:off x="886968" y="3621024"/>
            <a:ext cx="4864608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</a:t>
            </a:r>
            <a:r>
              <a:rPr lang="en-US" sz="8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컬럼에</a:t>
            </a:r>
            <a:r>
              <a:rPr lang="en-US" sz="8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8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뭉쳐</a:t>
            </a:r>
            <a:r>
              <a:rPr lang="en-US" sz="8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8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두면</a:t>
            </a:r>
            <a:r>
              <a:rPr lang="en-US" sz="8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8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</a:t>
            </a:r>
            <a:r>
              <a:rPr lang="en-US" sz="8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8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조회</a:t>
            </a:r>
            <a:r>
              <a:rPr lang="en-US" sz="8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</a:t>
            </a:r>
            <a:r>
              <a:rPr lang="en-US" sz="8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집계</a:t>
            </a:r>
            <a:r>
              <a:rPr lang="en-US" sz="8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등 </a:t>
            </a:r>
            <a:r>
              <a:rPr lang="en-US" sz="8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이슈</a:t>
            </a:r>
            <a:r>
              <a:rPr lang="en-US" sz="8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8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발생</a:t>
            </a:r>
            <a:r>
              <a:rPr lang="en-US" sz="8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8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가능성</a:t>
            </a:r>
            <a:r>
              <a:rPr lang="en-US" sz="8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8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고려</a:t>
            </a:r>
            <a:endParaRPr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685800" y="4160520"/>
            <a:ext cx="5266944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886968" y="4343400"/>
            <a:ext cx="41148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0"/>
          <p:cNvSpPr txBox="1"/>
          <p:nvPr/>
        </p:nvSpPr>
        <p:spPr>
          <a:xfrm>
            <a:off x="886968" y="4471416"/>
            <a:ext cx="48646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시간은</a:t>
            </a:r>
            <a:r>
              <a:rPr lang="en-US" sz="1250" b="1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50" b="1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전부</a:t>
            </a:r>
            <a:r>
              <a:rPr lang="en-US" sz="1250" b="1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Unix timestamp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0"/>
          <p:cNvSpPr txBox="1"/>
          <p:nvPr/>
        </p:nvSpPr>
        <p:spPr>
          <a:xfrm>
            <a:off x="886968" y="4818888"/>
            <a:ext cx="4864608" cy="19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계정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세이브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등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DB에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저장되는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값은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Unix Timestamp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값으로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통일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886968" y="5586983"/>
            <a:ext cx="4864608" cy="9144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0"/>
          <p:cNvSpPr txBox="1"/>
          <p:nvPr/>
        </p:nvSpPr>
        <p:spPr>
          <a:xfrm>
            <a:off x="886968" y="5678424"/>
            <a:ext cx="486460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오프라인 보상 · 거래 만료 · 버프 잔여가 같은 기준으로 계산된다.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6208776" y="4160520"/>
            <a:ext cx="5266944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6409944" y="4343400"/>
            <a:ext cx="411480" cy="36576"/>
          </a:xfrm>
          <a:prstGeom prst="rect">
            <a:avLst/>
          </a:prstGeom>
          <a:solidFill>
            <a:srgbClr val="6B4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0"/>
          <p:cNvSpPr txBox="1"/>
          <p:nvPr/>
        </p:nvSpPr>
        <p:spPr>
          <a:xfrm>
            <a:off x="6409944" y="4471416"/>
            <a:ext cx="4864608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인덱스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0"/>
          <p:cNvSpPr txBox="1"/>
          <p:nvPr/>
        </p:nvSpPr>
        <p:spPr>
          <a:xfrm>
            <a:off x="6409944" y="4818888"/>
            <a:ext cx="4864608" cy="380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서버에서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실행하는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쿼리들을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뽑아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EXPLAIN을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돌려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인덱스를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실제로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타는지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0"/>
          <p:cNvSpPr/>
          <p:nvPr/>
        </p:nvSpPr>
        <p:spPr>
          <a:xfrm>
            <a:off x="6409944" y="5586983"/>
            <a:ext cx="4864608" cy="9144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0"/>
          <p:cNvSpPr txBox="1"/>
          <p:nvPr/>
        </p:nvSpPr>
        <p:spPr>
          <a:xfrm>
            <a:off x="6409944" y="5678424"/>
            <a:ext cx="4864608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결과적으로 사용자 대기 경로에 치명적으로 느린 쿼리는 없었다. → docs/공통/쿼리-분석.md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6208776" y="2107695"/>
            <a:ext cx="5266944" cy="1920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0"/>
          <p:cNvSpPr/>
          <p:nvPr/>
        </p:nvSpPr>
        <p:spPr>
          <a:xfrm>
            <a:off x="6409969" y="2297725"/>
            <a:ext cx="411600" cy="36600"/>
          </a:xfrm>
          <a:prstGeom prst="rect">
            <a:avLst/>
          </a:prstGeom>
          <a:solidFill>
            <a:srgbClr val="0E8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0"/>
          <p:cNvSpPr txBox="1"/>
          <p:nvPr/>
        </p:nvSpPr>
        <p:spPr>
          <a:xfrm>
            <a:off x="6409944" y="2418591"/>
            <a:ext cx="4864608" cy="1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유저정보는</a:t>
            </a:r>
            <a:r>
              <a:rPr lang="en-US" sz="1250" b="1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50" b="1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기본적으로</a:t>
            </a:r>
            <a:r>
              <a:rPr lang="en-US" sz="1250" b="1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DB </a:t>
            </a:r>
            <a:r>
              <a:rPr lang="en-US" sz="1250" b="1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조회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0"/>
          <p:cNvSpPr txBox="1"/>
          <p:nvPr/>
        </p:nvSpPr>
        <p:spPr>
          <a:xfrm>
            <a:off x="6409944" y="2766063"/>
            <a:ext cx="4864608" cy="19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Redis(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캐싱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)에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있는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것은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토큰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랭킹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0"/>
          <p:cNvSpPr/>
          <p:nvPr/>
        </p:nvSpPr>
        <p:spPr>
          <a:xfrm>
            <a:off x="6409944" y="3534158"/>
            <a:ext cx="4864608" cy="900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0"/>
          <p:cNvSpPr txBox="1"/>
          <p:nvPr/>
        </p:nvSpPr>
        <p:spPr>
          <a:xfrm>
            <a:off x="6409944" y="3625599"/>
            <a:ext cx="4864608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인벤토리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정보가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수시로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바뀌는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방치형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성격상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클라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동기화를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위해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정보를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캐싱하지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않는다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0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9244" y="1"/>
            <a:ext cx="1252451" cy="5804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RANKING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749808"/>
            <a:ext cx="822960" cy="54864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88136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  </a:t>
            </a:r>
            <a:r>
              <a:rPr lang="ko-KR" altLang="en-US" sz="3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랭킹 데이터 </a:t>
            </a:r>
            <a:r>
              <a:rPr lang="ko-KR" altLang="en-US" sz="3000" b="1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캐싱</a:t>
            </a:r>
            <a:r>
              <a:rPr lang="ko-KR" altLang="en-US" sz="3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3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</a:t>
            </a:r>
            <a:r>
              <a:rPr lang="ko-KR" altLang="en-US" sz="3000" b="1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시즌제</a:t>
            </a:r>
            <a:r>
              <a:rPr lang="en-US" altLang="ko-KR" sz="3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3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보스러시</a:t>
            </a:r>
            <a:r>
              <a:rPr lang="en-US" altLang="ko-KR" sz="3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) </a:t>
            </a:r>
            <a:r>
              <a:rPr lang="ko-KR" altLang="en-US" sz="3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랭킹 </a:t>
            </a:r>
            <a:r>
              <a:rPr lang="ko-KR" altLang="en-US" sz="3000" b="1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캐싱</a:t>
            </a:r>
            <a:endParaRPr sz="3000" b="1" dirty="0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108813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ko-KR" altLang="en-US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시즌제</a:t>
            </a:r>
            <a:r>
              <a:rPr lang="ko-KR" altLang="en-US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컨텐츠에 대한 랭킹 조회는 </a:t>
            </a:r>
            <a:r>
              <a:rPr lang="en-US" altLang="ko-KR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Redis</a:t>
            </a:r>
            <a:r>
              <a:rPr lang="ko-KR" altLang="en-US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에서 </a:t>
            </a:r>
            <a:r>
              <a:rPr lang="ko-KR" altLang="en-US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캐싱</a:t>
            </a:r>
            <a:endParaRPr sz="1400" b="0" dirty="0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35466" y="1785086"/>
            <a:ext cx="5989320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6634" y="1931390"/>
            <a:ext cx="5586984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신기록 갱신</a:t>
            </a:r>
            <a:r>
              <a:rPr lang="en-US" altLang="ko-KR" sz="1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-</a:t>
            </a:r>
            <a:r>
              <a:rPr sz="1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DB</a:t>
            </a:r>
            <a:r>
              <a:rPr lang="ko-KR" altLang="en-US" sz="1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 저장하고 </a:t>
            </a:r>
            <a:r>
              <a:rPr lang="en-US" altLang="ko-KR" sz="1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Redis</a:t>
            </a:r>
            <a:r>
              <a:rPr lang="ko-KR" altLang="en-US" sz="1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 순위 정보를 갱신</a:t>
            </a:r>
            <a:endParaRPr sz="1000" b="1" dirty="0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91498" y="2187422"/>
            <a:ext cx="1188720" cy="237744"/>
          </a:xfrm>
          <a:prstGeom prst="rect">
            <a:avLst/>
          </a:prstGeom>
          <a:solidFill>
            <a:srgbClr val="EEF2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1498" y="2233142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클라이언트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81286" y="2425166"/>
            <a:ext cx="9144" cy="1060704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308818" y="2187422"/>
            <a:ext cx="11887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308818" y="2233142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서버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98606" y="2425166"/>
            <a:ext cx="9144" cy="1060704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726138" y="2187422"/>
            <a:ext cx="11887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726138" y="2233142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MySQL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15926" y="2425166"/>
            <a:ext cx="9144" cy="1060704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143458" y="2187422"/>
            <a:ext cx="11887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43458" y="2233142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Redis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33246" y="2425166"/>
            <a:ext cx="9144" cy="1060704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1485858" y="2662910"/>
            <a:ext cx="1417320" cy="0"/>
          </a:xfrm>
          <a:prstGeom prst="line">
            <a:avLst/>
          </a:prstGeom>
          <a:ln w="12700">
            <a:solidFill>
              <a:srgbClr val="6B76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485858" y="2507462"/>
            <a:ext cx="14173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클리어 기록 보고 (12.3초)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903178" y="2918942"/>
            <a:ext cx="1417320" cy="0"/>
          </a:xfrm>
          <a:prstGeom prst="line">
            <a:avLst/>
          </a:prstGeom>
          <a:ln w="12700">
            <a:solidFill>
              <a:srgbClr val="2F6FE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03178" y="2763494"/>
            <a:ext cx="14173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 저장 — 최고 기록이면 갱신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903178" y="3174974"/>
            <a:ext cx="2834640" cy="0"/>
          </a:xfrm>
          <a:prstGeom prst="line">
            <a:avLst/>
          </a:prstGeom>
          <a:ln w="12700">
            <a:solidFill>
              <a:srgbClr val="E0A52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903178" y="3019526"/>
            <a:ext cx="2834640" cy="115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dirty="0" err="1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저장이</a:t>
            </a:r>
            <a:r>
              <a:rPr sz="750" b="0" dirty="0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sz="750" b="0" dirty="0" err="1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끝난</a:t>
            </a:r>
            <a:r>
              <a:rPr sz="750" b="0" dirty="0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뒤</a:t>
            </a:r>
            <a:r>
              <a:rPr lang="en-US" sz="750" b="0" dirty="0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750" b="0" dirty="0" err="1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캐싱</a:t>
            </a:r>
            <a:r>
              <a:rPr lang="ko-KR" altLang="en-US" sz="750" b="0" dirty="0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데이터 최신화</a:t>
            </a:r>
            <a:endParaRPr sz="750" b="0" dirty="0">
              <a:solidFill>
                <a:srgbClr val="E0A5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1" name="Connector 50"/>
          <p:cNvCxnSpPr/>
          <p:nvPr/>
        </p:nvCxnSpPr>
        <p:spPr>
          <a:xfrm flipH="1">
            <a:off x="1485858" y="3412718"/>
            <a:ext cx="1417320" cy="0"/>
          </a:xfrm>
          <a:prstGeom prst="line">
            <a:avLst/>
          </a:prstGeom>
          <a:ln w="12700">
            <a:solidFill>
              <a:srgbClr val="1B9E6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485858" y="3257270"/>
            <a:ext cx="14173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>
                <a:solidFill>
                  <a:srgbClr val="1B9E6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 순위 응답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7B4097CF-896E-CEBE-3292-37695F837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538" y="1632097"/>
            <a:ext cx="3026287" cy="32454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2" name="Rounded Rectangle 57">
            <a:extLst>
              <a:ext uri="{FF2B5EF4-FFF2-40B4-BE49-F238E27FC236}">
                <a16:creationId xmlns:a16="http://schemas.microsoft.com/office/drawing/2014/main" id="{FBEFCDDA-C1A3-54E1-F6DB-000D8B12341A}"/>
              </a:ext>
            </a:extLst>
          </p:cNvPr>
          <p:cNvSpPr/>
          <p:nvPr/>
        </p:nvSpPr>
        <p:spPr>
          <a:xfrm>
            <a:off x="6993469" y="4967081"/>
            <a:ext cx="4389120" cy="976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`</a:t>
            </a:r>
            <a:endParaRPr dirty="0"/>
          </a:p>
        </p:txBody>
      </p:sp>
      <p:sp>
        <p:nvSpPr>
          <p:cNvPr id="74" name="Rectangle 58">
            <a:extLst>
              <a:ext uri="{FF2B5EF4-FFF2-40B4-BE49-F238E27FC236}">
                <a16:creationId xmlns:a16="http://schemas.microsoft.com/office/drawing/2014/main" id="{7166423F-7E83-2E23-E371-9556EC6B1DB2}"/>
              </a:ext>
            </a:extLst>
          </p:cNvPr>
          <p:cNvSpPr/>
          <p:nvPr/>
        </p:nvSpPr>
        <p:spPr>
          <a:xfrm>
            <a:off x="6967866" y="5006324"/>
            <a:ext cx="45719" cy="9066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6A46F1B-66A3-C45F-9468-EF3932690328}"/>
              </a:ext>
            </a:extLst>
          </p:cNvPr>
          <p:cNvSpPr txBox="1"/>
          <p:nvPr/>
        </p:nvSpPr>
        <p:spPr>
          <a:xfrm>
            <a:off x="7176349" y="5058522"/>
            <a:ext cx="4206240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ko-KR" altLang="en-US" sz="95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클라이언트에서는 현재 페이지의 랭킹만 보인다</a:t>
            </a:r>
            <a:endParaRPr sz="950" b="1" dirty="0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DD7F66A-284E-0BE6-3375-977CF100DE32}"/>
              </a:ext>
            </a:extLst>
          </p:cNvPr>
          <p:cNvSpPr txBox="1"/>
          <p:nvPr/>
        </p:nvSpPr>
        <p:spPr>
          <a:xfrm>
            <a:off x="7176349" y="5259690"/>
            <a:ext cx="4206240" cy="5994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80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클라이언트에서 랭킹 데이터 조회는 </a:t>
            </a:r>
            <a:r>
              <a:rPr lang="ko-KR" altLang="en-US" sz="80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페이징</a:t>
            </a:r>
            <a:r>
              <a:rPr lang="ko-KR" altLang="en-US" sz="80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처리 되어 보인다</a:t>
            </a:r>
            <a:r>
              <a:rPr lang="en-US" altLang="ko-KR" sz="80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br>
              <a:rPr lang="en-US" altLang="ko-KR" sz="80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en-US" altLang="ko-KR" sz="80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80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추가로</a:t>
            </a:r>
            <a:r>
              <a:rPr lang="en-US" altLang="ko-KR" sz="80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80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스크롤을 통해 화면을 위나 아래로 이동할 경우</a:t>
            </a:r>
            <a:r>
              <a:rPr lang="en-US" altLang="ko-KR" sz="80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80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페이징을 새로 처리하여 항상 현재 페이지의 데이터만 보이도록 처리하였다</a:t>
            </a:r>
            <a:r>
              <a:rPr lang="en-US" altLang="ko-KR" sz="80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sz="800" b="0" dirty="0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D0E43FA-1016-0F0A-D107-8EF069B7C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202" y="4264374"/>
            <a:ext cx="2464132" cy="21923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759186B-9342-5C55-D6F9-217989809D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4178" y="4047300"/>
            <a:ext cx="1781046" cy="19180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5" name="Google Shape;264;p6">
            <a:extLst>
              <a:ext uri="{FF2B5EF4-FFF2-40B4-BE49-F238E27FC236}">
                <a16:creationId xmlns:a16="http://schemas.microsoft.com/office/drawing/2014/main" id="{834EB0B7-94B1-55CC-4D5B-D42B8227E3AB}"/>
              </a:ext>
            </a:extLst>
          </p:cNvPr>
          <p:cNvSpPr txBox="1"/>
          <p:nvPr/>
        </p:nvSpPr>
        <p:spPr>
          <a:xfrm>
            <a:off x="2907750" y="6441933"/>
            <a:ext cx="1969777" cy="21544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인게임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보스러시 컨텐츠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9244" y="1"/>
            <a:ext cx="1252451" cy="5804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GACHA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749808"/>
            <a:ext cx="822960" cy="54864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 가챠 — 확률도 횟수도 서버가 정한다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뽑기 한 번이 하는 일과 그 순서 — 전부 한 트랜잭션 안에서 일어난다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20"/>
            <a:ext cx="10789920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" y="2020824"/>
            <a:ext cx="54864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뽑기</a:t>
            </a:r>
            <a:r>
              <a:rPr lang="en-US" sz="1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(10</a:t>
            </a:r>
            <a:r>
              <a:rPr lang="ko-KR" altLang="en-US" sz="1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연차</a:t>
            </a:r>
            <a:r>
              <a:rPr lang="en-US" altLang="ko-KR" sz="1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) </a:t>
            </a:r>
            <a:r>
              <a:rPr lang="ko-KR" altLang="en-US" sz="1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요청 시 서버측 트랜잭션</a:t>
            </a:r>
            <a:endParaRPr sz="1000" b="1" dirty="0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05256" y="2313432"/>
            <a:ext cx="157276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05256" y="2313432"/>
            <a:ext cx="1572768" cy="45720"/>
          </a:xfrm>
          <a:prstGeom prst="rect">
            <a:avLst/>
          </a:prstGeom>
          <a:solidFill>
            <a:srgbClr val="6B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14984" y="2441448"/>
            <a:ext cx="13533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비용 차감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2642616"/>
            <a:ext cx="135331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먼저 뺀다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78024" y="2670048"/>
            <a:ext cx="137160" cy="0"/>
          </a:xfrm>
          <a:prstGeom prst="line">
            <a:avLst/>
          </a:prstGeom>
          <a:ln w="12700">
            <a:solidFill>
              <a:srgbClr val="9AA5B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615184" y="2313432"/>
            <a:ext cx="157276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15184" y="2313432"/>
            <a:ext cx="1572768" cy="45720"/>
          </a:xfrm>
          <a:prstGeom prst="rect">
            <a:avLst/>
          </a:prstGeom>
          <a:solidFill>
            <a:srgbClr val="6B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24912" y="2441448"/>
            <a:ext cx="13533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</a:t>
            </a:r>
            <a:r>
              <a:rPr sz="900" b="1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천장</a:t>
            </a:r>
            <a:r>
              <a:rPr sz="9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sz="900" b="1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</a:t>
            </a:r>
            <a:endParaRPr sz="900" b="1" dirty="0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24912" y="2642616"/>
            <a:ext cx="1353312" cy="2734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7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최고 등급 보상을 </a:t>
            </a:r>
            <a:r>
              <a:rPr lang="ko-KR" altLang="en-US" sz="75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못먹은지</a:t>
            </a:r>
            <a:br>
              <a:rPr lang="en-US" altLang="ko-KR" sz="7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7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얼마나</a:t>
            </a:r>
            <a:r>
              <a:rPr lang="en-US" altLang="ko-KR" sz="7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7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횟수</a:t>
            </a:r>
            <a:r>
              <a:rPr lang="en-US" altLang="ko-KR" sz="7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) </a:t>
            </a:r>
            <a:r>
              <a:rPr lang="ko-KR" altLang="en-US" sz="7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되었는가</a:t>
            </a:r>
            <a:r>
              <a:rPr lang="en-US" altLang="ko-KR" sz="7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  <a:endParaRPr sz="750" b="0" dirty="0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4187952" y="2670048"/>
            <a:ext cx="137160" cy="0"/>
          </a:xfrm>
          <a:prstGeom prst="line">
            <a:avLst/>
          </a:prstGeom>
          <a:ln w="12700">
            <a:solidFill>
              <a:srgbClr val="9AA5B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25112" y="2313432"/>
            <a:ext cx="157276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25112" y="2313432"/>
            <a:ext cx="1572768" cy="45720"/>
          </a:xfrm>
          <a:prstGeom prst="rect">
            <a:avLst/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2441448"/>
            <a:ext cx="13533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</a:t>
            </a:r>
            <a:r>
              <a:rPr sz="900" b="1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등급</a:t>
            </a:r>
            <a:r>
              <a:rPr sz="9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sz="900" b="1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추첨</a:t>
            </a:r>
            <a:endParaRPr sz="900" b="1" dirty="0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34840" y="2642616"/>
            <a:ext cx="135331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 난수로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97880" y="2670048"/>
            <a:ext cx="137160" cy="0"/>
          </a:xfrm>
          <a:prstGeom prst="line">
            <a:avLst/>
          </a:prstGeom>
          <a:ln w="12700">
            <a:solidFill>
              <a:srgbClr val="9AA5B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035040" y="2313432"/>
            <a:ext cx="157276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35040" y="2313432"/>
            <a:ext cx="1572768" cy="45720"/>
          </a:xfrm>
          <a:prstGeom prst="rect">
            <a:avLst/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44768" y="2441448"/>
            <a:ext cx="13533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10연 </a:t>
            </a:r>
            <a:r>
              <a:rPr sz="900" b="1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보장</a:t>
            </a:r>
            <a:endParaRPr sz="900" b="1" dirty="0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44768" y="2642616"/>
            <a:ext cx="1353312" cy="2551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ko-KR" sz="70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altLang="en-US" sz="70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</a:t>
            </a:r>
            <a:r>
              <a:rPr lang="en-US" altLang="ko-KR" sz="70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70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희귀</a:t>
            </a:r>
            <a:r>
              <a:rPr lang="ko-KR" altLang="en-US" sz="70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등급</a:t>
            </a:r>
            <a:r>
              <a:rPr lang="en-US" altLang="ko-KR" sz="70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) </a:t>
            </a:r>
            <a:r>
              <a:rPr lang="ko-KR" altLang="en-US" sz="70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아이템이</a:t>
            </a:r>
            <a:br>
              <a:rPr lang="en-US" altLang="ko-KR" sz="70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70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r>
              <a:rPr lang="ko-KR" altLang="en-US" sz="70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연차 결과에 없다면 강제 포함</a:t>
            </a:r>
            <a:endParaRPr sz="700" b="0" dirty="0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7607808" y="2670048"/>
            <a:ext cx="137160" cy="0"/>
          </a:xfrm>
          <a:prstGeom prst="line">
            <a:avLst/>
          </a:prstGeom>
          <a:ln w="12700">
            <a:solidFill>
              <a:srgbClr val="9AA5B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744968" y="2313432"/>
            <a:ext cx="157276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744968" y="2313432"/>
            <a:ext cx="1572768" cy="45720"/>
          </a:xfrm>
          <a:prstGeom prst="rect">
            <a:avLst/>
          </a:prstGeom>
          <a:solidFill>
            <a:srgbClr val="1B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54696" y="2441448"/>
            <a:ext cx="13533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 </a:t>
            </a:r>
            <a:r>
              <a:rPr sz="900" b="1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가방에</a:t>
            </a:r>
            <a:r>
              <a:rPr sz="9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sz="900" b="1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넣기</a:t>
            </a:r>
            <a:endParaRPr sz="900" b="1" dirty="0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854696" y="2642616"/>
            <a:ext cx="135331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자리</a:t>
            </a:r>
            <a:r>
              <a:rPr sz="7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sz="75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없으면</a:t>
            </a:r>
            <a:r>
              <a:rPr sz="7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sz="75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실패</a:t>
            </a:r>
            <a:endParaRPr sz="750" b="0" dirty="0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9317736" y="2670048"/>
            <a:ext cx="137160" cy="0"/>
          </a:xfrm>
          <a:prstGeom prst="line">
            <a:avLst/>
          </a:prstGeom>
          <a:ln w="12700">
            <a:solidFill>
              <a:srgbClr val="9AA5B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454896" y="2313432"/>
            <a:ext cx="157276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454896" y="2313432"/>
            <a:ext cx="1572768" cy="45720"/>
          </a:xfrm>
          <a:prstGeom prst="rect">
            <a:avLst/>
          </a:prstGeom>
          <a:solidFill>
            <a:srgbClr val="1B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564624" y="2441448"/>
            <a:ext cx="1353312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⑥ </a:t>
            </a:r>
            <a:r>
              <a:rPr lang="ko-KR" altLang="en-US" sz="9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뽑기 기록 적재</a:t>
            </a:r>
            <a:endParaRPr sz="900" b="1" dirty="0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85800" y="3745248"/>
            <a:ext cx="258775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85800" y="3745248"/>
            <a:ext cx="45720" cy="1508760"/>
          </a:xfrm>
          <a:prstGeom prst="rect">
            <a:avLst/>
          </a:prstGeom>
          <a:solidFill>
            <a:srgbClr val="6B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8680" y="3873264"/>
            <a:ext cx="2221992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</a:t>
            </a:r>
            <a:r>
              <a:rPr lang="en-US" altLang="ko-KR" sz="1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마스터</a:t>
            </a:r>
            <a:r>
              <a:rPr lang="en-US" altLang="ko-KR" sz="1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r>
              <a:rPr lang="ko-KR" altLang="en-US" sz="1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데이터를 통해 배너마다 확률 계산을 달리한다</a:t>
            </a:r>
            <a:r>
              <a:rPr lang="en-US" altLang="ko-KR" sz="1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sz="1000" b="1" dirty="0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68680" y="4220736"/>
            <a:ext cx="2221992" cy="1033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요청에는</a:t>
            </a:r>
            <a:r>
              <a:rPr sz="8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1연·10연 </a:t>
            </a:r>
            <a:r>
              <a:rPr sz="85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구분만</a:t>
            </a:r>
            <a:r>
              <a:rPr sz="8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sz="85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담긴다</a:t>
            </a:r>
            <a:r>
              <a:rPr sz="8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sz="85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횟수</a:t>
            </a:r>
            <a:r>
              <a:rPr sz="8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</a:t>
            </a:r>
            <a:r>
              <a:rPr sz="85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가격</a:t>
            </a:r>
            <a:r>
              <a:rPr sz="8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</a:t>
            </a:r>
            <a:r>
              <a:rPr sz="85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보장</a:t>
            </a:r>
            <a:r>
              <a:rPr sz="8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sz="85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등급은</a:t>
            </a:r>
            <a:r>
              <a:rPr sz="8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sz="85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서버의</a:t>
            </a:r>
            <a:r>
              <a:rPr sz="8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sz="85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</a:t>
            </a:r>
            <a:r>
              <a:rPr sz="8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sz="85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데이터에서</a:t>
            </a:r>
            <a:r>
              <a:rPr sz="8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sz="85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읽는다</a:t>
            </a:r>
            <a:r>
              <a:rPr sz="8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sz="85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클라이언트가</a:t>
            </a:r>
            <a:r>
              <a:rPr sz="8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sz="85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횟수를</a:t>
            </a:r>
            <a:r>
              <a:rPr sz="8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sz="85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말하면</a:t>
            </a:r>
            <a:r>
              <a:rPr sz="8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sz="85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값의</a:t>
            </a:r>
            <a:r>
              <a:rPr sz="8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sz="85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출처가</a:t>
            </a:r>
            <a:r>
              <a:rPr sz="8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두 </a:t>
            </a:r>
            <a:r>
              <a:rPr sz="85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곳이</a:t>
            </a:r>
            <a:r>
              <a:rPr sz="8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sz="85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된다</a:t>
            </a:r>
            <a:r>
              <a:rPr sz="85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19856" y="3745248"/>
            <a:ext cx="258775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419856" y="3745248"/>
            <a:ext cx="45720" cy="150876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02736" y="3873264"/>
            <a:ext cx="22219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돈을 추첨보다 먼저 뺀다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02736" y="4111008"/>
            <a:ext cx="2221992" cy="10015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85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뽑기 로직을 돌리기 전에 유저 재화부터 확인하여</a:t>
            </a:r>
            <a:r>
              <a:rPr lang="en-US" altLang="ko-KR" sz="85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85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재화가 부족한 경우 뽑기를 하지 않는다</a:t>
            </a:r>
            <a:r>
              <a:rPr lang="en-US" altLang="ko-KR" sz="85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br>
              <a:rPr lang="en-US" altLang="ko-KR" sz="85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lang="en-US" altLang="ko-KR" sz="85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85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클라이언트에서도 </a:t>
            </a:r>
            <a:r>
              <a:rPr lang="en-US" altLang="ko-KR" sz="85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ko-KR" altLang="en-US" sz="85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차적으로 막지만</a:t>
            </a:r>
            <a:r>
              <a:rPr lang="en-US" altLang="ko-KR" sz="85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85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서버에서도 방어</a:t>
            </a:r>
            <a:r>
              <a:rPr lang="en-US" altLang="ko-KR" sz="85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sz="850" b="0" dirty="0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85800" y="5482608"/>
            <a:ext cx="107899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결과를 정하는 난수는 서버에서만 돌린다 — 클라이언트가 보낸 어떤 값도 확률에 영향을 주지 않는다.</a:t>
            </a:r>
          </a:p>
        </p:txBody>
      </p:sp>
      <p:sp>
        <p:nvSpPr>
          <p:cNvPr id="9201" name="CodeNote9201"/>
          <p:cNvSpPr txBox="1"/>
          <p:nvPr/>
        </p:nvSpPr>
        <p:spPr>
          <a:xfrm>
            <a:off x="685800" y="5802648"/>
            <a:ext cx="107899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sz="90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— </a:t>
            </a:r>
            <a:r>
              <a:rPr sz="90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GachaService.PullAsync</a:t>
            </a:r>
            <a:r>
              <a:rPr sz="90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()가 </a:t>
            </a:r>
            <a:r>
              <a:rPr sz="90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검증하고</a:t>
            </a:r>
            <a:r>
              <a:rPr sz="90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sz="900" b="0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GachaRepository.ApplyPullAsync</a:t>
            </a:r>
            <a:r>
              <a:rPr sz="90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()가</a:t>
            </a:r>
            <a:r>
              <a:rPr lang="en-US" sz="90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900" b="0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위의 트랜잭션 실행</a:t>
            </a:r>
            <a:endParaRPr sz="900" b="0" dirty="0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177992E0-0842-D9BB-FAA0-946349BE5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115" y="3693342"/>
            <a:ext cx="2718537" cy="24219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C339EB77-E955-57D4-794D-B9A5423115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7154" y="3484057"/>
            <a:ext cx="2516961" cy="22268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153" name="Google Shape;264;p6">
            <a:extLst>
              <a:ext uri="{FF2B5EF4-FFF2-40B4-BE49-F238E27FC236}">
                <a16:creationId xmlns:a16="http://schemas.microsoft.com/office/drawing/2014/main" id="{0ADD860C-7494-83D2-7F56-0D045914C5CD}"/>
              </a:ext>
            </a:extLst>
          </p:cNvPr>
          <p:cNvSpPr txBox="1"/>
          <p:nvPr/>
        </p:nvSpPr>
        <p:spPr>
          <a:xfrm>
            <a:off x="8515642" y="6076101"/>
            <a:ext cx="1606764" cy="21544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인게임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뽑기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UI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9244" y="1"/>
            <a:ext cx="1252451" cy="5804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CONCURRENCY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749808"/>
            <a:ext cx="822960" cy="54864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 거래소 구매 — 동시에 같은 매물을 사면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잠금을 따로 걸지 않는다. “아직 판매중일 때만 바꿔라”는 조건 하나가 줄을 세운다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20"/>
            <a:ext cx="6583680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2020824"/>
            <a:ext cx="607161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 사람이 같은 매물을 동시에 눌렀을 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1832" y="2276856"/>
            <a:ext cx="1280160" cy="237744"/>
          </a:xfrm>
          <a:prstGeom prst="rect">
            <a:avLst/>
          </a:prstGeom>
          <a:solidFill>
            <a:srgbClr val="EEF2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2322576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구매자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77340" y="2514600"/>
            <a:ext cx="9144" cy="3008376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50592" y="2276856"/>
            <a:ext cx="1280160" cy="237744"/>
          </a:xfrm>
          <a:prstGeom prst="rect">
            <a:avLst/>
          </a:prstGeom>
          <a:solidFill>
            <a:srgbClr val="EEF2F9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50592" y="2322576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구매자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86100" y="2514600"/>
            <a:ext cx="9144" cy="3008376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959352" y="2276856"/>
            <a:ext cx="12801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59352" y="2322576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서버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94860" y="2514600"/>
            <a:ext cx="9144" cy="3008376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68112" y="2276856"/>
            <a:ext cx="12801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68112" y="2322576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MySQL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03620" y="2514600"/>
            <a:ext cx="9144" cy="3008376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>
            <a:off x="1581912" y="2807208"/>
            <a:ext cx="3017520" cy="0"/>
          </a:xfrm>
          <a:prstGeom prst="line">
            <a:avLst/>
          </a:prstGeom>
          <a:ln w="12700">
            <a:solidFill>
              <a:srgbClr val="6B76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581912" y="2651760"/>
            <a:ext cx="30175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매물 살게요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090672" y="3108960"/>
            <a:ext cx="1508760" cy="0"/>
          </a:xfrm>
          <a:prstGeom prst="line">
            <a:avLst/>
          </a:prstGeom>
          <a:ln w="12700">
            <a:solidFill>
              <a:srgbClr val="6B76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090672" y="2953512"/>
            <a:ext cx="1508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(같은 순간) 이 매물 살게요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99432" y="3410712"/>
            <a:ext cx="1508760" cy="0"/>
          </a:xfrm>
          <a:prstGeom prst="line">
            <a:avLst/>
          </a:prstGeom>
          <a:ln w="12700">
            <a:solidFill>
              <a:srgbClr val="2F6FE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99432" y="3255264"/>
            <a:ext cx="1508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A — 아직 판매중일 때만 내 것으로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599432" y="3712464"/>
            <a:ext cx="1508760" cy="0"/>
          </a:xfrm>
          <a:prstGeom prst="line">
            <a:avLst/>
          </a:prstGeom>
          <a:ln w="12700">
            <a:solidFill>
              <a:srgbClr val="1B9E6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99432" y="3557016"/>
            <a:ext cx="1508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>
                <a:solidFill>
                  <a:srgbClr val="1B9E6F"/>
                </a:solidFill>
                <a:latin typeface="Malgun Gothic"/>
                <a:ea typeface="Malgun Gothic"/>
                <a:cs typeface="Malgun Gothic"/>
                <a:sym typeface="Malgun Gothic"/>
              </a:rPr>
              <a:t>1건 바뀜 → A가 차지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99432" y="4014216"/>
            <a:ext cx="1508760" cy="0"/>
          </a:xfrm>
          <a:prstGeom prst="line">
            <a:avLst/>
          </a:prstGeom>
          <a:ln w="12700">
            <a:solidFill>
              <a:srgbClr val="2F6FE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99432" y="3858768"/>
            <a:ext cx="1508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B — 같은 요청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4599432" y="4315968"/>
            <a:ext cx="1508760" cy="0"/>
          </a:xfrm>
          <a:prstGeom prst="line">
            <a:avLst/>
          </a:prstGeom>
          <a:ln w="12700">
            <a:solidFill>
              <a:srgbClr val="C0392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99432" y="4160520"/>
            <a:ext cx="1508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0건 → 이미 팔렸다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3090672" y="4617720"/>
            <a:ext cx="1508760" cy="0"/>
          </a:xfrm>
          <a:prstGeom prst="line">
            <a:avLst/>
          </a:prstGeom>
          <a:ln w="12700">
            <a:solidFill>
              <a:srgbClr val="C0392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090672" y="4462272"/>
            <a:ext cx="1508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실패 · 골드는 손대지 않았다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599432" y="4919472"/>
            <a:ext cx="1508760" cy="0"/>
          </a:xfrm>
          <a:prstGeom prst="line">
            <a:avLst/>
          </a:prstGeom>
          <a:ln w="12700">
            <a:solidFill>
              <a:srgbClr val="2F6FE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599432" y="4764024"/>
            <a:ext cx="1508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A — 골드 차감 · 우편함으로 지급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1581912" y="5221224"/>
            <a:ext cx="3017520" cy="0"/>
          </a:xfrm>
          <a:prstGeom prst="line">
            <a:avLst/>
          </a:prstGeom>
          <a:ln w="12700">
            <a:solidFill>
              <a:srgbClr val="1B9E6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581912" y="5065776"/>
            <a:ext cx="301752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>
                <a:solidFill>
                  <a:srgbClr val="1B9E6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성공 { 산 아이템은 우편함에 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" y="5513832"/>
            <a:ext cx="6071616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 쪽(B)은 골드도 아이템도 건드리지 않고 물러난다.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52360" y="1874520"/>
            <a:ext cx="40233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452360" y="1874520"/>
            <a:ext cx="45720" cy="932688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635240" y="2002536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잠금을 따로 걸지 않는다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2402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“아직 판매중일 때만 바꿔라”는 조건이 곧 줄 세우기다. 늦게 온 쪽은 바뀐 행이 0건이라 스스로 실패를 안다.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52360" y="2889504"/>
            <a:ext cx="40233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452360" y="2889504"/>
            <a:ext cx="45720" cy="932688"/>
          </a:xfrm>
          <a:prstGeom prst="rect">
            <a:avLst/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35240" y="30175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매물을 먼저 차지하고 돈을 만진다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255264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순서를 뒤집으면 진 쪽도 골드를 뺐다가 되돌려야 한다. 차지에 실패하면 아무것도 하지 않는다.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52360" y="3904488"/>
            <a:ext cx="40233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452360" y="3904488"/>
            <a:ext cx="45720" cy="932688"/>
          </a:xfrm>
          <a:prstGeom prst="rect">
            <a:avLst/>
          </a:prstGeom>
          <a:solidFill>
            <a:srgbClr val="1B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635240" y="403250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 아이템은 가방이 아니라 우편함으로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7024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가방이 가득해도 거래는 성립한다. 자리 문제는 우편을 받을 때 따진다.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52360" y="4919472"/>
            <a:ext cx="40233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452360" y="4919472"/>
            <a:ext cx="45720" cy="9326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635240" y="504748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수수료 20%는 사라진다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5285232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판매자는 80%만 받는다. 남은 20%는 누구에게도 가지 않고 게임 경제에서 빠진다.</a:t>
            </a:r>
          </a:p>
        </p:txBody>
      </p:sp>
      <p:sp>
        <p:nvSpPr>
          <p:cNvPr id="9202" name="CodeNote9202"/>
          <p:cNvSpPr txBox="1"/>
          <p:nvPr/>
        </p:nvSpPr>
        <p:spPr>
          <a:xfrm>
            <a:off x="685800" y="5961888"/>
            <a:ext cx="10789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 — TradeService.BuyAsync() → TradeRepository.ApplyBuyAsync(). 조건부 UPDATE 1건이 승자를 가르고, 진 쪽은 TxResult.Rollback()으로 물러난다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9" name="Google Shape;489;p1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0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BATCH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685800" y="749808"/>
            <a:ext cx="822960" cy="54864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0"/>
          <p:cNvSpPr txBox="1"/>
          <p:nvPr/>
        </p:nvSpPr>
        <p:spPr>
          <a:xfrm>
            <a:off x="685800" y="914400"/>
            <a:ext cx="1088136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6.  </a:t>
            </a:r>
            <a:r>
              <a:rPr lang="en-US" sz="3000" b="1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배치</a:t>
            </a:r>
            <a:r>
              <a:rPr lang="en-US" sz="3000" b="1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3000" b="1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</a:t>
            </a:r>
            <a:r>
              <a:rPr lang="en-US" sz="3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– </a:t>
            </a:r>
            <a:r>
              <a:rPr lang="ko-KR" altLang="en-US" sz="3000" b="1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스케줄링 작업 담당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685800" y="1710060"/>
            <a:ext cx="5266944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886968" y="1892940"/>
            <a:ext cx="411480" cy="36576"/>
          </a:xfrm>
          <a:prstGeom prst="rect">
            <a:avLst/>
          </a:prstGeom>
          <a:solidFill>
            <a:srgbClr val="2F6F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0"/>
          <p:cNvSpPr txBox="1"/>
          <p:nvPr/>
        </p:nvSpPr>
        <p:spPr>
          <a:xfrm>
            <a:off x="886968" y="2020955"/>
            <a:ext cx="4864608" cy="1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무엇을</a:t>
            </a:r>
            <a:r>
              <a:rPr lang="en-US" sz="1250" b="1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50" b="1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하나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0"/>
          <p:cNvSpPr txBox="1"/>
          <p:nvPr/>
        </p:nvSpPr>
        <p:spPr>
          <a:xfrm>
            <a:off x="886968" y="2368427"/>
            <a:ext cx="4864608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거래소 만료 · 메일 정리 · 보스러시 시즌 정산 · 동접 집계 · 시간별 집계 · 일별 집계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886968" y="3136524"/>
            <a:ext cx="4864608" cy="9144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0"/>
          <p:cNvSpPr txBox="1"/>
          <p:nvPr/>
        </p:nvSpPr>
        <p:spPr>
          <a:xfrm>
            <a:off x="886968" y="3227964"/>
            <a:ext cx="4864608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요청과 무관하게, 정해진 시각이 되면 서버가 스스로 한다.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6239258" y="1710060"/>
            <a:ext cx="5266944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6440426" y="1892940"/>
            <a:ext cx="41148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0"/>
          <p:cNvSpPr txBox="1"/>
          <p:nvPr/>
        </p:nvSpPr>
        <p:spPr>
          <a:xfrm>
            <a:off x="6440426" y="2020956"/>
            <a:ext cx="48646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언제 도는가 — 시계가 정한다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0"/>
          <p:cNvSpPr txBox="1"/>
          <p:nvPr/>
        </p:nvSpPr>
        <p:spPr>
          <a:xfrm>
            <a:off x="6440426" y="2368428"/>
            <a:ext cx="4864608" cy="380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매시 00분(거래소 · 메일 · 시간별) · 5분마다(동접) · 매일 05시(일별) · 시즌 종료 시각(정산)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6440426" y="3136523"/>
            <a:ext cx="4864608" cy="9144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0"/>
          <p:cNvSpPr txBox="1"/>
          <p:nvPr/>
        </p:nvSpPr>
        <p:spPr>
          <a:xfrm>
            <a:off x="6440426" y="3227964"/>
            <a:ext cx="486460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대기 간격이 아니라 절대 시각이라, 프로세스를 언제 띄웠는지와 무관하게 늘 같은 시각에 돈다.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685800" y="3964295"/>
            <a:ext cx="10820402" cy="1920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0"/>
          <p:cNvSpPr/>
          <p:nvPr/>
        </p:nvSpPr>
        <p:spPr>
          <a:xfrm>
            <a:off x="886993" y="4154325"/>
            <a:ext cx="411600" cy="36600"/>
          </a:xfrm>
          <a:prstGeom prst="rect">
            <a:avLst/>
          </a:prstGeom>
          <a:solidFill>
            <a:srgbClr val="0E8A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0"/>
          <p:cNvSpPr txBox="1"/>
          <p:nvPr/>
        </p:nvSpPr>
        <p:spPr>
          <a:xfrm>
            <a:off x="886968" y="4275191"/>
            <a:ext cx="4864608" cy="1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</a:t>
            </a:r>
            <a:r>
              <a:rPr lang="en-US" sz="1250" b="1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</a:t>
            </a:r>
            <a:r>
              <a:rPr lang="en-US" sz="1250" b="1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50" b="1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서버에서</a:t>
            </a:r>
            <a:r>
              <a:rPr lang="en-US" sz="1250" b="1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50" b="1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떼어냈나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0"/>
          <p:cNvSpPr txBox="1"/>
          <p:nvPr/>
        </p:nvSpPr>
        <p:spPr>
          <a:xfrm>
            <a:off x="886968" y="4622663"/>
            <a:ext cx="10169722" cy="19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</a:t>
            </a:r>
            <a:r>
              <a:rPr lang="en-US" sz="950" b="0" i="0" u="none" strike="noStrike" cap="none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API</a:t>
            </a:r>
            <a:r>
              <a:rPr lang="en-US" sz="950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950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서버는 </a:t>
            </a:r>
            <a:r>
              <a:rPr lang="en-US" altLang="ko-KR" sz="950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scale-out </a:t>
            </a:r>
            <a:r>
              <a:rPr lang="ko-KR" altLang="en-US" sz="950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하여 여러 대를 띄우기 때문에 스케줄링에 </a:t>
            </a:r>
            <a:r>
              <a:rPr lang="ko-KR" altLang="en-US" sz="950" dirty="0" err="1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비적합</a:t>
            </a:r>
            <a:r>
              <a:rPr lang="en-US" altLang="ko-KR" sz="950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lang="ko-KR" altLang="en-US" sz="950" dirty="0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별도 스케줄링 작업만 담당하는 서버가 필요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0"/>
          <p:cNvSpPr/>
          <p:nvPr/>
        </p:nvSpPr>
        <p:spPr>
          <a:xfrm>
            <a:off x="886968" y="5390757"/>
            <a:ext cx="10522060" cy="45719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0"/>
          <p:cNvSpPr txBox="1"/>
          <p:nvPr/>
        </p:nvSpPr>
        <p:spPr>
          <a:xfrm>
            <a:off x="886968" y="5482199"/>
            <a:ext cx="4864608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프로세스를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나눠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“한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대”를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배포로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정했다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—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그래서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분산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락이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없다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잠글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상대가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없다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무거운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집계가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요청과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DB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커넥션을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다투지도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않는다</a:t>
            </a:r>
            <a:r>
              <a:rPr lang="en-US" sz="9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0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LOOP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2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2"/>
          <p:cNvSpPr txBox="1"/>
          <p:nvPr/>
        </p:nvSpPr>
        <p:spPr>
          <a:xfrm>
            <a:off x="685800" y="914400"/>
            <a:ext cx="10881360" cy="51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개발 시 각 단계에 대해</a:t>
            </a:r>
            <a:endParaRPr sz="30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3" name="Google Shape;613;p12"/>
          <p:cNvSpPr txBox="1"/>
          <p:nvPr/>
        </p:nvSpPr>
        <p:spPr>
          <a:xfrm>
            <a:off x="685800" y="1536192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새 기능은 코드가 아니라 기획서 작성 요청으로 시작한다</a:t>
            </a:r>
            <a:endParaRPr sz="140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4" name="Google Shape;614;p12"/>
          <p:cNvSpPr/>
          <p:nvPr/>
        </p:nvSpPr>
        <p:spPr>
          <a:xfrm>
            <a:off x="685800" y="214884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2"/>
          <p:cNvSpPr txBox="1"/>
          <p:nvPr/>
        </p:nvSpPr>
        <p:spPr>
          <a:xfrm>
            <a:off x="905256" y="23317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2"/>
          <p:cNvSpPr txBox="1"/>
          <p:nvPr/>
        </p:nvSpPr>
        <p:spPr>
          <a:xfrm>
            <a:off x="905256" y="2624328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기획서부터 요청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2"/>
          <p:cNvSpPr txBox="1"/>
          <p:nvPr/>
        </p:nvSpPr>
        <p:spPr>
          <a:xfrm>
            <a:off x="905256" y="3017520"/>
            <a:ext cx="3017520" cy="47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design-doc 스킬을 활용,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구현을 위한 문서를 상세히 작성</a:t>
            </a:r>
            <a:endParaRPr sz="11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8" name="Google Shape;618;p12"/>
          <p:cNvSpPr/>
          <p:nvPr/>
        </p:nvSpPr>
        <p:spPr>
          <a:xfrm>
            <a:off x="4370832" y="214884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2"/>
          <p:cNvSpPr txBox="1"/>
          <p:nvPr/>
        </p:nvSpPr>
        <p:spPr>
          <a:xfrm>
            <a:off x="4590288" y="23317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2"/>
          <p:cNvSpPr txBox="1"/>
          <p:nvPr/>
        </p:nvSpPr>
        <p:spPr>
          <a:xfrm>
            <a:off x="4590288" y="2624328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검토 · 확정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2"/>
          <p:cNvSpPr txBox="1"/>
          <p:nvPr/>
        </p:nvSpPr>
        <p:spPr>
          <a:xfrm>
            <a:off x="4590288" y="3017520"/>
            <a:ext cx="3017520" cy="1010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기획서에서 결정되지 않은 이슈를</a:t>
            </a:r>
            <a:endParaRPr sz="11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별도 항목으로 남겨, 구현을 위해</a:t>
            </a:r>
            <a:endParaRPr sz="11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확정해야할 사항들을 재검토</a:t>
            </a:r>
            <a:endParaRPr sz="11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endParaRPr sz="11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2" name="Google Shape;622;p12"/>
          <p:cNvSpPr/>
          <p:nvPr/>
        </p:nvSpPr>
        <p:spPr>
          <a:xfrm>
            <a:off x="8055864" y="214884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2"/>
          <p:cNvSpPr txBox="1"/>
          <p:nvPr/>
        </p:nvSpPr>
        <p:spPr>
          <a:xfrm>
            <a:off x="8275320" y="23317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12"/>
          <p:cNvSpPr txBox="1"/>
          <p:nvPr/>
        </p:nvSpPr>
        <p:spPr>
          <a:xfrm>
            <a:off x="8275320" y="2624328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문서대로 구현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12"/>
          <p:cNvSpPr txBox="1"/>
          <p:nvPr/>
        </p:nvSpPr>
        <p:spPr>
          <a:xfrm>
            <a:off x="8275320" y="3017520"/>
            <a:ext cx="3017520" cy="47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"기획서 5.2를 구현해줘"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=&gt; 기획서 확정 후, 그대로 구현을 진행</a:t>
            </a:r>
            <a:endParaRPr sz="11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6" name="Google Shape;626;p12"/>
          <p:cNvSpPr/>
          <p:nvPr/>
        </p:nvSpPr>
        <p:spPr>
          <a:xfrm>
            <a:off x="685800" y="425196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2"/>
          <p:cNvSpPr txBox="1"/>
          <p:nvPr/>
        </p:nvSpPr>
        <p:spPr>
          <a:xfrm>
            <a:off x="905256" y="443484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12"/>
          <p:cNvSpPr txBox="1"/>
          <p:nvPr/>
        </p:nvSpPr>
        <p:spPr>
          <a:xfrm>
            <a:off x="905256" y="4727448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빌드 + 실서버 검증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12"/>
          <p:cNvSpPr txBox="1"/>
          <p:nvPr/>
        </p:nvSpPr>
        <p:spPr>
          <a:xfrm>
            <a:off x="905256" y="5120640"/>
            <a:ext cx="3017520" cy="43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빌드 후 서버를 띄우고 API를 호출,</a:t>
            </a:r>
            <a:b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정상동작까지 확인</a:t>
            </a:r>
            <a:endParaRPr sz="11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0" name="Google Shape;630;p12"/>
          <p:cNvSpPr/>
          <p:nvPr/>
        </p:nvSpPr>
        <p:spPr>
          <a:xfrm>
            <a:off x="4370832" y="425196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2"/>
          <p:cNvSpPr txBox="1"/>
          <p:nvPr/>
        </p:nvSpPr>
        <p:spPr>
          <a:xfrm>
            <a:off x="4590288" y="443484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2"/>
          <p:cNvSpPr txBox="1"/>
          <p:nvPr/>
        </p:nvSpPr>
        <p:spPr>
          <a:xfrm>
            <a:off x="4590288" y="4727448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 동기화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12"/>
          <p:cNvSpPr txBox="1"/>
          <p:nvPr/>
        </p:nvSpPr>
        <p:spPr>
          <a:xfrm>
            <a:off x="4590288" y="5120640"/>
            <a:ext cx="3017520" cy="47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변경 사항에 대해 관련이 있는 문서는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정합성을 확인하여 동기화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2"/>
          <p:cNvSpPr/>
          <p:nvPr/>
        </p:nvSpPr>
        <p:spPr>
          <a:xfrm>
            <a:off x="8055864" y="425196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2"/>
          <p:cNvSpPr txBox="1"/>
          <p:nvPr/>
        </p:nvSpPr>
        <p:spPr>
          <a:xfrm>
            <a:off x="8275320" y="443484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⑥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2"/>
          <p:cNvSpPr txBox="1"/>
          <p:nvPr/>
        </p:nvSpPr>
        <p:spPr>
          <a:xfrm>
            <a:off x="8275320" y="4727448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현황판 갱신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2"/>
          <p:cNvSpPr txBox="1"/>
          <p:nvPr/>
        </p:nvSpPr>
        <p:spPr>
          <a:xfrm>
            <a:off x="8275320" y="5120640"/>
            <a:ext cx="3017520" cy="20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README 체크리스트 최신화</a:t>
            </a:r>
            <a:endParaRPr sz="11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8" name="Google Shape;638;p12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9" name="Google Shape;63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3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LOOP ①②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3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7.1  ① 기획서부터 요청한다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13"/>
          <p:cNvSpPr txBox="1"/>
          <p:nvPr/>
        </p:nvSpPr>
        <p:spPr>
          <a:xfrm>
            <a:off x="685800" y="1536192"/>
            <a:ext cx="10881360" cy="24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docs/</a:t>
            </a:r>
            <a:r>
              <a:rPr lang="en-US" sz="14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세부</a:t>
            </a:r>
            <a:r>
              <a:rPr lang="en-US" sz="14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/&lt;</a:t>
            </a:r>
            <a:r>
              <a:rPr lang="en-US" sz="14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기능명</a:t>
            </a:r>
            <a:r>
              <a:rPr lang="en-US" sz="14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&gt;-기획서.md — design-doc </a:t>
            </a:r>
            <a:r>
              <a:rPr lang="en-US" sz="14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문서작성</a:t>
            </a:r>
            <a:r>
              <a:rPr lang="en-US" sz="14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커스텀</a:t>
            </a:r>
            <a:r>
              <a:rPr lang="en-US" sz="140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</a:t>
            </a:r>
            <a:endParaRPr sz="1400" b="0" i="0" u="none" strike="noStrike" cap="none" dirty="0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9" name="Google Shape;649;p13"/>
          <p:cNvSpPr/>
          <p:nvPr/>
        </p:nvSpPr>
        <p:spPr>
          <a:xfrm>
            <a:off x="685800" y="2103120"/>
            <a:ext cx="10789920" cy="914400"/>
          </a:xfrm>
          <a:prstGeom prst="roundRect">
            <a:avLst>
              <a:gd name="adj" fmla="val 4000"/>
            </a:avLst>
          </a:prstGeom>
          <a:solidFill>
            <a:srgbClr val="12203A"/>
          </a:solidFill>
          <a:ln>
            <a:noFill/>
          </a:ln>
        </p:spPr>
        <p:txBody>
          <a:bodyPr spcFirstLastPara="1" wrap="square" lIns="274300" tIns="45700" rIns="18287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E6ECF5"/>
                </a:solidFill>
                <a:latin typeface="Consolas"/>
                <a:ea typeface="Consolas"/>
                <a:cs typeface="Consolas"/>
                <a:sym typeface="Consolas"/>
              </a:rPr>
              <a:t>고정 목차 :  개요 · 기능 설명 · 요구사항 · 데이터 모델 · API 명세 · 처리 흐름 · 에러 코드 · 미결 사항 · 참고</a:t>
            </a:r>
            <a:endParaRPr sz="1400" b="0" i="0" u="none" strike="noStrike" cap="none">
              <a:solidFill>
                <a:srgbClr val="E6ECF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0" name="Google Shape;650;p13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1" name="Google Shape;65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13"/>
          <p:cNvSpPr txBox="1"/>
          <p:nvPr/>
        </p:nvSpPr>
        <p:spPr>
          <a:xfrm>
            <a:off x="685800" y="333756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중요하게 지킨 것은 구현의 근거를 문서로 남기는 것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3"/>
          <p:cNvSpPr/>
          <p:nvPr/>
        </p:nvSpPr>
        <p:spPr>
          <a:xfrm>
            <a:off x="685800" y="3794760"/>
            <a:ext cx="50977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"그때 이걸 왜 이렇게 구현했지?"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3"/>
          <p:cNvSpPr txBox="1"/>
          <p:nvPr/>
        </p:nvSpPr>
        <p:spPr>
          <a:xfrm>
            <a:off x="5783580" y="4023360"/>
            <a:ext cx="594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3"/>
          <p:cNvSpPr/>
          <p:nvPr/>
        </p:nvSpPr>
        <p:spPr>
          <a:xfrm>
            <a:off x="6377940" y="3794760"/>
            <a:ext cx="5097780" cy="822960"/>
          </a:xfrm>
          <a:prstGeom prst="roundRect">
            <a:avLst>
              <a:gd name="adj" fmla="val 6000"/>
            </a:avLst>
          </a:prstGeom>
          <a:solidFill>
            <a:srgbClr val="12203A"/>
          </a:soli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문서를 확인한다.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3"/>
          <p:cNvSpPr/>
          <p:nvPr/>
        </p:nvSpPr>
        <p:spPr>
          <a:xfrm>
            <a:off x="685800" y="4892040"/>
            <a:ext cx="10789920" cy="123444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txBody>
          <a:bodyPr spcFirstLastPara="1" wrap="square" lIns="411475" tIns="137150" rIns="411475" bIns="1371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 — 소모품(부스터) 기획서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"버프는 스테이지 클리어 보상에만 적용된다(확정)"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: </a:t>
            </a: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부스터는 접속해서 직접 스테이지를 도는 플레이를 보상하는 소모품이고, 오프라인 보상은 이미 효율 50% · 12시간 상한으로 조정된 소급 지급이라 그 위에 배율을 얹지 않는다.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4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LOOP 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4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4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7.2  ③ 문서대로 구현을 요청한다</a:t>
            </a:r>
            <a:endParaRPr sz="30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6" name="Google Shape;666;p14"/>
          <p:cNvSpPr txBox="1"/>
          <p:nvPr/>
        </p:nvSpPr>
        <p:spPr>
          <a:xfrm>
            <a:off x="685800" y="1536192"/>
            <a:ext cx="6566483" cy="24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문서와 별개로 코드 작성시 지켜야할 공통 규칙은 CLAUDE.md 에 명시한다.</a:t>
            </a:r>
            <a:endParaRPr sz="140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7" name="Google Shape;667;p14"/>
          <p:cNvSpPr/>
          <p:nvPr/>
        </p:nvSpPr>
        <p:spPr>
          <a:xfrm>
            <a:off x="685800" y="2194560"/>
            <a:ext cx="10789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4"/>
          <p:cNvSpPr/>
          <p:nvPr/>
        </p:nvSpPr>
        <p:spPr>
          <a:xfrm>
            <a:off x="914400" y="2414016"/>
            <a:ext cx="201168" cy="201168"/>
          </a:xfrm>
          <a:prstGeom prst="ellipse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4"/>
          <p:cNvSpPr txBox="1"/>
          <p:nvPr/>
        </p:nvSpPr>
        <p:spPr>
          <a:xfrm>
            <a:off x="1325880" y="2368296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컨트롤러에는 HTTP 액션 메서드만 두고, 공통 보조는 GameApiControllerBase에 상속으로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14"/>
          <p:cNvSpPr/>
          <p:nvPr/>
        </p:nvSpPr>
        <p:spPr>
          <a:xfrm>
            <a:off x="685800" y="2999232"/>
            <a:ext cx="10789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4"/>
          <p:cNvSpPr/>
          <p:nvPr/>
        </p:nvSpPr>
        <p:spPr>
          <a:xfrm>
            <a:off x="914400" y="3218688"/>
            <a:ext cx="201168" cy="201168"/>
          </a:xfrm>
          <a:prstGeom prst="ellipse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4"/>
          <p:cNvSpPr txBox="1"/>
          <p:nvPr/>
        </p:nvSpPr>
        <p:spPr>
          <a:xfrm>
            <a:off x="1325880" y="3172968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클래스의 모든 메서드에 /// &lt;summary&gt; 주석 필수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14"/>
          <p:cNvSpPr/>
          <p:nvPr/>
        </p:nvSpPr>
        <p:spPr>
          <a:xfrm>
            <a:off x="685800" y="3803904"/>
            <a:ext cx="10789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4"/>
          <p:cNvSpPr/>
          <p:nvPr/>
        </p:nvSpPr>
        <p:spPr>
          <a:xfrm>
            <a:off x="914400" y="4023360"/>
            <a:ext cx="201168" cy="201168"/>
          </a:xfrm>
          <a:prstGeom prst="ellipse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4"/>
          <p:cNvSpPr txBox="1"/>
          <p:nvPr/>
        </p:nvSpPr>
        <p:spPr>
          <a:xfrm>
            <a:off x="1325880" y="3977640"/>
            <a:ext cx="9966960" cy="25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결과는 dynamic 금지 =&gt; 스칼라 제네릭 매핑만</a:t>
            </a:r>
            <a:endParaRPr sz="1500" b="0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6" name="Google Shape;676;p14"/>
          <p:cNvSpPr/>
          <p:nvPr/>
        </p:nvSpPr>
        <p:spPr>
          <a:xfrm>
            <a:off x="685800" y="4608576"/>
            <a:ext cx="107899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4"/>
          <p:cNvSpPr/>
          <p:nvPr/>
        </p:nvSpPr>
        <p:spPr>
          <a:xfrm>
            <a:off x="914400" y="4828032"/>
            <a:ext cx="201168" cy="201168"/>
          </a:xfrm>
          <a:prstGeom prst="ellipse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4"/>
          <p:cNvSpPr txBox="1"/>
          <p:nvPr/>
        </p:nvSpPr>
        <p:spPr>
          <a:xfrm>
            <a:off x="1325880" y="4782312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재화 · 아이템 변경은 단일 트랜잭션, 서버 권위(클라이언트 보고 불신)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14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1" name="Google Shape;68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5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LOOP ④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5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5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7.3  ④ 빌드 + 실서버 검증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5"/>
          <p:cNvSpPr txBox="1"/>
          <p:nvPr/>
        </p:nvSpPr>
        <p:spPr>
          <a:xfrm>
            <a:off x="685800" y="1536192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후 빌드와 실제 동작 검증을 거쳐야 완료로 인정했다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5"/>
          <p:cNvSpPr/>
          <p:nvPr/>
        </p:nvSpPr>
        <p:spPr>
          <a:xfrm>
            <a:off x="685800" y="2148840"/>
            <a:ext cx="10789920" cy="1005840"/>
          </a:xfrm>
          <a:prstGeom prst="roundRect">
            <a:avLst>
              <a:gd name="adj" fmla="val 4000"/>
            </a:avLst>
          </a:prstGeom>
          <a:solidFill>
            <a:srgbClr val="12203A"/>
          </a:solidFill>
          <a:ln>
            <a:noFill/>
          </a:ln>
        </p:spPr>
        <p:txBody>
          <a:bodyPr spcFirstLastPara="1" wrap="square" lIns="274300" tIns="45700" rIns="18287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E6ECF5"/>
                </a:solidFill>
                <a:latin typeface="Consolas"/>
                <a:ea typeface="Consolas"/>
                <a:cs typeface="Consolas"/>
                <a:sym typeface="Consolas"/>
              </a:rPr>
              <a:t>dotnet build  →  서버 실행  →  기능 테스트  →  결과 확인</a:t>
            </a:r>
            <a:endParaRPr sz="1200" b="0" i="0" u="none" strike="noStrike" cap="none">
              <a:solidFill>
                <a:srgbClr val="E6ECF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2" name="Google Shape;692;p15"/>
          <p:cNvSpPr/>
          <p:nvPr/>
        </p:nvSpPr>
        <p:spPr>
          <a:xfrm>
            <a:off x="685800" y="342900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5"/>
          <p:cNvSpPr txBox="1"/>
          <p:nvPr/>
        </p:nvSpPr>
        <p:spPr>
          <a:xfrm>
            <a:off x="905256" y="361188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규칙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15"/>
          <p:cNvSpPr txBox="1"/>
          <p:nvPr/>
        </p:nvSpPr>
        <p:spPr>
          <a:xfrm>
            <a:off x="905256" y="3904488"/>
            <a:ext cx="4846320" cy="25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서버는 기능 구현 후 필수적으로 빌드 + 테스트 진행</a:t>
            </a:r>
            <a:endParaRPr sz="15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5" name="Google Shape;695;p15"/>
          <p:cNvSpPr txBox="1"/>
          <p:nvPr/>
        </p:nvSpPr>
        <p:spPr>
          <a:xfrm>
            <a:off x="905256" y="4297680"/>
            <a:ext cx="4846320" cy="20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기능이 기획서에 맞게 구현이 되었는 지 확인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15"/>
          <p:cNvSpPr/>
          <p:nvPr/>
        </p:nvSpPr>
        <p:spPr>
          <a:xfrm>
            <a:off x="6217920" y="342900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5"/>
          <p:cNvSpPr txBox="1"/>
          <p:nvPr/>
        </p:nvSpPr>
        <p:spPr>
          <a:xfrm>
            <a:off x="6437376" y="361188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5"/>
          <p:cNvSpPr txBox="1"/>
          <p:nvPr/>
        </p:nvSpPr>
        <p:spPr>
          <a:xfrm>
            <a:off x="6437376" y="390448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저장소에 붙여 검증한다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5"/>
          <p:cNvSpPr txBox="1"/>
          <p:nvPr/>
        </p:nvSpPr>
        <p:spPr>
          <a:xfrm>
            <a:off x="6437376" y="4297680"/>
            <a:ext cx="48463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실제 MySQL · Redis에 붙여 API를 호출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결과를 DB에서 직접 대조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테스트로 만든 데이터는 되돌린다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15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1" name="Google Shape;70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6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LOOP 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6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6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7.4  ⑤ 문서 동기화 — 이 프로세스의 핵심</a:t>
            </a:r>
            <a:endParaRPr sz="30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0" name="Google Shape;710;p16"/>
          <p:cNvSpPr txBox="1"/>
          <p:nvPr/>
        </p:nvSpPr>
        <p:spPr>
          <a:xfrm>
            <a:off x="685800" y="1536192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세부 기획서가 정본, 아래 넷은 기획서를 가로질러 모은 집약 참조본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11" name="Google Shape;711;p16"/>
          <p:cNvGraphicFramePr/>
          <p:nvPr/>
        </p:nvGraphicFramePr>
        <p:xfrm>
          <a:off x="685800" y="1837944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{117F4239-6CF6-4BE5-99FF-9D92B26D0C97}</a:tableStyleId>
              </a:tblPr>
              <a:tblGrid>
                <a:gridCol w="393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무엇이 바뀌면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갱신할 문서</a:t>
                      </a:r>
                      <a:endParaRPr sz="1300" b="1" u="none" strike="noStrike" cap="non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00575" marR="73150" marT="36575" marB="36575" anchor="ctr">
                    <a:solidFill>
                      <a:srgbClr val="122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엔드포인트 · 요청/응답 필드</a:t>
                      </a:r>
                      <a:endParaRPr sz="1350" b="0" u="none" strike="noStrike" cap="none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docs/공통/api-통합.md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DB 테이블 · 컬럼 · 마스터 데이터</a:t>
                      </a:r>
                      <a:endParaRPr sz="1350" b="0" u="none" strike="noStrike" cap="none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00575" marR="73150" marT="36575" marB="36575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docs/공통/db-erd-통합.md  ( + db-schema.sql )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에러 코드</a:t>
                      </a:r>
                      <a:endParaRPr sz="1350" b="0" u="none" strike="noStrike" cap="none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docs/공통/error-code-정의.md  +  TaskbarHero.Common/ErrorCode.cs</a:t>
                      </a:r>
                      <a:endParaRPr sz="1350" b="0" u="none" strike="noStrike" cap="none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처리 흐름</a:t>
                      </a:r>
                      <a:endParaRPr sz="1350" b="0" u="none" strike="noStrike" cap="none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00575" marR="73150" marT="36575" marB="36575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SequenceDiagram/README.md  (기능별 Mermaid 시퀀스)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12" name="Google Shape;712;p16"/>
          <p:cNvSpPr/>
          <p:nvPr/>
        </p:nvSpPr>
        <p:spPr>
          <a:xfrm>
            <a:off x="685800" y="4353341"/>
            <a:ext cx="10789920" cy="1694157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6"/>
          <p:cNvSpPr txBox="1"/>
          <p:nvPr/>
        </p:nvSpPr>
        <p:spPr>
          <a:xfrm>
            <a:off x="1005840" y="4581941"/>
            <a:ext cx="10149840" cy="1179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정합성 체크는 양방향으로 한다</a:t>
            </a:r>
            <a:endParaRPr sz="1600" b="1" i="0" u="none" strike="noStrike" cap="none">
              <a:solidFill>
                <a:srgbClr val="2F6FE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기획서 → 통합 문서(빠진 항목 추가)  ·  통합 문서 → 기획서(폐기된 항목이 남아 있지 않은지)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경로나 이름을 바꿨으면 옛 문자열이 문서 어디에도 남지 않았는지 grep으로 확인한다.</a:t>
            </a:r>
            <a:endParaRPr sz="130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문서의 정합성 확인은 CLAUDE.MD 에 명시되어 있다.</a:t>
            </a:r>
            <a:endParaRPr sz="130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4" name="Google Shape;714;p16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5" name="Google Shape;71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7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DOCS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17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7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8. 문서 체계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7"/>
          <p:cNvSpPr txBox="1"/>
          <p:nvPr/>
        </p:nvSpPr>
        <p:spPr>
          <a:xfrm>
            <a:off x="685800" y="1536192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정본은 언제나 docs/세부/ — 충돌하면 세부 기획서를 따른다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7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19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6" name="Google Shape;72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17"/>
          <p:cNvSpPr/>
          <p:nvPr/>
        </p:nvSpPr>
        <p:spPr>
          <a:xfrm>
            <a:off x="685800" y="2103120"/>
            <a:ext cx="6400800" cy="4023360"/>
          </a:xfrm>
          <a:prstGeom prst="roundRect">
            <a:avLst>
              <a:gd name="adj" fmla="val 4000"/>
            </a:avLst>
          </a:prstGeom>
          <a:solidFill>
            <a:srgbClr val="12203A"/>
          </a:solidFill>
          <a:ln>
            <a:noFill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7"/>
          <p:cNvSpPr/>
          <p:nvPr/>
        </p:nvSpPr>
        <p:spPr>
          <a:xfrm>
            <a:off x="1234440" y="2606040"/>
            <a:ext cx="12700" cy="2674620"/>
          </a:xfrm>
          <a:prstGeom prst="rect">
            <a:avLst/>
          </a:prstGeom>
          <a:solidFill>
            <a:srgbClr val="4A6088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7"/>
          <p:cNvSpPr/>
          <p:nvPr/>
        </p:nvSpPr>
        <p:spPr>
          <a:xfrm>
            <a:off x="1234440" y="2766060"/>
            <a:ext cx="114300" cy="12700"/>
          </a:xfrm>
          <a:prstGeom prst="rect">
            <a:avLst/>
          </a:prstGeom>
          <a:solidFill>
            <a:srgbClr val="4A6088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7"/>
          <p:cNvSpPr/>
          <p:nvPr/>
        </p:nvSpPr>
        <p:spPr>
          <a:xfrm>
            <a:off x="1234440" y="2994660"/>
            <a:ext cx="114300" cy="12700"/>
          </a:xfrm>
          <a:prstGeom prst="rect">
            <a:avLst/>
          </a:prstGeom>
          <a:solidFill>
            <a:srgbClr val="4A6088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7"/>
          <p:cNvSpPr/>
          <p:nvPr/>
        </p:nvSpPr>
        <p:spPr>
          <a:xfrm>
            <a:off x="1234440" y="3223260"/>
            <a:ext cx="114300" cy="12700"/>
          </a:xfrm>
          <a:prstGeom prst="rect">
            <a:avLst/>
          </a:prstGeom>
          <a:solidFill>
            <a:srgbClr val="4A6088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7"/>
          <p:cNvSpPr/>
          <p:nvPr/>
        </p:nvSpPr>
        <p:spPr>
          <a:xfrm>
            <a:off x="1234440" y="3451860"/>
            <a:ext cx="114300" cy="12700"/>
          </a:xfrm>
          <a:prstGeom prst="rect">
            <a:avLst/>
          </a:prstGeom>
          <a:solidFill>
            <a:srgbClr val="4A6088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7"/>
          <p:cNvSpPr/>
          <p:nvPr/>
        </p:nvSpPr>
        <p:spPr>
          <a:xfrm>
            <a:off x="1234440" y="4594860"/>
            <a:ext cx="114300" cy="12700"/>
          </a:xfrm>
          <a:prstGeom prst="rect">
            <a:avLst/>
          </a:prstGeom>
          <a:solidFill>
            <a:srgbClr val="4A6088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7"/>
          <p:cNvSpPr/>
          <p:nvPr/>
        </p:nvSpPr>
        <p:spPr>
          <a:xfrm>
            <a:off x="1234440" y="5280660"/>
            <a:ext cx="114300" cy="12700"/>
          </a:xfrm>
          <a:prstGeom prst="rect">
            <a:avLst/>
          </a:prstGeom>
          <a:solidFill>
            <a:srgbClr val="4A6088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7"/>
          <p:cNvSpPr/>
          <p:nvPr/>
        </p:nvSpPr>
        <p:spPr>
          <a:xfrm>
            <a:off x="1554480" y="3520440"/>
            <a:ext cx="12700" cy="845820"/>
          </a:xfrm>
          <a:prstGeom prst="rect">
            <a:avLst/>
          </a:prstGeom>
          <a:solidFill>
            <a:srgbClr val="4A6088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7"/>
          <p:cNvSpPr/>
          <p:nvPr/>
        </p:nvSpPr>
        <p:spPr>
          <a:xfrm>
            <a:off x="1554480" y="3680460"/>
            <a:ext cx="114300" cy="12700"/>
          </a:xfrm>
          <a:prstGeom prst="rect">
            <a:avLst/>
          </a:prstGeom>
          <a:solidFill>
            <a:srgbClr val="4A6088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7"/>
          <p:cNvSpPr/>
          <p:nvPr/>
        </p:nvSpPr>
        <p:spPr>
          <a:xfrm>
            <a:off x="1554480" y="3909060"/>
            <a:ext cx="114300" cy="12700"/>
          </a:xfrm>
          <a:prstGeom prst="rect">
            <a:avLst/>
          </a:prstGeom>
          <a:solidFill>
            <a:srgbClr val="4A6088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7"/>
          <p:cNvSpPr/>
          <p:nvPr/>
        </p:nvSpPr>
        <p:spPr>
          <a:xfrm>
            <a:off x="1554480" y="4137660"/>
            <a:ext cx="114300" cy="12700"/>
          </a:xfrm>
          <a:prstGeom prst="rect">
            <a:avLst/>
          </a:prstGeom>
          <a:solidFill>
            <a:srgbClr val="4A6088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7"/>
          <p:cNvSpPr/>
          <p:nvPr/>
        </p:nvSpPr>
        <p:spPr>
          <a:xfrm>
            <a:off x="1554480" y="4366260"/>
            <a:ext cx="114300" cy="12700"/>
          </a:xfrm>
          <a:prstGeom prst="rect">
            <a:avLst/>
          </a:prstGeom>
          <a:solidFill>
            <a:srgbClr val="4A6088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7"/>
          <p:cNvSpPr/>
          <p:nvPr/>
        </p:nvSpPr>
        <p:spPr>
          <a:xfrm>
            <a:off x="1554480" y="4663440"/>
            <a:ext cx="12700" cy="388620"/>
          </a:xfrm>
          <a:prstGeom prst="rect">
            <a:avLst/>
          </a:prstGeom>
          <a:solidFill>
            <a:srgbClr val="4A6088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7"/>
          <p:cNvSpPr/>
          <p:nvPr/>
        </p:nvSpPr>
        <p:spPr>
          <a:xfrm>
            <a:off x="1554480" y="4823460"/>
            <a:ext cx="114300" cy="12700"/>
          </a:xfrm>
          <a:prstGeom prst="rect">
            <a:avLst/>
          </a:prstGeom>
          <a:solidFill>
            <a:srgbClr val="4A6088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7"/>
          <p:cNvSpPr/>
          <p:nvPr/>
        </p:nvSpPr>
        <p:spPr>
          <a:xfrm>
            <a:off x="1554480" y="5052060"/>
            <a:ext cx="114300" cy="12700"/>
          </a:xfrm>
          <a:prstGeom prst="rect">
            <a:avLst/>
          </a:prstGeom>
          <a:solidFill>
            <a:srgbClr val="4A6088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7"/>
          <p:cNvSpPr txBox="1"/>
          <p:nvPr/>
        </p:nvSpPr>
        <p:spPr>
          <a:xfrm>
            <a:off x="1097280" y="2423160"/>
            <a:ext cx="5806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6ECF5"/>
                </a:solidFill>
                <a:latin typeface="Consolas"/>
                <a:ea typeface="Consolas"/>
                <a:cs typeface="Consolas"/>
                <a:sym typeface="Consolas"/>
              </a:rPr>
              <a:t>docs/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17"/>
          <p:cNvSpPr txBox="1"/>
          <p:nvPr/>
        </p:nvSpPr>
        <p:spPr>
          <a:xfrm>
            <a:off x="1417320" y="2651760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E6ECF5"/>
                </a:solidFill>
                <a:latin typeface="Consolas"/>
                <a:ea typeface="Consolas"/>
                <a:cs typeface="Consolas"/>
                <a:sym typeface="Consolas"/>
              </a:rPr>
              <a:t>서버-시스템-전체-개요.md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17"/>
          <p:cNvSpPr txBox="1"/>
          <p:nvPr/>
        </p:nvSpPr>
        <p:spPr>
          <a:xfrm>
            <a:off x="4572000" y="265176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FB0C6"/>
                </a:solidFill>
                <a:latin typeface="Malgun Gothic"/>
                <a:ea typeface="Malgun Gothic"/>
                <a:cs typeface="Malgun Gothic"/>
                <a:sym typeface="Malgun Gothic"/>
              </a:rPr>
              <a:t># 최상위 진입 문서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17"/>
          <p:cNvSpPr txBox="1"/>
          <p:nvPr/>
        </p:nvSpPr>
        <p:spPr>
          <a:xfrm>
            <a:off x="1417320" y="2880360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E6ECF5"/>
                </a:solidFill>
                <a:latin typeface="Consolas"/>
                <a:ea typeface="Consolas"/>
                <a:cs typeface="Consolas"/>
                <a:sym typeface="Consolas"/>
              </a:rPr>
              <a:t>서버-개발-계획.md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17"/>
          <p:cNvSpPr txBox="1"/>
          <p:nvPr/>
        </p:nvSpPr>
        <p:spPr>
          <a:xfrm>
            <a:off x="4572000" y="288036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FB0C6"/>
                </a:solidFill>
                <a:latin typeface="Malgun Gothic"/>
                <a:ea typeface="Malgun Gothic"/>
                <a:cs typeface="Malgun Gothic"/>
                <a:sym typeface="Malgun Gothic"/>
              </a:rPr>
              <a:t># 개발 순서 · 일정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17"/>
          <p:cNvSpPr txBox="1"/>
          <p:nvPr/>
        </p:nvSpPr>
        <p:spPr>
          <a:xfrm>
            <a:off x="1417320" y="310896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E6ECF5"/>
                </a:solidFill>
                <a:latin typeface="Consolas"/>
                <a:ea typeface="Consolas"/>
                <a:cs typeface="Consolas"/>
                <a:sym typeface="Consolas"/>
              </a:rPr>
              <a:t>com2us-taskbar-hero-개발환경.md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17"/>
          <p:cNvSpPr txBox="1"/>
          <p:nvPr/>
        </p:nvSpPr>
        <p:spPr>
          <a:xfrm>
            <a:off x="1417320" y="3337560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0A526"/>
                </a:solidFill>
                <a:latin typeface="Consolas"/>
                <a:ea typeface="Consolas"/>
                <a:cs typeface="Consolas"/>
                <a:sym typeface="Consolas"/>
              </a:rPr>
              <a:t>세부/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17"/>
          <p:cNvSpPr txBox="1"/>
          <p:nvPr/>
        </p:nvSpPr>
        <p:spPr>
          <a:xfrm>
            <a:off x="4572000" y="333756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정본 — 기능별 기획서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17"/>
          <p:cNvSpPr txBox="1"/>
          <p:nvPr/>
        </p:nvSpPr>
        <p:spPr>
          <a:xfrm>
            <a:off x="1737360" y="3566160"/>
            <a:ext cx="5166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EBED4"/>
                </a:solidFill>
                <a:latin typeface="Consolas"/>
                <a:ea typeface="Consolas"/>
                <a:cs typeface="Consolas"/>
                <a:sym typeface="Consolas"/>
              </a:rPr>
              <a:t>account-login · save-data · inventory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17"/>
          <p:cNvSpPr txBox="1"/>
          <p:nvPr/>
        </p:nvSpPr>
        <p:spPr>
          <a:xfrm>
            <a:off x="1737360" y="3794760"/>
            <a:ext cx="5166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EBED4"/>
                </a:solidFill>
                <a:latin typeface="Consolas"/>
                <a:ea typeface="Consolas"/>
                <a:cs typeface="Consolas"/>
                <a:sym typeface="Consolas"/>
              </a:rPr>
              <a:t>stage-battle · trade · gacha · mail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17"/>
          <p:cNvSpPr txBox="1"/>
          <p:nvPr/>
        </p:nvSpPr>
        <p:spPr>
          <a:xfrm>
            <a:off x="1737360" y="4023360"/>
            <a:ext cx="5166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EBED4"/>
                </a:solidFill>
                <a:latin typeface="Consolas"/>
                <a:ea typeface="Consolas"/>
                <a:cs typeface="Consolas"/>
                <a:sym typeface="Consolas"/>
              </a:rPr>
              <a:t>attendance · growth · offline-reward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17"/>
          <p:cNvSpPr txBox="1"/>
          <p:nvPr/>
        </p:nvSpPr>
        <p:spPr>
          <a:xfrm>
            <a:off x="1737360" y="42519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EBED4"/>
                </a:solidFill>
                <a:latin typeface="Consolas"/>
                <a:ea typeface="Consolas"/>
                <a:cs typeface="Consolas"/>
                <a:sym typeface="Consolas"/>
              </a:rPr>
              <a:t>master-data/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17"/>
          <p:cNvSpPr txBox="1"/>
          <p:nvPr/>
        </p:nvSpPr>
        <p:spPr>
          <a:xfrm>
            <a:off x="4572000" y="425196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FB0C6"/>
                </a:solidFill>
                <a:latin typeface="Malgun Gothic"/>
                <a:ea typeface="Malgun Gothic"/>
                <a:cs typeface="Malgun Gothic"/>
                <a:sym typeface="Malgun Gothic"/>
              </a:rPr>
              <a:t># 마스터 값 · 스키마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7"/>
          <p:cNvSpPr txBox="1"/>
          <p:nvPr/>
        </p:nvSpPr>
        <p:spPr>
          <a:xfrm>
            <a:off x="1417320" y="4480560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E6ECF5"/>
                </a:solidFill>
                <a:latin typeface="Consolas"/>
                <a:ea typeface="Consolas"/>
                <a:cs typeface="Consolas"/>
                <a:sym typeface="Consolas"/>
              </a:rPr>
              <a:t>공통/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17"/>
          <p:cNvSpPr txBox="1"/>
          <p:nvPr/>
        </p:nvSpPr>
        <p:spPr>
          <a:xfrm>
            <a:off x="4572000" y="448056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FB0C6"/>
                </a:solidFill>
                <a:latin typeface="Malgun Gothic"/>
                <a:ea typeface="Malgun Gothic"/>
                <a:cs typeface="Malgun Gothic"/>
                <a:sym typeface="Malgun Gothic"/>
              </a:rPr>
              <a:t>집약 참조본 + 공유 계약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17"/>
          <p:cNvSpPr txBox="1"/>
          <p:nvPr/>
        </p:nvSpPr>
        <p:spPr>
          <a:xfrm>
            <a:off x="1737360" y="4709160"/>
            <a:ext cx="5166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EBED4"/>
                </a:solidFill>
                <a:latin typeface="Consolas"/>
                <a:ea typeface="Consolas"/>
                <a:cs typeface="Consolas"/>
                <a:sym typeface="Consolas"/>
              </a:rPr>
              <a:t>api-통합.md · db-erd-통합.md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7"/>
          <p:cNvSpPr txBox="1"/>
          <p:nvPr/>
        </p:nvSpPr>
        <p:spPr>
          <a:xfrm>
            <a:off x="1737360" y="4937760"/>
            <a:ext cx="5166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EBED4"/>
                </a:solidFill>
                <a:latin typeface="Consolas"/>
                <a:ea typeface="Consolas"/>
                <a:cs typeface="Consolas"/>
                <a:sym typeface="Consolas"/>
              </a:rPr>
              <a:t>error-code-정의.md · 로깅-규칙.md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17"/>
          <p:cNvSpPr txBox="1"/>
          <p:nvPr/>
        </p:nvSpPr>
        <p:spPr>
          <a:xfrm>
            <a:off x="1417320" y="5166360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E6ECF5"/>
                </a:solidFill>
                <a:latin typeface="Consolas"/>
                <a:ea typeface="Consolas"/>
                <a:cs typeface="Consolas"/>
                <a:sym typeface="Consolas"/>
              </a:rPr>
              <a:t>images/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17"/>
          <p:cNvSpPr txBox="1"/>
          <p:nvPr/>
        </p:nvSpPr>
        <p:spPr>
          <a:xfrm>
            <a:off x="4572000" y="516636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FB0C6"/>
                </a:solidFill>
                <a:latin typeface="Malgun Gothic"/>
                <a:ea typeface="Malgun Gothic"/>
                <a:cs typeface="Malgun Gothic"/>
                <a:sym typeface="Malgun Gothic"/>
              </a:rPr>
              <a:t># 원작 화면 캡처(기획 근거)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17"/>
          <p:cNvSpPr/>
          <p:nvPr/>
        </p:nvSpPr>
        <p:spPr>
          <a:xfrm>
            <a:off x="1097280" y="5486400"/>
            <a:ext cx="5806440" cy="12700"/>
          </a:xfrm>
          <a:prstGeom prst="rect">
            <a:avLst/>
          </a:prstGeom>
          <a:solidFill>
            <a:srgbClr val="4A6088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7"/>
          <p:cNvSpPr txBox="1"/>
          <p:nvPr/>
        </p:nvSpPr>
        <p:spPr>
          <a:xfrm>
            <a:off x="1097280" y="566928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E6ECF5"/>
                </a:solidFill>
                <a:latin typeface="Consolas"/>
                <a:ea typeface="Consolas"/>
                <a:cs typeface="Consolas"/>
                <a:sym typeface="Consolas"/>
              </a:rPr>
              <a:t>SequenceDiagram/README.md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17"/>
          <p:cNvSpPr txBox="1"/>
          <p:nvPr/>
        </p:nvSpPr>
        <p:spPr>
          <a:xfrm>
            <a:off x="4572000" y="566928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FB0C6"/>
                </a:solidFill>
                <a:latin typeface="Malgun Gothic"/>
                <a:ea typeface="Malgun Gothic"/>
                <a:cs typeface="Malgun Gothic"/>
                <a:sym typeface="Malgun Gothic"/>
              </a:rPr>
              <a:t># 기능별 처리 흐름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17"/>
          <p:cNvSpPr/>
          <p:nvPr/>
        </p:nvSpPr>
        <p:spPr>
          <a:xfrm>
            <a:off x="7452360" y="2103120"/>
            <a:ext cx="40233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docs/세부/ 가 언제나 정본이다. 충돌하면 세부 기획서를 따른다.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17"/>
          <p:cNvSpPr/>
          <p:nvPr/>
        </p:nvSpPr>
        <p:spPr>
          <a:xfrm>
            <a:off x="7452360" y="3337560"/>
            <a:ext cx="4023360" cy="1257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집약 참조본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docs/공통/ 은 여러 기획서에 흩어진 내용을 한 장에 모은 편의용. 단, 클라이언트와 공유하는 계약(에러 코드 숫자 값 등)은 여기서 확인한다.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17"/>
          <p:cNvSpPr/>
          <p:nvPr/>
        </p:nvSpPr>
        <p:spPr>
          <a:xfrm>
            <a:off x="7452360" y="4869180"/>
            <a:ext cx="4023360" cy="1257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그림으로 고정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원작 게임 화면 캡처를 docs/images/에 두고 기획서에서 참조해, "무엇을 모작하는지"를 글이 아니라 그림으로 고정했다.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2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7" name="Google Shape;837;p22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2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LOGGING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22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2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9. 로그 조회 — 무엇을 남기고, 어떻게 보는가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22"/>
          <p:cNvSpPr txBox="1"/>
          <p:nvPr/>
        </p:nvSpPr>
        <p:spPr>
          <a:xfrm>
            <a:off x="685800" y="1536192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서버는 JSON 한 줄을 파일로 쓰는 데서 끝난다 — 적재는 fluentd, 조회는 Grafana의 몫이다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22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22"/>
          <p:cNvSpPr/>
          <p:nvPr/>
        </p:nvSpPr>
        <p:spPr>
          <a:xfrm>
            <a:off x="685800" y="1965960"/>
            <a:ext cx="240944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2"/>
          <p:cNvSpPr txBox="1"/>
          <p:nvPr/>
        </p:nvSpPr>
        <p:spPr>
          <a:xfrm>
            <a:off x="813816" y="2066543"/>
            <a:ext cx="2153411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GameServer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 전용 JSON 파일 sink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(운영 로그와 분리)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22"/>
          <p:cNvSpPr txBox="1"/>
          <p:nvPr/>
        </p:nvSpPr>
        <p:spPr>
          <a:xfrm>
            <a:off x="3095244" y="2286000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9AA5B4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22"/>
          <p:cNvSpPr/>
          <p:nvPr/>
        </p:nvSpPr>
        <p:spPr>
          <a:xfrm>
            <a:off x="3479291" y="1965960"/>
            <a:ext cx="240944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2"/>
          <p:cNvSpPr txBox="1"/>
          <p:nvPr/>
        </p:nvSpPr>
        <p:spPr>
          <a:xfrm>
            <a:off x="3607308" y="2066543"/>
            <a:ext cx="2153411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fluentd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22"/>
          <p:cNvSpPr txBox="1"/>
          <p:nvPr/>
        </p:nvSpPr>
        <p:spPr>
          <a:xfrm>
            <a:off x="5888736" y="2286000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9AA5B4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22"/>
          <p:cNvSpPr/>
          <p:nvPr/>
        </p:nvSpPr>
        <p:spPr>
          <a:xfrm>
            <a:off x="6272783" y="1965960"/>
            <a:ext cx="240944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2"/>
          <p:cNvSpPr txBox="1"/>
          <p:nvPr/>
        </p:nvSpPr>
        <p:spPr>
          <a:xfrm>
            <a:off x="6400799" y="2066543"/>
            <a:ext cx="2153411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TimescaleDB · logdb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이벤트별 하이퍼테이블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압축 · 보존 · 연속 집계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22"/>
          <p:cNvSpPr txBox="1"/>
          <p:nvPr/>
        </p:nvSpPr>
        <p:spPr>
          <a:xfrm>
            <a:off x="8682228" y="2286000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9AA5B4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22"/>
          <p:cNvSpPr/>
          <p:nvPr/>
        </p:nvSpPr>
        <p:spPr>
          <a:xfrm>
            <a:off x="9066276" y="1965960"/>
            <a:ext cx="240944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2"/>
          <p:cNvSpPr txBox="1"/>
          <p:nvPr/>
        </p:nvSpPr>
        <p:spPr>
          <a:xfrm>
            <a:off x="9194292" y="2066543"/>
            <a:ext cx="2153411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Grafana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대시보드 6종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코드로 프로비저닝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22"/>
          <p:cNvSpPr/>
          <p:nvPr/>
        </p:nvSpPr>
        <p:spPr>
          <a:xfrm>
            <a:off x="685800" y="3017520"/>
            <a:ext cx="393192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5" name="Google Shape;855;p22" descr="로그-db-테이블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9131" y="3127248"/>
            <a:ext cx="3585256" cy="2295144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22"/>
          <p:cNvSpPr txBox="1"/>
          <p:nvPr/>
        </p:nvSpPr>
        <p:spPr>
          <a:xfrm>
            <a:off x="685800" y="5605272"/>
            <a:ext cx="393192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 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22"/>
          <p:cNvSpPr/>
          <p:nvPr/>
        </p:nvSpPr>
        <p:spPr>
          <a:xfrm>
            <a:off x="4983480" y="3017520"/>
            <a:ext cx="64922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8" name="Google Shape;858;p22" descr="그라파나-대시보드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03520" y="3252049"/>
            <a:ext cx="3535133" cy="1402212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98"/>
              </a:srgbClr>
            </a:outerShdw>
          </a:effectLst>
        </p:spPr>
      </p:pic>
      <p:sp>
        <p:nvSpPr>
          <p:cNvPr id="859" name="Google Shape;859;p22"/>
          <p:cNvSpPr txBox="1"/>
          <p:nvPr/>
        </p:nvSpPr>
        <p:spPr>
          <a:xfrm>
            <a:off x="4983480" y="5605272"/>
            <a:ext cx="649224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대시보드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0" name="Google Shape;860;p22" descr="그라파나-대시보드-접속-리텐션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75913" y="3489794"/>
            <a:ext cx="3728197" cy="173143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98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4"/>
          <p:cNvSpPr txBox="1"/>
          <p:nvPr/>
        </p:nvSpPr>
        <p:spPr>
          <a:xfrm>
            <a:off x="1097280" y="26517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24"/>
          <p:cNvSpPr txBox="1"/>
          <p:nvPr/>
        </p:nvSpPr>
        <p:spPr>
          <a:xfrm>
            <a:off x="1097280" y="310896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클라이언트 (Unity)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24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25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6" name="Google Shape;896;p25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25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GAME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25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5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10. 게임 소개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25"/>
          <p:cNvSpPr txBox="1"/>
          <p:nvPr/>
        </p:nvSpPr>
        <p:spPr>
          <a:xfrm>
            <a:off x="685800" y="1536192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작업표시줄 위 얇은 띠에서 파티가 스스로 싸우는 방치형 RPG — 조작 대신 무엇을 키울지를 고른다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25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23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25"/>
          <p:cNvSpPr/>
          <p:nvPr/>
        </p:nvSpPr>
        <p:spPr>
          <a:xfrm>
            <a:off x="685800" y="1965960"/>
            <a:ext cx="5577840" cy="2935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3" name="Google Shape;903;p25" descr="플레이-화면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840" y="2103120"/>
            <a:ext cx="4937760" cy="2660904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25"/>
          <p:cNvSpPr txBox="1"/>
          <p:nvPr/>
        </p:nvSpPr>
        <p:spPr>
          <a:xfrm>
            <a:off x="685800" y="4974336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플레이 화면 — 가운데 좁은 띠에서 전투, 아래 메뉴 8종은 상시 노출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25"/>
          <p:cNvSpPr/>
          <p:nvPr/>
        </p:nvSpPr>
        <p:spPr>
          <a:xfrm>
            <a:off x="685800" y="5349240"/>
            <a:ext cx="1298448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25"/>
          <p:cNvSpPr txBox="1"/>
          <p:nvPr/>
        </p:nvSpPr>
        <p:spPr>
          <a:xfrm>
            <a:off x="685800" y="5394960"/>
            <a:ext cx="12984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최전방 방벽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25"/>
          <p:cNvSpPr/>
          <p:nvPr/>
        </p:nvSpPr>
        <p:spPr>
          <a:xfrm>
            <a:off x="2112264" y="5349240"/>
            <a:ext cx="1298448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5"/>
          <p:cNvSpPr txBox="1"/>
          <p:nvPr/>
        </p:nvSpPr>
        <p:spPr>
          <a:xfrm>
            <a:off x="2112264" y="5394960"/>
            <a:ext cx="12984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레인저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원거리 연사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25"/>
          <p:cNvSpPr/>
          <p:nvPr/>
        </p:nvSpPr>
        <p:spPr>
          <a:xfrm>
            <a:off x="3538728" y="5349240"/>
            <a:ext cx="1298448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5"/>
          <p:cNvSpPr txBox="1"/>
          <p:nvPr/>
        </p:nvSpPr>
        <p:spPr>
          <a:xfrm>
            <a:off x="3538728" y="5394960"/>
            <a:ext cx="12984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마법사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 스킬 광역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25"/>
          <p:cNvSpPr/>
          <p:nvPr/>
        </p:nvSpPr>
        <p:spPr>
          <a:xfrm>
            <a:off x="4965192" y="5349240"/>
            <a:ext cx="1298448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5"/>
          <p:cNvSpPr txBox="1"/>
          <p:nvPr/>
        </p:nvSpPr>
        <p:spPr>
          <a:xfrm>
            <a:off x="4965192" y="5394960"/>
            <a:ext cx="12984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슬레이어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근접 치명타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25"/>
          <p:cNvSpPr/>
          <p:nvPr/>
        </p:nvSpPr>
        <p:spPr>
          <a:xfrm>
            <a:off x="6611112" y="1965960"/>
            <a:ext cx="4864608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5"/>
          <p:cNvSpPr/>
          <p:nvPr/>
        </p:nvSpPr>
        <p:spPr>
          <a:xfrm>
            <a:off x="6812280" y="2240279"/>
            <a:ext cx="91440" cy="91440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5"/>
          <p:cNvSpPr txBox="1"/>
          <p:nvPr/>
        </p:nvSpPr>
        <p:spPr>
          <a:xfrm>
            <a:off x="6976872" y="2066543"/>
            <a:ext cx="4315968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전투는 전부 자동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파티 3인이 스스로 전진해 사거리에 든 적을 치고, 스킬은 쿨타임마다 알아서 나간다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25"/>
          <p:cNvSpPr/>
          <p:nvPr/>
        </p:nvSpPr>
        <p:spPr>
          <a:xfrm>
            <a:off x="6611112" y="2962656"/>
            <a:ext cx="4864608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25"/>
          <p:cNvSpPr/>
          <p:nvPr/>
        </p:nvSpPr>
        <p:spPr>
          <a:xfrm>
            <a:off x="6812280" y="3236976"/>
            <a:ext cx="91440" cy="91440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5"/>
          <p:cNvSpPr txBox="1"/>
          <p:nvPr/>
        </p:nvSpPr>
        <p:spPr>
          <a:xfrm>
            <a:off x="6976872" y="3063240"/>
            <a:ext cx="4315968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플레이어가 하는 일은 결정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장비 · 스킬 · 룬 · 파티 편성을 고르는 선택이 조작을 대신한다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25"/>
          <p:cNvSpPr/>
          <p:nvPr/>
        </p:nvSpPr>
        <p:spPr>
          <a:xfrm>
            <a:off x="6611112" y="3959352"/>
            <a:ext cx="4864608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5"/>
          <p:cNvSpPr/>
          <p:nvPr/>
        </p:nvSpPr>
        <p:spPr>
          <a:xfrm>
            <a:off x="6812280" y="4233672"/>
            <a:ext cx="91440" cy="91440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5"/>
          <p:cNvSpPr txBox="1"/>
          <p:nvPr/>
        </p:nvSpPr>
        <p:spPr>
          <a:xfrm>
            <a:off x="6976872" y="4059936"/>
            <a:ext cx="4315968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화면을 가리지 않는다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작업표시줄 위에 얇게 붙는 투명 오버레이 창 · 메뉴 8종은 상시 노출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25"/>
          <p:cNvSpPr/>
          <p:nvPr/>
        </p:nvSpPr>
        <p:spPr>
          <a:xfrm>
            <a:off x="6611112" y="4956048"/>
            <a:ext cx="4864608" cy="9418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5"/>
          <p:cNvSpPr/>
          <p:nvPr/>
        </p:nvSpPr>
        <p:spPr>
          <a:xfrm>
            <a:off x="6812280" y="5230368"/>
            <a:ext cx="91440" cy="91440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25"/>
          <p:cNvSpPr txBox="1"/>
          <p:nvPr/>
        </p:nvSpPr>
        <p:spPr>
          <a:xfrm>
            <a:off x="6976872" y="5056632"/>
            <a:ext cx="4315968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꺼 둔 시간도 성장한다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접속하지 않은 동안의 진행을 재접속 시 오프라인 보상으로 정산한다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26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0" name="Google Shape;930;p26" descr="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26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GAME CONTENT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26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6"/>
          <p:cNvSpPr txBox="1"/>
          <p:nvPr/>
        </p:nvSpPr>
        <p:spPr>
          <a:xfrm>
            <a:off x="685800" y="914400"/>
            <a:ext cx="28741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10.1  게임 컨텐츠</a:t>
            </a:r>
            <a:endParaRPr sz="30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4" name="Google Shape;934;p26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24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26"/>
          <p:cNvSpPr/>
          <p:nvPr/>
        </p:nvSpPr>
        <p:spPr>
          <a:xfrm>
            <a:off x="685800" y="1965960"/>
            <a:ext cx="25603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6" name="Google Shape;936;p26" descr="03-st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031" y="2075688"/>
            <a:ext cx="1799857" cy="1298448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26"/>
          <p:cNvSpPr txBox="1"/>
          <p:nvPr/>
        </p:nvSpPr>
        <p:spPr>
          <a:xfrm>
            <a:off x="813816" y="3429000"/>
            <a:ext cx="2304287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스테이지 · 보스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지역별 스테이지 자동 진행, Act 보스전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26"/>
          <p:cNvSpPr/>
          <p:nvPr/>
        </p:nvSpPr>
        <p:spPr>
          <a:xfrm>
            <a:off x="3429000" y="1965960"/>
            <a:ext cx="25603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9" name="Google Shape;939;p26" descr="04-inventory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08624" y="2075688"/>
            <a:ext cx="1001071" cy="1298448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26"/>
          <p:cNvSpPr txBox="1"/>
          <p:nvPr/>
        </p:nvSpPr>
        <p:spPr>
          <a:xfrm>
            <a:off x="3557016" y="3429000"/>
            <a:ext cx="2304287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가방 · 창고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장비 · 재료 · 소모품 보관, 칸 확장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26"/>
          <p:cNvSpPr/>
          <p:nvPr/>
        </p:nvSpPr>
        <p:spPr>
          <a:xfrm>
            <a:off x="6172200" y="1965960"/>
            <a:ext cx="25603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2" name="Google Shape;942;p26" descr="07-cub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08732" y="2075688"/>
            <a:ext cx="1087254" cy="1298448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26"/>
          <p:cNvSpPr txBox="1"/>
          <p:nvPr/>
        </p:nvSpPr>
        <p:spPr>
          <a:xfrm>
            <a:off x="6300216" y="3429000"/>
            <a:ext cx="2304287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큐브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합성 · 제작 · 연금술 판매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26"/>
          <p:cNvSpPr/>
          <p:nvPr/>
        </p:nvSpPr>
        <p:spPr>
          <a:xfrm>
            <a:off x="8915400" y="1965960"/>
            <a:ext cx="25603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5" name="Google Shape;945;p26" descr="05-skill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92411" y="2075688"/>
            <a:ext cx="1006297" cy="1298448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26"/>
          <p:cNvSpPr txBox="1"/>
          <p:nvPr/>
        </p:nvSpPr>
        <p:spPr>
          <a:xfrm>
            <a:off x="9043416" y="3429000"/>
            <a:ext cx="2304287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성장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레벨 · 패시브 · 룬 장착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26"/>
          <p:cNvSpPr/>
          <p:nvPr/>
        </p:nvSpPr>
        <p:spPr>
          <a:xfrm>
            <a:off x="685800" y="4023360"/>
            <a:ext cx="25603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8" name="Google Shape;948;p26" descr="08-gacha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66937" y="4133088"/>
            <a:ext cx="1398044" cy="1298448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26"/>
          <p:cNvSpPr txBox="1"/>
          <p:nvPr/>
        </p:nvSpPr>
        <p:spPr>
          <a:xfrm>
            <a:off x="813816" y="5486400"/>
            <a:ext cx="2304287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뽑기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배너별 등급 확률 · 천장 보정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26"/>
          <p:cNvSpPr/>
          <p:nvPr/>
        </p:nvSpPr>
        <p:spPr>
          <a:xfrm>
            <a:off x="3429000" y="4023360"/>
            <a:ext cx="25603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1" name="Google Shape;951;p26" descr="09-trad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153531" y="4133088"/>
            <a:ext cx="1111257" cy="1298448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26"/>
          <p:cNvSpPr txBox="1"/>
          <p:nvPr/>
        </p:nvSpPr>
        <p:spPr>
          <a:xfrm>
            <a:off x="3557016" y="5486400"/>
            <a:ext cx="2304287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거래소 · 교역선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 간 시세 거래, 교역선 판매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26"/>
          <p:cNvSpPr/>
          <p:nvPr/>
        </p:nvSpPr>
        <p:spPr>
          <a:xfrm>
            <a:off x="6172200" y="4023360"/>
            <a:ext cx="25603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4" name="Google Shape;954;p26" descr="11-attendanc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711326" y="4133088"/>
            <a:ext cx="1482066" cy="1298448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26"/>
          <p:cNvSpPr txBox="1"/>
          <p:nvPr/>
        </p:nvSpPr>
        <p:spPr>
          <a:xfrm>
            <a:off x="6300216" y="5486400"/>
            <a:ext cx="2304287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출석 · 메일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일일 출석 보상, 우편함 수령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26"/>
          <p:cNvSpPr/>
          <p:nvPr/>
        </p:nvSpPr>
        <p:spPr>
          <a:xfrm>
            <a:off x="8915400" y="4023360"/>
            <a:ext cx="25603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7" name="Google Shape;957;p26" descr="보스러시-랭킹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521058" y="4133088"/>
            <a:ext cx="1349002" cy="1298448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26"/>
          <p:cNvSpPr txBox="1"/>
          <p:nvPr/>
        </p:nvSpPr>
        <p:spPr>
          <a:xfrm>
            <a:off x="9043416" y="5486400"/>
            <a:ext cx="2304287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경쟁 · 보스러시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보스 5종 연속 클리어 · 주간 시즌 랭킹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27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WORKFLOW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27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27"/>
          <p:cNvSpPr txBox="1"/>
          <p:nvPr/>
        </p:nvSpPr>
        <p:spPr>
          <a:xfrm>
            <a:off x="685800" y="914400"/>
            <a:ext cx="10881360" cy="51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11.  Claude AI를 이용한 유니티 클라이언트 개발</a:t>
            </a:r>
            <a:endParaRPr sz="30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7" name="Google Shape;967;p27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8" name="Google Shape;96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27"/>
          <p:cNvSpPr txBox="1"/>
          <p:nvPr/>
        </p:nvSpPr>
        <p:spPr>
          <a:xfrm>
            <a:off x="685800" y="1536192"/>
            <a:ext cx="10881360" cy="189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 프로그래머로서 익숙하지 않은 클라이언트 개발에 대해 Claude와 함께 개발하였고, 주로 아래와 같이 자동화하여 효율적으로 작업</a:t>
            </a:r>
            <a:endParaRPr sz="110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0" name="Google Shape;970;p27"/>
          <p:cNvSpPr/>
          <p:nvPr/>
        </p:nvSpPr>
        <p:spPr>
          <a:xfrm>
            <a:off x="685800" y="1965960"/>
            <a:ext cx="347472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7"/>
          <p:cNvSpPr/>
          <p:nvPr/>
        </p:nvSpPr>
        <p:spPr>
          <a:xfrm>
            <a:off x="914400" y="2148840"/>
            <a:ext cx="3017520" cy="1737360"/>
          </a:xfrm>
          <a:prstGeom prst="roundRect">
            <a:avLst>
              <a:gd name="adj" fmla="val 3000"/>
            </a:avLst>
          </a:prstGeom>
          <a:solidFill>
            <a:srgbClr val="1220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2" name="Google Shape;972;p27" descr="sound_panel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2149403"/>
            <a:ext cx="3017519" cy="1736234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27"/>
          <p:cNvSpPr txBox="1"/>
          <p:nvPr/>
        </p:nvSpPr>
        <p:spPr>
          <a:xfrm>
            <a:off x="914400" y="3931920"/>
            <a:ext cx="3017520" cy="154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사운드 리소스 관리 문서 — ID · 길이 · 생성 · 적용 현황</a:t>
            </a:r>
            <a:endParaRPr sz="90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4" name="Google Shape;974;p27"/>
          <p:cNvSpPr txBox="1"/>
          <p:nvPr/>
        </p:nvSpPr>
        <p:spPr>
          <a:xfrm>
            <a:off x="914400" y="4206240"/>
            <a:ext cx="3017520" cy="216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사운드 · BGM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27"/>
          <p:cNvSpPr txBox="1"/>
          <p:nvPr/>
        </p:nvSpPr>
        <p:spPr>
          <a:xfrm>
            <a:off x="1638556" y="4251960"/>
            <a:ext cx="229336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12장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27"/>
          <p:cNvSpPr/>
          <p:nvPr/>
        </p:nvSpPr>
        <p:spPr>
          <a:xfrm>
            <a:off x="914400" y="4663440"/>
            <a:ext cx="457200" cy="27432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7"/>
          <p:cNvSpPr txBox="1"/>
          <p:nvPr/>
        </p:nvSpPr>
        <p:spPr>
          <a:xfrm>
            <a:off x="914400" y="4800600"/>
            <a:ext cx="3017520" cy="790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Stable Audio AI 모델을 사용하여 사운드 리소스 생성</a:t>
            </a:r>
            <a:endParaRPr sz="10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사운드 생성 후, 클라이언트의 Assets/Sounds/ 경로에 사운드 종류별로 정리</a:t>
            </a:r>
            <a:endParaRPr sz="10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8" name="Google Shape;978;p27"/>
          <p:cNvSpPr/>
          <p:nvPr/>
        </p:nvSpPr>
        <p:spPr>
          <a:xfrm>
            <a:off x="4343400" y="1965960"/>
            <a:ext cx="347472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27"/>
          <p:cNvSpPr/>
          <p:nvPr/>
        </p:nvSpPr>
        <p:spPr>
          <a:xfrm>
            <a:off x="4572000" y="2148840"/>
            <a:ext cx="3017520" cy="1737360"/>
          </a:xfrm>
          <a:prstGeom prst="roundRect">
            <a:avLst>
              <a:gd name="adj" fmla="val 3000"/>
            </a:avLst>
          </a:prstGeom>
          <a:solidFill>
            <a:srgbClr val="1220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0" name="Google Shape;980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0" y="2457450"/>
            <a:ext cx="3017520" cy="1120140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27"/>
          <p:cNvSpPr txBox="1"/>
          <p:nvPr/>
        </p:nvSpPr>
        <p:spPr>
          <a:xfrm>
            <a:off x="4572000" y="3931920"/>
            <a:ext cx="3017520" cy="154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인게임에 적용된 몬스터들</a:t>
            </a:r>
            <a:endParaRPr sz="90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2" name="Google Shape;982;p27"/>
          <p:cNvSpPr txBox="1"/>
          <p:nvPr/>
        </p:nvSpPr>
        <p:spPr>
          <a:xfrm>
            <a:off x="4572000" y="4206240"/>
            <a:ext cx="3017520" cy="216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</a:t>
            </a:r>
            <a:endParaRPr sz="14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3" name="Google Shape;983;p27"/>
          <p:cNvSpPr txBox="1"/>
          <p:nvPr/>
        </p:nvSpPr>
        <p:spPr>
          <a:xfrm>
            <a:off x="7063586" y="4251960"/>
            <a:ext cx="525933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13장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27"/>
          <p:cNvSpPr/>
          <p:nvPr/>
        </p:nvSpPr>
        <p:spPr>
          <a:xfrm>
            <a:off x="4572000" y="4663440"/>
            <a:ext cx="457200" cy="27432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27"/>
          <p:cNvSpPr txBox="1"/>
          <p:nvPr/>
        </p:nvSpPr>
        <p:spPr>
          <a:xfrm>
            <a:off x="4572000" y="4800600"/>
            <a:ext cx="3017520" cy="1042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 이름과 외형에 대해 프롬프트를 입력하여 컨셉에 맞는 외형을 자동으로 결정</a:t>
            </a:r>
            <a:endParaRPr sz="10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몬스터를 어떤 지역의 몇 스테이지에 스폰 시키는 것까지 확정하여 인게임 적용을 자동화</a:t>
            </a:r>
            <a:endParaRPr sz="10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ex) </a:t>
            </a:r>
            <a:endParaRPr sz="10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6" name="Google Shape;986;p27"/>
          <p:cNvSpPr/>
          <p:nvPr/>
        </p:nvSpPr>
        <p:spPr>
          <a:xfrm>
            <a:off x="8001000" y="1965960"/>
            <a:ext cx="347472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27"/>
          <p:cNvSpPr/>
          <p:nvPr/>
        </p:nvSpPr>
        <p:spPr>
          <a:xfrm>
            <a:off x="8229600" y="2148840"/>
            <a:ext cx="3017520" cy="1737360"/>
          </a:xfrm>
          <a:prstGeom prst="roundRect">
            <a:avLst>
              <a:gd name="adj" fmla="val 3000"/>
            </a:avLst>
          </a:prstGeom>
          <a:solidFill>
            <a:srgbClr val="1220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8" name="Google Shape;988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44204" y="2148840"/>
            <a:ext cx="2588311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27"/>
          <p:cNvSpPr txBox="1"/>
          <p:nvPr/>
        </p:nvSpPr>
        <p:spPr>
          <a:xfrm>
            <a:off x="8229600" y="3931920"/>
            <a:ext cx="3017520" cy="154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AI를 통해 제작된 아이템 아이콘들</a:t>
            </a:r>
            <a:endParaRPr sz="90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0" name="Google Shape;990;p27"/>
          <p:cNvSpPr txBox="1"/>
          <p:nvPr/>
        </p:nvSpPr>
        <p:spPr>
          <a:xfrm>
            <a:off x="8229600" y="4206240"/>
            <a:ext cx="3017520" cy="216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아이템 아이콘</a:t>
            </a:r>
            <a:endParaRPr sz="14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1" name="Google Shape;991;p27"/>
          <p:cNvSpPr txBox="1"/>
          <p:nvPr/>
        </p:nvSpPr>
        <p:spPr>
          <a:xfrm>
            <a:off x="10641406" y="4251960"/>
            <a:ext cx="605713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14장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27"/>
          <p:cNvSpPr/>
          <p:nvPr/>
        </p:nvSpPr>
        <p:spPr>
          <a:xfrm>
            <a:off x="8229600" y="4663440"/>
            <a:ext cx="457200" cy="27432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27"/>
          <p:cNvSpPr txBox="1"/>
          <p:nvPr/>
        </p:nvSpPr>
        <p:spPr>
          <a:xfrm>
            <a:off x="8229600" y="4800600"/>
            <a:ext cx="3017520" cy="829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등급 · 슬롯 규칙대로 코드가 픽셀 아트풍 아이콘을 생성한다.</a:t>
            </a:r>
            <a:endParaRPr sz="10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master-item 스킬 한 번에 정본 · 아이콘 · DB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item_{code}.png로 마스터 행과 자동 연결</a:t>
            </a:r>
            <a:endParaRPr sz="10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2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28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0" name="Google Shape;100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28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SOUND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28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8"/>
          <p:cNvSpPr txBox="1"/>
          <p:nvPr/>
        </p:nvSpPr>
        <p:spPr>
          <a:xfrm>
            <a:off x="685800" y="914400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12.  사운드 리소스 생성 및 관리 - Stable Audio 모델 활용</a:t>
            </a:r>
            <a:endParaRPr sz="30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4" name="Google Shape;1004;p28"/>
          <p:cNvSpPr txBox="1"/>
          <p:nvPr/>
        </p:nvSpPr>
        <p:spPr>
          <a:xfrm>
            <a:off x="685800" y="1536192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BGM · 징글부터 UI 클릭음까지 75종 전부, 외부 음원 없이 텍스트→오디오 모델 Stable Audio(stable-audio-2.5)로 만들었다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28"/>
          <p:cNvSpPr/>
          <p:nvPr/>
        </p:nvSpPr>
        <p:spPr>
          <a:xfrm>
            <a:off x="685800" y="1993392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정의서에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목록 · 트리거 확정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28"/>
          <p:cNvSpPr txBox="1"/>
          <p:nvPr/>
        </p:nvSpPr>
        <p:spPr>
          <a:xfrm>
            <a:off x="2258568" y="2267712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9AA5B4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28"/>
          <p:cNvSpPr/>
          <p:nvPr/>
        </p:nvSpPr>
        <p:spPr>
          <a:xfrm>
            <a:off x="2529230" y="1993392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영어 프롬프트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28"/>
          <p:cNvSpPr txBox="1"/>
          <p:nvPr/>
        </p:nvSpPr>
        <p:spPr>
          <a:xfrm>
            <a:off x="4101998" y="2267712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9AA5B4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28"/>
          <p:cNvSpPr/>
          <p:nvPr/>
        </p:nvSpPr>
        <p:spPr>
          <a:xfrm>
            <a:off x="4372660" y="1993392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Stable Audio 호출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stable-audio-2.5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28"/>
          <p:cNvSpPr txBox="1"/>
          <p:nvPr/>
        </p:nvSpPr>
        <p:spPr>
          <a:xfrm>
            <a:off x="5945428" y="2267712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9AA5B4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28"/>
          <p:cNvSpPr/>
          <p:nvPr/>
        </p:nvSpPr>
        <p:spPr>
          <a:xfrm>
            <a:off x="6216091" y="1993392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길이 · 포맷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 검증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28"/>
          <p:cNvSpPr txBox="1"/>
          <p:nvPr/>
        </p:nvSpPr>
        <p:spPr>
          <a:xfrm>
            <a:off x="7788859" y="2267712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9AA5B4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28"/>
          <p:cNvSpPr/>
          <p:nvPr/>
        </p:nvSpPr>
        <p:spPr>
          <a:xfrm>
            <a:off x="8059521" y="1993392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Unity 임포트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 교정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28"/>
          <p:cNvSpPr txBox="1"/>
          <p:nvPr/>
        </p:nvSpPr>
        <p:spPr>
          <a:xfrm>
            <a:off x="9632289" y="2267712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9AA5B4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28"/>
          <p:cNvSpPr/>
          <p:nvPr/>
        </p:nvSpPr>
        <p:spPr>
          <a:xfrm>
            <a:off x="9902952" y="1993392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재생 지점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16" name="Google Shape;1016;p28"/>
          <p:cNvGraphicFramePr/>
          <p:nvPr/>
        </p:nvGraphicFramePr>
        <p:xfrm>
          <a:off x="685800" y="321868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{117F4239-6CF6-4BE5-99FF-9D92B26D0C97}</a:tableStyleId>
              </a:tblPr>
              <a:tblGrid>
                <a:gridCol w="118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7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BGM · 징글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 · 시스템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전투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성장 · 편의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가챠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보스러시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합계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122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종수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21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26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2F6FE4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75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17" name="Google Shape;1017;p28"/>
          <p:cNvSpPr/>
          <p:nvPr/>
        </p:nvSpPr>
        <p:spPr>
          <a:xfrm>
            <a:off x="685800" y="4279397"/>
            <a:ext cx="10789800" cy="1200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28"/>
          <p:cNvSpPr txBox="1"/>
          <p:nvPr/>
        </p:nvSpPr>
        <p:spPr>
          <a:xfrm>
            <a:off x="960120" y="4480560"/>
            <a:ext cx="102414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사운드 생성 도구 — tools/poe-sfx/generate_sound.py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모델은 Stability AI의 Stable Audio 2.5</a:t>
            </a: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— Poe의 OpenAI 호환 API로 호출한다.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목록(TSV)을 </a:t>
            </a: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4개씩 병렬</a:t>
            </a: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돌리고 이미 있는 파일은 건너뛴다 — 중단 후 재실행이 안전하고, 재생성은 그 파일만 지우고 다시 돌린다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 트랙이 Stable Audio로 만든 오리지널 오디오</a:t>
            </a: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 — 외부 음원을 쓸 경우 상용 제약이 없는 것만 쓰고 확보처를 정의서에 적는다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30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4" name="Google Shape;1024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30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FOLDER LAYOUT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30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0"/>
          <p:cNvSpPr txBox="1"/>
          <p:nvPr/>
        </p:nvSpPr>
        <p:spPr>
          <a:xfrm>
            <a:off x="685800" y="914400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12.1  사운드 리소스 관리 — 사운드 종류별 정리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30"/>
          <p:cNvSpPr txBox="1"/>
          <p:nvPr/>
        </p:nvSpPr>
        <p:spPr>
          <a:xfrm>
            <a:off x="685800" y="1536192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카테고리 폴더까지만 나누고 그 안에서 더 쪼개지 않는다 — 파일명이 곧 ID라서, 경로는 코드가 아니라 사람이 찾기 위한 것이다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30"/>
          <p:cNvSpPr/>
          <p:nvPr/>
        </p:nvSpPr>
        <p:spPr>
          <a:xfrm>
            <a:off x="685800" y="1993392"/>
            <a:ext cx="6400800" cy="4270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30"/>
          <p:cNvSpPr txBox="1"/>
          <p:nvPr/>
        </p:nvSpPr>
        <p:spPr>
          <a:xfrm>
            <a:off x="914400" y="214884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com2us-taskbar-hero-client/Assets/Sound/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8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Stable Audio로 만든 mp3는 전부 이 아래에만 놓인다 · 오른쪽 숫자 = 실제 파일 수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30"/>
          <p:cNvSpPr txBox="1"/>
          <p:nvPr/>
        </p:nvSpPr>
        <p:spPr>
          <a:xfrm>
            <a:off x="914400" y="2606040"/>
            <a:ext cx="192024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Assets/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└─ Sound/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   ├─ BGM/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   └─ SFX/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      ├─ UI/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      ├─ System/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      ├─ Battle/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      │  ├─ Common/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      │  ├─ Knight/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      │  ├─ Archer/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      │  ├─ Mage/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      │  ├─ Slayer/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      │  └─ Monster/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      ├─ Growth/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      ├─ Gacha/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      └─ BossRush/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30"/>
          <p:cNvSpPr txBox="1"/>
          <p:nvPr/>
        </p:nvSpPr>
        <p:spPr>
          <a:xfrm>
            <a:off x="2834640" y="2606040"/>
            <a:ext cx="41148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75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65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30"/>
          <p:cNvSpPr txBox="1"/>
          <p:nvPr/>
        </p:nvSpPr>
        <p:spPr>
          <a:xfrm>
            <a:off x="3383280" y="2606040"/>
            <a:ext cx="347472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생성한 mp3가 놓이는 유일한 자리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배경음 루프 90초 · 연출 징글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효과음 1~2초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버튼 · 패널 · 모달 공통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타이틀 · 계정 · 씬 전환 · 캐릭터 생성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여기만 한 단계 더 — 직업별로 나눈다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입장 · 피격 · 사망 · 레벨업 · 보상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레인저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마법사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슬레이어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몬스터 · 보스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인벤토리 · 스킬 · 룬 · 큐브 · 메일 · 출석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뽑기 시전 · 슬롯 공개 · 등급 연출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포탈 · 도전 시작 · 신기록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30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27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30"/>
          <p:cNvSpPr/>
          <p:nvPr/>
        </p:nvSpPr>
        <p:spPr>
          <a:xfrm>
            <a:off x="7269480" y="1993392"/>
            <a:ext cx="4206240" cy="4270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30"/>
          <p:cNvSpPr txBox="1"/>
          <p:nvPr/>
        </p:nvSpPr>
        <p:spPr>
          <a:xfrm>
            <a:off x="7498080" y="21488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폴더에 넣기만 하면 코드가 찾아 쓴다</a:t>
            </a:r>
            <a:endParaRPr/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경로는 코드 어디에도 없다 — 파일명이 곧 ID다</a:t>
            </a:r>
            <a:endParaRPr/>
          </a:p>
        </p:txBody>
      </p:sp>
      <p:sp>
        <p:nvSpPr>
          <p:cNvPr id="1037" name="Google Shape;1037;p30"/>
          <p:cNvSpPr/>
          <p:nvPr/>
        </p:nvSpPr>
        <p:spPr>
          <a:xfrm>
            <a:off x="7452360" y="2743200"/>
            <a:ext cx="3840480" cy="4434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30"/>
          <p:cNvSpPr txBox="1"/>
          <p:nvPr/>
        </p:nvSpPr>
        <p:spPr>
          <a:xfrm>
            <a:off x="7589520" y="2811780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 </a:t>
            </a:r>
            <a:r>
              <a:rPr lang="en-US" sz="1050" b="1" i="0" u="none" strike="noStrike" cap="non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sfx_ui_click.mp3</a:t>
            </a:r>
            <a:endParaRPr/>
          </a:p>
        </p:txBody>
      </p:sp>
      <p:sp>
        <p:nvSpPr>
          <p:cNvPr id="1039" name="Google Shape;1039;p30"/>
          <p:cNvSpPr txBox="1"/>
          <p:nvPr/>
        </p:nvSpPr>
        <p:spPr>
          <a:xfrm>
            <a:off x="7589520" y="3008376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Assets/Sound/SFX/UI/ 에 파일을 넣는다</a:t>
            </a:r>
            <a:endParaRPr/>
          </a:p>
        </p:txBody>
      </p:sp>
      <p:sp>
        <p:nvSpPr>
          <p:cNvPr id="1040" name="Google Shape;1040;p30"/>
          <p:cNvSpPr/>
          <p:nvPr/>
        </p:nvSpPr>
        <p:spPr>
          <a:xfrm>
            <a:off x="9367838" y="3214116"/>
            <a:ext cx="9525" cy="64008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30"/>
          <p:cNvSpPr/>
          <p:nvPr/>
        </p:nvSpPr>
        <p:spPr>
          <a:xfrm>
            <a:off x="7452360" y="3305556"/>
            <a:ext cx="3840480" cy="4434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30"/>
          <p:cNvSpPr txBox="1"/>
          <p:nvPr/>
        </p:nvSpPr>
        <p:spPr>
          <a:xfrm>
            <a:off x="7589520" y="3374136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 </a:t>
            </a:r>
            <a:r>
              <a:rPr lang="en-US" sz="1050" b="1" i="0" u="none" strike="noStrike" cap="non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SoundDatabaseBuilder</a:t>
            </a:r>
            <a:endParaRPr/>
          </a:p>
        </p:txBody>
      </p:sp>
      <p:sp>
        <p:nvSpPr>
          <p:cNvPr id="1043" name="Google Shape;1043;p30"/>
          <p:cNvSpPr txBox="1"/>
          <p:nvPr/>
        </p:nvSpPr>
        <p:spPr>
          <a:xfrm>
            <a:off x="7589520" y="3570732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에디터 메뉴 — 폴더 전체 스캔 · 임포트 교정</a:t>
            </a:r>
            <a:endParaRPr/>
          </a:p>
        </p:txBody>
      </p:sp>
      <p:sp>
        <p:nvSpPr>
          <p:cNvPr id="1044" name="Google Shape;1044;p30"/>
          <p:cNvSpPr/>
          <p:nvPr/>
        </p:nvSpPr>
        <p:spPr>
          <a:xfrm>
            <a:off x="9367838" y="3776472"/>
            <a:ext cx="9525" cy="64008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30"/>
          <p:cNvSpPr/>
          <p:nvPr/>
        </p:nvSpPr>
        <p:spPr>
          <a:xfrm>
            <a:off x="7452360" y="3867912"/>
            <a:ext cx="3840480" cy="4434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30"/>
          <p:cNvSpPr txBox="1"/>
          <p:nvPr/>
        </p:nvSpPr>
        <p:spPr>
          <a:xfrm>
            <a:off x="7589520" y="3936492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 </a:t>
            </a:r>
            <a:r>
              <a:rPr lang="en-US" sz="1050" b="1" i="0" u="none" strike="noStrike" cap="non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SoundDatabase.asset</a:t>
            </a:r>
            <a:endParaRPr/>
          </a:p>
        </p:txBody>
      </p:sp>
      <p:sp>
        <p:nvSpPr>
          <p:cNvPr id="1047" name="Google Shape;1047;p30"/>
          <p:cNvSpPr txBox="1"/>
          <p:nvPr/>
        </p:nvSpPr>
        <p:spPr>
          <a:xfrm>
            <a:off x="7589520" y="4133088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ID ↔ 클립 매핑(빌드 산출물)</a:t>
            </a:r>
            <a:endParaRPr/>
          </a:p>
        </p:txBody>
      </p:sp>
      <p:sp>
        <p:nvSpPr>
          <p:cNvPr id="1048" name="Google Shape;1048;p30"/>
          <p:cNvSpPr/>
          <p:nvPr/>
        </p:nvSpPr>
        <p:spPr>
          <a:xfrm>
            <a:off x="9367838" y="4338828"/>
            <a:ext cx="9525" cy="64008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30"/>
          <p:cNvSpPr/>
          <p:nvPr/>
        </p:nvSpPr>
        <p:spPr>
          <a:xfrm>
            <a:off x="7452360" y="4430268"/>
            <a:ext cx="3840480" cy="4434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30"/>
          <p:cNvSpPr txBox="1"/>
          <p:nvPr/>
        </p:nvSpPr>
        <p:spPr>
          <a:xfrm>
            <a:off x="7589520" y="4498848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 </a:t>
            </a:r>
            <a:r>
              <a:rPr lang="en-US" sz="1050" b="1" i="0" u="none" strike="noStrike" cap="non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SoundId.SfxUiClick</a:t>
            </a:r>
            <a:endParaRPr/>
          </a:p>
        </p:txBody>
      </p:sp>
      <p:sp>
        <p:nvSpPr>
          <p:cNvPr id="1051" name="Google Shape;1051;p30"/>
          <p:cNvSpPr txBox="1"/>
          <p:nvPr/>
        </p:nvSpPr>
        <p:spPr>
          <a:xfrm>
            <a:off x="7589520" y="4695444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파일명이 그대로 열거값이 된다</a:t>
            </a:r>
            <a:endParaRPr/>
          </a:p>
        </p:txBody>
      </p:sp>
      <p:sp>
        <p:nvSpPr>
          <p:cNvPr id="1052" name="Google Shape;1052;p30"/>
          <p:cNvSpPr/>
          <p:nvPr/>
        </p:nvSpPr>
        <p:spPr>
          <a:xfrm>
            <a:off x="9367838" y="4901184"/>
            <a:ext cx="9525" cy="64008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30"/>
          <p:cNvSpPr/>
          <p:nvPr/>
        </p:nvSpPr>
        <p:spPr>
          <a:xfrm>
            <a:off x="7452360" y="4992624"/>
            <a:ext cx="3840480" cy="4434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30"/>
          <p:cNvSpPr txBox="1"/>
          <p:nvPr/>
        </p:nvSpPr>
        <p:spPr>
          <a:xfrm>
            <a:off x="7589520" y="5061204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05  </a:t>
            </a:r>
            <a:r>
              <a:rPr lang="en-US" sz="1050" b="1" i="0" u="none" strike="noStrike" cap="non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SoundManager.PlaySfx()</a:t>
            </a:r>
            <a:endParaRPr/>
          </a:p>
        </p:txBody>
      </p:sp>
      <p:sp>
        <p:nvSpPr>
          <p:cNvPr id="1055" name="Google Shape;1055;p30"/>
          <p:cNvSpPr txBox="1"/>
          <p:nvPr/>
        </p:nvSpPr>
        <p:spPr>
          <a:xfrm>
            <a:off x="7589520" y="5257800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BGM 2채널 크로스페이드 · SFX 풀 10</a:t>
            </a:r>
            <a:endParaRPr/>
          </a:p>
        </p:txBody>
      </p:sp>
      <p:sp>
        <p:nvSpPr>
          <p:cNvPr id="1056" name="Google Shape;1056;p30"/>
          <p:cNvSpPr/>
          <p:nvPr/>
        </p:nvSpPr>
        <p:spPr>
          <a:xfrm>
            <a:off x="9367838" y="5463540"/>
            <a:ext cx="9525" cy="64008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30"/>
          <p:cNvSpPr/>
          <p:nvPr/>
        </p:nvSpPr>
        <p:spPr>
          <a:xfrm>
            <a:off x="7452360" y="5554980"/>
            <a:ext cx="3840480" cy="443484"/>
          </a:xfrm>
          <a:prstGeom prst="roundRect">
            <a:avLst>
              <a:gd name="adj" fmla="val 9000"/>
            </a:avLst>
          </a:prstGeom>
          <a:solidFill>
            <a:srgbClr val="F4F7FC"/>
          </a:solidFill>
          <a:ln w="12700" cap="flat" cmpd="sng">
            <a:solidFill>
              <a:srgbClr val="2F6F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30"/>
          <p:cNvSpPr txBox="1"/>
          <p:nvPr/>
        </p:nvSpPr>
        <p:spPr>
          <a:xfrm>
            <a:off x="7589520" y="5623560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06  </a:t>
            </a: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 · UI · 성장의 재생 지점</a:t>
            </a:r>
            <a:endParaRPr/>
          </a:p>
        </p:txBody>
      </p:sp>
      <p:sp>
        <p:nvSpPr>
          <p:cNvPr id="1059" name="Google Shape;1059;p30"/>
          <p:cNvSpPr txBox="1"/>
          <p:nvPr/>
        </p:nvSpPr>
        <p:spPr>
          <a:xfrm>
            <a:off x="7589520" y="5820156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코드는</a:t>
            </a:r>
            <a:r>
              <a:rPr lang="en-US" sz="85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85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경로를</a:t>
            </a:r>
            <a:r>
              <a:rPr lang="en-US" sz="85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85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모른다</a:t>
            </a:r>
            <a:r>
              <a:rPr lang="en-US" sz="85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— </a:t>
            </a:r>
            <a:r>
              <a:rPr lang="en-US" sz="85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ID로만</a:t>
            </a:r>
            <a:r>
              <a:rPr lang="en-US" sz="850" b="0" i="0" u="none" strike="noStrike" cap="none" dirty="0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850" b="0" i="0" u="none" strike="noStrike" cap="none" dirty="0" err="1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부른다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31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HARNESS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31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31"/>
          <p:cNvSpPr txBox="1"/>
          <p:nvPr/>
        </p:nvSpPr>
        <p:spPr>
          <a:xfrm>
            <a:off x="685800" y="914400"/>
            <a:ext cx="10881360" cy="51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13. 개발용 하네스 씬 구성</a:t>
            </a:r>
            <a:endParaRPr sz="30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8" name="Google Shape;1068;p31"/>
          <p:cNvSpPr txBox="1"/>
          <p:nvPr/>
        </p:nvSpPr>
        <p:spPr>
          <a:xfrm>
            <a:off x="685800" y="1536192"/>
            <a:ext cx="10881360" cy="24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인게임 전투를 개발하기 위한 개발용 씬</a:t>
            </a:r>
            <a:endParaRPr sz="140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069" name="Google Shape;1069;p31" descr="BattleDevScen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4971" y="2057400"/>
            <a:ext cx="5093738" cy="301752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98"/>
              </a:srgbClr>
            </a:outerShdw>
          </a:effectLst>
        </p:spPr>
      </p:pic>
      <p:sp>
        <p:nvSpPr>
          <p:cNvPr id="1070" name="Google Shape;1070;p31"/>
          <p:cNvSpPr txBox="1"/>
          <p:nvPr/>
        </p:nvSpPr>
        <p:spPr>
          <a:xfrm>
            <a:off x="685800" y="51663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BattleDevScene — 파티 4인 스탯 · 스킬 쿨다운 · 소환 선택을 IMGUI로</a:t>
            </a:r>
            <a:endParaRPr sz="110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071" name="Google Shape;1071;p31" descr="AnimDevScen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19881" y="2057400"/>
            <a:ext cx="5191037" cy="301752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98"/>
              </a:srgbClr>
            </a:outerShdw>
          </a:effectLst>
        </p:spPr>
      </p:pic>
      <p:sp>
        <p:nvSpPr>
          <p:cNvPr id="1072" name="Google Shape;1072;p31"/>
          <p:cNvSpPr txBox="1"/>
          <p:nvPr/>
        </p:nvSpPr>
        <p:spPr>
          <a:xfrm>
            <a:off x="6309360" y="51663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AnimDevScene — 클립 목록 · 직업/성별 전환 · 무기 강화 단계별 이펙트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31"/>
          <p:cNvSpPr txBox="1"/>
          <p:nvPr/>
        </p:nvSpPr>
        <p:spPr>
          <a:xfrm>
            <a:off x="685800" y="5532120"/>
            <a:ext cx="10789920" cy="770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BattleDevScene은 로그인·스테이지 진입을 거치지 않고 전투만 켠다 — 광역 데미지가 몇 대에 들어갔는지, 쿨다운이 실제로 도는지를 숫자로 확인한다.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이 IMGUI는 개발 전용이라 serverMode=true인 GameScene에서는 OnGUI가 자동으로 생략된다.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진입 단계가 짧을수록 원격 검증의 실패 지점이 줄고, 측정값도 다른 시스템에 오염되지 않는다.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31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28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5" name="Google Shape;1075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3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32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29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2" name="Google Shape;1082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3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HARNESS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32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32"/>
          <p:cNvSpPr txBox="1"/>
          <p:nvPr/>
        </p:nvSpPr>
        <p:spPr>
          <a:xfrm>
            <a:off x="685800" y="914400"/>
            <a:ext cx="10881360" cy="52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13.1  BattleDevScene — 전투만 켜서 숫자로 본다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32"/>
          <p:cNvSpPr txBox="1"/>
          <p:nvPr/>
        </p:nvSpPr>
        <p:spPr>
          <a:xfrm>
            <a:off x="685800" y="1536192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 · 스테이지 진입을 거치지 않고 전투만 실행하는 씬 (메뉴 TaskbarHero/씬 · Alt+5 · 빌드 미등록)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7" name="Google Shape;1087;p32" descr="image.png"/>
          <p:cNvPicPr preferRelativeResize="0"/>
          <p:nvPr/>
        </p:nvPicPr>
        <p:blipFill rotWithShape="1">
          <a:blip r:embed="rId4">
            <a:alphaModFix/>
          </a:blip>
          <a:srcRect l="26650" t="33790" r="56090" b="28260"/>
          <a:stretch/>
        </p:blipFill>
        <p:spPr>
          <a:xfrm>
            <a:off x="685800" y="1920240"/>
            <a:ext cx="2240280" cy="2918010"/>
          </a:xfrm>
          <a:prstGeom prst="rect">
            <a:avLst/>
          </a:prstGeom>
          <a:noFill/>
          <a:ln w="9525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88" name="Google Shape;1088;p32"/>
          <p:cNvSpPr txBox="1"/>
          <p:nvPr/>
        </p:nvSpPr>
        <p:spPr>
          <a:xfrm>
            <a:off x="685800" y="4893114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하네스 IMGUI 박스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9" name="Google Shape;1089;p32" descr="image.png"/>
          <p:cNvPicPr preferRelativeResize="0"/>
          <p:nvPr/>
        </p:nvPicPr>
        <p:blipFill rotWithShape="1">
          <a:blip r:embed="rId4">
            <a:alphaModFix/>
          </a:blip>
          <a:srcRect l="26650" t="70310"/>
          <a:stretch/>
        </p:blipFill>
        <p:spPr>
          <a:xfrm>
            <a:off x="3154680" y="1920240"/>
            <a:ext cx="3291840" cy="789336"/>
          </a:xfrm>
          <a:prstGeom prst="rect">
            <a:avLst/>
          </a:prstGeom>
          <a:noFill/>
          <a:ln w="9525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90" name="Google Shape;1090;p32"/>
          <p:cNvSpPr txBox="1"/>
          <p:nvPr/>
        </p:nvSpPr>
        <p:spPr>
          <a:xfrm>
            <a:off x="3154680" y="27644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씬의 전투 화면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32"/>
          <p:cNvSpPr/>
          <p:nvPr/>
        </p:nvSpPr>
        <p:spPr>
          <a:xfrm>
            <a:off x="3154680" y="3127248"/>
            <a:ext cx="3291840" cy="2039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32"/>
          <p:cNvSpPr txBox="1"/>
          <p:nvPr/>
        </p:nvSpPr>
        <p:spPr>
          <a:xfrm>
            <a:off x="3364992" y="3273552"/>
            <a:ext cx="288036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씬이 도는 방식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파티가 오른쪽으로 계속 전진하다 </a:t>
            </a: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최전방 적과 사거리에 들면 교전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처치하면 뒤의 적이 새 최전방이 되어 </a:t>
            </a: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웨이브가 끝없이 이어진다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카메라는 파티를 따라가고 배경은 3장 타일로 무한 스크롤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2"/>
          <p:cNvSpPr/>
          <p:nvPr/>
        </p:nvSpPr>
        <p:spPr>
          <a:xfrm>
            <a:off x="685800" y="5440680"/>
            <a:ext cx="5760720" cy="82296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32"/>
          <p:cNvSpPr txBox="1"/>
          <p:nvPr/>
        </p:nvSpPr>
        <p:spPr>
          <a:xfrm>
            <a:off x="914400" y="5596128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“광역 데미지가 몇 대에 들어갔는지 · 쿨다운이 실제로 도는지”를 눈이 아니라 </a:t>
            </a: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숫자로 확인하며 전투를 다듬었다</a:t>
            </a: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32"/>
          <p:cNvSpPr/>
          <p:nvPr/>
        </p:nvSpPr>
        <p:spPr>
          <a:xfrm>
            <a:off x="6720840" y="1920240"/>
            <a:ext cx="47548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32"/>
          <p:cNvSpPr txBox="1"/>
          <p:nvPr/>
        </p:nvSpPr>
        <p:spPr>
          <a:xfrm>
            <a:off x="6949440" y="2057400"/>
            <a:ext cx="4297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무엇을 잘라냈나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로그인 · 스테이지 진입 · 서버 통신 없이 </a:t>
            </a: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전투만 켠다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카메라 · 배경 · 스폰 · 대형 배선은 실게임과 같은 것을 쓴다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32"/>
          <p:cNvSpPr/>
          <p:nvPr/>
        </p:nvSpPr>
        <p:spPr>
          <a:xfrm>
            <a:off x="6720840" y="3017520"/>
            <a:ext cx="47548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32"/>
          <p:cNvSpPr txBox="1"/>
          <p:nvPr/>
        </p:nvSpPr>
        <p:spPr>
          <a:xfrm>
            <a:off x="6949440" y="3163824"/>
            <a:ext cx="429768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화면에 실시간으로 뜨는 것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적 이름 · 현재 마릿수 · </a:t>
            </a: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동시 최대치(5)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처치 수 · 전투 단계 · 파티 전진 좌표 </a:t>
            </a: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partyX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파티원별 사거리</a:t>
            </a: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— 기사 1.5 · 레인저 6.5 · 마법사 6 · 슬레이어 1.8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코드별 쿨다운</a:t>
            </a: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총량과 잔여 — 스킬 101 cd 8s — 4.2s / READY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일시정지 · 다음 몬스터 · 소환 캐릭터 선택 · 전투 로그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32"/>
          <p:cNvSpPr/>
          <p:nvPr/>
        </p:nvSpPr>
        <p:spPr>
          <a:xfrm>
            <a:off x="6720840" y="5166360"/>
            <a:ext cx="4754880" cy="10972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32"/>
          <p:cNvSpPr txBox="1"/>
          <p:nvPr/>
        </p:nvSpPr>
        <p:spPr>
          <a:xfrm>
            <a:off x="6949440" y="5303520"/>
            <a:ext cx="42976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전용으로 격리했다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실게임(</a:t>
            </a: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serverMode</a:t>
            </a: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)에서는 이 박스가 통째로 생략된다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개발용 데미지 배수(×20)도 serverMode에서는 1로 고정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전투는 이 씬이 정본 — GameScene은 빌더로 복제한다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33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33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30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7" name="Google Shape;1107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33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HARNESS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3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33"/>
          <p:cNvSpPr txBox="1"/>
          <p:nvPr/>
        </p:nvSpPr>
        <p:spPr>
          <a:xfrm>
            <a:off x="685800" y="914400"/>
            <a:ext cx="10881360" cy="52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13.2  AnimDevScene — 모션과 이펙트만 따로 본다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33"/>
          <p:cNvSpPr txBox="1"/>
          <p:nvPr/>
        </p:nvSpPr>
        <p:spPr>
          <a:xfrm>
            <a:off x="685800" y="1536192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한 명만 세우고 배경 · 조명 · 전투를 전부 뺀 씬 (Alt+6 · 빌드 미등록)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2" name="Google Shape;1112;p33" descr="image.png"/>
          <p:cNvPicPr preferRelativeResize="0"/>
          <p:nvPr/>
        </p:nvPicPr>
        <p:blipFill rotWithShape="1">
          <a:blip r:embed="rId4">
            <a:alphaModFix/>
          </a:blip>
          <a:srcRect t="6800"/>
          <a:stretch/>
        </p:blipFill>
        <p:spPr>
          <a:xfrm>
            <a:off x="685800" y="1920240"/>
            <a:ext cx="5760720" cy="3120963"/>
          </a:xfrm>
          <a:prstGeom prst="rect">
            <a:avLst/>
          </a:prstGeom>
          <a:noFill/>
          <a:ln w="9525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13" name="Google Shape;1113;p33"/>
          <p:cNvSpPr txBox="1"/>
          <p:nvPr/>
        </p:nvSpPr>
        <p:spPr>
          <a:xfrm>
            <a:off x="685800" y="5096067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왼쪽 클립 목록 · 위 직업/성별 · 오른쪽 무기 강화 단계를 한 화면에서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33"/>
          <p:cNvSpPr/>
          <p:nvPr/>
        </p:nvSpPr>
        <p:spPr>
          <a:xfrm>
            <a:off x="685800" y="5440680"/>
            <a:ext cx="5760720" cy="82296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33"/>
          <p:cNvSpPr txBox="1"/>
          <p:nvPr/>
        </p:nvSpPr>
        <p:spPr>
          <a:xfrm>
            <a:off x="914400" y="5596128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새 모션을 확인하는 비용이 거의 0이다 — </a:t>
            </a: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.anim 파일을 Assets/Animations에 넣고 씬 생성 메뉴를 다시 실행하면 목록에 자동 배선된다.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33"/>
          <p:cNvSpPr/>
          <p:nvPr/>
        </p:nvSpPr>
        <p:spPr>
          <a:xfrm>
            <a:off x="6720840" y="1920240"/>
            <a:ext cx="47548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33"/>
          <p:cNvSpPr txBox="1"/>
          <p:nvPr/>
        </p:nvSpPr>
        <p:spPr>
          <a:xfrm>
            <a:off x="6949440" y="2066543"/>
            <a:ext cx="429768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왼쪽 — 애니메이션 목록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SPUM 프리팹의 상태별 클립을 런타임에 읽어</a:t>
            </a: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만든다 — IDLE · MOVE · ATTACK · DAMAGED · DEBUFF · DEATH · OTHER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목록에서 고른 뒤 </a:t>
            </a: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캐릭터를 클릭하면 그 클립이 재생</a:t>
            </a: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된다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분노 · 돌진 · 캐스트 홀드 · 화살비 · 내려찍기 같은 </a:t>
            </a: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특수 모션</a:t>
            </a: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 함께 노출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33"/>
          <p:cNvSpPr/>
          <p:nvPr/>
        </p:nvSpPr>
        <p:spPr>
          <a:xfrm>
            <a:off x="6720840" y="3840480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33"/>
          <p:cNvSpPr txBox="1"/>
          <p:nvPr/>
        </p:nvSpPr>
        <p:spPr>
          <a:xfrm>
            <a:off x="6949440" y="3986784"/>
            <a:ext cx="4297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 — 직업 · 성별 전환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기사 · 궁수 · 마법사 · 슬레이어 × 남 · 여를 눌러 </a:t>
            </a: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모션을 비교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33"/>
          <p:cNvSpPr/>
          <p:nvPr/>
        </p:nvSpPr>
        <p:spPr>
          <a:xfrm>
            <a:off x="6720840" y="4892040"/>
            <a:ext cx="4754880" cy="13716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33"/>
          <p:cNvSpPr txBox="1"/>
          <p:nvPr/>
        </p:nvSpPr>
        <p:spPr>
          <a:xfrm>
            <a:off x="6949440" y="5038344"/>
            <a:ext cx="42976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오른쪽 — 무기 강화 +0~+10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단계를 누르면 </a:t>
            </a:r>
            <a:r>
              <a:rPr lang="en-US" sz="10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잔상 색 · 무기에 서린 빛 · 반짝임</a:t>
            </a: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즉시 바뀐다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직업을 바꿔도 단계는 유지 — 같은 +7을 검 · 활 · 지팡이로 비교한다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3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34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PIPELINE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34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34"/>
          <p:cNvSpPr txBox="1"/>
          <p:nvPr/>
        </p:nvSpPr>
        <p:spPr>
          <a:xfrm>
            <a:off x="685800" y="914400"/>
            <a:ext cx="10881360" cy="51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13.3  몬스터를 요청 한 줄로 - 스테이지별 몬스터 작업 자동화</a:t>
            </a:r>
            <a:endParaRPr sz="30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0" name="Google Shape;1130;p34"/>
          <p:cNvSpPr txBox="1"/>
          <p:nvPr/>
        </p:nvSpPr>
        <p:spPr>
          <a:xfrm>
            <a:off x="685800" y="1536192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"검은 갑옷의 스켈레톤 기사, 2지역 5스테이지에 4마리" → 그 몬스터가 실제 전투에 나온다</a:t>
            </a:r>
            <a:endParaRPr sz="140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1" name="Google Shape;1131;p34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31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34"/>
          <p:cNvSpPr/>
          <p:nvPr/>
        </p:nvSpPr>
        <p:spPr>
          <a:xfrm>
            <a:off x="1328881" y="2400300"/>
            <a:ext cx="138466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34"/>
          <p:cNvSpPr txBox="1"/>
          <p:nvPr/>
        </p:nvSpPr>
        <p:spPr>
          <a:xfrm>
            <a:off x="1443181" y="2606040"/>
            <a:ext cx="115606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34"/>
          <p:cNvSpPr txBox="1"/>
          <p:nvPr/>
        </p:nvSpPr>
        <p:spPr>
          <a:xfrm>
            <a:off x="1443181" y="3040380"/>
            <a:ext cx="115606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해석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34"/>
          <p:cNvSpPr/>
          <p:nvPr/>
        </p:nvSpPr>
        <p:spPr>
          <a:xfrm>
            <a:off x="2896423" y="2400300"/>
            <a:ext cx="138466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34"/>
          <p:cNvSpPr txBox="1"/>
          <p:nvPr/>
        </p:nvSpPr>
        <p:spPr>
          <a:xfrm>
            <a:off x="3010723" y="2606040"/>
            <a:ext cx="115606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34"/>
          <p:cNvSpPr txBox="1"/>
          <p:nvPr/>
        </p:nvSpPr>
        <p:spPr>
          <a:xfrm>
            <a:off x="3010723" y="3040380"/>
            <a:ext cx="115606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능력치 · 외형 결정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34"/>
          <p:cNvSpPr/>
          <p:nvPr/>
        </p:nvSpPr>
        <p:spPr>
          <a:xfrm>
            <a:off x="4463965" y="2400300"/>
            <a:ext cx="138466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34"/>
          <p:cNvSpPr txBox="1"/>
          <p:nvPr/>
        </p:nvSpPr>
        <p:spPr>
          <a:xfrm>
            <a:off x="4578265" y="2606040"/>
            <a:ext cx="115606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34"/>
          <p:cNvSpPr txBox="1"/>
          <p:nvPr/>
        </p:nvSpPr>
        <p:spPr>
          <a:xfrm>
            <a:off x="4578265" y="3040380"/>
            <a:ext cx="115606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정본 + 스폰 반영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34"/>
          <p:cNvSpPr/>
          <p:nvPr/>
        </p:nvSpPr>
        <p:spPr>
          <a:xfrm>
            <a:off x="6031507" y="2400300"/>
            <a:ext cx="138466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34"/>
          <p:cNvSpPr txBox="1"/>
          <p:nvPr/>
        </p:nvSpPr>
        <p:spPr>
          <a:xfrm>
            <a:off x="6145807" y="2606040"/>
            <a:ext cx="115606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34"/>
          <p:cNvSpPr txBox="1"/>
          <p:nvPr/>
        </p:nvSpPr>
        <p:spPr>
          <a:xfrm>
            <a:off x="6145807" y="3040380"/>
            <a:ext cx="115606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프리팹 생성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34"/>
          <p:cNvSpPr/>
          <p:nvPr/>
        </p:nvSpPr>
        <p:spPr>
          <a:xfrm>
            <a:off x="7599049" y="2400300"/>
            <a:ext cx="138466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34"/>
          <p:cNvSpPr txBox="1"/>
          <p:nvPr/>
        </p:nvSpPr>
        <p:spPr>
          <a:xfrm>
            <a:off x="7713349" y="2606040"/>
            <a:ext cx="115606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34"/>
          <p:cNvSpPr txBox="1"/>
          <p:nvPr/>
        </p:nvSpPr>
        <p:spPr>
          <a:xfrm>
            <a:off x="7713349" y="3040380"/>
            <a:ext cx="115606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인게임 전투 적용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34"/>
          <p:cNvSpPr/>
          <p:nvPr/>
        </p:nvSpPr>
        <p:spPr>
          <a:xfrm>
            <a:off x="9166591" y="2400300"/>
            <a:ext cx="138466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34"/>
          <p:cNvSpPr txBox="1"/>
          <p:nvPr/>
        </p:nvSpPr>
        <p:spPr>
          <a:xfrm>
            <a:off x="9280891" y="2606040"/>
            <a:ext cx="115606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⑥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34"/>
          <p:cNvSpPr txBox="1"/>
          <p:nvPr/>
        </p:nvSpPr>
        <p:spPr>
          <a:xfrm>
            <a:off x="9280891" y="3040380"/>
            <a:ext cx="115606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34"/>
          <p:cNvSpPr txBox="1"/>
          <p:nvPr/>
        </p:nvSpPr>
        <p:spPr>
          <a:xfrm>
            <a:off x="2713543" y="2948940"/>
            <a:ext cx="182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9AA5B4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34"/>
          <p:cNvSpPr txBox="1"/>
          <p:nvPr/>
        </p:nvSpPr>
        <p:spPr>
          <a:xfrm>
            <a:off x="4281085" y="2948940"/>
            <a:ext cx="182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9AA5B4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34"/>
          <p:cNvSpPr txBox="1"/>
          <p:nvPr/>
        </p:nvSpPr>
        <p:spPr>
          <a:xfrm>
            <a:off x="5848627" y="2948940"/>
            <a:ext cx="182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9AA5B4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34"/>
          <p:cNvSpPr txBox="1"/>
          <p:nvPr/>
        </p:nvSpPr>
        <p:spPr>
          <a:xfrm>
            <a:off x="7416169" y="2948940"/>
            <a:ext cx="182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9AA5B4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34"/>
          <p:cNvSpPr txBox="1"/>
          <p:nvPr/>
        </p:nvSpPr>
        <p:spPr>
          <a:xfrm>
            <a:off x="8983711" y="2948940"/>
            <a:ext cx="182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9AA5B4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34"/>
          <p:cNvSpPr/>
          <p:nvPr/>
        </p:nvSpPr>
        <p:spPr>
          <a:xfrm>
            <a:off x="1328881" y="4366260"/>
            <a:ext cx="4519746" cy="914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txBody>
          <a:bodyPr spcFirstLastPara="1" wrap="square" lIns="137150" tIns="91425" rIns="137150" bIns="91425" anchor="ctr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2203A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도구(CLI)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34"/>
          <p:cNvSpPr/>
          <p:nvPr/>
        </p:nvSpPr>
        <p:spPr>
          <a:xfrm>
            <a:off x="1420321" y="4183380"/>
            <a:ext cx="4336866" cy="1905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34"/>
          <p:cNvSpPr/>
          <p:nvPr/>
        </p:nvSpPr>
        <p:spPr>
          <a:xfrm>
            <a:off x="1420321" y="4000500"/>
            <a:ext cx="19050" cy="18288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34"/>
          <p:cNvSpPr/>
          <p:nvPr/>
        </p:nvSpPr>
        <p:spPr>
          <a:xfrm>
            <a:off x="5738137" y="4000500"/>
            <a:ext cx="19050" cy="18288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34"/>
          <p:cNvSpPr/>
          <p:nvPr/>
        </p:nvSpPr>
        <p:spPr>
          <a:xfrm>
            <a:off x="3579229" y="4183380"/>
            <a:ext cx="19050" cy="18288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34"/>
          <p:cNvSpPr/>
          <p:nvPr/>
        </p:nvSpPr>
        <p:spPr>
          <a:xfrm>
            <a:off x="6031507" y="4366260"/>
            <a:ext cx="2952204" cy="914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txBody>
          <a:bodyPr spcFirstLastPara="1" wrap="square" lIns="137150" tIns="91425" rIns="137150" bIns="91425" anchor="ctr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2203A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④⑤ Unity MCP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34"/>
          <p:cNvSpPr/>
          <p:nvPr/>
        </p:nvSpPr>
        <p:spPr>
          <a:xfrm>
            <a:off x="6122947" y="4183380"/>
            <a:ext cx="2769324" cy="1905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34"/>
          <p:cNvSpPr/>
          <p:nvPr/>
        </p:nvSpPr>
        <p:spPr>
          <a:xfrm>
            <a:off x="6122947" y="4000500"/>
            <a:ext cx="19050" cy="18288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34"/>
          <p:cNvSpPr/>
          <p:nvPr/>
        </p:nvSpPr>
        <p:spPr>
          <a:xfrm>
            <a:off x="8873221" y="4000500"/>
            <a:ext cx="19050" cy="18288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34"/>
          <p:cNvSpPr/>
          <p:nvPr/>
        </p:nvSpPr>
        <p:spPr>
          <a:xfrm>
            <a:off x="7498084" y="4183380"/>
            <a:ext cx="19050" cy="18288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5" name="Google Shape;116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3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35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PIPELINE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35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35"/>
          <p:cNvSpPr txBox="1"/>
          <p:nvPr/>
        </p:nvSpPr>
        <p:spPr>
          <a:xfrm>
            <a:off x="685800" y="914400"/>
            <a:ext cx="10881360" cy="51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13.4  몬스터의 외형을 자동 결정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35"/>
          <p:cNvSpPr txBox="1"/>
          <p:nvPr/>
        </p:nvSpPr>
        <p:spPr>
          <a:xfrm>
            <a:off x="685800" y="1536192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CharacterDevScene — 능력치는 자동이지만, 뽑힌 외형이 쓸 만한지는 사람이 봐야 한다</a:t>
            </a:r>
            <a:endParaRPr sz="140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75" name="Google Shape;1175;p35" descr="몬스터-외형자동결정-결과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2011680"/>
            <a:ext cx="6675120" cy="3703320"/>
          </a:xfrm>
          <a:prstGeom prst="rect">
            <a:avLst/>
          </a:prstGeom>
          <a:noFill/>
          <a:ln w="9525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76" name="Google Shape;1176;p35"/>
          <p:cNvSpPr txBox="1"/>
          <p:nvPr/>
        </p:nvSpPr>
        <p:spPr>
          <a:xfrm>
            <a:off x="7620000" y="2788045"/>
            <a:ext cx="3886200" cy="2150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왼쪽 — 몬스터 목록</a:t>
            </a:r>
            <a:endParaRPr sz="1250" b="1" i="0" u="none" strike="noStrike" cap="none">
              <a:solidFill>
                <a:srgbClr val="2F6FE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코드·이름·hp·atk와 추천값 대비 편차, [PR](Prefab·Recipe) 보유 표시</a:t>
            </a:r>
            <a:endParaRPr sz="11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가운데 — 외형 프리뷰</a:t>
            </a:r>
            <a:endParaRPr sz="1250" b="1" i="0" u="none" strike="noStrike" cap="none">
              <a:solidFill>
                <a:srgbClr val="2F6FE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고른 몬스터의 프리팹을 그 자리에 세운다</a:t>
            </a:r>
            <a:endParaRPr sz="11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오른쪽 — 능력치 · 외형 · 산출</a:t>
            </a:r>
            <a:endParaRPr sz="1250" b="1" i="0" u="none" strike="noStrike" cap="none">
              <a:solidFill>
                <a:srgbClr val="2F6FE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[추천값 채우기] · 레시피와 시드가 고른 파트 목록 · [외형 재생성] · [프리팹 저장] · [스니펫 복사]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35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8" name="Google Shape;1178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3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36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PIPELINE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36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36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13.5  파이프라인의 산출물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36"/>
          <p:cNvSpPr txBox="1"/>
          <p:nvPr/>
        </p:nvSpPr>
        <p:spPr>
          <a:xfrm>
            <a:off x="685800" y="1536192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게임의 몬스터 12종(일반 7 + Act별 보스 5)이 전부 이 파이프라인 산출물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8" name="Google Shape;1188;p36" descr="몬스터-자동생성-전투.png"/>
          <p:cNvPicPr preferRelativeResize="0"/>
          <p:nvPr/>
        </p:nvPicPr>
        <p:blipFill rotWithShape="1">
          <a:blip r:embed="rId3">
            <a:alphaModFix/>
          </a:blip>
          <a:srcRect l="36124"/>
          <a:stretch/>
        </p:blipFill>
        <p:spPr>
          <a:xfrm>
            <a:off x="1549598" y="2148840"/>
            <a:ext cx="3850244" cy="1883664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98"/>
              </a:srgbClr>
            </a:outerShdw>
          </a:effectLst>
        </p:spPr>
      </p:pic>
      <p:sp>
        <p:nvSpPr>
          <p:cNvPr id="1189" name="Google Shape;1189;p36"/>
          <p:cNvSpPr txBox="1"/>
          <p:nvPr/>
        </p:nvSpPr>
        <p:spPr>
          <a:xfrm>
            <a:off x="457200" y="4123944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생성된 몬스터가 실제 전투에 등장 — 오른쪽 6종이 모두 파이프라인 산출물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0" name="Google Shape;1190;p36" descr="몬스터-자동생성-라인업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75400" y="2148840"/>
            <a:ext cx="5074360" cy="1883664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98"/>
              </a:srgbClr>
            </a:outerShdw>
          </a:effectLst>
        </p:spPr>
      </p:pic>
      <p:sp>
        <p:nvSpPr>
          <p:cNvPr id="1191" name="Google Shape;1191;p36"/>
          <p:cNvSpPr txBox="1"/>
          <p:nvPr/>
        </p:nvSpPr>
        <p:spPr>
          <a:xfrm>
            <a:off x="6675120" y="4123944"/>
            <a:ext cx="5074920" cy="189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인게임에 등장하는 몬스터 프리팹 12종 — 1지역 ~ 5지역</a:t>
            </a:r>
            <a:endParaRPr sz="110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2" name="Google Shape;1192;p36"/>
          <p:cNvSpPr txBox="1"/>
          <p:nvPr/>
        </p:nvSpPr>
        <p:spPr>
          <a:xfrm>
            <a:off x="685800" y="4754880"/>
            <a:ext cx="10789920" cy="117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외형만 바꾸는 요청은 서버손으로 만든 프리팹이 하나도 없다 — 전부 태그 → 레시피 → 프리팹 → 스폰 테이블을 거쳐 전투에 들어왔다. 이름·HP·공격력은 서버 정본에서 추출한 번들에서 읽는다.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정본·DB·번들을 건드리지 않는다 — 같은 경로에 덮어써 GUID가 유지되므로 "다시 뽑아 달라"를 몇 번 반복해도 DB 재적용도, 씬 수정도 없다.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36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33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4" name="Google Shape;1194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37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37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34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1" name="Google Shape;1201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37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PIPELINE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37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37"/>
          <p:cNvSpPr txBox="1"/>
          <p:nvPr/>
        </p:nvSpPr>
        <p:spPr>
          <a:xfrm>
            <a:off x="685800" y="914400"/>
            <a:ext cx="10881360" cy="52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13.6  외형은 어떻게 정해지는가 — 태그 · 시드 · 레시피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37"/>
          <p:cNvSpPr txBox="1"/>
          <p:nvPr/>
        </p:nvSpPr>
        <p:spPr>
          <a:xfrm>
            <a:off x="685800" y="1536192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능력치는 규칙이 정하고 외형은 시드가 고른다 — 사람이 하는 일은 “이걸로 간다”를 누르는 것뿐 (화면 구성은 11.4)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6" name="Google Shape;1206;p37" descr="몬스터-자동화-외형확정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1920240"/>
            <a:ext cx="5897880" cy="3319683"/>
          </a:xfrm>
          <a:prstGeom prst="rect">
            <a:avLst/>
          </a:prstGeom>
          <a:noFill/>
          <a:ln w="9525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07" name="Google Shape;1207;p37"/>
          <p:cNvSpPr txBox="1"/>
          <p:nvPr/>
        </p:nvSpPr>
        <p:spPr>
          <a:xfrm>
            <a:off x="685800" y="5294787"/>
            <a:ext cx="5897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CharacterDevScene — 뽑힌 외형과 레시피 · 파트 목록을 그 자리에서 보고 확정한다</a:t>
            </a:r>
            <a:endParaRPr sz="110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8" name="Google Shape;1208;p37"/>
          <p:cNvSpPr/>
          <p:nvPr/>
        </p:nvSpPr>
        <p:spPr>
          <a:xfrm>
            <a:off x="6812280" y="1920240"/>
            <a:ext cx="46634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37"/>
          <p:cNvSpPr txBox="1"/>
          <p:nvPr/>
        </p:nvSpPr>
        <p:spPr>
          <a:xfrm>
            <a:off x="7040880" y="2084831"/>
            <a:ext cx="42062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무엇을 자동으로 정하는가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계열은 Act가 정한다</a:t>
            </a: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— 1 빙의된 인간 · 2 언데드 · 3 악마 · 4 타락한 성기사 · 5 공허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SPUM 태그로 후보를 좁히고 </a:t>
            </a: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시드가 파츠를 고른다</a:t>
            </a: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(파츠 215개)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고른 결과는 </a:t>
            </a: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레시피 JSON 한 줄</a:t>
            </a: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남고 프리팹은 거기서 조립된다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37"/>
          <p:cNvSpPr/>
          <p:nvPr/>
        </p:nvSpPr>
        <p:spPr>
          <a:xfrm>
            <a:off x="6812280" y="3749039"/>
            <a:ext cx="46634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37"/>
          <p:cNvSpPr txBox="1"/>
          <p:nvPr/>
        </p:nvSpPr>
        <p:spPr>
          <a:xfrm>
            <a:off x="7040880" y="3913632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다시 뽑는 비용이 거의 0이다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[외형 재생성]은 시드를 옮겨 다시 뽑는 것 — 같은 경로에 덮어써 </a:t>
            </a: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GUID 유지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외형만 교체하면 서버 정본 · DB · 번들을 건드리지 않는다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37"/>
          <p:cNvSpPr/>
          <p:nvPr/>
        </p:nvSpPr>
        <p:spPr>
          <a:xfrm>
            <a:off x="6812280" y="5120640"/>
            <a:ext cx="4663440" cy="11430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37"/>
          <p:cNvSpPr txBox="1"/>
          <p:nvPr/>
        </p:nvSpPr>
        <p:spPr>
          <a:xfrm>
            <a:off x="7040880" y="5248656"/>
            <a:ext cx="42062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외형에서 겪은 함정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colors는 </a:t>
            </a: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곱셈 틴트</a:t>
            </a: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— 밝게 하려면 색 지정을 뺀다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Body는 </a:t>
            </a: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피부만</a:t>
            </a: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— 몸통은 Armor · Cloth · Pant · Back, 뿔은 Helmet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38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38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35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0" name="Google Shape;1220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38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RESULT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38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38"/>
          <p:cNvSpPr txBox="1"/>
          <p:nvPr/>
        </p:nvSpPr>
        <p:spPr>
          <a:xfrm>
            <a:off x="685800" y="914400"/>
            <a:ext cx="10881360" cy="52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14.  아이템 아이콘 절차적 생성 — 96종이 전부 코드 생성물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38"/>
          <p:cNvSpPr txBox="1"/>
          <p:nvPr/>
        </p:nvSpPr>
        <p:spPr>
          <a:xfrm>
            <a:off x="685800" y="1536192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아이템 생성 파이프라인의 ③ 단계 — 장비 89 · 재료 4 · 소모품 2 · 재화 1의 아이콘을 외주 · 구매 없이 만들었다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5" name="Google Shape;1225;p38" descr="아이템-아이콘-생성물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1920240"/>
            <a:ext cx="6035040" cy="4050917"/>
          </a:xfrm>
          <a:prstGeom prst="rect">
            <a:avLst/>
          </a:prstGeom>
          <a:noFill/>
          <a:ln w="9525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26" name="Google Shape;1226;p38"/>
          <p:cNvSpPr txBox="1"/>
          <p:nvPr/>
        </p:nvSpPr>
        <p:spPr>
          <a:xfrm>
            <a:off x="685800" y="6016752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프로젝트의 아이템 아이콘 96종 전부 — 무기 · 방어구 · 재료 · 소모품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7" name="Google Shape;1227;p38" descr="inventory-item-cube-인벤토리_전체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46720" y="1920240"/>
            <a:ext cx="2286000" cy="2396115"/>
          </a:xfrm>
          <a:prstGeom prst="rect">
            <a:avLst/>
          </a:prstGeom>
          <a:noFill/>
          <a:ln w="9525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28" name="Google Shape;1228;p38"/>
          <p:cNvSpPr txBox="1"/>
          <p:nvPr/>
        </p:nvSpPr>
        <p:spPr>
          <a:xfrm>
            <a:off x="6903720" y="43891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아이콘이 인게임 가방 · 장착 슬롯에 그대로 뜬다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38"/>
          <p:cNvSpPr/>
          <p:nvPr/>
        </p:nvSpPr>
        <p:spPr>
          <a:xfrm>
            <a:off x="6903720" y="4709160"/>
            <a:ext cx="45720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38"/>
          <p:cNvSpPr txBox="1"/>
          <p:nvPr/>
        </p:nvSpPr>
        <p:spPr>
          <a:xfrm>
            <a:off x="7132320" y="4846320"/>
            <a:ext cx="41148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코드로 그려서 얻은 것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등급 · 슬롯끼리 크기와 팔레트를 맞춘다 — </a:t>
            </a: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팔레트 레지스트리 재사용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눈으로 봤다고 가정하지 않는다</a:t>
            </a: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— 투명 배경 · 여백 · 색 수를 수치로 검사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“손잡이를 줄여 달라” 같은 수정도 </a:t>
            </a:r>
            <a:r>
              <a:rPr lang="en-US" sz="11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파라미터를 고쳐 다시 그린다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8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BALANCE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18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8"/>
          <p:cNvSpPr txBox="1"/>
          <p:nvPr/>
        </p:nvSpPr>
        <p:spPr>
          <a:xfrm>
            <a:off x="685800" y="914400"/>
            <a:ext cx="10881360" cy="51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15.  밸런스 수치 조절 하네스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18"/>
          <p:cNvSpPr txBox="1"/>
          <p:nvPr/>
        </p:nvSpPr>
        <p:spPr>
          <a:xfrm>
            <a:off x="685800" y="1536192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기획서로 정할 수 있는 것은 규칙이지 수치가 아니다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18"/>
          <p:cNvSpPr txBox="1"/>
          <p:nvPr/>
        </p:nvSpPr>
        <p:spPr>
          <a:xfrm>
            <a:off x="685800" y="2057400"/>
            <a:ext cx="10789920" cy="625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"몬스터 체력을 얼마로 둘까"는 문서로 합의할 수 없고 재 봐야 안다. 그런데 이 게임에서 그 측정은 원래 불가능했다.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 계산이 클라이언트 권위라 서버는 몬스터 스탯을 로드조차 하지 않고, 클리어 시간을 알려면 Unity를 켜고 스테이지에 들어가 사람이 스톱워치를 재야 했다.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18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36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9" name="Google Shape;77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18"/>
          <p:cNvSpPr txBox="1"/>
          <p:nvPr/>
        </p:nvSpPr>
        <p:spPr>
          <a:xfrm>
            <a:off x="685800" y="301752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기준이 없는 명령은 토큰 낭비만 초래했다..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18"/>
          <p:cNvSpPr/>
          <p:nvPr/>
        </p:nvSpPr>
        <p:spPr>
          <a:xfrm>
            <a:off x="685800" y="3611880"/>
            <a:ext cx="51663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8"/>
          <p:cNvSpPr txBox="1"/>
          <p:nvPr/>
        </p:nvSpPr>
        <p:spPr>
          <a:xfrm>
            <a:off x="1097280" y="4023360"/>
            <a:ext cx="4343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‘지금 난이도가 너무 쉬운데, 좀 더 난이도 있게 만들어줘.’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18"/>
          <p:cNvSpPr/>
          <p:nvPr/>
        </p:nvSpPr>
        <p:spPr>
          <a:xfrm>
            <a:off x="1097280" y="4754880"/>
            <a:ext cx="731520" cy="1270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8"/>
          <p:cNvSpPr txBox="1"/>
          <p:nvPr/>
        </p:nvSpPr>
        <p:spPr>
          <a:xfrm>
            <a:off x="1097280" y="4983480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r>
              <a:rPr lang="en-US" sz="12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너무 어려워지거나 인게임 전투에 변화가 거의 없음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18"/>
          <p:cNvSpPr/>
          <p:nvPr/>
        </p:nvSpPr>
        <p:spPr>
          <a:xfrm>
            <a:off x="6309360" y="3611880"/>
            <a:ext cx="51663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18287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8"/>
          <p:cNvSpPr txBox="1"/>
          <p:nvPr/>
        </p:nvSpPr>
        <p:spPr>
          <a:xfrm>
            <a:off x="6720840" y="4023360"/>
            <a:ext cx="4343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‘보스 공격력이 너무 강한데, 지금보다는 쉽게 만들어줘.’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18"/>
          <p:cNvSpPr/>
          <p:nvPr/>
        </p:nvSpPr>
        <p:spPr>
          <a:xfrm>
            <a:off x="6720840" y="4754880"/>
            <a:ext cx="731520" cy="12700"/>
          </a:xfrm>
          <a:prstGeom prst="rect">
            <a:avLst/>
          </a:prstGeom>
          <a:solidFill>
            <a:srgbClr val="D8DEE7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8"/>
          <p:cNvSpPr txBox="1"/>
          <p:nvPr/>
        </p:nvSpPr>
        <p:spPr>
          <a:xfrm>
            <a:off x="6720840" y="4983480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r>
              <a:rPr lang="en-US" sz="12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 보스가 너무 약해져서 잡몹과 똑같이 변함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9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BALANCE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19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9"/>
          <p:cNvSpPr txBox="1"/>
          <p:nvPr/>
        </p:nvSpPr>
        <p:spPr>
          <a:xfrm>
            <a:off x="685800" y="914400"/>
            <a:ext cx="10881360" cy="51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15.1  스크립트로만 구현한 인게임 전투 하네스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19"/>
          <p:cNvSpPr txBox="1"/>
          <p:nvPr/>
        </p:nvSpPr>
        <p:spPr>
          <a:xfrm>
            <a:off x="685800" y="1536192"/>
            <a:ext cx="10881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tools/balance_sim.py — 유니티를 켜지 않고, 시뮬레이션 만으로 인게임 전투 시뮬레이션 진행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98" name="Google Shape;798;p19"/>
          <p:cNvGraphicFramePr/>
          <p:nvPr/>
        </p:nvGraphicFramePr>
        <p:xfrm>
          <a:off x="685800" y="1861349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{117F4239-6CF6-4BE5-99FF-9D92B26D0C97}</a:tableStyleId>
              </a:tblPr>
              <a:tblGrid>
                <a:gridCol w="237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100575" marR="73150" marT="36575" marB="36575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씬 하네스 (BattleDevScene 등)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밸런스 시뮬레이터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122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무엇을 잘라냈나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 · 스테이지 진입 · 게임 흐름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거기에 더해 Unity · 렌더링 · 실시간</a:t>
                      </a:r>
                      <a:endParaRPr sz="1250" b="0" u="none" strike="noStrike" cap="none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무엇이 필요한가</a:t>
                      </a:r>
                      <a:endParaRPr sz="1250" b="0" u="none" strike="noStrike" cap="none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00575" marR="73150" marT="36575" marB="36575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전투 화면 + 전투 상황 확인용 UI</a:t>
                      </a:r>
                      <a:endParaRPr sz="1250" b="0" u="none" strike="noStrike" cap="none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00575" marR="73150" marT="36575" marB="36575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전투 규칙과 수치만</a:t>
                      </a:r>
                      <a:endParaRPr sz="1250" b="0" u="none" strike="noStrike" cap="none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00575" marR="73150" marT="36575" marB="36575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누가 읽나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사람이 눈으로 (타격감 · 외형)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기계가 수치로 (초 · %)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 판 도는 비용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에디터 켜고 플레이 모드 진입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Arial"/>
                        <a:buNone/>
                      </a:pPr>
                      <a:r>
                        <a:rPr lang="en-US" sz="12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 프로세스, 100 스테이지 전수도 한 명령</a:t>
                      </a:r>
                      <a:endParaRPr sz="1250" b="0" u="none" strike="noStrike" cap="none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00575" marR="73150" marT="36575" marB="36575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99" name="Google Shape;799;p19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37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0" name="Google Shape;80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5105" y="5029200"/>
            <a:ext cx="3180786" cy="1325880"/>
          </a:xfrm>
          <a:prstGeom prst="rect">
            <a:avLst/>
          </a:prstGeom>
          <a:noFill/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01" name="Google Shape;801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80211" y="5029200"/>
            <a:ext cx="5656204" cy="1325880"/>
          </a:xfrm>
          <a:prstGeom prst="rect">
            <a:avLst/>
          </a:prstGeom>
          <a:noFill/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02" name="Google Shape;802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19"/>
          <p:cNvSpPr/>
          <p:nvPr/>
        </p:nvSpPr>
        <p:spPr>
          <a:xfrm>
            <a:off x="685800" y="4297680"/>
            <a:ext cx="10789920" cy="64008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</p:spPr>
        <p:txBody>
          <a:bodyPr spcFirstLastPara="1" wrap="square" lIns="365750" tIns="137150" rIns="365750" bIns="13715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필요할까?</a:t>
            </a: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=&gt; 실제 유니티 환경에서 측정 시, 유니티를 실행하고 클리어 시간을 측정하는 과정이 굉장히 </a:t>
            </a:r>
            <a:r>
              <a:rPr lang="en-US" sz="11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오래걸림</a:t>
            </a: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 + 유니티 MCP를 통한 환경에서의 시간 측정도 굉장히 </a:t>
            </a:r>
            <a:r>
              <a:rPr lang="en-US" sz="115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부정확</a:t>
            </a: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하여 토큰만 낭비하는 일이 많아짐.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0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BALANCE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20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0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15.2  하드코딩을 최소화한다 — 무엇을 어디서 읽는가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20"/>
          <p:cNvSpPr txBox="1"/>
          <p:nvPr/>
        </p:nvSpPr>
        <p:spPr>
          <a:xfrm>
            <a:off x="685800" y="1536192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하네스가 실제 게임과 갈라지면 산출한 밸런스 근거 전체가 무효가 된다</a:t>
            </a:r>
            <a:endParaRPr sz="140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813" name="Google Shape;813;p20"/>
          <p:cNvGraphicFramePr/>
          <p:nvPr/>
        </p:nvGraphicFramePr>
        <p:xfrm>
          <a:off x="777240" y="187084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{117F4239-6CF6-4BE5-99FF-9D92B26D0C97}</a:tableStyleId>
              </a:tblPr>
              <a:tblGrid>
                <a:gridCol w="512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대상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출처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122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마스터 수치 (몬스터 · 스폰 · 직업 · 레벨 · 스킬 계수 · 아이템 · 강화 · 룬)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서버의 마스터 데이터</a:t>
                      </a:r>
                      <a:endParaRPr sz="1200" b="0" u="none" strike="noStrike" cap="none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전투 상수 (스폰 주기 · 동시 상한 · 이동속도 · 피해 배수) · 파티별 사거리</a:t>
                      </a:r>
                      <a:endParaRPr sz="1200" b="0" u="none" strike="noStrike" cap="none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00575" marR="73150" marT="36575" marB="36575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유니티 클라이언트의 전투관련 상수</a:t>
                      </a:r>
                      <a:endParaRPr sz="1200" b="0" u="none" strike="noStrike" cap="none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00575" marR="73150" marT="36575" marB="36575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스킬 모션 길이 · 광역 판정 반경</a:t>
                      </a:r>
                      <a:endParaRPr sz="1200" b="0" u="none" strike="noStrike" cap="none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Assets/Prefabs/Effects/*.prefab의 프레임 수 · fps · 스케일 + 스킬 이펙트의 타격범위</a:t>
                      </a:r>
                      <a:endParaRPr sz="1000" b="0" u="none" strike="noStrike" cap="none">
                        <a:solidFill>
                          <a:srgbClr val="1B243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14" name="Google Shape;814;p20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38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5" name="Google Shape;81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9063" y="4095535"/>
            <a:ext cx="3279710" cy="2105185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70196"/>
              </a:srgbClr>
            </a:outerShdw>
          </a:effectLst>
        </p:spPr>
      </p:pic>
      <p:pic>
        <p:nvPicPr>
          <p:cNvPr id="816" name="Google Shape;816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1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BALANCE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21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1"/>
          <p:cNvSpPr txBox="1"/>
          <p:nvPr/>
        </p:nvSpPr>
        <p:spPr>
          <a:xfrm>
            <a:off x="685800" y="914400"/>
            <a:ext cx="10881360" cy="51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15.3  실제 밸런싱 작업 활용 예시</a:t>
            </a:r>
            <a:endParaRPr sz="30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5" name="Google Shape;825;p21"/>
          <p:cNvSpPr txBox="1"/>
          <p:nvPr/>
        </p:nvSpPr>
        <p:spPr>
          <a:xfrm>
            <a:off x="685800" y="1536192"/>
            <a:ext cx="10881360" cy="24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명령 : 신규 계정이 아무 투자도 하지 않은 상태로 1지역 보스를 1분 내외로 아슬아슬하게 클리어하도록 밸런스를 조정해줘</a:t>
            </a:r>
            <a:endParaRPr sz="140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826" name="Google Shape;826;p21" descr="1-10-스테이지-리밸런싱-결과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9433" y="2011680"/>
            <a:ext cx="2927773" cy="4160520"/>
          </a:xfrm>
          <a:prstGeom prst="rect">
            <a:avLst/>
          </a:prstGeom>
          <a:noFill/>
          <a:ln w="9525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27" name="Google Shape;827;p21"/>
          <p:cNvSpPr txBox="1"/>
          <p:nvPr/>
        </p:nvSpPr>
        <p:spPr>
          <a:xfrm>
            <a:off x="914400" y="626364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1지역 보스(암흑 마법사) — 60.6초 클리어 · 최저 체력 23%  (3.7배속)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28" name="Google Shape;828;p21"/>
          <p:cNvGraphicFramePr/>
          <p:nvPr/>
        </p:nvGraphicFramePr>
        <p:xfrm>
          <a:off x="7040880" y="2148840"/>
          <a:ext cx="4434825" cy="2633450"/>
        </p:xfrm>
        <a:graphic>
          <a:graphicData uri="http://schemas.openxmlformats.org/drawingml/2006/table">
            <a:tbl>
              <a:tblPr firstRow="1">
                <a:noFill/>
                <a:tableStyleId>{117F4239-6CF6-4BE5-99FF-9D92B26D0C97}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100575" marR="73150" marT="36575" marB="36575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리밸런싱 전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지금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122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1지역 일반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15~27초 · 체력 62~100%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30~50초 · 85% → 46%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1-10 보스(기사)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35.6초 전멸(패배)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60.6초 클리어 · 최저 23%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1-10 보스(타직업)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24~31초 · 편차 큼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46~61초 · 23~66%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투자 요구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없음(1지역 내내 여유)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rgbClr val="1B243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2지역 중반부터 장비작·스킬작</a:t>
                      </a:r>
                      <a:endParaRPr sz="1400" u="none" strike="noStrike" cap="none"/>
                    </a:p>
                  </a:txBody>
                  <a:tcPr marL="100575" marR="73150" marT="36575" marB="36575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29" name="Google Shape;829;p21"/>
          <p:cNvSpPr txBox="1"/>
          <p:nvPr/>
        </p:nvSpPr>
        <p:spPr>
          <a:xfrm>
            <a:off x="7040880" y="4937760"/>
            <a:ext cx="4434840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치명타, 몹 흩어짐 등에 의한 변수가 있으나 실제 전투 시간을 비교적 정확히 맞출 수 있게 되었다. </a:t>
            </a:r>
            <a:endParaRPr sz="1300" b="1" i="0" u="none" strike="noStrike" cap="none">
              <a:solidFill>
                <a:srgbClr val="2F6FE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0" name="Google Shape;830;p21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39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1" name="Google Shape;831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3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39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SUMMARY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39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39"/>
          <p:cNvSpPr txBox="1"/>
          <p:nvPr/>
        </p:nvSpPr>
        <p:spPr>
          <a:xfrm>
            <a:off x="685800" y="914400"/>
            <a:ext cx="10881360" cy="51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정리</a:t>
            </a:r>
            <a:endParaRPr sz="30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9" name="Google Shape;1239;p39"/>
          <p:cNvSpPr/>
          <p:nvPr/>
        </p:nvSpPr>
        <p:spPr>
          <a:xfrm>
            <a:off x="685800" y="214884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39"/>
          <p:cNvSpPr txBox="1"/>
          <p:nvPr/>
        </p:nvSpPr>
        <p:spPr>
          <a:xfrm>
            <a:off x="905256" y="23317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39"/>
          <p:cNvSpPr txBox="1"/>
          <p:nvPr/>
        </p:nvSpPr>
        <p:spPr>
          <a:xfrm>
            <a:off x="905256" y="2624328"/>
            <a:ext cx="3017520" cy="25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문서를 기반으로 작업을 시작</a:t>
            </a:r>
            <a:endParaRPr sz="15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2" name="Google Shape;1242;p39"/>
          <p:cNvSpPr txBox="1"/>
          <p:nvPr/>
        </p:nvSpPr>
        <p:spPr>
          <a:xfrm>
            <a:off x="905256" y="3017520"/>
            <a:ext cx="3017520" cy="1662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코드작성을 바로 시키지 않고 기획서를 먼저 확정한 뒤 그 문서를 기반으로만 작업을 진행한다.</a:t>
            </a:r>
            <a:endParaRPr sz="11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endParaRPr sz="11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"확정"과 "그렇게 정한 이유"를 함께 남겨, 그때 왜 이렇게 했지 라는 질문에 대해 스스로 답을 찾을 수 있도록 하였다.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39"/>
          <p:cNvSpPr/>
          <p:nvPr/>
        </p:nvSpPr>
        <p:spPr>
          <a:xfrm>
            <a:off x="4370832" y="214884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39"/>
          <p:cNvSpPr txBox="1"/>
          <p:nvPr/>
        </p:nvSpPr>
        <p:spPr>
          <a:xfrm>
            <a:off x="4590288" y="23317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2F6FE4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39"/>
          <p:cNvSpPr txBox="1"/>
          <p:nvPr/>
        </p:nvSpPr>
        <p:spPr>
          <a:xfrm>
            <a:off x="4590288" y="2624328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만드는 절차를 코드로</a:t>
            </a:r>
            <a:endParaRPr sz="15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6" name="Google Shape;1246;p39"/>
          <p:cNvSpPr txBox="1"/>
          <p:nvPr/>
        </p:nvSpPr>
        <p:spPr>
          <a:xfrm>
            <a:off x="4590288" y="3017520"/>
            <a:ext cx="301752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· 아이콘 · 이펙트 · 마스터 번들 · 몬스터 — 산출물을 직접 편집하지 않고 그것을 생성하는 스크립트를 남겼다.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endParaRPr sz="11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그래서 어느 것이든 "다시 만들어라"가 실행 가능한 요청이 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39"/>
          <p:cNvSpPr/>
          <p:nvPr/>
        </p:nvSpPr>
        <p:spPr>
          <a:xfrm>
            <a:off x="8055864" y="214884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D8DE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39"/>
          <p:cNvSpPr txBox="1"/>
          <p:nvPr/>
        </p:nvSpPr>
        <p:spPr>
          <a:xfrm>
            <a:off x="8275320" y="23317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E0A5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39"/>
          <p:cNvSpPr txBox="1"/>
          <p:nvPr/>
        </p:nvSpPr>
        <p:spPr>
          <a:xfrm>
            <a:off x="8275320" y="2624328"/>
            <a:ext cx="3017520" cy="25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B243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유니티 MCP +  하네스 구성</a:t>
            </a:r>
            <a:endParaRPr sz="1500" b="1" i="0" u="none" strike="noStrike" cap="none">
              <a:solidFill>
                <a:srgbClr val="1B243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0" name="Google Shape;1250;p39"/>
          <p:cNvSpPr txBox="1"/>
          <p:nvPr/>
        </p:nvSpPr>
        <p:spPr>
          <a:xfrm>
            <a:off x="8275320" y="3017520"/>
            <a:ext cx="3017520" cy="1892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개발자가 직접 보는 씬이 아닌, 클로드를 위한 개발용 DevScene들을 추가하여, 구현에 대한 검증과 테스트가 효율적으로 이뤄지도록 하였다.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endParaRPr sz="11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아이템 및 몬스터 등 일부 리소스에 대한 클라, 서버 작업을 자동화하여 효율적으로 과제를 진행할 수 있도록 구성하였다.</a:t>
            </a:r>
            <a:endParaRPr sz="1150" b="0" i="0" u="none" strike="noStrike" cap="none">
              <a:solidFill>
                <a:srgbClr val="6B768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1" name="Google Shape;1251;p39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40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2" name="Google Shape;1252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9244" y="1"/>
            <a:ext cx="1252451" cy="580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4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40"/>
          <p:cNvSpPr txBox="1"/>
          <p:nvPr/>
        </p:nvSpPr>
        <p:spPr>
          <a:xfrm>
            <a:off x="1097280" y="2743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40"/>
          <p:cNvSpPr/>
          <p:nvPr/>
        </p:nvSpPr>
        <p:spPr>
          <a:xfrm>
            <a:off x="1143000" y="3794760"/>
            <a:ext cx="1463040" cy="45720"/>
          </a:xfrm>
          <a:prstGeom prst="rect">
            <a:avLst/>
          </a:prstGeom>
          <a:solidFill>
            <a:srgbClr val="E0A5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40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684"/>
                </a:solidFill>
                <a:latin typeface="Malgun Gothic"/>
                <a:ea typeface="Malgun Gothic"/>
                <a:cs typeface="Malgun Gothic"/>
                <a:sym typeface="Malgun Gothic"/>
              </a:rPr>
              <a:t>41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4930</Words>
  <Application>Microsoft Office PowerPoint</Application>
  <PresentationFormat>와이드스크린</PresentationFormat>
  <Paragraphs>810</Paragraphs>
  <Slides>40</Slides>
  <Notes>38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5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com2usholdings602</cp:lastModifiedBy>
  <cp:revision>84</cp:revision>
  <dcterms:created xsi:type="dcterms:W3CDTF">2013-01-27T09:14:16Z</dcterms:created>
  <dcterms:modified xsi:type="dcterms:W3CDTF">2026-09-07T10:03:17Z</dcterms:modified>
</cp:coreProperties>
</file>