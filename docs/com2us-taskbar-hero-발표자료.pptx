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9" r:id="rId4"/>
    <p:sldId id="258" r:id="rId5"/>
    <p:sldId id="293" r:id="rId6"/>
    <p:sldId id="294" r:id="rId7"/>
    <p:sldId id="295" r:id="rId8"/>
    <p:sldId id="307" r:id="rId43"/>
    <p:sldId id="308" r:id="rId44"/>
    <p:sldId id="309" r:id="rId45"/>
    <p:sldId id="310" r:id="rId46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0" r:id="rId16"/>
    <p:sldId id="271" r:id="rId17"/>
    <p:sldId id="272" r:id="rId18"/>
    <p:sldId id="276" r:id="rId19"/>
    <p:sldId id="297" r:id="rId20"/>
    <p:sldId id="300" r:id="rId21"/>
    <p:sldId id="277" r:id="rId22"/>
    <p:sldId id="296" r:id="rId23"/>
    <p:sldId id="299" r:id="rId24"/>
    <p:sldId id="279" r:id="rId25"/>
    <p:sldId id="284" r:id="rId26"/>
    <p:sldId id="305" r:id="rId27"/>
    <p:sldId id="306" r:id="rId28"/>
    <p:sldId id="287" r:id="rId29"/>
    <p:sldId id="288" r:id="rId30"/>
    <p:sldId id="289" r:id="rId31"/>
    <p:sldId id="301" r:id="rId32"/>
    <p:sldId id="302" r:id="rId33"/>
    <p:sldId id="303" r:id="rId34"/>
    <p:sldId id="304" r:id="rId35"/>
    <p:sldId id="291" r:id="rId36"/>
    <p:sldId id="292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E056294-CB1A-457A-BC77-3D2C0110B843}">
          <p14:sldIdLst>
            <p14:sldId id="256"/>
            <p14:sldId id="257"/>
            <p14:sldId id="259"/>
            <p14:sldId id="258"/>
            <p14:sldId id="293"/>
            <p14:sldId id="294"/>
            <p14:sldId id="295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71"/>
          </p14:sldIdLst>
        </p14:section>
        <p14:section name="제목 없는 구역" id="{6E91ED39-CFAE-4652-AD54-7C7168663919}">
          <p14:sldIdLst>
            <p14:sldId id="272"/>
            <p14:sldId id="276"/>
            <p14:sldId id="297"/>
            <p14:sldId id="300"/>
            <p14:sldId id="277"/>
            <p14:sldId id="296"/>
            <p14:sldId id="299"/>
          </p14:sldIdLst>
        </p14:section>
        <p14:section name="제목 없는 구역" id="{DE4E5F07-8030-4E3A-A553-6CC16F44294F}">
          <p14:sldIdLst>
            <p14:sldId id="279"/>
            <p14:sldId id="284"/>
            <p14:sldId id="305"/>
            <p14:sldId id="306"/>
            <p14:sldId id="287"/>
            <p14:sldId id="288"/>
            <p14:sldId id="289"/>
            <p14:sldId id="301"/>
            <p14:sldId id="302"/>
            <p14:sldId id="303"/>
            <p14:sldId id="304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244654-2EF2-416C-BD24-BC4053C40EC2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C5A9FB-44F8-40F0-A994-A91B0B6534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2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1356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015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8470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 dirty="0">
                <a:solidFill>
                  <a:srgbClr val="FF0000"/>
                </a:solidFill>
                <a:latin typeface="맑은 고딕"/>
              </a:rPr>
              <a:t>2026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컴투스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지니어스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맑은 고딕"/>
              </a:rPr>
              <a:t>8</a:t>
            </a:r>
            <a:r>
              <a:rPr lang="ko-KR" altLang="en-US" sz="2400" b="1" dirty="0">
                <a:solidFill>
                  <a:srgbClr val="FF0000"/>
                </a:solidFill>
                <a:latin typeface="맑은 고딕"/>
              </a:rPr>
              <a:t>기 과제발표</a:t>
            </a:r>
            <a:endParaRPr lang="en-US" altLang="ko-KR" sz="2400" b="1" dirty="0">
              <a:solidFill>
                <a:srgbClr val="FF000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테크코어실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백엔드기술팀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endParaRPr lang="en-US" altLang="ko-KR" b="1" dirty="0">
              <a:solidFill>
                <a:srgbClr val="E0A526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E0A526"/>
                </a:solidFill>
                <a:latin typeface="맑은 고딕"/>
              </a:rPr>
              <a:t>인턴 </a:t>
            </a:r>
            <a:r>
              <a:rPr lang="ko-KR" altLang="en-US" sz="1500" b="1" dirty="0" err="1">
                <a:solidFill>
                  <a:srgbClr val="E0A526"/>
                </a:solidFill>
                <a:latin typeface="맑은 고딕"/>
              </a:rPr>
              <a:t>권순욱</a:t>
            </a:r>
            <a:endParaRPr sz="1500" b="1" dirty="0">
              <a:solidFill>
                <a:srgbClr val="E0A52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altLang="en-US" sz="4800" b="1" dirty="0">
                <a:solidFill>
                  <a:srgbClr val="FFFFFF"/>
                </a:solidFill>
                <a:latin typeface="맑은 고딕"/>
              </a:rPr>
              <a:t>방치형 게임</a:t>
            </a:r>
            <a:r>
              <a:rPr lang="en-US" altLang="ko-KR" sz="4800" b="1" dirty="0">
                <a:solidFill>
                  <a:srgbClr val="FFFFFF"/>
                </a:solidFill>
                <a:latin typeface="맑은 고딕"/>
              </a:rPr>
              <a:t>(Com2us Taskbar Hero)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endParaRPr sz="48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FE9980-3258-C63B-D742-543BFC2D9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10F6874-1CC6-FA1C-DFB3-9EF1AC1AE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300" name="SH 300"/>
          <p:cNvSpPr/>
          <p:nvPr/>
        </p:nvSpPr>
        <p:spPr>
          <a:xfrm>
            <a:off x="685800" y="201168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01" name="TB 301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제1부 — 서버</a:t>
            </a:r>
          </a:p>
        </p:txBody>
      </p:sp>
      <p:sp>
        <p:nvSpPr>
          <p:cNvPr id="302" name="TB 302"/>
          <p:cNvSpPr txBox="1"/>
          <p:nvPr/>
        </p:nvSpPr>
        <p:spPr>
          <a:xfrm>
            <a:off x="1097280" y="31729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03" name="TB 303"/>
          <p:cNvSpPr txBox="1"/>
          <p:nvPr/>
        </p:nvSpPr>
        <p:spPr>
          <a:xfrm>
            <a:off x="1645920" y="317296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시스템 아키텍처</a:t>
            </a:r>
          </a:p>
        </p:txBody>
      </p:sp>
      <p:sp>
        <p:nvSpPr>
          <p:cNvPr id="304" name="TB 304"/>
          <p:cNvSpPr txBox="1"/>
          <p:nvPr/>
        </p:nvSpPr>
        <p:spPr>
          <a:xfrm>
            <a:off x="1097280" y="394106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05" name="TB 305"/>
          <p:cNvSpPr txBox="1"/>
          <p:nvPr/>
        </p:nvSpPr>
        <p:spPr>
          <a:xfrm>
            <a:off x="1645920" y="3941063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서버 개발 방식</a:t>
            </a:r>
          </a:p>
        </p:txBody>
      </p:sp>
      <p:sp>
        <p:nvSpPr>
          <p:cNvPr id="306" name="TB 306"/>
          <p:cNvSpPr txBox="1"/>
          <p:nvPr/>
        </p:nvSpPr>
        <p:spPr>
          <a:xfrm>
            <a:off x="1097280" y="432511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07" name="TB 307"/>
          <p:cNvSpPr txBox="1"/>
          <p:nvPr/>
        </p:nvSpPr>
        <p:spPr>
          <a:xfrm>
            <a:off x="1645920" y="4325112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시 각 단계에 대해</a:t>
            </a:r>
          </a:p>
        </p:txBody>
      </p:sp>
      <p:sp>
        <p:nvSpPr>
          <p:cNvPr id="308" name="TB 308"/>
          <p:cNvSpPr txBox="1"/>
          <p:nvPr/>
        </p:nvSpPr>
        <p:spPr>
          <a:xfrm>
            <a:off x="1097280" y="47091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09" name="TB 309"/>
          <p:cNvSpPr txBox="1"/>
          <p:nvPr/>
        </p:nvSpPr>
        <p:spPr>
          <a:xfrm>
            <a:off x="1645920" y="470916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문서 체계</a:t>
            </a:r>
          </a:p>
        </p:txBody>
      </p:sp>
      <p:sp>
        <p:nvSpPr>
          <p:cNvPr id="310" name="TB 310"/>
          <p:cNvSpPr txBox="1"/>
          <p:nvPr/>
        </p:nvSpPr>
        <p:spPr>
          <a:xfrm>
            <a:off x="1097280" y="509320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311" name="TB 311"/>
          <p:cNvSpPr txBox="1"/>
          <p:nvPr/>
        </p:nvSpPr>
        <p:spPr>
          <a:xfrm>
            <a:off x="1645920" y="509320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밸런스 수치를 잡기 위한 과정</a:t>
            </a:r>
          </a:p>
        </p:txBody>
      </p:sp>
      <p:sp>
        <p:nvSpPr>
          <p:cNvPr id="312" name="SH 312"/>
          <p:cNvSpPr/>
          <p:nvPr/>
        </p:nvSpPr>
        <p:spPr>
          <a:xfrm>
            <a:off x="6309360" y="2011680"/>
            <a:ext cx="516636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13" name="TB 313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제2부 — 클라이언트(Unity)</a:t>
            </a:r>
          </a:p>
        </p:txBody>
      </p:sp>
      <p:sp>
        <p:nvSpPr>
          <p:cNvPr id="314" name="TB 314"/>
          <p:cNvSpPr txBox="1"/>
          <p:nvPr/>
        </p:nvSpPr>
        <p:spPr>
          <a:xfrm>
            <a:off x="6720840" y="28529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15" name="TB 315"/>
          <p:cNvSpPr txBox="1"/>
          <p:nvPr/>
        </p:nvSpPr>
        <p:spPr>
          <a:xfrm>
            <a:off x="7269480" y="285292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게임 소개</a:t>
            </a:r>
          </a:p>
        </p:txBody>
      </p:sp>
      <p:sp>
        <p:nvSpPr>
          <p:cNvPr id="316" name="TB 316"/>
          <p:cNvSpPr txBox="1"/>
          <p:nvPr/>
        </p:nvSpPr>
        <p:spPr>
          <a:xfrm>
            <a:off x="6720840" y="32826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317" name="TB 317"/>
          <p:cNvSpPr txBox="1"/>
          <p:nvPr/>
        </p:nvSpPr>
        <p:spPr>
          <a:xfrm>
            <a:off x="7269480" y="328269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방식 한눈에 보기</a:t>
            </a:r>
          </a:p>
        </p:txBody>
      </p:sp>
      <p:sp>
        <p:nvSpPr>
          <p:cNvPr id="318" name="TB 318"/>
          <p:cNvSpPr txBox="1"/>
          <p:nvPr/>
        </p:nvSpPr>
        <p:spPr>
          <a:xfrm>
            <a:off x="6720840" y="371246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319" name="TB 319"/>
          <p:cNvSpPr txBox="1"/>
          <p:nvPr/>
        </p:nvSpPr>
        <p:spPr>
          <a:xfrm>
            <a:off x="7269480" y="371246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개발용 </a:t>
            </a:r>
            <a:r>
              <a:rPr lang="ko-KR" altLang="en-US" sz="1250" b="0" dirty="0" err="1">
                <a:solidFill>
                  <a:srgbClr val="1B2430"/>
                </a:solidFill>
                <a:latin typeface="맑은 고딕"/>
                <a:ea typeface="맑은 고딕"/>
              </a:rPr>
              <a:t>하네스</a:t>
            </a: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 씬 구성</a:t>
            </a:r>
          </a:p>
        </p:txBody>
      </p:sp>
      <p:sp>
        <p:nvSpPr>
          <p:cNvPr id="6" name="TB 350"/>
          <p:cNvSpPr txBox="1"/>
          <p:nvPr/>
        </p:nvSpPr>
        <p:spPr>
          <a:xfrm>
            <a:off x="1097280" y="27889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en-US" altLang="ko-KR" sz="1250" b="1" dirty="0">
                <a:solidFill>
                  <a:srgbClr val="E0A526"/>
                </a:solidFill>
                <a:latin typeface="맑은 고딕"/>
                <a:ea typeface="맑은 고딕"/>
              </a:rPr>
              <a:t>1</a:t>
            </a:r>
            <a:endParaRPr lang="ko-KR" altLang="en-US" sz="1250" b="1" dirty="0">
              <a:solidFill>
                <a:srgbClr val="E0A526"/>
              </a:solidFill>
              <a:latin typeface="맑은 고딕"/>
              <a:ea typeface="맑은 고딕"/>
            </a:endParaRPr>
          </a:p>
        </p:txBody>
      </p:sp>
      <p:sp>
        <p:nvSpPr>
          <p:cNvPr id="7" name="TB 351"/>
          <p:cNvSpPr txBox="1"/>
          <p:nvPr/>
        </p:nvSpPr>
        <p:spPr>
          <a:xfrm>
            <a:off x="1645920" y="278892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>프로젝트 개요</a:t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  <p:sp>
        <p:nvSpPr>
          <p:cNvPr id="8" name="TB 360"/>
          <p:cNvSpPr txBox="1"/>
          <p:nvPr/>
        </p:nvSpPr>
        <p:spPr>
          <a:xfrm>
            <a:off x="1097280" y="54772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0" name="TB 361"/>
          <p:cNvSpPr txBox="1"/>
          <p:nvPr/>
        </p:nvSpPr>
        <p:spPr>
          <a:xfrm>
            <a:off x="1645920" y="547725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로그 관리</a:t>
            </a: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/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1097280" y="586130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50" b="1">
                <a:solidFill>
                  <a:srgbClr val="E0A526"/>
                </a:solidFill>
                <a:latin typeface="맑은 고딕"/>
              </a:rPr>
              <a:t>9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645920" y="586130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B2430"/>
                </a:solidFill>
                <a:latin typeface="맑은 고딕"/>
              </a:rPr>
              <a:t>아이템 생성 자동화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720840" y="414223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50" b="1">
                <a:solidFill>
                  <a:srgbClr val="E0A526"/>
                </a:solidFill>
                <a:latin typeface="맑은 고딕"/>
              </a:rPr>
              <a:t>13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269480" y="4142232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B2430"/>
                </a:solidFill>
                <a:latin typeface="맑은 고딕"/>
              </a:rPr>
              <a:t>아이템 아이콘 절차적 생성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672084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50" b="1">
                <a:solidFill>
                  <a:srgbClr val="E0A526"/>
                </a:solidFill>
                <a:latin typeface="맑은 고딕"/>
              </a:rPr>
              <a:t>14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269480" y="457200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B2430"/>
                </a:solidFill>
                <a:latin typeface="맑은 고딕"/>
              </a:rPr>
              <a:t>사운드 리소스 생성 · 관리</a:t>
            </a:r>
          </a:p>
        </p:txBody>
      </p:sp>
      <p:sp>
        <p:nvSpPr>
          <p:cNvPr id="326" name="TB TOC N3"/>
          <p:cNvSpPr txBox="1"/>
          <p:nvPr/>
        </p:nvSpPr>
        <p:spPr>
          <a:xfrm>
            <a:off x="1097280" y="355701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en-US" altLang="ko-KR" sz="1250" b="1" dirty="0">
                <a:solidFill>
                  <a:srgbClr val="E0A526"/>
                </a:solidFill>
                <a:latin typeface="맑은 고딕"/>
                <a:ea typeface="맑은 고딕"/>
              </a:rPr>
              <a:t>3</a:t>
            </a:r>
            <a:endParaRPr lang="ko-KR" altLang="en-US" sz="1250" b="1" dirty="0">
              <a:solidFill>
                <a:srgbClr val="E0A526"/>
              </a:solidFill>
              <a:latin typeface="맑은 고딕"/>
              <a:ea typeface="맑은 고딕"/>
            </a:endParaRPr>
          </a:p>
        </p:txBody>
      </p:sp>
      <p:sp>
        <p:nvSpPr>
          <p:cNvPr id="327" name="TB TOC L3"/>
          <p:cNvSpPr txBox="1"/>
          <p:nvPr/>
        </p:nvSpPr>
        <p:spPr>
          <a:xfrm>
            <a:off x="1645920" y="3557015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>데이터베이스 설계</a:t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1.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프로젝트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개요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AccountServer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계정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977639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97095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5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GameServer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5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컨텐츠 제공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스테이지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인벤토리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거래소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8893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TaskbarHero.Common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88936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서버간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공유 클래스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Ex)</a:t>
            </a:r>
            <a:r>
              <a:rPr lang="en-US" sz="115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en-US" sz="1150" dirty="0" err="1">
                <a:solidFill>
                  <a:srgbClr val="6B7684"/>
                </a:solidFill>
                <a:latin typeface="맑은 고딕"/>
              </a:rPr>
              <a:t>Dto</a:t>
            </a:r>
            <a:r>
              <a:rPr lang="en-US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에러코드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…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A3ECCCD-3735-61BA-896D-BFCDC94E3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40"/>
            <a:ext cx="3837594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53B63-F9B9-6FED-ABD1-286DE4BD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594" y="3977640"/>
            <a:ext cx="3068410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6CF6AA3-6411-144A-8837-9AD806B05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5792416-EF10-C882-BCC0-04A55C763D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00" name="TB 400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원작 스팀 게임 TBH : 태스크바 히어로</a:t>
            </a:r>
          </a:p>
        </p:txBody>
      </p:sp>
      <p:sp>
        <p:nvSpPr>
          <p:cNvPr id="401" name="TB 401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모작 : Com2us Taskbar Hero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1BAC89B-D83A-DDCA-F05E-49CC619E0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" y="-6291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600805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아키텍처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구성도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1965960" cy="78814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" y="2359152"/>
            <a:ext cx="411480" cy="41148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" y="2468880"/>
            <a:ext cx="167335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Unity 클라이언트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828800"/>
            <a:ext cx="3383280" cy="246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1" y="1892807"/>
            <a:ext cx="3145536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애플리케이션</a:t>
            </a:r>
            <a:r>
              <a:rPr sz="950" b="1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1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</a:t>
            </a:r>
            <a:endParaRPr sz="950" b="1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364992" y="2157984"/>
            <a:ext cx="314553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11296" y="2276856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11296" y="2386584"/>
            <a:ext cx="2852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AccountServer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2606039"/>
            <a:ext cx="2852928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:5160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779776"/>
            <a:ext cx="2852928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생성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로그인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발급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(TTL 24h)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4992" y="3236976"/>
            <a:ext cx="314553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11296" y="3355848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11296" y="3465576"/>
            <a:ext cx="2852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1296" y="3685032"/>
            <a:ext cx="2852928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1B9E6F"/>
                </a:solidFill>
                <a:latin typeface="맑은 고딕"/>
                <a:ea typeface="맑은 고딕"/>
                <a:cs typeface="맑은 고딕"/>
              </a:rPr>
              <a:t>:5247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3858768"/>
            <a:ext cx="2852928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컨텐츠 관련 로그 수집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269480" y="1828800"/>
            <a:ext cx="4206240" cy="246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83780" y="1912908"/>
            <a:ext cx="3968496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50" b="1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Database</a:t>
            </a:r>
            <a:endParaRPr sz="950" b="1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397496" y="2135124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543800" y="2253996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363724"/>
            <a:ext cx="367588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Cache(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 8.2</a:t>
            </a:r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2583179"/>
            <a:ext cx="367588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50" b="1" dirty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850" b="1" dirty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6379 · AOF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756916"/>
            <a:ext cx="3675887" cy="303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auth:token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:{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} </a:t>
            </a: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유저 로그인 인증 토큰</a:t>
            </a:r>
            <a:endParaRPr lang="en-US" altLang="ko-KR" sz="85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랭킹 데이터 </a:t>
            </a:r>
            <a:r>
              <a:rPr lang="ko-KR" altLang="en-US" sz="85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캐싱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88352" y="3236976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534656" y="3355848"/>
            <a:ext cx="411480" cy="41148"/>
          </a:xfrm>
          <a:prstGeom prst="rect">
            <a:avLst/>
          </a:prstGeom>
          <a:solidFill>
            <a:srgbClr val="2A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34656" y="3465576"/>
            <a:ext cx="367588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Database (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MySQL 8.4</a:t>
            </a:r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534656" y="3685032"/>
            <a:ext cx="367588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3306 · </a:t>
            </a:r>
            <a:r>
              <a:rPr sz="850" b="1" dirty="0" err="1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SqlKata</a:t>
            </a:r>
            <a:r>
              <a:rPr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 + Dapper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4656" y="3819111"/>
            <a:ext cx="3675887" cy="381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taskbar_hero_account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사용자 계정 관리</a:t>
            </a:r>
            <a:endParaRPr lang="en-US" altLang="ko-KR"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en-US" sz="70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askbar_hero_game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컨텐츠 관련 관리</a:t>
            </a:r>
            <a:endParaRPr lang="en-US" altLang="ko-KR"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en-US" sz="70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askbar_hero_master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마스터 데이터</a:t>
            </a:r>
            <a:endParaRPr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651760" y="2651760"/>
            <a:ext cx="713232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697480" y="239572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80" y="347472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29400" y="2651760"/>
            <a:ext cx="640080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20840" y="239572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629400" y="3730752"/>
            <a:ext cx="640080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720840" y="347472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4498848"/>
            <a:ext cx="10789920" cy="15727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68680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14983" y="4946904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14983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이벤트 로그 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3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dirty="0" err="1">
                <a:solidFill>
                  <a:srgbClr val="E0A526"/>
                </a:solidFill>
                <a:latin typeface="맑은 고딕"/>
                <a:ea typeface="맑은 고딕"/>
                <a:cs typeface="맑은 고딕"/>
              </a:rPr>
              <a:t>GameServer</a:t>
            </a:r>
            <a:r>
              <a:rPr sz="850" b="1" dirty="0">
                <a:solidFill>
                  <a:srgbClr val="E0A526"/>
                </a:solidFill>
                <a:latin typeface="맑은 고딕"/>
                <a:ea typeface="맑은 고딕"/>
                <a:cs typeface="맑은 고딕"/>
              </a:rPr>
              <a:t>/logs/event/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38728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85032" y="4946904"/>
            <a:ext cx="411480" cy="41148"/>
          </a:xfrm>
          <a:prstGeom prst="rect">
            <a:avLst/>
          </a:prstGeom>
          <a:solidFill>
            <a:srgbClr val="B9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85032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5032" y="5276088"/>
            <a:ext cx="21945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:24220 (</a:t>
            </a:r>
            <a:r>
              <a:rPr lang="en-US" sz="850" b="1" dirty="0" err="1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LogDB</a:t>
            </a:r>
            <a:r>
              <a:rPr lang="en-US"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쿼리 전달</a:t>
            </a:r>
            <a:r>
              <a:rPr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08776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355080" y="4946904"/>
            <a:ext cx="411480" cy="41148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55080" y="5056632"/>
            <a:ext cx="21945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5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LogDB</a:t>
            </a:r>
            <a:r>
              <a:rPr lang="en-US" sz="115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15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TimescaleDB</a:t>
            </a:r>
            <a:endParaRPr sz="115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355080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6B4FBF"/>
                </a:solidFill>
                <a:latin typeface="맑은 고딕"/>
                <a:ea typeface="맑은 고딕"/>
                <a:cs typeface="맑은 고딕"/>
              </a:rPr>
              <a:t>5432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5449824"/>
            <a:ext cx="2194560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테이블 데이터 </a:t>
            </a: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관리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878824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025128" y="4946904"/>
            <a:ext cx="411480" cy="41148"/>
          </a:xfrm>
          <a:prstGeom prst="rect">
            <a:avLst/>
          </a:prstGeom>
          <a:solidFill>
            <a:srgbClr val="0E8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025128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Grafana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5128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0E8AA8"/>
                </a:solidFill>
                <a:latin typeface="맑은 고딕"/>
                <a:ea typeface="맑은 고딕"/>
                <a:cs typeface="맑은 고딕"/>
              </a:rPr>
              <a:t>:3000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5449824"/>
            <a:ext cx="2194560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데이터소스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대시보드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3355848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25896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695944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23360" y="4224528"/>
            <a:ext cx="0" cy="164592"/>
          </a:xfrm>
          <a:prstGeom prst="line">
            <a:avLst/>
          </a:prstGeom>
          <a:ln w="19050">
            <a:solidFill>
              <a:srgbClr val="B960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12264" y="4389120"/>
            <a:ext cx="1911096" cy="0"/>
          </a:xfrm>
          <a:prstGeom prst="line">
            <a:avLst/>
          </a:prstGeom>
          <a:ln w="19050">
            <a:solidFill>
              <a:srgbClr val="B960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112264" y="4389120"/>
            <a:ext cx="0" cy="438912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85800" y="6163056"/>
            <a:ext cx="996696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로그인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→  ②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저장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(Redis)  →  ③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API(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+ token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헤더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)  →  ④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검증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 ·   두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서버는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HTTP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호출하지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Redis의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토큰만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공유</a:t>
            </a:r>
            <a:endParaRPr sz="9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78" name="연결선: 꺾임 77">
            <a:extLst>
              <a:ext uri="{FF2B5EF4-FFF2-40B4-BE49-F238E27FC236}">
                <a16:creationId xmlns:a16="http://schemas.microsoft.com/office/drawing/2014/main" id="{58B1A3DC-D8F0-B4E6-602B-52EDE64CB815}"/>
              </a:ext>
            </a:extLst>
          </p:cNvPr>
          <p:cNvCxnSpPr>
            <a:cxnSpLocks/>
          </p:cNvCxnSpPr>
          <p:nvPr/>
        </p:nvCxnSpPr>
        <p:spPr>
          <a:xfrm>
            <a:off x="1668779" y="3063240"/>
            <a:ext cx="1707643" cy="667512"/>
          </a:xfrm>
          <a:prstGeom prst="bentConnector3">
            <a:avLst>
              <a:gd name="adj1" fmla="val 62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A675B362-01E0-DBE6-62BF-504938D7A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1455"/>
            <a:ext cx="12192000" cy="50750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2.1 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요소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 2개 · 저장소 2개 · 로그 수집기 1개 · 로그 저장소 1개 · 대시보드 1개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965960"/>
          <a:ext cx="10789920" cy="4073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실행체 · 주소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Unity 클라이언트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Unity 앱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 · 연출을 자체 권위로 수행하고 결과를 두 서버에 직접 보고한다 (게이트웨이 · 프록시 없음)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AccountServer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.NET 10 · :5160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생성 · 로그인, 인증 토큰 발급(TTL 24h). 토큰 서명 키는 저장소 밖(User Secrets · .env)에서 주입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GameServer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.NET 10 · :5247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 도메인 전체(세이브 · 스테이지 · 인벤토리 · 오프라인 보상 · 성장 · 큐브 · 거래소 · 메일 · 출석 · 가챠 · 보스러시) + 주기 배치 6종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Redis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redis:8.2-alpine · 6379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토큰 캐시 · 배치 리더 락 · 보스러시 랭킹 Sorted Set(조회 전용 캐시). AOF로 재기동에도 키가 남는다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MySQL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mysql:8.4 · 3306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정본 DB 3개 — account(계정) · game(세이브 · 경제 · 거래) · master(마스터 데이터)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로그 파일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ZLogger 파일 sink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GameServer/logs/event/ 에 평탄 JSON 1줄을 쓴다. 사람이 읽는 운영 로그(콘솔)와 sink를 나눈다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fluentd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빌드 · :24220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in_tail로 이벤트 디렉터리를 걷고, 태그를 승격해 out_sql(pg)로 테이블별 적재. 계측 엔드포인트로 적체를 본다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logdb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timescaledb · 5432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전용 TimescaleDB. 액션 21 + unknown + 히스토리 9 = 테이블 31개, 하이퍼테이블 · 압축 · 보존 · 연속 집계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Grafana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grafana 12.0.2 · :3000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데이터소스와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대시보드를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코드로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프로비저닝한다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열람은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테일스케일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프록시로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연다</a:t>
                      </a:r>
                      <a:endParaRPr sz="1000" b="0" dirty="0">
                        <a:solidFill>
                          <a:srgbClr val="6B7684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REQUEST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4682372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2.2 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계정 서버와 게임 서버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인증 발급은 AccountServer, 검증은 GameServer가 Redis에서 직접 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클라이언트가 AccountServer에 로그인한다.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 검증은 taskbar_hero_account 에서 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2424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75304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토큰 저장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75304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75304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발급한 인증 토큰을 Redis에 넣는다.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auth:token:{userId} · TTL 24시간.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81928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게임 API 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1928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클라이언트가 GameServer를 직접 호출한다.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 + token 헤더를 실어 보낸다.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05672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88551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8551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토큰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8551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88551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GameServer는 Redis에서 토큰만 읽어 검증한다.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AccountServer에 묻지 않는다. 통과하면 게임 DB 트랜잭션.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6968" y="4645152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6968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인증 장애가 게임 장애가 되지 않는다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GameServer가 AccountServer에 토큰을 물으면 로그인 장애가 곧 게임 장애가 된다. Redis 조회로 끊어 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70832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0" y="4645152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0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공유하는 것은 토큰 키 하나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서버-서버 HTTP 호출이 없으니 배포 · 확장 경로가 서로 독립이다.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55864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57032" y="4645152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57032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Redis는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정본이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아니다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57032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토큰이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휘발되면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재로그인으로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복구된다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정본은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언제나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MySQL이다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서버 개발 루프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12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6C292CF-5260-4B8E-455D-15876C9D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SH 100"/>
          <p:cNvSpPr/>
          <p:nvPr/>
        </p:nvSpPr>
        <p:spPr>
          <a:xfrm>
            <a:off x="68580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①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기획서 요청</a:t>
            </a:r>
          </a:p>
        </p:txBody>
      </p:sp>
      <p:sp>
        <p:nvSpPr>
          <p:cNvPr id="101" name="SH 101"/>
          <p:cNvSpPr/>
          <p:nvPr/>
        </p:nvSpPr>
        <p:spPr>
          <a:xfrm>
            <a:off x="448056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②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검토 · 확정</a:t>
            </a:r>
          </a:p>
        </p:txBody>
      </p:sp>
      <p:sp>
        <p:nvSpPr>
          <p:cNvPr id="102" name="SH 102"/>
          <p:cNvSpPr/>
          <p:nvPr/>
        </p:nvSpPr>
        <p:spPr>
          <a:xfrm>
            <a:off x="827532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③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문서대로 구현 요청</a:t>
            </a:r>
          </a:p>
        </p:txBody>
      </p:sp>
      <p:sp>
        <p:nvSpPr>
          <p:cNvPr id="103" name="TB 103"/>
          <p:cNvSpPr txBox="1"/>
          <p:nvPr/>
        </p:nvSpPr>
        <p:spPr>
          <a:xfrm>
            <a:off x="388620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4" name="TB 104"/>
          <p:cNvSpPr txBox="1"/>
          <p:nvPr/>
        </p:nvSpPr>
        <p:spPr>
          <a:xfrm>
            <a:off x="768096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5" name="SH 105"/>
          <p:cNvSpPr/>
          <p:nvPr/>
        </p:nvSpPr>
        <p:spPr>
          <a:xfrm>
            <a:off x="68580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⑥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README 현황판 갱신</a:t>
            </a:r>
          </a:p>
        </p:txBody>
      </p:sp>
      <p:sp>
        <p:nvSpPr>
          <p:cNvPr id="106" name="SH 106"/>
          <p:cNvSpPr/>
          <p:nvPr/>
        </p:nvSpPr>
        <p:spPr>
          <a:xfrm>
            <a:off x="448056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⑤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 동기화</a:t>
            </a:r>
          </a:p>
        </p:txBody>
      </p:sp>
      <p:sp>
        <p:nvSpPr>
          <p:cNvPr id="107" name="SH 107"/>
          <p:cNvSpPr/>
          <p:nvPr/>
        </p:nvSpPr>
        <p:spPr>
          <a:xfrm>
            <a:off x="827532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④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빌드 + 실서버 검증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388620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09" name="TB 109"/>
          <p:cNvSpPr txBox="1"/>
          <p:nvPr/>
        </p:nvSpPr>
        <p:spPr>
          <a:xfrm>
            <a:off x="768096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10" name="TB 110"/>
          <p:cNvSpPr txBox="1"/>
          <p:nvPr/>
        </p:nvSpPr>
        <p:spPr>
          <a:xfrm>
            <a:off x="9738360" y="265176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↓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핵심은 기획 문서를 자세히 작성하여 클로드에게 많은 정보를 주는 것</a:t>
            </a:r>
          </a:p>
        </p:txBody>
      </p:sp>
      <p:sp>
        <p:nvSpPr>
          <p:cNvPr id="112" name="SH 112"/>
          <p:cNvSpPr/>
          <p:nvPr/>
        </p:nvSpPr>
        <p:spPr>
          <a:xfrm>
            <a:off x="68580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SH 113"/>
          <p:cNvSpPr/>
          <p:nvPr/>
        </p:nvSpPr>
        <p:spPr>
          <a:xfrm>
            <a:off x="884225" y="5008228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4" name="TB 114"/>
          <p:cNvSpPr txBox="1"/>
          <p:nvPr/>
        </p:nvSpPr>
        <p:spPr>
          <a:xfrm>
            <a:off x="1044245" y="4931887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기획서 단계에서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API 스키마 · DB 구조 · 에러 코드 · 예외 처리를 확정한다.</a:t>
            </a:r>
          </a:p>
        </p:txBody>
      </p:sp>
      <p:sp>
        <p:nvSpPr>
          <p:cNvPr id="115" name="SH 115"/>
          <p:cNvSpPr/>
          <p:nvPr/>
        </p:nvSpPr>
        <p:spPr>
          <a:xfrm>
            <a:off x="437388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SH 116"/>
          <p:cNvSpPr/>
          <p:nvPr/>
        </p:nvSpPr>
        <p:spPr>
          <a:xfrm>
            <a:off x="454914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4716780" y="4944471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구현 단계에서는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그 문서를 그대로 지시서로 쓴다 → 구현 중 즉흥적인 설계 변경 감소 + 코드를 보지 않아도 문서만으로도 파악 가능</a:t>
            </a:r>
          </a:p>
        </p:txBody>
      </p:sp>
      <p:sp>
        <p:nvSpPr>
          <p:cNvPr id="118" name="SH 118"/>
          <p:cNvSpPr/>
          <p:nvPr/>
        </p:nvSpPr>
        <p:spPr>
          <a:xfrm>
            <a:off x="806196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9" name="SH 119"/>
          <p:cNvSpPr/>
          <p:nvPr/>
        </p:nvSpPr>
        <p:spPr>
          <a:xfrm>
            <a:off x="822960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0" name="TB 120"/>
          <p:cNvSpPr txBox="1"/>
          <p:nvPr/>
        </p:nvSpPr>
        <p:spPr>
          <a:xfrm>
            <a:off x="8397240" y="4938599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나중에 "왜 이렇게 했더라"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를 코드 주석뿐만 아니라 문서에서 확인할 수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개발 시 각 단계에 대해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코드가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아니라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작성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요청으로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시작한다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기획서부터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design-doc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스킬을 활용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기능 구현을 위한 문서를 상세히 작성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검토 ·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기획서에서 결정되지 않은 이슈를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별도 항목으로 남겨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구현을 위해</a:t>
            </a:r>
            <a:endParaRPr lang="en-US" altLang="ko-KR"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확정해야할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사항들을 재검토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문서대로 구현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5.2를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구현해줘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dirty="0">
                <a:solidFill>
                  <a:srgbClr val="6B7684"/>
                </a:solidFill>
                <a:latin typeface="맑은 고딕"/>
              </a:rPr>
              <a:t>=&gt;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 확정 후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그대로 구현을 진행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빌드 + 실서버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빌드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후 서버를 띄우고 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API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를 호출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  <a:br>
              <a:rPr lang="en-US" altLang="ko-KR" sz="1150" b="0" dirty="0">
                <a:solidFill>
                  <a:srgbClr val="6B7684"/>
                </a:solidFill>
                <a:latin typeface="맑은 고딕"/>
              </a:rPr>
            </a:b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정상동작까지 확인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 동기화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변경 사항에 대해 관련이 있는 문서는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정합성을 확인하여 동기화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현황판 갱신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README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체크리스트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최신화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13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249FBE4D-9AC5-8CBF-D2C7-69EDE1D7F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①②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5.1  ① 기획서부터 요청한다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docs/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세부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/&lt;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기능명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&gt;-기획서.md — design-doc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문서작성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커스텀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dirty="0" err="1">
                <a:solidFill>
                  <a:srgbClr val="E6ECF5"/>
                </a:solidFill>
                <a:latin typeface="Consolas"/>
              </a:rPr>
              <a:t>고정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목차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: 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개요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기능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설명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요구사항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데이터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모델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API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명세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처리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흐름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에러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코드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미결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참고</a:t>
            </a:r>
            <a:endParaRPr sz="14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14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DDFCD0D-09D5-7DD0-1B19-0EA5D432E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TB 100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가장 중요하게 지킨 것은 구현의 근거를 문서로 남기는 것</a:t>
            </a:r>
          </a:p>
        </p:txBody>
      </p:sp>
      <p:sp>
        <p:nvSpPr>
          <p:cNvPr id="101" name="SH 101"/>
          <p:cNvSpPr/>
          <p:nvPr/>
        </p:nvSpPr>
        <p:spPr>
          <a:xfrm>
            <a:off x="68580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"그때 이걸 왜 이렇게 구현했지?"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5783580" y="4023360"/>
            <a:ext cx="594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20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3" name="SH 103"/>
          <p:cNvSpPr/>
          <p:nvPr/>
        </p:nvSpPr>
        <p:spPr>
          <a:xfrm>
            <a:off x="637794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문서를 확인한다.</a:t>
            </a:r>
          </a:p>
        </p:txBody>
      </p:sp>
      <p:sp>
        <p:nvSpPr>
          <p:cNvPr id="104" name="SH 104"/>
          <p:cNvSpPr/>
          <p:nvPr/>
        </p:nvSpPr>
        <p:spPr>
          <a:xfrm>
            <a:off x="685800" y="489204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11480" tIns="137160" rIns="411480" bIns="137160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ko-KR" altLang="en-US" sz="1050" b="1" dirty="0">
                <a:solidFill>
                  <a:srgbClr val="2F6FE4"/>
                </a:solidFill>
                <a:latin typeface="맑은 고딕"/>
                <a:ea typeface="맑은 고딕"/>
              </a:rPr>
              <a:t>예 — 소모품(부스터) 기획서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"버프는 스테이지 클리어 보상에만 적용된다(확정)"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1B2430"/>
                </a:solidFill>
                <a:latin typeface="맑은 고딕"/>
                <a:ea typeface="맑은 고딕"/>
              </a:rPr>
              <a:t>근거 : </a:t>
            </a: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부스터는 접속해서 직접 스테이지를 도는 플레이를 보상하는 소모품이고, 오프라인 보상은 이미 효율 50% · 12시간 상한으로 조정된 소급 지급이라 그 위에 배율을 얹지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5.2  ③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문서대로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구현을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요청한다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기획 문서와 별개로 코드 작성시 </a:t>
            </a:r>
            <a:r>
              <a:rPr lang="ko-KR" altLang="en-US" sz="1400" b="0" dirty="0" err="1">
                <a:solidFill>
                  <a:srgbClr val="6B7684"/>
                </a:solidFill>
                <a:latin typeface="맑은 고딕"/>
              </a:rPr>
              <a:t>지켜야할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 공통 규칙은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에 명시한다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컨트롤러에는 HTTP 액션 메서드만 두고, 공통 보조는 GameApiControllerBase에 상속으로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서비스 클래스의 모든 메서드에 /// &lt;summary&gt; 주석 필수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03904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dirty="0">
                <a:solidFill>
                  <a:srgbClr val="1B2430"/>
                </a:solidFill>
                <a:latin typeface="맑은 고딕"/>
              </a:rPr>
              <a:t>DB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결과는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dynamic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금지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en-US" sz="1500" dirty="0">
                <a:solidFill>
                  <a:srgbClr val="1B2430"/>
                </a:solidFill>
                <a:latin typeface="맑은 고딕"/>
              </a:rPr>
              <a:t>=&gt;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스칼라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제네릭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매핑만</a:t>
            </a:r>
            <a:endParaRPr sz="1500" b="0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85800" y="4608576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재화 · 아이템 변경은 단일 트랜잭션, 서버 권위(클라이언트 보고 불신)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구현 요청은 "기획서 5.2를 구현해줘" 같은 형태였다.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15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8E62FE1-C6EA-3D23-2B17-B5F92EBA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5.3  ④ 빌드 + 실서버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구현 후 빌드와 실제 동작 검증을 거쳐야 완료로 인정했다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00" dirty="0">
                <a:solidFill>
                  <a:srgbClr val="E6ECF5"/>
                </a:solidFill>
                <a:latin typeface="Consolas"/>
              </a:rPr>
              <a:t>dotnet build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서버 실행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헬스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체크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기능 테스트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강제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종료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·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결과 확인</a:t>
            </a:r>
            <a:endParaRPr sz="12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서버는</a:t>
            </a:r>
            <a:r>
              <a:rPr 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기능 구현 후 필수적으로 빌드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테스트 진행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·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기능이 기획서에 맞게 구현이 되었는 지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실제 저장소에 붙여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실제 MySQL · Redis에 붙여 API를 호출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결과를 DB에서 직접 대조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테스트로 만든 데이터는 되돌린다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16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FA3B236-C9B1-C3DC-58BF-E5EDC490D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5.4  ⑤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동기화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— 이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프로세스의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핵심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세부 기획서가 정본, 아래 넷은 기획서를 가로질러 모은 집약 참조본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69739"/>
              </p:ext>
            </p:extLst>
          </p:nvPr>
        </p:nvGraphicFramePr>
        <p:xfrm>
          <a:off x="685800" y="1837944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바뀌면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갱신할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문서</a:t>
                      </a:r>
                      <a:endParaRPr sz="13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엔드포인트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요청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응답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필드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docs/공통/api-통합.md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DB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테이블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컬럼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마스터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docs/공통/db-erd-통합.md  ( +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db-schema.sql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코드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docs/공통/error-code-정의.md  + 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TaskbarHero.Common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ErrorCode.cs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처리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흐름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SequenceDiagram/README.md  (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기능별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Mermaid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시퀀스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4353341"/>
            <a:ext cx="10789920" cy="1694157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81941"/>
            <a:ext cx="10149840" cy="1179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2F6FE4"/>
                </a:solidFill>
                <a:latin typeface="맑은 고딕"/>
              </a:rPr>
              <a:t>정합성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체크는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양방향으로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한다</a:t>
            </a:r>
            <a:endParaRPr sz="160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빠진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추가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  · 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폐기된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항목이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남아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있지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않은지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dirty="0" err="1">
                <a:solidFill>
                  <a:srgbClr val="6B7684"/>
                </a:solidFill>
                <a:latin typeface="맑은 고딕"/>
              </a:rPr>
              <a:t>경로나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이름을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바꿨으면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옛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문자열이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어디에도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남지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않았는지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grep으로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30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문서의 정합성 확인은 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 에 명시되어 있다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.</a:t>
            </a:r>
            <a:endParaRPr sz="13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17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1D80C52-7195-9CD7-71FE-C8883C84F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DOCS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6. 문서 체계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정본은 언제나 docs/세부/ — 충돌하면 세부 기획서를 따른다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18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D127069-26EF-9BF9-7010-BFB85677B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200" name="SH 200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201" name="SH 201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2" name="SH 202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3" name="SH 203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4" name="SH 204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5" name="SH 205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6" name="SH 206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7" name="SH 20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8" name="SH 208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9" name="SH 209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0" name="SH 210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1" name="SH 211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2" name="SH 212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3" name="SH 213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4" name="SH 214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5" name="SH 215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6" name="TB 216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6ECF5"/>
                </a:solidFill>
                <a:latin typeface="Consolas"/>
                <a:ea typeface="맑은 고딕"/>
              </a:rPr>
              <a:t>docs/</a:t>
            </a:r>
          </a:p>
        </p:txBody>
      </p:sp>
      <p:sp>
        <p:nvSpPr>
          <p:cNvPr id="217" name="TB 2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서버-시스템-전체-개요.md</a:t>
            </a:r>
          </a:p>
        </p:txBody>
      </p:sp>
      <p:sp>
        <p:nvSpPr>
          <p:cNvPr id="218" name="TB 218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최상위 진입 문서</a:t>
            </a:r>
          </a:p>
        </p:txBody>
      </p:sp>
      <p:sp>
        <p:nvSpPr>
          <p:cNvPr id="219" name="TB 219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서버-개발-계획.md</a:t>
            </a:r>
          </a:p>
        </p:txBody>
      </p:sp>
      <p:sp>
        <p:nvSpPr>
          <p:cNvPr id="220" name="TB 220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개발 순서 · 일정</a:t>
            </a:r>
          </a:p>
        </p:txBody>
      </p:sp>
      <p:sp>
        <p:nvSpPr>
          <p:cNvPr id="221" name="TB 221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com2us-taskbar-hero-개발환경.md</a:t>
            </a:r>
          </a:p>
        </p:txBody>
      </p:sp>
      <p:sp>
        <p:nvSpPr>
          <p:cNvPr id="222" name="TB 222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0A526"/>
                </a:solidFill>
                <a:latin typeface="Consolas"/>
                <a:ea typeface="맑은 고딕"/>
              </a:rPr>
              <a:t>세부/</a:t>
            </a:r>
          </a:p>
        </p:txBody>
      </p:sp>
      <p:sp>
        <p:nvSpPr>
          <p:cNvPr id="223" name="TB 223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E0A526"/>
                </a:solidFill>
                <a:latin typeface="맑은 고딕"/>
                <a:ea typeface="맑은 고딕"/>
              </a:rPr>
              <a:t>★ 정본 — 기능별 기획서</a:t>
            </a:r>
          </a:p>
        </p:txBody>
      </p:sp>
      <p:sp>
        <p:nvSpPr>
          <p:cNvPr id="224" name="TB 224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account-login · save-data · inventory</a:t>
            </a:r>
          </a:p>
        </p:txBody>
      </p:sp>
      <p:sp>
        <p:nvSpPr>
          <p:cNvPr id="225" name="TB 225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stage-battle · trade · gacha · mail</a:t>
            </a:r>
          </a:p>
        </p:txBody>
      </p:sp>
      <p:sp>
        <p:nvSpPr>
          <p:cNvPr id="226" name="TB 226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attendance · growth · offline-reward</a:t>
            </a:r>
          </a:p>
        </p:txBody>
      </p:sp>
      <p:sp>
        <p:nvSpPr>
          <p:cNvPr id="227" name="TB 22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master-data/</a:t>
            </a:r>
          </a:p>
        </p:txBody>
      </p:sp>
      <p:sp>
        <p:nvSpPr>
          <p:cNvPr id="228" name="TB 228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마스터 값 · 스키마</a:t>
            </a:r>
          </a:p>
        </p:txBody>
      </p:sp>
      <p:sp>
        <p:nvSpPr>
          <p:cNvPr id="229" name="TB 229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공통/</a:t>
            </a:r>
          </a:p>
        </p:txBody>
      </p:sp>
      <p:sp>
        <p:nvSpPr>
          <p:cNvPr id="230" name="TB 230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집약 참조본 + 공유 계약</a:t>
            </a:r>
          </a:p>
        </p:txBody>
      </p:sp>
      <p:sp>
        <p:nvSpPr>
          <p:cNvPr id="231" name="TB 231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api-통합.md · db-erd-통합.md</a:t>
            </a:r>
          </a:p>
        </p:txBody>
      </p:sp>
      <p:sp>
        <p:nvSpPr>
          <p:cNvPr id="232" name="TB 232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error-code-정의.md · 로깅-규칙.md</a:t>
            </a:r>
          </a:p>
        </p:txBody>
      </p:sp>
      <p:sp>
        <p:nvSpPr>
          <p:cNvPr id="233" name="TB 233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images/</a:t>
            </a:r>
          </a:p>
        </p:txBody>
      </p:sp>
      <p:sp>
        <p:nvSpPr>
          <p:cNvPr id="234" name="TB 234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원작 화면 캡처(기획 근거)</a:t>
            </a:r>
          </a:p>
        </p:txBody>
      </p:sp>
      <p:sp>
        <p:nvSpPr>
          <p:cNvPr id="235" name="SH 235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36" name="TB 236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SequenceDiagram/README.md</a:t>
            </a:r>
          </a:p>
        </p:txBody>
      </p:sp>
      <p:sp>
        <p:nvSpPr>
          <p:cNvPr id="237" name="TB 23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기능별 처리 흐름</a:t>
            </a:r>
          </a:p>
        </p:txBody>
      </p:sp>
      <p:sp>
        <p:nvSpPr>
          <p:cNvPr id="238" name="SH 238"/>
          <p:cNvSpPr/>
          <p:nvPr/>
        </p:nvSpPr>
        <p:spPr>
          <a:xfrm>
            <a:off x="7452360" y="210312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정본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docs/세부/ 가 언제나 정본이다. 충돌하면 세부 기획서를 따른다.</a:t>
            </a:r>
          </a:p>
        </p:txBody>
      </p:sp>
      <p:sp>
        <p:nvSpPr>
          <p:cNvPr id="239" name="SH 239"/>
          <p:cNvSpPr/>
          <p:nvPr/>
        </p:nvSpPr>
        <p:spPr>
          <a:xfrm>
            <a:off x="7452360" y="333756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집약 참조본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docs/공통/ 은 여러 기획서에 흩어진 내용을 한 장에 모은 편의용. 단, 클라이언트와 공유하는 계약(에러 코드 숫자 값 등)은 여기서 확인한다.</a:t>
            </a:r>
          </a:p>
        </p:txBody>
      </p:sp>
      <p:sp>
        <p:nvSpPr>
          <p:cNvPr id="240" name="SH 240"/>
          <p:cNvSpPr/>
          <p:nvPr/>
        </p:nvSpPr>
        <p:spPr>
          <a:xfrm>
            <a:off x="7452360" y="486918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그림으로 고정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원작 게임 화면 캡처를 docs/images/에 두고 기획서에서 참조해, "무엇을 모작하는지"를 글이 아니라 그림으로 고정했다.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7. 밸런스 수치를 잡기위한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기획서로 정할 수 있는 것은 규칙이지 수치가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625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 dirty="0">
                <a:solidFill>
                  <a:srgbClr val="1B2430"/>
                </a:solidFill>
                <a:latin typeface="맑은 고딕"/>
              </a:rPr>
              <a:t>"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몬스터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체력을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얼마로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둘까"는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문서로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합의할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없고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재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봐야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그런데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이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게임에서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그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측정은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원래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불가능했다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전투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계산이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권위라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서버는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로드조차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클리어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시간을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알려면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Unity를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켜고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스테이지에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들어가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스톱워치를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재야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했다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19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D9CAEE2-DE9A-9F8F-9EEF-997D475F4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00" name="TB 500"/>
          <p:cNvSpPr txBox="1"/>
          <p:nvPr/>
        </p:nvSpPr>
        <p:spPr>
          <a:xfrm>
            <a:off x="685800" y="301752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FF0000"/>
                </a:solidFill>
                <a:latin typeface="맑은 고딕"/>
                <a:ea typeface="맑은 고딕"/>
              </a:rPr>
              <a:t>기준이 없는 명령은 토큰 낭비만 초래했다..</a:t>
            </a:r>
          </a:p>
        </p:txBody>
      </p:sp>
      <p:sp>
        <p:nvSpPr>
          <p:cNvPr id="501" name="SH 501"/>
          <p:cNvSpPr/>
          <p:nvPr/>
        </p:nvSpPr>
        <p:spPr>
          <a:xfrm>
            <a:off x="68580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2" name="TB 502"/>
          <p:cNvSpPr txBox="1"/>
          <p:nvPr/>
        </p:nvSpPr>
        <p:spPr>
          <a:xfrm>
            <a:off x="109728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‘지금 난이도가 너무 쉬운데, 좀 더 난이도 있게 만들어줘.’</a:t>
            </a:r>
          </a:p>
        </p:txBody>
      </p:sp>
      <p:sp>
        <p:nvSpPr>
          <p:cNvPr id="503" name="SH 503"/>
          <p:cNvSpPr/>
          <p:nvPr/>
        </p:nvSpPr>
        <p:spPr>
          <a:xfrm>
            <a:off x="109728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4" name="TB 504"/>
          <p:cNvSpPr txBox="1"/>
          <p:nvPr/>
        </p:nvSpPr>
        <p:spPr>
          <a:xfrm>
            <a:off x="109728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너무 어려워지거나 인게임 전투에 변화가 거의 없음</a:t>
            </a:r>
          </a:p>
        </p:txBody>
      </p:sp>
      <p:sp>
        <p:nvSpPr>
          <p:cNvPr id="505" name="SH 505"/>
          <p:cNvSpPr/>
          <p:nvPr/>
        </p:nvSpPr>
        <p:spPr>
          <a:xfrm>
            <a:off x="630936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6" name="TB 506"/>
          <p:cNvSpPr txBox="1"/>
          <p:nvPr/>
        </p:nvSpPr>
        <p:spPr>
          <a:xfrm>
            <a:off x="672084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‘보스 공격력이 너무 강한데, 지금보다는 쉽게 만들어줘.’</a:t>
            </a:r>
          </a:p>
        </p:txBody>
      </p:sp>
      <p:sp>
        <p:nvSpPr>
          <p:cNvPr id="507" name="SH 507"/>
          <p:cNvSpPr/>
          <p:nvPr/>
        </p:nvSpPr>
        <p:spPr>
          <a:xfrm>
            <a:off x="672084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8" name="TB 508"/>
          <p:cNvSpPr txBox="1"/>
          <p:nvPr/>
        </p:nvSpPr>
        <p:spPr>
          <a:xfrm>
            <a:off x="672084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보스가 너무 약해져서 잡몹과 똑같이 변함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7.1  스크립트로만 구현한 인게임 전투 하네스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tools/balance_sim.py — 한 스테이지 전투를 1/60초 고정 스텝으로 압축 실행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796812"/>
              </p:ext>
            </p:extLst>
          </p:nvPr>
        </p:nvGraphicFramePr>
        <p:xfrm>
          <a:off x="685800" y="1861349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씬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하네스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BattleDevScene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등)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밸런스 시뮬레이터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무엇을 잘라냈나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로그인 · 스테이지 진입 · 게임 흐름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거기에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더해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Unity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렌더링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실시간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무엇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이 필요한가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화면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전투 상황 확인용 </a:t>
                      </a:r>
                      <a:r>
                        <a:rPr lang="en-US" altLang="ko-KR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UI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규칙과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수치만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누가 읽나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사람이 눈으로 (타격감 · 외형)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기계가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(초 · %)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한 판 도는 비용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에디터 켜고 플레이 모드 진입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프로세스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100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스테이지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전수도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명령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171C95-35FF-4499-CD59-CBA30A1B7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105" y="5029200"/>
            <a:ext cx="3180786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AF15316-FD53-EE86-DCC7-38B719206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211" y="5029200"/>
            <a:ext cx="5656204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5F50D3-CFEC-7D76-6218-CC82DD280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600" name="SH 600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137160" rIns="365760" bIns="137160" rtlCol="0" anchor="ctr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왜 필요할까?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  =&gt; 실제 유니티 환경에서 측정 시, 유니티를 실행하고 클리어 시간을 측정하는 과정이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오래걸림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+ 유니티 MCP를 통한 환경에서의 시간 측정도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부정확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하여 토큰만 낭비하는 일이 많아짐.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7.2  하드코딩을 최소화한다 — 무엇을 어디서 읽는가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하네스가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갈라지면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산출한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밸런스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근거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전체가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무효가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440237"/>
              </p:ext>
            </p:extLst>
          </p:nvPr>
        </p:nvGraphicFramePr>
        <p:xfrm>
          <a:off x="777240" y="1870845"/>
          <a:ext cx="10789920" cy="189003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81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마스터 수치 (몬스터 · 스폰 · 직업 · 레벨 · 스킬 계수 · 아이템 · 강화 · 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서버의 마스터 데이터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주기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동시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이동속도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피해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배수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파티별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사거리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유니티 클라이언트의 전투관련 상수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모션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길이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광역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판정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반경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Assets/Prefabs/Effects/*.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prefab의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프레임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수 · fps ·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스케일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</a:t>
                      </a:r>
                      <a:r>
                        <a:rPr lang="ko-KR" altLang="en-US"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스킬 이펙트의 타격범위</a:t>
                      </a:r>
                      <a:endParaRPr sz="10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21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390CC36-B6E0-089A-AC7B-2F16ABE77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063" y="4095535"/>
            <a:ext cx="3279710" cy="21051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6699D71-8014-433D-E074-BF7871B1C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7.3 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실제 </a:t>
            </a:r>
            <a:r>
              <a:rPr lang="ko-KR" altLang="en-US" sz="3000" b="1" dirty="0" err="1">
                <a:solidFill>
                  <a:srgbClr val="1B2430"/>
                </a:solidFill>
                <a:latin typeface="맑은 고딕"/>
              </a:rPr>
              <a:t>밸런싱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 작업 활용 예시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명령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: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신규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투자도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상태로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1지역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보스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를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분 내외로 아슬아슬하게 클리어하도록 밸런스를 조정해줘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1-10-스테이지-리밸런싱-결과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433" y="2011680"/>
            <a:ext cx="2927773" cy="4160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62636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1지역 보스(암흑 마법사) — 60.6초 클리어 · 최저 체력 23%  (3.7배속)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148840"/>
          <a:ext cx="443484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리밸런싱 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1지역 일반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15~27초 · 체력 62~100%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30~50초 · 85% → 46%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보스(기사)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35.6초 전멸(패배)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60.6초 클리어 · 최저 23%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보스(타직업)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24~31초 · 편차 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46~61초 · 23~66%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투자 요구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없음(1지역 내내 여유)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2지역 중반부터 장비작·스킬작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937760"/>
            <a:ext cx="4434840" cy="473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치명타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, </a:t>
            </a:r>
            <a:r>
              <a:rPr lang="ko-KR" altLang="en-US" sz="1300" b="1" dirty="0" err="1">
                <a:solidFill>
                  <a:srgbClr val="2F6FE4"/>
                </a:solidFill>
                <a:latin typeface="맑은 고딕"/>
              </a:rPr>
              <a:t>몹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흩어짐 등에 의한 변수가 있으나 실제 전투 시간을 비교적 정확히 맞출 수 있게 되었다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.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</a:t>
            </a:r>
            <a:endParaRPr sz="1300" b="1" dirty="0">
              <a:solidFill>
                <a:srgbClr val="2F6FE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22</a:t>
            </a:r>
          </a:p>
        </p:txBody>
      </p:sp>
      <p:pic>
        <p:nvPicPr>
          <p:cNvPr id="12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LOGGING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8. 로그 조회 — 무엇을 남기고, 어떻게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서버는 JSON 한 줄을 파일로 쓰는 데서 끝난다 — 적재는 fluentd, 조회는 Grafana의 몫이다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이벤트 전용 JSON 파일 sink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(운영 로그와 분리)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5244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9291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7308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in_tail → 태그 승격 →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out_sql(pg)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736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799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TimescaleDB · logdb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이벤트별 하이퍼테이블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압축 · 보존 · 연속 집계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2228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6276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94292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Grafana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대시보드 6종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코드로 프로비저닝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175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로그-db-테이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31" y="3127248"/>
            <a:ext cx="3585256" cy="22951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5800" y="5605272"/>
            <a:ext cx="393192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이벤트 하나 = 테이블 하나</a:t>
            </a:r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·  총 31개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017520"/>
            <a:ext cx="64922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그라파나-대시보드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252049"/>
            <a:ext cx="3535133" cy="1402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/>
          <p:cNvSpPr txBox="1"/>
          <p:nvPr/>
        </p:nvSpPr>
        <p:spPr>
          <a:xfrm>
            <a:off x="4983480" y="5605272"/>
            <a:ext cx="649224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대시보드 6종</a:t>
            </a:r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—  접속 · 스테이지 · 경제 · 가챠/거래소 · 보스러시 · 히스토리</a:t>
            </a:r>
          </a:p>
        </p:txBody>
      </p:sp>
      <p:pic>
        <p:nvPicPr>
          <p:cNvPr id="27" name="Picture 9" descr="그라파나-대시보드-접속-리텐션.png">
            <a:extLst>
              <a:ext uri="{FF2B5EF4-FFF2-40B4-BE49-F238E27FC236}">
                <a16:creationId xmlns:a16="http://schemas.microsoft.com/office/drawing/2014/main" id="{877BFD4E-FF28-70D6-99DA-47EEE7DB0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5913" y="3489794"/>
            <a:ext cx="3728197" cy="1731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24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9.  아이템 생성 자동화 — 정본 · DB · 번들을 한 번에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“심연의 대도끼, 전설 등급 슬레이어 무기” → 마스터 데이터 두 정본 · DB · 클라이언트 번들이 한 번의 요청으로 맞춰진다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입력 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1465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마스터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002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350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아이콘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887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7235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④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이름 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772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⑤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번들 갱신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10128"/>
          <a:ext cx="1078992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자동인가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수단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① 입력 해석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이름 · 종류 · 등급만 받고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item_code 채번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 · 레벨 제한 · 기본 가격을 등급에서 파생한다. 부족한 값은 되묻지 않는다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master_item_tool.py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② 마스터 데이터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master-data-값.md 표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와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master-data-schema.sql INSERT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 두 정본에 코드 순서대로 동시 삽입 + 반영 직후 자동 재검증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③ 아이콘 생성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pixel-item-icons 스킬 —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이미지 생성 모델이 아니라 Python(PIL)으로 절차적으로 그리고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 알파 · 여백을 수치로 검증한다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커스텀 스킬 (12장)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④ 이름 연결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&lt;이름&gt;.png → item_{code}.png.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.meta를 함께 옮겨 GUID를 보존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하므로 기존 참조가 끊기지 않는다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⑤ 번들 갱신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마스터 DB 재적용 → 클라이언트 JSON 번들 재추출 · 아이템 아이콘 DB 재생성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CLI + 에디터 메뉴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833872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B2430"/>
                </a:solidFill>
                <a:latin typeface="맑은 고딕"/>
              </a:rPr>
              <a:t>손으로 하면 문서 2곳 · DB · 아이콘 · 번들을 순서를 지켜 고쳐야 하는 작업이 요청 한 번으로 줄었다 — 어긋남은 도구의 verify가 스스로 잡는다.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클라이언트 (Unity)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10. 게임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작업표시줄 위 얇은 띠에서 파티가 스스로 싸우는 방치형 RPG — 조작 대신 무엇을 키울지를 고른다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5577840" cy="2935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플레이-화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103120"/>
            <a:ext cx="4937760" cy="26609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4974336"/>
            <a:ext cx="557784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실제 플레이 화면 — 가운데 좁은 띠에서 전투, 아래 메뉴 8종은 상시 노출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기사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최전방 방벽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12264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12264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레인저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원거리 연사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8728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마법사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전 스킬 광역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65192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슬레이어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근접 치명타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11112" y="1965960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12280" y="2240279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76872" y="2066543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전투는 전부 자동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파티 3인이 스스로 전진해 사거리에 든 적을 치고, 스킬은 쿨타임마다 알아서 나간다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1112" y="2962656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12280" y="3236976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76872" y="3063240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플레이어가 하는 일은 결정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장비 · 스킬 · 룬 · 파티 편성을 고르는 선택이 조작을 대신한다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11112" y="3959352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12280" y="4233672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76872" y="4059936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화면을 가리지 않는다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작업표시줄 위에 얇게 붙는 투명 오버레이 창 · 메뉴 8종은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1112" y="4956048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812280" y="5230368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76872" y="5056632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꺼 둔 시간도 성장한다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접속하지 않은 동안의 진행을 재접속 시 오프라인 보상으로 정산한다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GAME CONTENT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287418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10.1 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컨텐츠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3-s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031" y="2075688"/>
            <a:ext cx="1799857" cy="1298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스테이지 · 보스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지역별 스테이지 자동 진행, Act 보스전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4-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8624" y="2075688"/>
            <a:ext cx="1001071" cy="12984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0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가방 · 창고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장비 · 재료 · 소모품 보관, 칸 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07-c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8732" y="2075688"/>
            <a:ext cx="1087254" cy="1298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02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큐브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합성 · 제작 · 연금술 판매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05-sk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411" y="2075688"/>
            <a:ext cx="1006297" cy="12984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34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성장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스킬 레벨 · 패시브 · 룬 장착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08-gach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937" y="4133088"/>
            <a:ext cx="1398044" cy="12984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38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뽑기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배너별 등급 확률 · 천장 보정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09-tra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3531" y="4133088"/>
            <a:ext cx="1111257" cy="12984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570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거래소 · 교역선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유저 간 시세 거래, 교역선 판매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11-attend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1326" y="4133088"/>
            <a:ext cx="1482066" cy="12984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02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출석 · 메일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일일 출석 보상, 우편함 수령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보스러시-랭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1058" y="4133088"/>
            <a:ext cx="1349002" cy="12984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434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경쟁 · 보스러시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보스 5종 연속 클리어 · 주간 시즌 랭킹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11. 개발 방식 한눈에 보기 — 서버와 무엇이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28</a:t>
            </a:r>
          </a:p>
        </p:txBody>
      </p:sp>
      <p:sp>
        <p:nvSpPr>
          <p:cNvPr id="100" name="SH 100"/>
          <p:cNvSpPr/>
          <p:nvPr/>
        </p:nvSpPr>
        <p:spPr>
          <a:xfrm>
            <a:off x="685800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914400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2" name="SH 102"/>
          <p:cNvSpPr/>
          <p:nvPr/>
        </p:nvSpPr>
        <p:spPr>
          <a:xfrm>
            <a:off x="914400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3" name="TB 103"/>
          <p:cNvSpPr txBox="1"/>
          <p:nvPr/>
        </p:nvSpPr>
        <p:spPr>
          <a:xfrm>
            <a:off x="914400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서버 계약 확정</a:t>
            </a:r>
          </a:p>
        </p:txBody>
      </p:sp>
      <p:sp>
        <p:nvSpPr>
          <p:cNvPr id="104" name="SH 104"/>
          <p:cNvSpPr/>
          <p:nvPr/>
        </p:nvSpPr>
        <p:spPr>
          <a:xfrm>
            <a:off x="2898648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5" name="TB 105"/>
          <p:cNvSpPr txBox="1"/>
          <p:nvPr/>
        </p:nvSpPr>
        <p:spPr>
          <a:xfrm>
            <a:off x="3127248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6" name="SH 106"/>
          <p:cNvSpPr/>
          <p:nvPr/>
        </p:nvSpPr>
        <p:spPr>
          <a:xfrm>
            <a:off x="3127248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3127248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클라 UI 기획서</a:t>
            </a:r>
          </a:p>
        </p:txBody>
      </p:sp>
      <p:sp>
        <p:nvSpPr>
          <p:cNvPr id="108" name="SH 108"/>
          <p:cNvSpPr/>
          <p:nvPr/>
        </p:nvSpPr>
        <p:spPr>
          <a:xfrm>
            <a:off x="5111496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9" name="TB 109"/>
          <p:cNvSpPr txBox="1"/>
          <p:nvPr/>
        </p:nvSpPr>
        <p:spPr>
          <a:xfrm>
            <a:off x="5340096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0" name="SH 110"/>
          <p:cNvSpPr/>
          <p:nvPr/>
        </p:nvSpPr>
        <p:spPr>
          <a:xfrm>
            <a:off x="5340096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1" name="TB 111"/>
          <p:cNvSpPr txBox="1"/>
          <p:nvPr/>
        </p:nvSpPr>
        <p:spPr>
          <a:xfrm>
            <a:off x="5340096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en-US" altLang="ko-KR" sz="1300" b="1" dirty="0">
                <a:solidFill>
                  <a:srgbClr val="1B2430"/>
                </a:solidFill>
                <a:latin typeface="맑은 고딕"/>
                <a:ea typeface="맑은 고딕"/>
              </a:rPr>
              <a:t>UI</a:t>
            </a: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 및 게임 컨텐츠 개발</a:t>
            </a:r>
          </a:p>
        </p:txBody>
      </p:sp>
      <p:sp>
        <p:nvSpPr>
          <p:cNvPr id="112" name="SH 112"/>
          <p:cNvSpPr/>
          <p:nvPr/>
        </p:nvSpPr>
        <p:spPr>
          <a:xfrm>
            <a:off x="7324344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552944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4" name="SH 114"/>
          <p:cNvSpPr/>
          <p:nvPr/>
        </p:nvSpPr>
        <p:spPr>
          <a:xfrm>
            <a:off x="7552944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5" name="TB 115"/>
          <p:cNvSpPr txBox="1"/>
          <p:nvPr/>
        </p:nvSpPr>
        <p:spPr>
          <a:xfrm>
            <a:off x="7552944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Unity MCP로 플레이 모드 진입 · 검증</a:t>
            </a:r>
          </a:p>
        </p:txBody>
      </p:sp>
      <p:sp>
        <p:nvSpPr>
          <p:cNvPr id="116" name="SH 116"/>
          <p:cNvSpPr/>
          <p:nvPr/>
        </p:nvSpPr>
        <p:spPr>
          <a:xfrm>
            <a:off x="9537192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9765792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18" name="SH 118"/>
          <p:cNvSpPr/>
          <p:nvPr/>
        </p:nvSpPr>
        <p:spPr>
          <a:xfrm>
            <a:off x="9765792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9" name="TB 119"/>
          <p:cNvSpPr txBox="1"/>
          <p:nvPr/>
        </p:nvSpPr>
        <p:spPr>
          <a:xfrm>
            <a:off x="9765792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문서 · 현황판 갱신</a:t>
            </a:r>
          </a:p>
        </p:txBody>
      </p:sp>
      <p:sp>
        <p:nvSpPr>
          <p:cNvPr id="120" name="TB 120"/>
          <p:cNvSpPr txBox="1"/>
          <p:nvPr/>
        </p:nvSpPr>
        <p:spPr>
          <a:xfrm>
            <a:off x="2624328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4837176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7050024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9262872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SH 124"/>
          <p:cNvSpPr/>
          <p:nvPr/>
        </p:nvSpPr>
        <p:spPr>
          <a:xfrm>
            <a:off x="685800" y="4754880"/>
            <a:ext cx="107899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91440" rIns="365760" bIns="91440" rtlCol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서버 기능을 구현한 후 클라이언트는 서버 문서를 참조하여 기능 연동을 진행</a:t>
            </a:r>
            <a:endParaRPr lang="ko-KR" altLang="en-US" sz="1200" b="0" dirty="0">
              <a:solidFill>
                <a:srgbClr val="6B7684"/>
              </a:solidFill>
              <a:latin typeface="맑은 고딕"/>
              <a:ea typeface="맑은 고딕"/>
            </a:endParaRPr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12. 개발용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씬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구성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인게임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전투를 개발하기 위한 개발용 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BattleDev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71" y="2057400"/>
            <a:ext cx="5093738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8580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BattleDevScene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파티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4인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쿨다운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소환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선택을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IMGUI로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9" name="Picture 8" descr="AnimDevSce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1" y="2057400"/>
            <a:ext cx="5191037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AnimDevScene — 클립 목록 · 직업/성별 전환 · 무기 강화 단계별 이펙트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32120"/>
            <a:ext cx="10789920" cy="770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BattleDevScene은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로그인·스테이지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거치지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전투만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켠다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광역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데미지가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몇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들어갔는지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쿨다운이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실제로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도는지를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숫자로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이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IMGUI는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개발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전용이라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serverMode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=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true인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GameScene에서는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OnGUI가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자동으로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생략된다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단계가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짧을수록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원격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검증의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실패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지점이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줄고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측정값도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시스템에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오염되지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29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30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12.1  BattleDevScene — 전투만 켜서 숫자로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로그인 · 스테이지 진입을 거치지 않고 전투만 실행하는 씬 (메뉴 TaskbarHero/씬 · Alt+5 · 빌드 미등록)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rcRect l="26650" t="33790" r="56090" b="28260"/>
          <a:stretch>
            <a:fillRect/>
          </a:stretch>
        </p:blipFill>
        <p:spPr>
          <a:xfrm>
            <a:off x="685800" y="1920240"/>
            <a:ext cx="2240280" cy="291801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4893114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하네스 IMGUI 박스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rcRect l="26650" t="70310"/>
          <a:stretch>
            <a:fillRect/>
          </a:stretch>
        </p:blipFill>
        <p:spPr>
          <a:xfrm>
            <a:off x="3154680" y="1920240"/>
            <a:ext cx="3291840" cy="789336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3154680" y="2764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같은 씬의 전투 화면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3127248"/>
            <a:ext cx="3291840" cy="2039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2" y="3273552"/>
            <a:ext cx="28803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이 씬이 도는 방식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파티가 오른쪽으로 계속 전진하다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최전방 적과 사거리에 들면 교전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처치하면 뒤의 적이 새 최전방이 되어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웨이브가 끝없이 이어진다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카메라는 파티를 따라가고 배경은 3장 타일로 무한 스크롤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440680"/>
            <a:ext cx="57607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596128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“광역 데미지가 몇 대에 들어갔는지 · 쿨다운이 실제로 도는지”를 눈이 아니라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숫자로 확인하며 전투를 다듬었다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92024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0" y="205740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무엇을 잘라냈나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로그인 · 스테이지 진입 · 서버 통신 없이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전투만 켠다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카메라 · 배경 · 스폰 · 대형 배선은 실게임과 같은 것을 쓴다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017520"/>
            <a:ext cx="4754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3163824"/>
            <a:ext cx="42976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화면에 실시간으로 뜨는 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적 이름 · 현재 마릿수 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동시 최대치(5)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처치 수 · 전투 단계 · 파티 전진 좌표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partyX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파티원별 사거리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 — 기사 1.5 · 레인저 6.5 · 마법사 6 · 슬레이어 1.8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스킬 코드별 쿨다운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 총량과 잔여 — 스킬 101 cd 8s — 4.2s / READY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일시정지 · 다음 몬스터 · 소환 캐릭터 선택 · 전투 로그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5166360"/>
            <a:ext cx="4754880" cy="10972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5303520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개발 전용으로 격리했다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실게임(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serverMode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)에서는 이 박스가 통째로 생략된다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개발용 데미지 배수(×20)도 serverMode에서는 1로 고정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전투는 이 씬이 정본 — GameScene은 빌더로 복제한다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31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12.2  AnimDevScene — 모션과 이펙트만 따로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캐릭터 한 명만 세우고 배경 · 조명 · 전투를 전부 뺀 씬 (Alt+6 · 빌드 미등록)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rcRect t="6800"/>
          <a:stretch>
            <a:fillRect/>
          </a:stretch>
        </p:blipFill>
        <p:spPr>
          <a:xfrm>
            <a:off x="685800" y="1920240"/>
            <a:ext cx="5760720" cy="3120963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5096067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왼쪽 클립 목록 · 위 직업/성별 · 오른쪽 무기 강화 단계를 한 화면에서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440680"/>
            <a:ext cx="57607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596128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1">
                <a:solidFill>
                  <a:srgbClr val="1B2430"/>
                </a:solidFill>
                <a:latin typeface="맑은 고딕"/>
              </a:rPr>
              <a:t>새 모션을 확인하는 비용이 거의 0이다 —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.anim 파일을 Assets/Animations에 넣고 씬 생성 메뉴를 다시 실행하면 목록에 자동 배선된다.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920240"/>
            <a:ext cx="47548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2066543"/>
            <a:ext cx="429768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왼쪽 — 애니메이션 목록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SPUM 프리팹의 상태별 클립을 런타임에 읽어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 만든다 — IDLE · MOVE · ATTACK · DAMAGED · DEBUFF · DEATH · OTHER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목록에서 고른 뒤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캐릭터를 클릭하면 그 클립이 재생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분노 · 돌진 · 캐스트 홀드 · 화살비 · 내려찍기 같은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특수 모션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도 함께 노출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38404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3986784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위 — 직업 · 성별 전환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기사 · 궁수 · 마법사 · 슬레이어 × 남 · 여를 눌러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같은 모션을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48920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0" y="5038344"/>
            <a:ext cx="429768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오른쪽 — 무기 강화 +0~+10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단계를 누르면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잔상 색 · 무기에 서린 빛 · 반짝임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이 즉시 바뀐다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직업을 바꿔도 단계는 유지 — 같은 +7을 검 · 활 · 지팡이로 비교한다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12.3  몬스터를 요청 한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줄로</a:t>
            </a: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 -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스테이지별 몬스터 작업 자동화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검은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갑옷의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스켈레톤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2지역 5스테이지에 4마리" → 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몬스터가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전투에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나온다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32</a:t>
            </a:r>
          </a:p>
        </p:txBody>
      </p:sp>
      <p:sp>
        <p:nvSpPr>
          <p:cNvPr id="100" name="SH 100"/>
          <p:cNvSpPr/>
          <p:nvPr/>
        </p:nvSpPr>
        <p:spPr>
          <a:xfrm>
            <a:off x="132888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144318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144318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입력 해석</a:t>
            </a:r>
          </a:p>
        </p:txBody>
      </p:sp>
      <p:sp>
        <p:nvSpPr>
          <p:cNvPr id="103" name="SH 103"/>
          <p:cNvSpPr/>
          <p:nvPr/>
        </p:nvSpPr>
        <p:spPr>
          <a:xfrm>
            <a:off x="2896423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4" name="TB 104"/>
          <p:cNvSpPr txBox="1"/>
          <p:nvPr/>
        </p:nvSpPr>
        <p:spPr>
          <a:xfrm>
            <a:off x="3010723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05" name="TB 105"/>
          <p:cNvSpPr txBox="1"/>
          <p:nvPr/>
        </p:nvSpPr>
        <p:spPr>
          <a:xfrm>
            <a:off x="3010723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능력치 · 외형 결정</a:t>
            </a:r>
          </a:p>
        </p:txBody>
      </p:sp>
      <p:sp>
        <p:nvSpPr>
          <p:cNvPr id="106" name="SH 106"/>
          <p:cNvSpPr/>
          <p:nvPr/>
        </p:nvSpPr>
        <p:spPr>
          <a:xfrm>
            <a:off x="4463965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4578265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4578265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정본 + 스폰 반영</a:t>
            </a:r>
          </a:p>
        </p:txBody>
      </p:sp>
      <p:sp>
        <p:nvSpPr>
          <p:cNvPr id="109" name="SH 109"/>
          <p:cNvSpPr/>
          <p:nvPr/>
        </p:nvSpPr>
        <p:spPr>
          <a:xfrm>
            <a:off x="6031507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0" name="TB 110"/>
          <p:cNvSpPr txBox="1"/>
          <p:nvPr/>
        </p:nvSpPr>
        <p:spPr>
          <a:xfrm>
            <a:off x="6145807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④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145807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프리팹 생성</a:t>
            </a:r>
          </a:p>
        </p:txBody>
      </p:sp>
      <p:sp>
        <p:nvSpPr>
          <p:cNvPr id="112" name="SH 112"/>
          <p:cNvSpPr/>
          <p:nvPr/>
        </p:nvSpPr>
        <p:spPr>
          <a:xfrm>
            <a:off x="7599049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713349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⑤</a:t>
            </a:r>
          </a:p>
        </p:txBody>
      </p:sp>
      <p:sp>
        <p:nvSpPr>
          <p:cNvPr id="114" name="TB 114"/>
          <p:cNvSpPr txBox="1"/>
          <p:nvPr/>
        </p:nvSpPr>
        <p:spPr>
          <a:xfrm>
            <a:off x="7713349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 err="1">
                <a:solidFill>
                  <a:srgbClr val="1B2430"/>
                </a:solidFill>
                <a:latin typeface="맑은 고딕"/>
                <a:ea typeface="맑은 고딕"/>
              </a:rPr>
              <a:t>인게임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 전투 적용</a:t>
            </a:r>
          </a:p>
        </p:txBody>
      </p:sp>
      <p:sp>
        <p:nvSpPr>
          <p:cNvPr id="115" name="SH 115"/>
          <p:cNvSpPr/>
          <p:nvPr/>
        </p:nvSpPr>
        <p:spPr>
          <a:xfrm>
            <a:off x="916659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TB 116"/>
          <p:cNvSpPr txBox="1"/>
          <p:nvPr/>
        </p:nvSpPr>
        <p:spPr>
          <a:xfrm>
            <a:off x="928089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⑥</a:t>
            </a:r>
          </a:p>
        </p:txBody>
      </p:sp>
      <p:sp>
        <p:nvSpPr>
          <p:cNvPr id="117" name="TB 117"/>
          <p:cNvSpPr txBox="1"/>
          <p:nvPr/>
        </p:nvSpPr>
        <p:spPr>
          <a:xfrm>
            <a:off x="928089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2713543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4281085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5848627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TB 124"/>
          <p:cNvSpPr txBox="1"/>
          <p:nvPr/>
        </p:nvSpPr>
        <p:spPr>
          <a:xfrm>
            <a:off x="7416169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5" name="TB 125"/>
          <p:cNvSpPr txBox="1"/>
          <p:nvPr/>
        </p:nvSpPr>
        <p:spPr>
          <a:xfrm>
            <a:off x="8983711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7" name="SH 127"/>
          <p:cNvSpPr/>
          <p:nvPr/>
        </p:nvSpPr>
        <p:spPr>
          <a:xfrm>
            <a:off x="1328881" y="4366260"/>
            <a:ext cx="4519746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③ 도구(CLI)</a:t>
            </a:r>
          </a:p>
        </p:txBody>
      </p:sp>
      <p:sp>
        <p:nvSpPr>
          <p:cNvPr id="128" name="SH 128"/>
          <p:cNvSpPr/>
          <p:nvPr/>
        </p:nvSpPr>
        <p:spPr>
          <a:xfrm>
            <a:off x="1420321" y="4183380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9" name="SH 129"/>
          <p:cNvSpPr/>
          <p:nvPr/>
        </p:nvSpPr>
        <p:spPr>
          <a:xfrm>
            <a:off x="14203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0" name="SH 130"/>
          <p:cNvSpPr/>
          <p:nvPr/>
        </p:nvSpPr>
        <p:spPr>
          <a:xfrm>
            <a:off x="573813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1" name="SH 131"/>
          <p:cNvSpPr/>
          <p:nvPr/>
        </p:nvSpPr>
        <p:spPr>
          <a:xfrm>
            <a:off x="3579229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2" name="SH 132"/>
          <p:cNvSpPr/>
          <p:nvPr/>
        </p:nvSpPr>
        <p:spPr>
          <a:xfrm>
            <a:off x="6031507" y="4366260"/>
            <a:ext cx="2952204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④⑤ Unity MCP</a:t>
            </a:r>
          </a:p>
        </p:txBody>
      </p:sp>
      <p:sp>
        <p:nvSpPr>
          <p:cNvPr id="133" name="SH 133"/>
          <p:cNvSpPr/>
          <p:nvPr/>
        </p:nvSpPr>
        <p:spPr>
          <a:xfrm>
            <a:off x="6122947" y="4183380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4" name="SH 134"/>
          <p:cNvSpPr/>
          <p:nvPr/>
        </p:nvSpPr>
        <p:spPr>
          <a:xfrm>
            <a:off x="612294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5" name="SH 135"/>
          <p:cNvSpPr/>
          <p:nvPr/>
        </p:nvSpPr>
        <p:spPr>
          <a:xfrm>
            <a:off x="88732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6" name="SH 136"/>
          <p:cNvSpPr/>
          <p:nvPr/>
        </p:nvSpPr>
        <p:spPr>
          <a:xfrm>
            <a:off x="7498084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12.4  몬스터의 외형을 자동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CharacterDevScene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능력치는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자동이지만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만한지는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봐야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몬스터-외형자동결정-결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6675120" cy="37033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20000" y="2788045"/>
            <a:ext cx="3886200" cy="2150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왼쪽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몬스터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목록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코드·이름·hp·atk와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대비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[PR](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Prefab·Recipe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)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보유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표시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가운데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프리뷰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자리에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세운다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오른쪽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능력치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산출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채우기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레시피와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시드가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파트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목록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외형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재생성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저장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스니펫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복사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33</a:t>
            </a:r>
          </a:p>
        </p:txBody>
      </p:sp>
      <p:pic>
        <p:nvPicPr>
          <p:cNvPr id="10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12.5  파이프라인의 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현재 게임의 몬스터 12종(일반 7 + Act별 보스 5)이 전부 이 파이프라인 산출물</a:t>
            </a:r>
          </a:p>
        </p:txBody>
      </p:sp>
      <p:pic>
        <p:nvPicPr>
          <p:cNvPr id="7" name="Picture 6" descr="몬스터-자동생성-전투.png"/>
          <p:cNvPicPr>
            <a:picLocks noChangeAspect="1"/>
          </p:cNvPicPr>
          <p:nvPr/>
        </p:nvPicPr>
        <p:blipFill>
          <a:blip r:embed="rId2"/>
          <a:srcRect l="36124"/>
          <a:stretch>
            <a:fillRect/>
          </a:stretch>
        </p:blipFill>
        <p:spPr>
          <a:xfrm>
            <a:off x="1549598" y="2148840"/>
            <a:ext cx="3850244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57200" y="4123944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생성된 몬스터가 실제 전투에 등장 — 오른쪽 6종이 모두 파이프라인 산출물</a:t>
            </a:r>
          </a:p>
        </p:txBody>
      </p:sp>
      <p:pic>
        <p:nvPicPr>
          <p:cNvPr id="9" name="Picture 8" descr="몬스터-자동생성-라인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400" y="2148840"/>
            <a:ext cx="5074360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675120" y="4123944"/>
            <a:ext cx="5074920" cy="189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인게임에 등장하는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12종 — </a:t>
            </a:r>
            <a:r>
              <a:rPr lang="en-US" sz="11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 </a:t>
            </a:r>
            <a:r>
              <a:rPr lang="en-US" altLang="ko-KR" sz="1100" b="0" dirty="0">
                <a:solidFill>
                  <a:srgbClr val="6B7684"/>
                </a:solidFill>
                <a:latin typeface="맑은 고딕"/>
              </a:rPr>
              <a:t>~ 5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4754880"/>
            <a:ext cx="10789920" cy="11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바꾸는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손으로 만든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프리팹이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하나도 없다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—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전부 태그 → 레시피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스폰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테이블을 거쳐 전투에 들어왔다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이름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·HP·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공격력은 서버 정본에서 추출한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번들에서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읽는다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정본·DB·번들을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건드리지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같은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경로에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덮어써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GUID가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유지되므로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달라"를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몇 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반복해도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DB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재적용도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씬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수정도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34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12.6  외형은 어떻게 정해지는가 — 태그 · 시드 ·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능력치는 규칙이 정하고 외형은 시드가 고른다 — 사람이 하는 일은 “이걸로 간다”를 누르는 것뿐 (화면 구성은 11.4)</a:t>
            </a:r>
          </a:p>
        </p:txBody>
      </p:sp>
      <p:pic>
        <p:nvPicPr>
          <p:cNvPr id="9" name="Picture 8" descr="몬스터-자동화-외형확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5897880" cy="3319683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5294787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CharacterDevScene — 뽑힌 외형과 레시피 · 파트 목록을 그 자리에서 보고 확정한다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1920240"/>
            <a:ext cx="46634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2084831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무엇을 자동으로 정하는가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계열은 Act가 정한다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1 빙의된 인간 · 2 언데드 · 3 악마 · 4 타락한 성기사 · 5 공허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SPUM 태그로 후보를 좁히고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시드가 파츠를 고른다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(파츠 215개)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고른 결과는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레시피 JSON 한 줄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로 남고 프리팹은 거기서 조립된다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749039"/>
            <a:ext cx="4663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3913632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다시 뽑는 비용이 거의 0이다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[외형 재생성]은 시드를 옮겨 다시 뽑는 것 — 같은 경로에 덮어써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GUID 유지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외형만 교체하면 서버 정본 · DB · 번들을 건드리지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5120640"/>
            <a:ext cx="4663440" cy="1143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5248656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외형에서 겪은 함정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colors는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곱셈 틴트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밝게 하려면 색 지정을 뺀다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Body는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피부만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몸통은 Armor · Cloth · Pant · Back, 뿔은 Helmet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36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13.  아이템 아이콘 절차적 생성 — 96종이 전부 코드 생성물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8장 파이프라인의 ③ 단계 — 장비 89 · 재료 4 · 소모품 2 · 재화 1의 아이콘을 외주 · 구매 없이 만들었다</a:t>
            </a:r>
          </a:p>
        </p:txBody>
      </p:sp>
      <p:pic>
        <p:nvPicPr>
          <p:cNvPr id="9" name="Picture 8" descr="아이템-아이콘-생성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6035040" cy="4050917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601675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실제 프로젝트의 아이템 아이콘 96종 전부 — 무기 · 방어구 · 재료 · 소모품</a:t>
            </a:r>
          </a:p>
        </p:txBody>
      </p:sp>
      <p:pic>
        <p:nvPicPr>
          <p:cNvPr id="11" name="Picture 10" descr="inventory-item-cube-인벤토리_전체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20240"/>
            <a:ext cx="2286000" cy="2396115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903720" y="43891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같은 아이콘이 인게임 가방 · 장착 슬롯에 그대로 뜬다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4709160"/>
            <a:ext cx="45720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4846320"/>
            <a:ext cx="4114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코드로 그려서 얻은 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같은 등급 · 슬롯끼리 크기와 팔레트를 맞춘다 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팔레트 레지스트리 재사용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눈으로 봤다고 가정하지 않는다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투명 배경 · 여백 · 색 수를 수치로 검사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“손잡이를 줄여 달라” 같은 수정도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파라미터를 고쳐 다시 그린다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37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14.  사운드 리소스 생성 · 적용 · 관리 — 75종 전부 생성물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BGM · 징글부터 UI 클릭음까지, 외부 음원 없이 텍스트 프롬프트로 만들고 정의서로 관리한다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1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정의서에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목록 · 트리거 확정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923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2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영어 프롬프트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1998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266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3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생성 API 호출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(오디오 생성 모델)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28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609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4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길이 · 포맷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자동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8859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952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5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Unity 임포트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설정 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2289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2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6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재생 지점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배선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3218688"/>
          <a:ext cx="10789920" cy="786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BGM · 징글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UI · 시스템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전투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성장 · 편의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가챠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보스러시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430"/>
                          </a:solidFill>
                          <a:latin typeface="맑은 고딕"/>
                        </a:rPr>
                        <a:t>종수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F6FE4"/>
                          </a:solidFill>
                          <a:latin typeface="맑은 고딕"/>
                        </a:rPr>
                        <a:t>75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85800" y="4279392"/>
            <a:ext cx="10789920" cy="1984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480560"/>
            <a:ext cx="102412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생성 도구에 남긴 규칙 — tools/poe-sfx/generate_sound.py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TTS 봇에 넘기면 프롬프트를 낭독한 음성이 온다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효과음 설명을 사람 목소리로 읽은 파일이 실제로 만들어진 적이 있다. 오디오 생성 모델(stable-audio-2.5)만 쓰고, 스크립트가 모델명으로 감지해 경고한다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길이를 지정하지 않으면 약 190초가 나온다 — 효과음은 1~2초로 잡고, 프롬프트에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dry · single hit · no music, no speech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를 반드시 넣는다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저장 후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MP3 프레임을 훑어 길이를 재고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, 요청 길이의 2배를 넘으면 낭독 의심으로 경고한다 — 현재 전 파일이 요청 길이 +0.07초 이내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목록(TSV)을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4개씩 병렬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로 돌리고 이미 있는 파일은 건너뛴다 — 중단 후 재실행이 안전하고, 재생성은 그 파일만 지우고 다시 돌린다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전 트랙이 이 도구로 만든 오리지널 오디오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다 — 외부 음원을 쓸 경우 상용 제약이 없는 것만 쓰고 확보처를 정의서에 적는다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38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14.1  만든 소리를 게임에 붙이고, 목록으로 관리한다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파일명이 곧 ID다 — 파일을 넣으면 에디터 도구가 매핑을 채우고, 재생 지점은 코드가 ID로만 부른다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sfx_ui_click.mp3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파일명 =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9230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950" b="1">
                <a:solidFill>
                  <a:srgbClr val="1B2430"/>
                </a:solidFill>
                <a:latin typeface="맑은 고딕"/>
              </a:rPr>
              <a:t>SoundDatabaseBuilder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에디터 메뉴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1998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2660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950" b="1">
                <a:solidFill>
                  <a:srgbClr val="1B2430"/>
                </a:solidFill>
                <a:latin typeface="맑은 고딕"/>
              </a:rPr>
              <a:t>SoundDatabase.asset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ID ↔ 클립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28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6091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SoundId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열거형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8859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9521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SoundManager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재생 계층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2289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2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재생 지점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전투 · UI · 성장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127248"/>
            <a:ext cx="34747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3017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재생 계층은 하나다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DontDestroyOnLoad 싱글턴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하나가 BGM 2채널 크로스페이드 · 앰비언트 · SFX 풀 10개를 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볼륨은 Master · BGM · SFX 3채널 + 음소거를 PlayerPrefs에 저장한다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연출 스킵에 대비해 재생 중인 효과음을 끊는 경로를 함께 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127248"/>
            <a:ext cx="34747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310128"/>
            <a:ext cx="3017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배선을 코드가 찾는다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직업 · 스킬음은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BattleSounds 조회표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(classCode · skillCode → ID)를 거쳐 전투 코드가 부른다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버튼 클릭음은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UiClickSound가 씬의 Button을 주기 스캔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해 자동으로 붙인다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자기 소리를 내는 버튼은 제외해 두 소리가 겹치지 않게 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27248"/>
            <a:ext cx="34747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3310128"/>
            <a:ext cx="3017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목록으로 관리한다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사운드 리소스 정의서에 ID · 사용 위치 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트리거 지점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· 톤 · 길이를 표로 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칼럼 두 개로 현황을 센다 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생성 75/75 · 클라 적용 73/75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빠진 2종은 이유가 적혀 있다 — 툴팁은 의도적 무음, 시간 경고는 규칙이 없어져 트리거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3949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541264"/>
            <a:ext cx="10241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1B2430"/>
                </a:solidFill>
                <a:latin typeface="맑은 고딕"/>
              </a:rPr>
              <a:t>겹쳐 울리면 타격감이 사라진다 — </a:t>
            </a:r>
            <a:r>
              <a:rPr sz="1150" b="0">
                <a:solidFill>
                  <a:srgbClr val="6B7684"/>
                </a:solidFill>
                <a:latin typeface="맑은 고딕"/>
              </a:rPr>
              <a:t>광역 피격음은 첫 대상 한 번만, 같은 효과음은 0.05초 쿨다운, 강화 성공음은 망치질(2.0초)이 끝난 뒤로 미룬다. 이런 동기화 주의 지점도 정의서에 표로 남겼다.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 err="1">
                <a:solidFill>
                  <a:srgbClr val="1B2430"/>
                </a:solidFill>
                <a:latin typeface="맑은 고딕"/>
              </a:rPr>
              <a:t>정리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를 기반으로 작업을 시작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" y="3017520"/>
            <a:ext cx="3017520" cy="1662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작성을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바로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시키지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먼저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뒤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문서를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기반으로만 작업을 진행한다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확정"과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그렇게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이유"를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함께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그때 왜 이렇게 했지 라는 질문에 대해 스스로 답을 찾을 수 있도록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만드는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절차를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코드로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301752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화면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아이콘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이펙트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마스터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번들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산출물을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편집하지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그것을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스크립트를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남겼다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어느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것이든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만들어라"가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실행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가능한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요청이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된다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유니티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MCP 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구성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20" y="3017520"/>
            <a:ext cx="3017520" cy="1892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개발자가 직접 보는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씬이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아닌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클로드를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위한 개발용 </a:t>
            </a:r>
            <a:r>
              <a:rPr lang="en-US" altLang="ko-KR" sz="1150" b="0" dirty="0" err="1">
                <a:solidFill>
                  <a:srgbClr val="6B7684"/>
                </a:solidFill>
                <a:latin typeface="맑은 고딕"/>
              </a:rPr>
              <a:t>DevScene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들을 추가하여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구현에 대한 검증과 테스트가 효율적으로 이뤄지도록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lang="en-US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아이템 및 몬스터 등 일부 리소스에 대한 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 작업을 자동화하여 효율적으로 과제를 진행할 수 있도록 구성하였다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39</a:t>
            </a:r>
          </a:p>
        </p:txBody>
      </p:sp>
      <p:pic>
        <p:nvPicPr>
          <p:cNvPr id="2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3.  데이터베이스 설계 — 저장소를 넷으로 나눴다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 · 세이브 · 캐시 · 로그를 서로 다른 저장소에 두고, 정본(single source of truth)은 언제나 MySQL이다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MySQL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Account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92608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72384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테이블 2개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28416"/>
            <a:ext cx="212140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taskbar_hero_account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 신원과 발급 토큰의 영속 사본. users · user_auth_token 둘뿐이다.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2103120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5304" y="2286000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B9E6F"/>
                </a:solidFill>
                <a:latin typeface="맑은 고딕"/>
                <a:ea typeface="맑은 고딕"/>
                <a:cs typeface="맑은 고딕"/>
              </a:rPr>
              <a:t>MySQL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256032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 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75304" y="292608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3072384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9E6F"/>
                </a:solidFill>
                <a:latin typeface="맑은 고딕"/>
                <a:ea typeface="맑은 고딕"/>
                <a:cs typeface="맑은 고딕"/>
              </a:rPr>
              <a:t>테이블 19개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3328416"/>
            <a:ext cx="212140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taskbar_hero_game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플레이어 세이브 데이터 전부. 모든 테이블이 user_id로 계정에 매달린다.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9048" y="2103120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2286000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Redis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256032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캐시 · 파생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292608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3072384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키 5종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328416"/>
            <a:ext cx="212140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auth:token · batch:lock · rank:bossrush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인증 대조, 배치 리더 락, 보스러시 랭킹. 전부 날아가도 정본에서 복구된다.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5672" y="2103120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88551" y="2286000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4FBF"/>
                </a:solidFill>
                <a:latin typeface="맑은 고딕"/>
                <a:ea typeface="맑은 고딕"/>
                <a:cs typeface="맑은 고딕"/>
              </a:rPr>
              <a:t>TimescaleDB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88551" y="256032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로그 DB(logdb)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88551" y="2926080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1" y="3072384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4FBF"/>
                </a:solidFill>
                <a:latin typeface="맑은 고딕"/>
                <a:ea typeface="맑은 고딕"/>
                <a:cs typeface="맑은 고딕"/>
              </a:rPr>
              <a:t>테이블 31개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1" y="3328416"/>
            <a:ext cx="212140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 적재 · 서버는 미접속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액션 로그 하이퍼테이블 + 주기 스냅샷 히스토리. 세이브와 분리된 인스턴스다.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572000"/>
            <a:ext cx="353872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6968" y="475488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4882896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마스터 데이터는 DB에 없다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5248656"/>
            <a:ext cx="31363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몬스터 · 스테이지 · 아이템 등 마스터 27종은 읽기 전용 정의라 기동 시 인메모리로 올린다. 런타임 조회가 DB를 타지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70832" y="4572000"/>
            <a:ext cx="353872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4754880"/>
            <a:ext cx="411480" cy="36576"/>
          </a:xfrm>
          <a:prstGeom prst="rect">
            <a:avLst/>
          </a:prstGeom>
          <a:solidFill>
            <a:srgbClr val="0E8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82896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로그 DB는 FK로 잇지 않는다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248656"/>
            <a:ext cx="31363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user_id · item_code를 이름만 공유하는 별도 인스턴스다. 분석 계통이 멈춰도 게임 서버는 그대로 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55864" y="4572000"/>
            <a:ext cx="353872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57032" y="475488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7032" y="4882896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캐시는 마지막 수단이다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57032" y="5248656"/>
            <a:ext cx="313639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가방 조회 같은 개인 데이터는 인덱스로 직접 읽는다. 캐시를 둔 곳은 "정렬된 전체 집합에서의 위치"인 랭킹뿐이다.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ERD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3.1  전체 ERD — 계정 2 + 세이브 19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루트는 game_player 하나. 세이브 테이블 전부가 user_id 한 축에 매달린다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947672"/>
            <a:ext cx="17830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47672"/>
            <a:ext cx="54864" cy="132588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029968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game_player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49424"/>
            <a:ext cx="1536192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user_id  PK · 계정당 1행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450592"/>
            <a:ext cx="147218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523744"/>
            <a:ext cx="153619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act · stage · difficulty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max_stage_cleared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inventory_capacity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last_active_at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604211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6799" y="2121408"/>
            <a:ext cx="12801" cy="3771900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2115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17520" y="19476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1752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72968" y="19915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player_character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2968" y="21360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(user_id, character_id)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457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2905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290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72968" y="23344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player_item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2968" y="24789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player_item_id PK · (user_id, slot) UQ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8008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017520" y="26334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17520" y="26334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2968" y="26773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player_cube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2968" y="28218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user_id PK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31437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520" y="29763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17520" y="29763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72968" y="30202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player_rune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2968" y="31647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(user_id, rune_code)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4866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17520" y="33192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17520" y="33192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72968" y="33631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player_buff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2968" y="35076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(user_id, buff_type)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8295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017520" y="36621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17520" y="36621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72968" y="37060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player_attendance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2968" y="38505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user_id PK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41724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40050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01752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72968" y="40489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player_mail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72968" y="41934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mail_id PK · user_id IDX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0" y="45153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017520" y="43479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17520" y="43479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72968" y="43918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trade_listing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72968" y="45363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listing_id PK · (status, item_code, price)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582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017520" y="46908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017520" y="46908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72968" y="47347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player_gacha_counter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72968" y="48792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(user_id, gacha_code, grade)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52011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17520" y="50337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1752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72968" y="50776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player_gacha_pull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72968" y="52221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pull_id PK · (user_id, pull_id)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0" y="5544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17520" y="53766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017520" y="53766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72968" y="54205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boss_rush_record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72968" y="55650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(season_id, user_id)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0" y="5886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017520" y="5719572"/>
            <a:ext cx="2514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1752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72968" y="5763463"/>
            <a:ext cx="226771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boss_rush_run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72968" y="5907938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run_id PK · (user_id, started_at)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80760" y="19476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8076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6208" y="1991563"/>
            <a:ext cx="21305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player_skill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2136038"/>
            <a:ext cx="2130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(user_id, character_id, skill_code)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80760" y="22905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080760" y="22905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36208" y="2334463"/>
            <a:ext cx="21305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player_item_equipped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36208" y="2478938"/>
            <a:ext cx="2130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player_item_id PK · UQ(user, char, slot)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40050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076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6208" y="4048963"/>
            <a:ext cx="21305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player_mail_reward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36208" y="4193438"/>
            <a:ext cx="2130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(mail_id, seq)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80760" y="50337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8076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36208" y="5077663"/>
            <a:ext cx="21305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player_gacha_pull_item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5222138"/>
            <a:ext cx="2130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(pull_id, seq)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80760" y="53766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080760" y="53766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236208" y="5420563"/>
            <a:ext cx="21305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boss_rush_season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5565038"/>
            <a:ext cx="2130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season_id PK · start_at UQ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80760" y="571957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8076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36208" y="5763463"/>
            <a:ext cx="213055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boss_rush_run_round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36208" y="5907938"/>
            <a:ext cx="2130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(run_id, round)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32120" y="20327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532120" y="2197303"/>
            <a:ext cx="320040" cy="12801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845759" y="2203703"/>
            <a:ext cx="12801" cy="17830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852160" y="2375611"/>
            <a:ext cx="228600" cy="12801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532120" y="2540203"/>
            <a:ext cx="548640" cy="12801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32120" y="41724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532120" y="52011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532120" y="5489143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852160" y="5598871"/>
            <a:ext cx="228600" cy="12801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845759" y="5605272"/>
            <a:ext cx="12801" cy="370332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532120" y="5969203"/>
            <a:ext cx="320040" cy="12801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532120" y="58046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915400" y="1947672"/>
            <a:ext cx="256032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98280" y="2084831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MySQL · Account DB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098280" y="2304288"/>
            <a:ext cx="2194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098280" y="2304288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253728" y="2348179"/>
            <a:ext cx="19476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users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253728" y="2492654"/>
            <a:ext cx="194767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user_id PK · email UQ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89159" y="2651760"/>
            <a:ext cx="12801" cy="182880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098280" y="2834640"/>
            <a:ext cx="2194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098280" y="2834640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53728" y="2878531"/>
            <a:ext cx="1947672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user_auth_token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53728" y="3023006"/>
            <a:ext cx="194767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user_id PK · 사용자당 1행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98280" y="325526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users.user_id = 게임 DB 전 테이블의 user_id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915400" y="3703320"/>
            <a:ext cx="2560320" cy="23591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98280" y="384048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범례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098280" y="4133087"/>
            <a:ext cx="91440" cy="146304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281160" y="4137659"/>
            <a:ext cx="2011679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 공유 — user_id 소유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098280" y="4389120"/>
            <a:ext cx="91440" cy="146304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281160" y="4393692"/>
            <a:ext cx="2011679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캐릭터별 — character_id 종속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98280" y="4645152"/>
            <a:ext cx="91440" cy="146304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1160" y="4649724"/>
            <a:ext cx="2011679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전역 — 계정에 속하지 않음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098280" y="4937760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098280" y="5138927"/>
            <a:ext cx="310896" cy="12801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00616" y="5084064"/>
            <a:ext cx="179222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 : N   부모 1행에 자식 N행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098280" y="5394959"/>
            <a:ext cx="310896" cy="12801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00616" y="5340096"/>
            <a:ext cx="179222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 : 1   양쪽 모두 1행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098280" y="5650992"/>
            <a:ext cx="310896" cy="12801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00616" y="5596128"/>
            <a:ext cx="179222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 : 0..1  자식은 있을 수도 없을 수도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85800" y="627278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마스터 27종은 인메모리, 로그 31종은 별도 인스턴스(logdb)라 이 그림에 없다.    전체 컬럼 정의 → docs/공통/db-erd-통합.md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DESIGN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3.2  장착 상태를 왜 떼어 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player_item · player_item_equipped — 장착은 아이템의 속성이 아니라 "캐릭터의 슬롯 하나를 점유한 상태"다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3035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24028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368296"/>
            <a:ext cx="490118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버린 안 — player_item에 장착 컬럼을 둔다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2706624"/>
            <a:ext cx="23317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798064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player_item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player_item_id  PK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item_code · quantity · slot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equipped_character_id   NULL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equipped_slot                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61488"/>
            <a:ext cx="238658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· 미장착을 NULL로 표현해, 모든 조회가 NULL 분기를 안고 간다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· "한 캐릭터-슬롯에 하나"를 DB가 막지 못한다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· 재화 행까지 평생 NULL인 컬럼 둘을 갖는다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057400"/>
            <a:ext cx="53035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3368" y="224028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2368296"/>
            <a:ext cx="490118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택한 안 — 장착 중인 것만 자식 테이블로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73368" y="2706624"/>
            <a:ext cx="2331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788920"/>
            <a:ext cx="2057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player_item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보유 상태 · slot = 가방 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3328416"/>
            <a:ext cx="2331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3410712"/>
            <a:ext cx="2057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1B9E6F"/>
                </a:solidFill>
                <a:latin typeface="맑은 고딕"/>
                <a:ea typeface="맑은 고딕"/>
                <a:cs typeface="맑은 고딕"/>
              </a:rPr>
              <a:t>player_item_equipped</a:t>
            </a:r>
          </a:p>
          <a:p>
            <a:pPr algn="l">
              <a:lnSpc>
                <a:spcPct val="130000"/>
              </a:lnSpc>
            </a:pPr>
            <a:r>
              <a:rPr sz="7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장착 상태 · 아이템당 최대 1행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8255" y="3182112"/>
            <a:ext cx="12801" cy="146304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87968" y="2761488"/>
            <a:ext cx="238658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· 행이 있으면 장착, 없으면 해제 — 상태가 한 가지로만 읽힌다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· PK player_item_id → 한 아이템의 이중 장착 불가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· UQ(user_id, character_id, equipped_slot) → 한 슬롯 하나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14800"/>
            <a:ext cx="25603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429768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425696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규칙을 서버가 아니라 DB가 지킨다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901184"/>
            <a:ext cx="21945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유니크 제약 두 개가 "한 슬롯에 하나 · 한 아이템은 한 곳"을 강제한다.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504688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59612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서버에 버그가 나도 데이터가 모순 상태로 남지 않는다.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4114800"/>
            <a:ext cx="25603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11880" y="429768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4425696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장착 · 해제가 INSERT · DELETE다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901184"/>
            <a:ext cx="21945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NULL을 넣었다 뺐다 하는 UPDATE가 아니라 행을 만들고 지우는 연산이 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11880" y="5504688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559612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트랜잭션이 짧고, 중간에 실패해도 애매한 상태가 남지 않는다.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114800"/>
            <a:ext cx="25603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29768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425696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가방 용량이 저절로 맞는다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901184"/>
            <a:ext cx="21945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장착 중인 장비는 player_item.slot이 NULL이라 가방 칸을 차지하지 않는다.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5504688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559612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용량 계산 · 가방 조회에 "장착 중이면 제외" 같은 예외 분기가 없다.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15400" y="4114800"/>
            <a:ext cx="25603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98280" y="4297680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4425696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두 화면이 서로를 스캔하지 않는다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901184"/>
            <a:ext cx="21945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가방 목록은 player_item만, 캐릭터 스탯은 player_item_equipped만 읽는다.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5504688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559612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조회 성격이 다른 두 축이 같은 테이블을 놓고 경합하지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21792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같은 판단을 메일 첨부(player_mail_reward) · 10연 뽑기 결과(player_gacha_pull_item)에도 그대로 적용했다 — 반복되는 것은 컬럼이 아니라 행이다.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3.3  스키마를 짤 때 지킨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테이블마다 매번 판단하지 않도록, 먼저 규칙을 정하고 그 규칙대로 21개를 그렸다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342900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28600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14015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JSON 컬럼을 두지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761487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반복 구조는 전부 자식 테이블로 편다. 메일 첨부는 player_mail_reward, 10연 뽑기 결과는 player_gacha_pull_item.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529584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6210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한 컬럼에 뭉쳐 두면 조건 조회 · 집계를 SQL로 할 수 없다.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03120"/>
            <a:ext cx="342900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28600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414015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상태는 컬럼이 아니라 행으로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61487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장착 여부를 player_item의 NULL 컬럼으로 두지 않고 player_item_equipped 행으로 표현한다. 장착은 INSERT, 해제는 DELETE.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529584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6210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행이 있으면 곧 장착 중 — 해석이 갈릴 여지가 없다.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103120"/>
            <a:ext cx="342900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7032" y="228600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2414015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규칙은 유니크 제약에 못 박는다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2761487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(user_id, slot)로 가방 칸 중복을, (user_id, character_id, equipped_slot)로 한 슬롯 한 아이템을 DB가 보장한다.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57032" y="3529584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2" y="36210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부분 유니크가 없는 경우(파티 slot 1~3, 재화 1행)만 서버 트랜잭션이 맡는다.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160520"/>
            <a:ext cx="342900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" y="434340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714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시간은 전부 Unix timestamp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4818888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계정 · 세이브 · 로그가 BIGINT(초) 한 축을 쓴다. 타임존 해석은 표시 단계에서만 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" y="5586983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6784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오프라인 보상 · 거래 만료 · 버프 잔여가 같은 기준으로 계산된다.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0832" y="4160520"/>
            <a:ext cx="342900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4343400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4714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인덱스는 추측하지 않고 실측했다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818888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리포지토리 쿼리 186건을 카탈로그로 뽑아 EXPLAIN을 돌려 인덱스를 실제로 타는지 확인했다.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5586983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56784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사용자 대기 경로에 치명적으로 느린 쿼리는 없었다. → docs/공통/쿼리-분석.md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55864" y="4160520"/>
            <a:ext cx="342900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57032" y="4343400"/>
            <a:ext cx="411480" cy="36576"/>
          </a:xfrm>
          <a:prstGeom prst="rect">
            <a:avLst/>
          </a:prstGeom>
          <a:solidFill>
            <a:srgbClr val="0E8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57032" y="44714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정본은 언제나 MySQL이다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57032" y="4818888"/>
            <a:ext cx="302666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Redis에 있는 것은 토큰 · 락 · 랭킹 인덱스뿐이고, 전부 MySQL에서 다시 만들 수 있다.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57032" y="5586983"/>
            <a:ext cx="3026664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57032" y="5678424"/>
            <a:ext cx="30266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랭킹은 관리 API로 정본에서 재적재하고, 장애 시 MySQL 정렬 조회로 폴백한다.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2727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스키마가 바뀌면 세부 기획서 → db-erd-통합.md → db-schema.sql 을 같은 작업에서 함께 고친다 — 문서 동기화 규칙이 DB에도 그대로 적용된다.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4232</Words>
  <Application>Microsoft Office PowerPoint</Application>
  <PresentationFormat>와이드스크린</PresentationFormat>
  <Paragraphs>678</Paragraphs>
  <Slides>36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com2usholdings602</cp:lastModifiedBy>
  <cp:revision>41</cp:revision>
  <dcterms:created xsi:type="dcterms:W3CDTF">2013-01-27T09:14:16Z</dcterms:created>
  <dcterms:modified xsi:type="dcterms:W3CDTF">2026-08-25T07:21:43Z</dcterms:modified>
  <cp:category/>
</cp:coreProperties>
</file>