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2" r:id="rId23"/>
    <p:sldId id="284" r:id="rId24"/>
    <p:sldId id="286" r:id="rId25"/>
    <p:sldId id="287" r:id="rId26"/>
    <p:sldId id="288" r:id="rId27"/>
    <p:sldId id="289" r:id="rId28"/>
    <p:sldId id="291" r:id="rId29"/>
    <p:sldId id="29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E056294-CB1A-457A-BC77-3D2C0110B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70"/>
            <p14:sldId id="271"/>
          </p14:sldIdLst>
        </p14:section>
        <p14:section name="제목 없는 구역" id="{6E91ED39-CFAE-4652-AD54-7C7168663919}">
          <p14:sldIdLst>
            <p14:sldId id="272"/>
            <p14:sldId id="274"/>
            <p14:sldId id="275"/>
            <p14:sldId id="276"/>
            <p14:sldId id="277"/>
            <p14:sldId id="278"/>
            <p14:sldId id="279"/>
            <p14:sldId id="282"/>
            <p14:sldId id="284"/>
            <p14:sldId id="286"/>
            <p14:sldId id="287"/>
            <p14:sldId id="288"/>
            <p14:sldId id="289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0" y="1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44654-2EF2-416C-BD24-BC4053C40EC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5A9FB-44F8-40F0-A994-A91B0B6534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2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5A9FB-44F8-40F0-A994-A91B0B6534F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470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058400" cy="25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dirty="0">
                <a:solidFill>
                  <a:srgbClr val="E0A526"/>
                </a:solidFill>
                <a:latin typeface="맑은 고딕"/>
              </a:rPr>
              <a:t>2026 </a:t>
            </a:r>
            <a:r>
              <a:rPr sz="1500" b="1" dirty="0" err="1">
                <a:solidFill>
                  <a:srgbClr val="E0A526"/>
                </a:solidFill>
                <a:latin typeface="맑은 고딕"/>
              </a:rPr>
              <a:t>컴투스</a:t>
            </a:r>
            <a:r>
              <a:rPr sz="1500" b="1" dirty="0">
                <a:solidFill>
                  <a:srgbClr val="E0A526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E0A526"/>
                </a:solidFill>
                <a:latin typeface="맑은 고딕"/>
              </a:rPr>
              <a:t>지니어스</a:t>
            </a:r>
            <a:r>
              <a:rPr sz="1500" b="1" dirty="0">
                <a:solidFill>
                  <a:srgbClr val="E0A526"/>
                </a:solidFill>
                <a:latin typeface="맑은 고딕"/>
              </a:rPr>
              <a:t> </a:t>
            </a:r>
            <a:r>
              <a:rPr lang="en-US" sz="1500" b="1" dirty="0">
                <a:solidFill>
                  <a:srgbClr val="E0A526"/>
                </a:solidFill>
                <a:latin typeface="맑은 고딕"/>
              </a:rPr>
              <a:t>8</a:t>
            </a:r>
            <a:r>
              <a:rPr lang="ko-KR" altLang="en-US" sz="1500" b="1" dirty="0">
                <a:solidFill>
                  <a:srgbClr val="E0A526"/>
                </a:solidFill>
                <a:latin typeface="맑은 고딕"/>
              </a:rPr>
              <a:t>기 과제발표</a:t>
            </a:r>
            <a:endParaRPr sz="1500" b="1" dirty="0">
              <a:solidFill>
                <a:srgbClr val="E0A52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5207" y="3054012"/>
            <a:ext cx="10241280" cy="16977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ko-KR" altLang="en-US" sz="4800" b="1" dirty="0">
                <a:solidFill>
                  <a:srgbClr val="FFFFFF"/>
                </a:solidFill>
                <a:latin typeface="맑은 고딕"/>
              </a:rPr>
              <a:t>방치형 게임</a:t>
            </a:r>
            <a:r>
              <a:rPr lang="en-US" altLang="ko-KR" sz="4800" b="1" dirty="0">
                <a:solidFill>
                  <a:srgbClr val="FFFFFF"/>
                </a:solidFill>
                <a:latin typeface="맑은 고딕"/>
              </a:rPr>
              <a:t>(Com2us Taskbar Hero)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endParaRPr sz="480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5840" y="4160520"/>
            <a:ext cx="1463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1부 서버 · 2부 클라이언트 — 같은 저장소, 다른 작업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2F6FE4"/>
                </a:solidFill>
                <a:latin typeface="맑은 고딕"/>
              </a:rPr>
              <a:t>제1부 — 서버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1  개발 환경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2  개발 방식 한눈에 보기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3  개발 루프 — 문서 → 구현 → 검증 → 동기화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4  문서 체계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5  밸런스 수치를 잡기위한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2F6FE4"/>
                </a:solidFill>
                <a:latin typeface="맑은 고딕"/>
              </a:rPr>
              <a:t>제2부 — 클라이언트(Unity)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6   클라이언트 개발 환경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7   개발 방식 한눈에 보기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8   UI를 손으로 만들지 않는다 — 에디터 빌더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9   자산 파이프라인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00" b="0">
                <a:solidFill>
                  <a:srgbClr val="1B2430"/>
                </a:solidFill>
                <a:latin typeface="맑은 고딕"/>
              </a:rPr>
              <a:t>10  몬스터를 요청 한 줄로 — master-monster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E0A526"/>
                </a:solidFill>
                <a:latin typeface="맑은 고딕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서버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7684"/>
                </a:solidFill>
                <a:latin typeface="맑은 고딕"/>
              </a:rPr>
              <a:t>스팀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방치형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게임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lang="en-US" sz="1400" b="0" dirty="0">
                <a:solidFill>
                  <a:srgbClr val="6B7684"/>
                </a:solidFill>
                <a:latin typeface="맑은 고딕"/>
              </a:rPr>
              <a:t>(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Taskbar Hero</a:t>
            </a:r>
            <a:r>
              <a:rPr lang="en-US" sz="1400" b="0" dirty="0">
                <a:solidFill>
                  <a:srgbClr val="6B7684"/>
                </a:solidFill>
                <a:latin typeface="맑은 고딕"/>
              </a:rPr>
              <a:t>)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모작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—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서버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2종 +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공유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라이브러리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+ Unity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클라이언트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971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23317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서버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62432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B2430"/>
                </a:solidFill>
                <a:latin typeface="맑은 고딕"/>
              </a:rPr>
              <a:t>AccountServer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017520"/>
            <a:ext cx="2560320" cy="20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6B7684"/>
                </a:solidFill>
                <a:latin typeface="맑은 고딕"/>
              </a:rPr>
              <a:t>계정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인증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서비스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977639" y="2148840"/>
            <a:ext cx="2971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97095" y="23317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5" y="262432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B2430"/>
                </a:solidFill>
                <a:latin typeface="맑은 고딕"/>
              </a:rPr>
              <a:t>GameServer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5" y="3017520"/>
            <a:ext cx="2560320" cy="47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6B7684"/>
                </a:solidFill>
                <a:latin typeface="맑은 고딕"/>
              </a:rPr>
              <a:t>게임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로직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서비스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6B7684"/>
                </a:solidFill>
                <a:latin typeface="맑은 고딕"/>
              </a:rPr>
              <a:t>스테이지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인벤토리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거래소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가챠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148840"/>
            <a:ext cx="2971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88936" y="233172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공유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262432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dirty="0" err="1">
                <a:solidFill>
                  <a:srgbClr val="1B2430"/>
                </a:solidFill>
                <a:latin typeface="맑은 고딕"/>
              </a:rPr>
              <a:t>TaskbarHero.Common</a:t>
            </a:r>
            <a:endParaRPr sz="1500" b="1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88936" y="3017520"/>
            <a:ext cx="2560320" cy="20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>
                <a:solidFill>
                  <a:srgbClr val="6B7684"/>
                </a:solidFill>
                <a:latin typeface="맑은 고딕"/>
              </a:rPr>
              <a:t>netstandard2.0 ; net10.0 </a:t>
            </a:r>
            <a:r>
              <a:rPr lang="ko-KR" altLang="en-US" sz="1150" b="0" dirty="0" err="1">
                <a:solidFill>
                  <a:srgbClr val="6B7684"/>
                </a:solidFill>
                <a:latin typeface="맑은 고딕"/>
              </a:rPr>
              <a:t>멀티타겟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566A3E-6837-86F7-CBC4-A8FA1421B7C2}"/>
              </a:ext>
            </a:extLst>
          </p:cNvPr>
          <p:cNvSpPr txBox="1"/>
          <p:nvPr/>
        </p:nvSpPr>
        <p:spPr>
          <a:xfrm>
            <a:off x="6298811" y="6018191"/>
            <a:ext cx="2380249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모작 </a:t>
            </a:r>
            <a:r>
              <a:rPr lang="en-US" altLang="ko-KR" sz="1400" b="0" dirty="0">
                <a:solidFill>
                  <a:srgbClr val="6B7684"/>
                </a:solidFill>
                <a:latin typeface="맑은 고딕"/>
              </a:rPr>
              <a:t>: Com2us Taskbar Hero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A3ECCCD-3735-61BA-896D-BFCDC94E3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513" y="4615231"/>
            <a:ext cx="3380191" cy="146646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20F89FA-11AB-EEF1-1C0D-2B110621E6A5}"/>
              </a:ext>
            </a:extLst>
          </p:cNvPr>
          <p:cNvSpPr txBox="1"/>
          <p:nvPr/>
        </p:nvSpPr>
        <p:spPr>
          <a:xfrm>
            <a:off x="2039351" y="6018191"/>
            <a:ext cx="3090517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원작 스팀 게임 </a:t>
            </a:r>
            <a:r>
              <a:rPr lang="en-US" altLang="ko-KR" sz="1400" b="0" dirty="0">
                <a:solidFill>
                  <a:srgbClr val="6B7684"/>
                </a:solidFill>
                <a:latin typeface="맑은 고딕"/>
              </a:rPr>
              <a:t>TBH : </a:t>
            </a: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태스크바 히어로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5DD53B63-F9B9-6FED-ABD1-286DE4BD7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657" y="4722867"/>
            <a:ext cx="2410955" cy="130781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6CF6AA3-6411-144A-8837-9AD806B05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950" y="4618858"/>
            <a:ext cx="1848012" cy="1036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1. 개발 환경 — 서버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선택한 기술과 그 선택이 강제하는 규칙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88162"/>
              </p:ext>
            </p:extLst>
          </p:nvPr>
        </p:nvGraphicFramePr>
        <p:xfrm>
          <a:off x="685800" y="2103120"/>
          <a:ext cx="10789920" cy="23957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런타임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.NET 10 · ASP.NET Core Web API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MySQL 8.4 (Docker)</a:t>
                      </a:r>
                      <a:r>
                        <a:rPr lang="en-US"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, Redis 8.2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로깅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ZLogger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개발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도구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Claude Code(CLI) · </a:t>
                      </a:r>
                      <a:r>
                        <a:rPr lang="en-US"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Visual Studio Code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문서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Markdown + Mermaid (ERD ·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시퀀스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다이어그램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2. 개발 방식 한눈에 보기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75701"/>
            <a:ext cx="10789920" cy="160020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82880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dirty="0">
                <a:solidFill>
                  <a:srgbClr val="E6ECF5"/>
                </a:solidFill>
                <a:latin typeface="Consolas"/>
              </a:rPr>
              <a:t>①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기획서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요청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 →  ②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검토·확정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 →  ③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문서대로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구현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요청</a:t>
            </a:r>
            <a:endParaRPr sz="1600" dirty="0">
              <a:solidFill>
                <a:srgbClr val="E6ECF5"/>
              </a:solidFill>
              <a:latin typeface="Consolas"/>
            </a:endParaRP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dirty="0">
                <a:solidFill>
                  <a:srgbClr val="E6ECF5"/>
                </a:solidFill>
                <a:latin typeface="Consolas"/>
              </a:rPr>
              <a:t>                                         ↓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dirty="0">
                <a:solidFill>
                  <a:srgbClr val="E6ECF5"/>
                </a:solidFill>
                <a:latin typeface="Consolas"/>
              </a:rPr>
              <a:t>     ⑥ </a:t>
            </a:r>
            <a:r>
              <a:rPr lang="en-US" sz="1600" dirty="0">
                <a:solidFill>
                  <a:srgbClr val="E6ECF5"/>
                </a:solidFill>
                <a:latin typeface="Consolas"/>
              </a:rPr>
              <a:t>README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현황판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갱신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 ←  ⑤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문서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동기화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 ←  ④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빌드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+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실서버</a:t>
            </a:r>
            <a:r>
              <a:rPr sz="16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600" dirty="0" err="1">
                <a:solidFill>
                  <a:srgbClr val="E6ECF5"/>
                </a:solidFill>
                <a:latin typeface="Consolas"/>
              </a:rPr>
              <a:t>검증</a:t>
            </a:r>
            <a:endParaRPr sz="1600" dirty="0">
              <a:solidFill>
                <a:srgbClr val="E6ECF5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506598"/>
            <a:ext cx="10789920" cy="14402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dirty="0" err="1">
                <a:solidFill>
                  <a:srgbClr val="1B2430"/>
                </a:solidFill>
                <a:latin typeface="맑은 고딕"/>
              </a:rPr>
              <a:t>핵심은</a:t>
            </a:r>
            <a:r>
              <a:rPr sz="17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lang="ko-KR" altLang="en-US" sz="1700" b="1" dirty="0">
                <a:solidFill>
                  <a:srgbClr val="1B2430"/>
                </a:solidFill>
                <a:latin typeface="맑은 고딕"/>
              </a:rPr>
              <a:t>기획 문서를 자세히 작성하여 </a:t>
            </a:r>
            <a:r>
              <a:rPr lang="ko-KR" altLang="en-US" sz="1700" b="1" dirty="0" err="1">
                <a:solidFill>
                  <a:srgbClr val="1B2430"/>
                </a:solidFill>
                <a:latin typeface="맑은 고딕"/>
              </a:rPr>
              <a:t>클로드에게</a:t>
            </a:r>
            <a:r>
              <a:rPr lang="ko-KR" altLang="en-US" sz="1700" b="1" dirty="0">
                <a:solidFill>
                  <a:srgbClr val="1B2430"/>
                </a:solidFill>
                <a:latin typeface="맑은 고딕"/>
              </a:rPr>
              <a:t> 많은 정보를 주는 것</a:t>
            </a:r>
            <a:endParaRPr lang="en-US" sz="1700" b="1" dirty="0">
              <a:solidFill>
                <a:srgbClr val="1B243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 dirty="0">
                <a:solidFill>
                  <a:srgbClr val="6B7684"/>
                </a:solidFill>
                <a:latin typeface="맑은 고딕"/>
              </a:rPr>
              <a:t>·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기획서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단계에서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API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스키마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· DB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구조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에러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코드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예외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처리를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확정한다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>
                <a:solidFill>
                  <a:srgbClr val="6B7684"/>
                </a:solidFill>
                <a:latin typeface="맑은 고딕"/>
              </a:rPr>
              <a:t>·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구현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단계에서는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그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문서를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그대로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지시서로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쓴다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→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구현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중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즉흥적인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설계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변경</a:t>
            </a:r>
            <a:r>
              <a:rPr lang="en-US"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감소 </a:t>
            </a:r>
            <a:r>
              <a:rPr lang="en-US" altLang="ko-KR" sz="1400" b="0" dirty="0">
                <a:solidFill>
                  <a:srgbClr val="6B7684"/>
                </a:solidFill>
                <a:latin typeface="맑은 고딕"/>
              </a:rPr>
              <a:t>+ </a:t>
            </a: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코드를 보지 않아도 문서만으로도 파악 가능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dirty="0">
                <a:solidFill>
                  <a:srgbClr val="6B7684"/>
                </a:solidFill>
                <a:latin typeface="맑은 고딕"/>
              </a:rPr>
              <a:t>·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나중에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＂왜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이렇게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했더라＂를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코드</a:t>
            </a:r>
            <a:r>
              <a:rPr lang="en-US"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lang="ko-KR" altLang="en-US" sz="1400" b="0" dirty="0" err="1">
                <a:solidFill>
                  <a:srgbClr val="6B7684"/>
                </a:solidFill>
                <a:latin typeface="맑은 고딕"/>
              </a:rPr>
              <a:t>주석뿐만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아니라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문서에서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확인할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수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있다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3. 개발 루프 — 여섯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새 기능은 코드가 아니라 기획서 작성 요청으로 시작한다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23317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6243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B2430"/>
                </a:solidFill>
                <a:latin typeface="맑은 고딕"/>
              </a:rPr>
              <a:t>기획서부터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017520"/>
            <a:ext cx="3017520" cy="47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>
                <a:solidFill>
                  <a:srgbClr val="6B7684"/>
                </a:solidFill>
                <a:latin typeface="맑은 고딕"/>
              </a:rPr>
              <a:t>design-doc</a:t>
            </a:r>
            <a:r>
              <a:rPr lang="en-US"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스킬을 활용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,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ko-KR" altLang="en-US" sz="1150" dirty="0">
                <a:solidFill>
                  <a:srgbClr val="6B7684"/>
                </a:solidFill>
                <a:latin typeface="맑은 고딕"/>
              </a:rPr>
              <a:t>기능 구현을 위한 문서를 상세히 작성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0832" y="214884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3317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6243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B2430"/>
                </a:solidFill>
                <a:latin typeface="맑은 고딕"/>
              </a:rPr>
              <a:t>검토 ·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17520"/>
            <a:ext cx="3017520" cy="101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ko-KR" altLang="en-US" sz="1150" dirty="0">
                <a:solidFill>
                  <a:srgbClr val="6B7684"/>
                </a:solidFill>
                <a:latin typeface="맑은 고딕"/>
              </a:rPr>
              <a:t>기획서에서 결정되지 않은 이슈를</a:t>
            </a:r>
            <a:endParaRPr lang="en-US" altLang="ko-KR" sz="115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별도 항목으로 남겨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구현을 위해</a:t>
            </a:r>
            <a:endParaRPr lang="en-US" altLang="ko-KR" sz="115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ko-KR" altLang="en-US" sz="1150" dirty="0" err="1">
                <a:solidFill>
                  <a:srgbClr val="6B7684"/>
                </a:solidFill>
                <a:latin typeface="맑은 고딕"/>
              </a:rPr>
              <a:t>확정해야할</a:t>
            </a:r>
            <a:r>
              <a:rPr lang="ko-KR" altLang="en-US" sz="1150" dirty="0">
                <a:solidFill>
                  <a:srgbClr val="6B7684"/>
                </a:solidFill>
                <a:latin typeface="맑은 고딕"/>
              </a:rPr>
              <a:t> 사항들을 재검토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endParaRPr sz="115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55864" y="214884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23317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243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B2430"/>
                </a:solidFill>
                <a:latin typeface="맑은 고딕"/>
              </a:rPr>
              <a:t>문서대로 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17520"/>
            <a:ext cx="3017520" cy="47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>
                <a:solidFill>
                  <a:srgbClr val="6B7684"/>
                </a:solidFill>
                <a:latin typeface="맑은 고딕"/>
              </a:rPr>
              <a:t>"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기획서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5.2를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구현해줘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"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en-US" sz="1150" dirty="0">
                <a:solidFill>
                  <a:srgbClr val="6B7684"/>
                </a:solidFill>
                <a:latin typeface="맑은 고딕"/>
              </a:rPr>
              <a:t>=&gt; </a:t>
            </a:r>
            <a:r>
              <a:rPr lang="ko-KR" altLang="en-US" sz="1150" dirty="0">
                <a:solidFill>
                  <a:srgbClr val="6B7684"/>
                </a:solidFill>
                <a:latin typeface="맑은 고딕"/>
              </a:rPr>
              <a:t>기획서 확정 후</a:t>
            </a:r>
            <a:r>
              <a:rPr lang="en-US" altLang="ko-KR" sz="115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lang="ko-KR" altLang="en-US" sz="1150" dirty="0">
                <a:solidFill>
                  <a:srgbClr val="6B7684"/>
                </a:solidFill>
                <a:latin typeface="맑은 고딕"/>
              </a:rPr>
              <a:t>그대로 구현을 진행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425196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" y="44348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0A526"/>
                </a:solidFill>
                <a:latin typeface="맑은 고딕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4727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B2430"/>
                </a:solidFill>
                <a:latin typeface="맑은 고딕"/>
              </a:rPr>
              <a:t>빌드 + 실서버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5120640"/>
            <a:ext cx="3017520" cy="434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6B7684"/>
                </a:solidFill>
                <a:latin typeface="맑은 고딕"/>
              </a:rPr>
              <a:t>빌드</a:t>
            </a:r>
            <a:r>
              <a:rPr lang="en-US"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후 서버를 띄우고 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API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를 호출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,</a:t>
            </a:r>
            <a:br>
              <a:rPr lang="en-US" altLang="ko-KR" sz="1150" b="0" dirty="0">
                <a:solidFill>
                  <a:srgbClr val="6B7684"/>
                </a:solidFill>
                <a:latin typeface="맑은 고딕"/>
              </a:rPr>
            </a:b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정상동작까지 확인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70832" y="425196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0288" y="44348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0A526"/>
                </a:solidFill>
                <a:latin typeface="맑은 고딕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727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B2430"/>
                </a:solidFill>
                <a:latin typeface="맑은 고딕"/>
              </a:rPr>
              <a:t>문서 동기화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5120640"/>
            <a:ext cx="3017520" cy="473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변경 사항에 대해 관련이 있는 문서는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정합성을 확인하여 동기화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425196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44348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0A526"/>
                </a:solidFill>
                <a:latin typeface="맑은 고딕"/>
              </a:rPr>
              <a:t>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727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B2430"/>
                </a:solidFill>
                <a:latin typeface="맑은 고딕"/>
              </a:rPr>
              <a:t>현황판 갱신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120640"/>
            <a:ext cx="3017520" cy="20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>
                <a:solidFill>
                  <a:srgbClr val="6B7684"/>
                </a:solidFill>
                <a:latin typeface="맑은 고딕"/>
              </a:rPr>
              <a:t>README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체크리스트</a:t>
            </a:r>
            <a:r>
              <a:rPr lang="en-US"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lang="ko-KR" altLang="en-US" sz="1150" dirty="0">
                <a:solidFill>
                  <a:srgbClr val="6B7684"/>
                </a:solidFill>
                <a:latin typeface="맑은 고딕"/>
              </a:rPr>
              <a:t>최신화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LOOP ①②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3.1  ① 기획서부터 요청한다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>
                <a:solidFill>
                  <a:srgbClr val="6B7684"/>
                </a:solidFill>
                <a:latin typeface="맑은 고딕"/>
              </a:rPr>
              <a:t>docs/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세부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/&lt;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기능명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&gt;-기획서.md — design-doc 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문서작성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커스텀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스킬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10789920" cy="91440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82880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dirty="0" err="1">
                <a:solidFill>
                  <a:srgbClr val="E6ECF5"/>
                </a:solidFill>
                <a:latin typeface="Consolas"/>
              </a:rPr>
              <a:t>고정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목차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: 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개요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·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기능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설명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·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요구사항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·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데이터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모델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· API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명세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·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처리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흐름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·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에러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코드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·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미결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사항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·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참고</a:t>
            </a:r>
            <a:endParaRPr sz="1400" dirty="0">
              <a:solidFill>
                <a:srgbClr val="E6ECF5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10789920" cy="3100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800" b="1" dirty="0" err="1">
                <a:solidFill>
                  <a:srgbClr val="2F6FE4"/>
                </a:solidFill>
                <a:latin typeface="맑은 고딕"/>
              </a:rPr>
              <a:t>가장</a:t>
            </a:r>
            <a:r>
              <a:rPr sz="180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2F6FE4"/>
                </a:solidFill>
                <a:latin typeface="맑은 고딕"/>
              </a:rPr>
              <a:t>중요하게</a:t>
            </a:r>
            <a:r>
              <a:rPr sz="180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2F6FE4"/>
                </a:solidFill>
                <a:latin typeface="맑은 고딕"/>
              </a:rPr>
              <a:t>지킨</a:t>
            </a:r>
            <a:r>
              <a:rPr sz="180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800" b="1" dirty="0" err="1">
                <a:solidFill>
                  <a:srgbClr val="2F6FE4"/>
                </a:solidFill>
                <a:latin typeface="맑은 고딕"/>
              </a:rPr>
              <a:t>것은</a:t>
            </a:r>
            <a:r>
              <a:rPr lang="en-US" sz="180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lang="ko-KR" altLang="en-US" sz="1800" b="1" dirty="0">
                <a:solidFill>
                  <a:srgbClr val="2F6FE4"/>
                </a:solidFill>
                <a:latin typeface="맑은 고딕"/>
              </a:rPr>
              <a:t>구현의 근거를 문서로 남기는 것</a:t>
            </a:r>
            <a:endParaRPr sz="1800" b="1" dirty="0">
              <a:solidFill>
                <a:srgbClr val="2F6FE4"/>
              </a:solidFill>
              <a:latin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789920" cy="1463040"/>
          </a:xfrm>
          <a:prstGeom prst="roundRect">
            <a:avLst/>
          </a:prstGeom>
          <a:solidFill>
            <a:srgbClr val="EEF2F9"/>
          </a:solidFill>
          <a:ln w="15875">
            <a:solidFill>
              <a:srgbClr val="2F6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5120640"/>
            <a:ext cx="10149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 dirty="0">
                <a:solidFill>
                  <a:srgbClr val="2F6FE4"/>
                </a:solidFill>
                <a:latin typeface="맑은 고딕"/>
              </a:rPr>
              <a:t>예 — 소모품(부스터) 기획서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 dirty="0">
                <a:solidFill>
                  <a:srgbClr val="1B2430"/>
                </a:solidFill>
                <a:latin typeface="맑은 고딕"/>
              </a:rPr>
              <a:t>"버프는 스테이지 클리어 보상에만 적용된다(확정)"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dirty="0" err="1">
                <a:solidFill>
                  <a:srgbClr val="6B7684"/>
                </a:solidFill>
                <a:latin typeface="맑은 고딕"/>
              </a:rPr>
              <a:t>근거: 부스터는 접속해서 직접 스테이지를 도는 플레이를 보상하는 소모품이고, 오프라인 보상은 이미 효율 50% · 12시간 상한으로 조정된 소급 지급이라 그 위에 배율을 얹지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8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4E33192D-F74D-E267-8762-4A4C661861B5}"/>
              </a:ext>
            </a:extLst>
          </p:cNvPr>
          <p:cNvSpPr/>
          <p:nvPr/>
        </p:nvSpPr>
        <p:spPr>
          <a:xfrm>
            <a:off x="5362663" y="3891188"/>
            <a:ext cx="939567" cy="67950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5EE6BCF5-8324-BED6-FBD4-019126760FB4}"/>
              </a:ext>
            </a:extLst>
          </p:cNvPr>
          <p:cNvSpPr/>
          <p:nvPr/>
        </p:nvSpPr>
        <p:spPr>
          <a:xfrm>
            <a:off x="2428613" y="3830461"/>
            <a:ext cx="2453780" cy="787259"/>
          </a:xfrm>
          <a:prstGeom prst="roundRect">
            <a:avLst/>
          </a:prstGeom>
          <a:solidFill>
            <a:srgbClr val="EEF2F9"/>
          </a:solidFill>
          <a:ln w="15875">
            <a:solidFill>
              <a:srgbClr val="2F6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728111-C912-5686-1C51-E1FBBFB0E864}"/>
              </a:ext>
            </a:extLst>
          </p:cNvPr>
          <p:cNvSpPr txBox="1"/>
          <p:nvPr/>
        </p:nvSpPr>
        <p:spPr>
          <a:xfrm>
            <a:off x="2572905" y="4104057"/>
            <a:ext cx="2179460" cy="20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200" b="1" dirty="0">
                <a:latin typeface="맑은 고딕"/>
              </a:rPr>
              <a:t>그때 이걸 왜 이렇게 구현했지</a:t>
            </a:r>
            <a:r>
              <a:rPr lang="en-US" altLang="ko-KR" sz="1200" b="1" dirty="0">
                <a:latin typeface="맑은 고딕"/>
              </a:rPr>
              <a:t>?</a:t>
            </a:r>
            <a:endParaRPr sz="1200" b="1" dirty="0">
              <a:latin typeface="맑은 고딕"/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B2AE7F63-FA26-5F63-CF54-5160934D66CE}"/>
              </a:ext>
            </a:extLst>
          </p:cNvPr>
          <p:cNvSpPr/>
          <p:nvPr/>
        </p:nvSpPr>
        <p:spPr>
          <a:xfrm>
            <a:off x="6624507" y="3853624"/>
            <a:ext cx="2453780" cy="787259"/>
          </a:xfrm>
          <a:prstGeom prst="roundRect">
            <a:avLst/>
          </a:prstGeom>
          <a:solidFill>
            <a:srgbClr val="EEF2F9"/>
          </a:solidFill>
          <a:ln w="15875">
            <a:solidFill>
              <a:srgbClr val="2F6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5B37EA-782F-6E85-CAE8-2A44A69220E1}"/>
              </a:ext>
            </a:extLst>
          </p:cNvPr>
          <p:cNvSpPr txBox="1"/>
          <p:nvPr/>
        </p:nvSpPr>
        <p:spPr>
          <a:xfrm>
            <a:off x="7259414" y="4122484"/>
            <a:ext cx="1183965" cy="20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200" b="1" dirty="0">
                <a:latin typeface="맑은 고딕"/>
              </a:rPr>
              <a:t>문서를 확인한다</a:t>
            </a:r>
            <a:r>
              <a:rPr lang="en-US" altLang="ko-KR" sz="1200" b="1" dirty="0">
                <a:latin typeface="맑은 고딕"/>
              </a:rPr>
              <a:t>.</a:t>
            </a:r>
            <a:endParaRPr sz="1200" b="1" dirty="0"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LOOP ③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>
                <a:solidFill>
                  <a:srgbClr val="1B2430"/>
                </a:solidFill>
                <a:latin typeface="맑은 고딕"/>
              </a:rPr>
              <a:t>3.2  ③ </a:t>
            </a:r>
            <a:r>
              <a:rPr sz="3000" b="1" dirty="0" err="1">
                <a:solidFill>
                  <a:srgbClr val="1B2430"/>
                </a:solidFill>
                <a:latin typeface="맑은 고딕"/>
              </a:rPr>
              <a:t>문서대로</a:t>
            </a:r>
            <a:r>
              <a:rPr sz="30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B2430"/>
                </a:solidFill>
                <a:latin typeface="맑은 고딕"/>
              </a:rPr>
              <a:t>구현을</a:t>
            </a:r>
            <a:r>
              <a:rPr sz="30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B2430"/>
                </a:solidFill>
                <a:latin typeface="맑은 고딕"/>
              </a:rPr>
              <a:t>요청한다</a:t>
            </a:r>
            <a:endParaRPr sz="3000" b="1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6566483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기획 문서와 별개로 코드 작성시 </a:t>
            </a:r>
            <a:r>
              <a:rPr lang="ko-KR" altLang="en-US" sz="1400" b="0" dirty="0" err="1">
                <a:solidFill>
                  <a:srgbClr val="6B7684"/>
                </a:solidFill>
                <a:latin typeface="맑은 고딕"/>
              </a:rPr>
              <a:t>지켜야할</a:t>
            </a: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 공통 규칙은 </a:t>
            </a:r>
            <a:r>
              <a:rPr lang="en-US" altLang="ko-KR" sz="1400" b="0" dirty="0">
                <a:solidFill>
                  <a:srgbClr val="6B7684"/>
                </a:solidFill>
                <a:latin typeface="맑은 고딕"/>
              </a:rPr>
              <a:t>CLAUDE.md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 에 명시한다</a:t>
            </a: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.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2414016"/>
            <a:ext cx="201168" cy="201168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368296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B2430"/>
                </a:solidFill>
                <a:latin typeface="맑은 고딕"/>
              </a:rPr>
              <a:t>컨트롤러에는 HTTP 액션 메서드만 두고, 공통 보조는 GameApiControllerBase에 상속으로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99232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218688"/>
            <a:ext cx="201168" cy="201168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172968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B2430"/>
                </a:solidFill>
                <a:latin typeface="맑은 고딕"/>
              </a:rPr>
              <a:t>서비스 클래스의 모든 메서드에 /// &lt;summary&gt; 주석 필수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03904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4023360"/>
            <a:ext cx="201168" cy="201168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3977640"/>
            <a:ext cx="9966960" cy="25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dirty="0">
                <a:solidFill>
                  <a:srgbClr val="1B2430"/>
                </a:solidFill>
                <a:latin typeface="맑은 고딕"/>
              </a:rPr>
              <a:t>DB </a:t>
            </a:r>
            <a:r>
              <a:rPr sz="1500" b="0" dirty="0" err="1">
                <a:solidFill>
                  <a:srgbClr val="1B2430"/>
                </a:solidFill>
                <a:latin typeface="맑은 고딕"/>
              </a:rPr>
              <a:t>결과는</a:t>
            </a:r>
            <a:r>
              <a:rPr sz="1500" b="0" dirty="0">
                <a:solidFill>
                  <a:srgbClr val="1B2430"/>
                </a:solidFill>
                <a:latin typeface="맑은 고딕"/>
              </a:rPr>
              <a:t> dynamic </a:t>
            </a:r>
            <a:r>
              <a:rPr sz="1500" b="0" dirty="0" err="1">
                <a:solidFill>
                  <a:srgbClr val="1B2430"/>
                </a:solidFill>
                <a:latin typeface="맑은 고딕"/>
              </a:rPr>
              <a:t>금지</a:t>
            </a:r>
            <a:r>
              <a:rPr sz="15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lang="en-US" sz="1500" dirty="0">
                <a:solidFill>
                  <a:srgbClr val="1B2430"/>
                </a:solidFill>
                <a:latin typeface="맑은 고딕"/>
              </a:rPr>
              <a:t>=&gt; </a:t>
            </a:r>
            <a:r>
              <a:rPr sz="1500" b="0" dirty="0" err="1">
                <a:solidFill>
                  <a:srgbClr val="1B2430"/>
                </a:solidFill>
                <a:latin typeface="맑은 고딕"/>
              </a:rPr>
              <a:t>스칼라</a:t>
            </a:r>
            <a:r>
              <a:rPr sz="15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B2430"/>
                </a:solidFill>
                <a:latin typeface="맑은 고딕"/>
              </a:rPr>
              <a:t>제네릭</a:t>
            </a:r>
            <a:r>
              <a:rPr sz="15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B2430"/>
                </a:solidFill>
                <a:latin typeface="맑은 고딕"/>
              </a:rPr>
              <a:t>매핑만</a:t>
            </a:r>
            <a:endParaRPr sz="1500" b="0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" y="4608576"/>
            <a:ext cx="10789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4828032"/>
            <a:ext cx="201168" cy="201168"/>
          </a:xfrm>
          <a:prstGeom prst="ellipse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478231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B2430"/>
                </a:solidFill>
                <a:latin typeface="맑은 고딕"/>
              </a:rPr>
              <a:t>재화 · 아이템 변경은 단일 트랜잭션, 서버 권위(클라이언트 보고 불신)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6B7684"/>
                </a:solidFill>
                <a:latin typeface="맑은 고딕"/>
              </a:rPr>
              <a:t>구현 요청은 "기획서 5.2를 구현해줘" 같은 형태였다.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LOOP 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3.3  ④ 빌드 + 실서버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구현 후 빌드와 실제 동작 검증을 거쳐야 완료로 인정했다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82880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00" dirty="0" err="1">
                <a:solidFill>
                  <a:srgbClr val="E6ECF5"/>
                </a:solidFill>
                <a:latin typeface="Consolas"/>
              </a:rPr>
              <a:t>기존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6ECF5"/>
                </a:solidFill>
                <a:latin typeface="Consolas"/>
              </a:rPr>
              <a:t>서버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6ECF5"/>
                </a:solidFill>
                <a:latin typeface="Consolas"/>
              </a:rPr>
              <a:t>강제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6ECF5"/>
                </a:solidFill>
                <a:latin typeface="Consolas"/>
              </a:rPr>
              <a:t>종료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 →  dotnet build  →  </a:t>
            </a:r>
            <a:r>
              <a:rPr sz="1200" dirty="0" err="1">
                <a:solidFill>
                  <a:srgbClr val="E6ECF5"/>
                </a:solidFill>
                <a:latin typeface="Consolas"/>
              </a:rPr>
              <a:t>포어그라운드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6ECF5"/>
                </a:solidFill>
                <a:latin typeface="Consolas"/>
              </a:rPr>
              <a:t>기동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 →  </a:t>
            </a:r>
            <a:r>
              <a:rPr sz="1200" dirty="0" err="1">
                <a:solidFill>
                  <a:srgbClr val="E6ECF5"/>
                </a:solidFill>
                <a:latin typeface="Consolas"/>
              </a:rPr>
              <a:t>헬스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6ECF5"/>
                </a:solidFill>
                <a:latin typeface="Consolas"/>
              </a:rPr>
              <a:t>체크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 →  </a:t>
            </a:r>
            <a:r>
              <a:rPr lang="ko-KR" altLang="en-US" sz="1200" dirty="0">
                <a:solidFill>
                  <a:srgbClr val="E6ECF5"/>
                </a:solidFill>
                <a:latin typeface="Consolas"/>
              </a:rPr>
              <a:t>기능 테스트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 →  </a:t>
            </a:r>
            <a:r>
              <a:rPr sz="1200" dirty="0" err="1">
                <a:solidFill>
                  <a:srgbClr val="E6ECF5"/>
                </a:solidFill>
                <a:latin typeface="Consolas"/>
              </a:rPr>
              <a:t>강제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E6ECF5"/>
                </a:solidFill>
                <a:latin typeface="Consolas"/>
              </a:rPr>
              <a:t>종료</a:t>
            </a:r>
            <a:r>
              <a:rPr sz="1200" dirty="0">
                <a:solidFill>
                  <a:srgbClr val="E6ECF5"/>
                </a:solidFill>
                <a:latin typeface="Consolas"/>
              </a:rPr>
              <a:t> · </a:t>
            </a:r>
            <a:r>
              <a:rPr lang="ko-KR" altLang="en-US" sz="1200" dirty="0">
                <a:solidFill>
                  <a:srgbClr val="E6ECF5"/>
                </a:solidFill>
                <a:latin typeface="Consolas"/>
              </a:rPr>
              <a:t>결과 확인</a:t>
            </a:r>
            <a:endParaRPr sz="1200" dirty="0">
              <a:solidFill>
                <a:srgbClr val="E6ECF5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342900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361188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904488"/>
            <a:ext cx="4846320" cy="25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dirty="0" err="1">
                <a:solidFill>
                  <a:srgbClr val="1B2430"/>
                </a:solidFill>
                <a:latin typeface="맑은 고딕"/>
              </a:rPr>
              <a:t>서버는</a:t>
            </a:r>
            <a:r>
              <a:rPr lang="en-US" sz="15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lang="ko-KR" altLang="en-US" sz="1500" b="1" dirty="0">
                <a:solidFill>
                  <a:srgbClr val="1B2430"/>
                </a:solidFill>
                <a:latin typeface="맑은 고딕"/>
              </a:rPr>
              <a:t>기능 구현 후 필수적으로 빌드 </a:t>
            </a:r>
            <a:r>
              <a:rPr lang="en-US" altLang="ko-KR" sz="1500" b="1" dirty="0">
                <a:solidFill>
                  <a:srgbClr val="1B2430"/>
                </a:solidFill>
                <a:latin typeface="맑은 고딕"/>
              </a:rPr>
              <a:t>+ </a:t>
            </a:r>
            <a:r>
              <a:rPr lang="ko-KR" altLang="en-US" sz="1500" b="1" dirty="0">
                <a:solidFill>
                  <a:srgbClr val="1B2430"/>
                </a:solidFill>
                <a:latin typeface="맑은 고딕"/>
              </a:rPr>
              <a:t>테스트 진행</a:t>
            </a:r>
            <a:endParaRPr sz="1500" b="1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5256" y="4297680"/>
            <a:ext cx="4846320" cy="204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>
                <a:solidFill>
                  <a:srgbClr val="6B7684"/>
                </a:solidFill>
                <a:latin typeface="맑은 고딕"/>
              </a:rPr>
              <a:t>·</a:t>
            </a:r>
            <a:r>
              <a:rPr lang="en-US"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기능이 기획서에 맞게 구현이 되었는 지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2900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361188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0A526"/>
                </a:solidFill>
                <a:latin typeface="맑은 고딕"/>
              </a:rPr>
              <a:t>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90448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B2430"/>
                </a:solidFill>
                <a:latin typeface="맑은 고딕"/>
              </a:rPr>
              <a:t>실제 저장소에 붙여 검증한다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429768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6B7684"/>
                </a:solidFill>
                <a:latin typeface="맑은 고딕"/>
              </a:rPr>
              <a:t>· 실제 MySQL · Redis에 붙여 API를 호출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6B7684"/>
                </a:solidFill>
                <a:latin typeface="맑은 고딕"/>
              </a:rPr>
              <a:t>· 결과를 DB에서 직접 대조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6B7684"/>
                </a:solidFill>
                <a:latin typeface="맑은 고딕"/>
              </a:rPr>
              <a:t>· 테스트로 만든 데이터는 되돌린다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LOOP 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>
                <a:solidFill>
                  <a:srgbClr val="1B2430"/>
                </a:solidFill>
                <a:latin typeface="맑은 고딕"/>
              </a:rPr>
              <a:t>3.4  ⑤ </a:t>
            </a:r>
            <a:r>
              <a:rPr sz="3000" b="1" dirty="0" err="1">
                <a:solidFill>
                  <a:srgbClr val="1B2430"/>
                </a:solidFill>
                <a:latin typeface="맑은 고딕"/>
              </a:rPr>
              <a:t>문서</a:t>
            </a:r>
            <a:r>
              <a:rPr sz="30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B2430"/>
                </a:solidFill>
                <a:latin typeface="맑은 고딕"/>
              </a:rPr>
              <a:t>동기화</a:t>
            </a:r>
            <a:r>
              <a:rPr sz="3000" b="1" dirty="0">
                <a:solidFill>
                  <a:srgbClr val="1B2430"/>
                </a:solidFill>
                <a:latin typeface="맑은 고딕"/>
              </a:rPr>
              <a:t> — 이 </a:t>
            </a:r>
            <a:r>
              <a:rPr sz="3000" b="1" dirty="0" err="1">
                <a:solidFill>
                  <a:srgbClr val="1B2430"/>
                </a:solidFill>
                <a:latin typeface="맑은 고딕"/>
              </a:rPr>
              <a:t>프로세스의</a:t>
            </a:r>
            <a:r>
              <a:rPr sz="30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1B2430"/>
                </a:solidFill>
                <a:latin typeface="맑은 고딕"/>
              </a:rPr>
              <a:t>핵심</a:t>
            </a:r>
            <a:endParaRPr sz="3000" b="1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세부 기획서가 정본, 아래 넷은 기획서를 가로질러 모은 집약 참조본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569739"/>
              </p:ext>
            </p:extLst>
          </p:nvPr>
        </p:nvGraphicFramePr>
        <p:xfrm>
          <a:off x="685800" y="1837944"/>
          <a:ext cx="1078992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무엇이 바뀌면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갱신할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문서</a:t>
                      </a:r>
                      <a:endParaRPr sz="13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엔드포인트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요청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/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응답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필드</a:t>
                      </a:r>
                      <a:endParaRPr sz="13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docs/공통/api-통합.md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DB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테이블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컬럼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마스터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데이터</a:t>
                      </a:r>
                      <a:endParaRPr sz="13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docs/공통/db-erd-통합.md  ( +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db-schema.sql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)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에러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코드</a:t>
                      </a:r>
                      <a:endParaRPr sz="13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docs/공통/error-code-정의.md  + 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TaskbarHero.Common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/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ErrorCode.cs</a:t>
                      </a:r>
                      <a:endParaRPr sz="13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처리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흐름</a:t>
                      </a:r>
                      <a:endParaRPr sz="13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SequenceDiagram/README.md  (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기능별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Mermaid </a:t>
                      </a:r>
                      <a:r>
                        <a:rPr sz="13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시퀀스</a:t>
                      </a:r>
                      <a:r>
                        <a:rPr sz="13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353341"/>
            <a:ext cx="10789920" cy="1694157"/>
          </a:xfrm>
          <a:prstGeom prst="roundRect">
            <a:avLst/>
          </a:prstGeom>
          <a:solidFill>
            <a:srgbClr val="EEF2F9"/>
          </a:solidFill>
          <a:ln w="15875">
            <a:solidFill>
              <a:srgbClr val="2F6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581941"/>
            <a:ext cx="10149840" cy="1179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 dirty="0" err="1">
                <a:solidFill>
                  <a:srgbClr val="2F6FE4"/>
                </a:solidFill>
                <a:latin typeface="맑은 고딕"/>
              </a:rPr>
              <a:t>정합성</a:t>
            </a:r>
            <a:r>
              <a:rPr sz="160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2F6FE4"/>
                </a:solidFill>
                <a:latin typeface="맑은 고딕"/>
              </a:rPr>
              <a:t>체크는</a:t>
            </a:r>
            <a:r>
              <a:rPr sz="160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2F6FE4"/>
                </a:solidFill>
                <a:latin typeface="맑은 고딕"/>
              </a:rPr>
              <a:t>양방향으로</a:t>
            </a:r>
            <a:r>
              <a:rPr sz="160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2F6FE4"/>
                </a:solidFill>
                <a:latin typeface="맑은 고딕"/>
              </a:rPr>
              <a:t>한다</a:t>
            </a:r>
            <a:endParaRPr sz="1600" b="1" dirty="0">
              <a:solidFill>
                <a:srgbClr val="2F6FE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1B2430"/>
                </a:solidFill>
                <a:latin typeface="맑은 고딕"/>
              </a:rPr>
              <a:t>기획서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→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통합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문서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(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빠진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항목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추가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)  · 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통합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문서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→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기획서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(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폐기된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항목이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남아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있지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1B2430"/>
                </a:solidFill>
                <a:latin typeface="맑은 고딕"/>
              </a:rPr>
              <a:t>않은지</a:t>
            </a:r>
            <a:r>
              <a:rPr sz="1400" b="0" dirty="0">
                <a:solidFill>
                  <a:srgbClr val="1B2430"/>
                </a:solidFill>
                <a:latin typeface="맑은 고딕"/>
              </a:rPr>
              <a:t>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dirty="0" err="1">
                <a:solidFill>
                  <a:srgbClr val="6B7684"/>
                </a:solidFill>
                <a:latin typeface="맑은 고딕"/>
              </a:rPr>
              <a:t>경로나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684"/>
                </a:solidFill>
                <a:latin typeface="맑은 고딕"/>
              </a:rPr>
              <a:t>이름을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684"/>
                </a:solidFill>
                <a:latin typeface="맑은 고딕"/>
              </a:rPr>
              <a:t>바꿨으면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 옛 </a:t>
            </a:r>
            <a:r>
              <a:rPr sz="1300" b="0" dirty="0" err="1">
                <a:solidFill>
                  <a:srgbClr val="6B7684"/>
                </a:solidFill>
                <a:latin typeface="맑은 고딕"/>
              </a:rPr>
              <a:t>문자열이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684"/>
                </a:solidFill>
                <a:latin typeface="맑은 고딕"/>
              </a:rPr>
              <a:t>문서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684"/>
                </a:solidFill>
                <a:latin typeface="맑은 고딕"/>
              </a:rPr>
              <a:t>어디에도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684"/>
                </a:solidFill>
                <a:latin typeface="맑은 고딕"/>
              </a:rPr>
              <a:t>남지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684"/>
                </a:solidFill>
                <a:latin typeface="맑은 고딕"/>
              </a:rPr>
              <a:t>않았는지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684"/>
                </a:solidFill>
                <a:latin typeface="맑은 고딕"/>
              </a:rPr>
              <a:t>grep으로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684"/>
                </a:solidFill>
                <a:latin typeface="맑은 고딕"/>
              </a:rPr>
              <a:t>확인한다</a:t>
            </a:r>
            <a:r>
              <a:rPr sz="1300" b="0" dirty="0">
                <a:solidFill>
                  <a:srgbClr val="6B7684"/>
                </a:solidFill>
                <a:latin typeface="맑은 고딕"/>
              </a:rPr>
              <a:t>.</a:t>
            </a:r>
            <a:endParaRPr lang="en-US" sz="130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300" dirty="0">
                <a:solidFill>
                  <a:srgbClr val="6B7684"/>
                </a:solidFill>
                <a:latin typeface="맑은 고딕"/>
              </a:rPr>
              <a:t>문서의 정합성 확인은 </a:t>
            </a:r>
            <a:r>
              <a:rPr lang="en-US" altLang="ko-KR" sz="1300" dirty="0">
                <a:solidFill>
                  <a:srgbClr val="6B7684"/>
                </a:solidFill>
                <a:latin typeface="맑은 고딕"/>
              </a:rPr>
              <a:t>CLAUDE.MD</a:t>
            </a:r>
            <a:r>
              <a:rPr lang="ko-KR" altLang="en-US" sz="1300" dirty="0">
                <a:solidFill>
                  <a:srgbClr val="6B7684"/>
                </a:solidFill>
                <a:latin typeface="맑은 고딕"/>
              </a:rPr>
              <a:t> 에 명시되어 있다</a:t>
            </a:r>
            <a:r>
              <a:rPr lang="en-US" altLang="ko-KR" sz="1300" dirty="0">
                <a:solidFill>
                  <a:srgbClr val="6B7684"/>
                </a:solidFill>
                <a:latin typeface="맑은 고딕"/>
              </a:rPr>
              <a:t>.</a:t>
            </a:r>
            <a:endParaRPr sz="130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DOCS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4. 문서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정본은 언제나 docs/세부/ — 충돌하면 세부 기획서를 따른다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6400800" cy="402336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82880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docs/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├── 서버-시스템-전체-개요.md      # 최상위 진입 문서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├── 서버-개발-계획.md             # 개발 순서·일정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├── com2us-taskbar-hero-개발환경.md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├── 세부/                    ★ 정본 — 기능별 기획서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│   ├── account-login · save-data · inventory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│   ├── stage-battle · trade · gacha · mail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│   ├── attendance · growth · offline-reward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│   └── master-data/       # 마스터 값·스키마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├── 공통/                    집약 참조본 + 공유 계약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│   ├── api-통합.md · db-erd-통합.md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│   └── error-code-정의.md · 로깅-규칙.md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└── images/                 # 원작 화면 캡처(기획 근거)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endParaRPr sz="1250">
              <a:solidFill>
                <a:srgbClr val="E6ECF5"/>
              </a:solidFill>
              <a:latin typeface="Consolas"/>
            </a:endParaRP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SequenceDiagram/README.md   # 기능별 처리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194560"/>
            <a:ext cx="40233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정본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300" b="0">
                <a:solidFill>
                  <a:srgbClr val="6B7684"/>
                </a:solidFill>
                <a:latin typeface="맑은 고딕"/>
              </a:rPr>
              <a:t>docs/세부/ 가 언제나 정본이다. 충돌하면 세부 기획서를 따른다.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집약 참조본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300" b="0">
                <a:solidFill>
                  <a:srgbClr val="6B7684"/>
                </a:solidFill>
                <a:latin typeface="맑은 고딕"/>
              </a:rPr>
              <a:t>docs/공통/ 은 여러 기획서에 흩어진 내용을 한 장에 모은 편의용. 단, 클라이언트와 공유하는 계약(에러 코드 숫자 값 등)은 여기서 확인한다.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그림으로 고정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6B7684"/>
                </a:solidFill>
                <a:latin typeface="맑은 고딕"/>
              </a:rPr>
              <a:t>원작 게임 화면 캡처를 docs/images/에 두고 기획서에서 참조해, "무엇을 모작하는지"를 글이 아니라 그림으로 고정했다.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>
                <a:solidFill>
                  <a:srgbClr val="1B2430"/>
                </a:solidFill>
                <a:latin typeface="맑은 고딕"/>
              </a:rPr>
              <a:t>5. 밸런스 수치를 잡기위한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기획서로 정할 수 있는 것은 규칙이지 수치가 아니다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789920" cy="625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1" dirty="0">
                <a:solidFill>
                  <a:srgbClr val="1B2430"/>
                </a:solidFill>
                <a:latin typeface="맑은 고딕"/>
              </a:rPr>
              <a:t>"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몬스터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체력을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얼마로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둘까"는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문서로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합의할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수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없고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재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봐야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안다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.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그런데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이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게임에서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그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측정은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원래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B2430"/>
                </a:solidFill>
                <a:latin typeface="맑은 고딕"/>
              </a:rPr>
              <a:t>불가능했다</a:t>
            </a:r>
            <a:r>
              <a:rPr sz="1600" b="1" dirty="0">
                <a:solidFill>
                  <a:srgbClr val="1B2430"/>
                </a:solidFill>
                <a:latin typeface="맑은 고딕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dirty="0" err="1">
                <a:solidFill>
                  <a:srgbClr val="6B7684"/>
                </a:solidFill>
                <a:latin typeface="맑은 고딕"/>
              </a:rPr>
              <a:t>전투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계산이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클라이언트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권위라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서버는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몬스터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스탯을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로드조차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하지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않고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클리어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시간을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알려면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Unity를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켜고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스테이지에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들어가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사람이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스톱워치를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재야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했다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6438" y="3025490"/>
            <a:ext cx="10789920" cy="2834640"/>
          </a:xfrm>
          <a:prstGeom prst="roundRect">
            <a:avLst/>
          </a:prstGeom>
          <a:solidFill>
            <a:srgbClr val="FDF3E0"/>
          </a:solidFill>
          <a:ln w="1905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2198" y="3299810"/>
            <a:ext cx="10058400" cy="2960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 dirty="0" err="1">
                <a:solidFill>
                  <a:srgbClr val="9A6B0E"/>
                </a:solidFill>
                <a:latin typeface="맑은 고딕"/>
              </a:rPr>
              <a:t>서로</a:t>
            </a:r>
            <a:r>
              <a:rPr sz="1700" b="1" dirty="0">
                <a:solidFill>
                  <a:srgbClr val="9A6B0E"/>
                </a:solidFill>
                <a:latin typeface="맑은 고딕"/>
              </a:rPr>
              <a:t> </a:t>
            </a:r>
            <a:r>
              <a:rPr sz="1700" b="1" dirty="0" err="1">
                <a:solidFill>
                  <a:srgbClr val="9A6B0E"/>
                </a:solidFill>
                <a:latin typeface="맑은 고딕"/>
              </a:rPr>
              <a:t>모르는</a:t>
            </a:r>
            <a:r>
              <a:rPr sz="1700" b="1" dirty="0">
                <a:solidFill>
                  <a:srgbClr val="9A6B0E"/>
                </a:solidFill>
                <a:latin typeface="맑은 고딕"/>
              </a:rPr>
              <a:t> 채 </a:t>
            </a:r>
            <a:r>
              <a:rPr sz="1700" b="1" dirty="0" err="1">
                <a:solidFill>
                  <a:srgbClr val="9A6B0E"/>
                </a:solidFill>
                <a:latin typeface="맑은 고딕"/>
              </a:rPr>
              <a:t>갈라진</a:t>
            </a:r>
            <a:r>
              <a:rPr sz="1700" b="1" dirty="0">
                <a:solidFill>
                  <a:srgbClr val="9A6B0E"/>
                </a:solidFill>
                <a:latin typeface="맑은 고딕"/>
              </a:rPr>
              <a:t> 두 </a:t>
            </a:r>
            <a:r>
              <a:rPr sz="1700" b="1" dirty="0" err="1">
                <a:solidFill>
                  <a:srgbClr val="9A6B0E"/>
                </a:solidFill>
                <a:latin typeface="맑은 고딕"/>
              </a:rPr>
              <a:t>숫자</a:t>
            </a:r>
            <a:endParaRPr sz="1700" b="1" dirty="0">
              <a:solidFill>
                <a:srgbClr val="9A6B0E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dirty="0">
                <a:solidFill>
                  <a:srgbClr val="1B2430"/>
                </a:solidFill>
                <a:latin typeface="맑은 고딕"/>
              </a:rPr>
              <a:t>·</a:t>
            </a:r>
            <a:r>
              <a:rPr lang="en-US" sz="1500" b="0" dirty="0">
                <a:solidFill>
                  <a:srgbClr val="1B2430"/>
                </a:solidFill>
                <a:latin typeface="맑은 고딕"/>
              </a:rPr>
              <a:t> ‘</a:t>
            </a:r>
            <a:r>
              <a:rPr lang="ko-KR" altLang="en-US" sz="1500" b="0" dirty="0">
                <a:solidFill>
                  <a:srgbClr val="1B2430"/>
                </a:solidFill>
                <a:latin typeface="맑은 고딕"/>
              </a:rPr>
              <a:t>지금 난이도가 너무 쉬운데</a:t>
            </a:r>
            <a:r>
              <a:rPr lang="en-US" altLang="ko-KR" sz="1500" b="0" dirty="0">
                <a:solidFill>
                  <a:srgbClr val="1B2430"/>
                </a:solidFill>
                <a:latin typeface="맑은 고딕"/>
              </a:rPr>
              <a:t>, </a:t>
            </a:r>
            <a:r>
              <a:rPr lang="ko-KR" altLang="en-US" sz="1500" b="0" dirty="0">
                <a:solidFill>
                  <a:srgbClr val="1B2430"/>
                </a:solidFill>
                <a:latin typeface="맑은 고딕"/>
              </a:rPr>
              <a:t>좀 더 난이도 있게 만들어줘</a:t>
            </a:r>
            <a:r>
              <a:rPr lang="en-US" altLang="ko-KR" sz="1500" b="0" dirty="0">
                <a:solidFill>
                  <a:srgbClr val="1B2430"/>
                </a:solidFill>
                <a:latin typeface="맑은 고딕"/>
              </a:rPr>
              <a:t>.’</a:t>
            </a:r>
            <a:endParaRPr sz="1500" b="0" dirty="0">
              <a:solidFill>
                <a:srgbClr val="1B243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 dirty="0">
                <a:solidFill>
                  <a:srgbClr val="B03A2B"/>
                </a:solidFill>
                <a:latin typeface="맑은 고딕"/>
              </a:rPr>
              <a:t>→</a:t>
            </a:r>
            <a:r>
              <a:rPr lang="en-US" sz="2000" b="1" dirty="0">
                <a:solidFill>
                  <a:srgbClr val="B03A2B"/>
                </a:solidFill>
                <a:latin typeface="맑은 고딕"/>
              </a:rPr>
              <a:t> </a:t>
            </a:r>
            <a:r>
              <a:rPr lang="ko-KR" altLang="en-US" sz="2000" b="1" dirty="0">
                <a:solidFill>
                  <a:srgbClr val="B03A2B"/>
                </a:solidFill>
                <a:latin typeface="맑은 고딕"/>
              </a:rPr>
              <a:t>너무 어려워지거나 </a:t>
            </a:r>
            <a:r>
              <a:rPr lang="ko-KR" altLang="en-US" sz="2000" b="1" dirty="0" err="1">
                <a:solidFill>
                  <a:srgbClr val="B03A2B"/>
                </a:solidFill>
                <a:latin typeface="맑은 고딕"/>
              </a:rPr>
              <a:t>인게임</a:t>
            </a:r>
            <a:r>
              <a:rPr lang="ko-KR" altLang="en-US" sz="2000" b="1" dirty="0">
                <a:solidFill>
                  <a:srgbClr val="B03A2B"/>
                </a:solidFill>
                <a:latin typeface="맑은 고딕"/>
              </a:rPr>
              <a:t> 전투에 변화가 거의 없음</a:t>
            </a:r>
            <a:endParaRPr lang="en-US" altLang="ko-KR" sz="2000" b="1" dirty="0">
              <a:solidFill>
                <a:srgbClr val="B03A2B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sz="1700" b="1" dirty="0">
              <a:solidFill>
                <a:srgbClr val="B03A2B"/>
              </a:solidFill>
              <a:latin typeface="맑은 고딕"/>
            </a:endParaRP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altLang="ko-KR" dirty="0">
                <a:solidFill>
                  <a:srgbClr val="1B2430"/>
                </a:solidFill>
                <a:latin typeface="맑은 고딕"/>
              </a:rPr>
              <a:t>·</a:t>
            </a:r>
            <a:r>
              <a:rPr lang="ko-KR" altLang="en-US" dirty="0">
                <a:solidFill>
                  <a:srgbClr val="1B2430"/>
                </a:solidFill>
                <a:latin typeface="맑은 고딕"/>
              </a:rPr>
              <a:t> ‘보스 공격력이 너무 강한데</a:t>
            </a:r>
            <a:r>
              <a:rPr lang="en-US" altLang="ko-KR" dirty="0">
                <a:solidFill>
                  <a:srgbClr val="1B2430"/>
                </a:solidFill>
                <a:latin typeface="맑은 고딕"/>
              </a:rPr>
              <a:t>, </a:t>
            </a:r>
            <a:r>
              <a:rPr lang="ko-KR" altLang="en-US" dirty="0">
                <a:solidFill>
                  <a:srgbClr val="1B2430"/>
                </a:solidFill>
                <a:latin typeface="맑은 고딕"/>
              </a:rPr>
              <a:t>지금보다는 쉽게 만들어줘</a:t>
            </a:r>
            <a:r>
              <a:rPr lang="en-US" altLang="ko-KR" dirty="0">
                <a:solidFill>
                  <a:srgbClr val="1B2430"/>
                </a:solidFill>
                <a:latin typeface="맑은 고딕"/>
              </a:rPr>
              <a:t>.’</a:t>
            </a:r>
            <a:endParaRPr lang="ko-KR" altLang="en-US" dirty="0">
              <a:solidFill>
                <a:srgbClr val="1B2430"/>
              </a:solidFill>
              <a:latin typeface="맑은 고딕"/>
            </a:endParaRPr>
          </a:p>
          <a:p>
            <a:pPr>
              <a:lnSpc>
                <a:spcPct val="125000"/>
              </a:lnSpc>
            </a:pPr>
            <a:r>
              <a:rPr lang="ko-KR" altLang="en-US" sz="2000" b="1" dirty="0">
                <a:solidFill>
                  <a:srgbClr val="B03A2B"/>
                </a:solidFill>
                <a:latin typeface="맑은 고딕"/>
              </a:rPr>
              <a:t>→ 보스가 너무 약해져서 </a:t>
            </a:r>
            <a:r>
              <a:rPr lang="ko-KR" altLang="en-US" sz="2000" b="1" dirty="0" err="1">
                <a:solidFill>
                  <a:srgbClr val="B03A2B"/>
                </a:solidFill>
                <a:latin typeface="맑은 고딕"/>
              </a:rPr>
              <a:t>잡몹과</a:t>
            </a:r>
            <a:r>
              <a:rPr lang="ko-KR" altLang="en-US" sz="2000" b="1" dirty="0">
                <a:solidFill>
                  <a:srgbClr val="B03A2B"/>
                </a:solidFill>
                <a:latin typeface="맑은 고딕"/>
              </a:rPr>
              <a:t> 똑같이 변함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sz="1700" b="1" dirty="0">
              <a:solidFill>
                <a:srgbClr val="B03A2B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sz="1700" b="1" dirty="0">
              <a:solidFill>
                <a:srgbClr val="B03A2B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>
                <a:solidFill>
                  <a:srgbClr val="1B2430"/>
                </a:solidFill>
                <a:latin typeface="맑은 고딕"/>
              </a:rPr>
              <a:t>5.1  스크립트로만 구현한 인게임 전투 하네스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tools/balance_sim.py — 한 스테이지 전투를 1/60초 고정 스텝으로 압축 실행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884007"/>
              </p:ext>
            </p:extLst>
          </p:nvPr>
        </p:nvGraphicFramePr>
        <p:xfrm>
          <a:off x="700887" y="1861349"/>
          <a:ext cx="1078992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endParaRPr/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씬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하네스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(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BattleDevScene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등)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밸런스 시뮬레이터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무엇을 잘라냈나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로그인 · 스테이지 진입 · 게임 흐름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거기에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더해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Unity ·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렌더링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실시간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무엇</a:t>
                      </a:r>
                      <a:r>
                        <a:rPr lang="ko-KR" altLang="en-US"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이 필요한가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전투 화면 + IMGUI 계기판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전투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규칙과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수치만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누가 읽나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사람이 눈으로 (타격감 · 외형)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기계가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수치로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(초 · %)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한 판 도는 비용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에디터 켜고 플레이 모드 진입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한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프로세스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, 100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스테이지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전수도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한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명령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59236" y="4399299"/>
            <a:ext cx="3577498" cy="2357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2000" b="1" dirty="0">
                <a:solidFill>
                  <a:schemeClr val="tx2"/>
                </a:solidFill>
                <a:latin typeface="맑은 고딕"/>
              </a:rPr>
              <a:t>왜 필요할까</a:t>
            </a:r>
            <a:r>
              <a:rPr lang="en-US" altLang="ko-KR" sz="2000" b="1" dirty="0">
                <a:solidFill>
                  <a:schemeClr val="tx2"/>
                </a:solidFill>
                <a:latin typeface="맑은 고딕"/>
              </a:rPr>
              <a:t>?</a:t>
            </a:r>
            <a:br>
              <a:rPr lang="en-US" altLang="ko-KR" sz="1400" b="0" dirty="0">
                <a:solidFill>
                  <a:srgbClr val="6B7684"/>
                </a:solidFill>
                <a:latin typeface="맑은 고딕"/>
              </a:rPr>
            </a:b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=&gt; 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실제 유니티 환경에서 측정 시</a:t>
            </a: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, 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유니티를 실행하고 </a:t>
            </a:r>
            <a:r>
              <a:rPr lang="ko-KR" altLang="en-US" sz="1400" b="1" dirty="0">
                <a:solidFill>
                  <a:srgbClr val="6B7684"/>
                </a:solidFill>
                <a:latin typeface="맑은 고딕"/>
              </a:rPr>
              <a:t>클리어 시간을 측정하는 </a:t>
            </a:r>
            <a:endParaRPr lang="en-US" altLang="ko-KR" sz="1400" b="1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1400" b="1" dirty="0">
                <a:solidFill>
                  <a:srgbClr val="6B7684"/>
                </a:solidFill>
                <a:latin typeface="맑은 고딕"/>
              </a:rPr>
              <a:t>과정이 굉장히 </a:t>
            </a:r>
            <a:r>
              <a:rPr lang="ko-KR" altLang="en-US" sz="1400" b="1" dirty="0" err="1">
                <a:solidFill>
                  <a:srgbClr val="6B7684"/>
                </a:solidFill>
                <a:latin typeface="맑은 고딕"/>
              </a:rPr>
              <a:t>오래걸림</a:t>
            </a: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 + </a:t>
            </a:r>
            <a:r>
              <a:rPr lang="ko-KR" altLang="en-US" sz="1400" b="1" dirty="0">
                <a:solidFill>
                  <a:srgbClr val="6B7684"/>
                </a:solidFill>
                <a:latin typeface="맑은 고딕"/>
              </a:rPr>
              <a:t>유니티 </a:t>
            </a:r>
            <a:r>
              <a:rPr lang="en-US" altLang="ko-KR" sz="1400" b="1" dirty="0">
                <a:solidFill>
                  <a:srgbClr val="6B7684"/>
                </a:solidFill>
                <a:latin typeface="맑은 고딕"/>
              </a:rPr>
              <a:t>MCP</a:t>
            </a:r>
            <a:r>
              <a:rPr lang="ko-KR" altLang="en-US" sz="1400" b="1" dirty="0">
                <a:solidFill>
                  <a:srgbClr val="6B7684"/>
                </a:solidFill>
                <a:latin typeface="맑은 고딕"/>
              </a:rPr>
              <a:t>를 </a:t>
            </a:r>
            <a:endParaRPr lang="en-US" altLang="ko-KR" sz="1400" b="1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1400" b="1" dirty="0">
                <a:solidFill>
                  <a:srgbClr val="6B7684"/>
                </a:solidFill>
                <a:latin typeface="맑은 고딕"/>
              </a:rPr>
              <a:t>통한 환경에서의 시간 측정도 굉장히 </a:t>
            </a:r>
            <a:endParaRPr lang="en-US" altLang="ko-KR" sz="1400" b="1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altLang="en-US" sz="1400" b="1" dirty="0">
                <a:solidFill>
                  <a:srgbClr val="6B7684"/>
                </a:solidFill>
                <a:latin typeface="맑은 고딕"/>
              </a:rPr>
              <a:t>부정확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하여 토큰만 낭비하는 일이 </a:t>
            </a:r>
            <a:r>
              <a:rPr lang="ko-KR" altLang="en-US" sz="1400" dirty="0" err="1">
                <a:solidFill>
                  <a:srgbClr val="6B7684"/>
                </a:solidFill>
                <a:latin typeface="맑은 고딕"/>
              </a:rPr>
              <a:t>많아짐</a:t>
            </a: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.</a:t>
            </a:r>
            <a:endParaRPr lang="en-US" altLang="ko-KR" sz="140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14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3171C95-35FF-4499-CD59-CBA30A1B7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804" y="4304316"/>
            <a:ext cx="4166372" cy="17366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AF15316-FD53-EE86-DCC7-38B719206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244" y="5421257"/>
            <a:ext cx="4718807" cy="11062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>
                <a:solidFill>
                  <a:srgbClr val="1B2430"/>
                </a:solidFill>
                <a:latin typeface="맑은 고딕"/>
              </a:rPr>
              <a:t>5.2  하드코딩을 최소화한다 — 무엇을 어디서 읽는가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7684"/>
                </a:solidFill>
                <a:latin typeface="맑은 고딕"/>
              </a:rPr>
              <a:t>하네스가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실제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게임과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갈라지면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산출한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밸런스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근거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전체가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무효가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된다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42388"/>
              </p:ext>
            </p:extLst>
          </p:nvPr>
        </p:nvGraphicFramePr>
        <p:xfrm>
          <a:off x="685800" y="2103122"/>
          <a:ext cx="10789920" cy="189003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681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마스터 수치 (몬스터 · 스폰 · 직업 · 레벨 · 스킬 계수 · 아이템 · 강화 · 룬)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서버의 마스터 데이터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4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전투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상수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(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스폰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주기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동시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상한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이동속도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피해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배수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) ·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파티별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사거리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유니티 클라이언트의 전투관련 상수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5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스킬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모션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길이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광역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판정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반경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Assets/Prefabs/Effects/*.</a:t>
                      </a:r>
                      <a:r>
                        <a:rPr sz="10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prefab의</a:t>
                      </a:r>
                      <a:r>
                        <a:rPr sz="10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프레임</a:t>
                      </a:r>
                      <a:r>
                        <a:rPr sz="10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수 · fps · </a:t>
                      </a:r>
                      <a:r>
                        <a:rPr sz="10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스케일</a:t>
                      </a:r>
                      <a:r>
                        <a:rPr sz="10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+ </a:t>
                      </a:r>
                      <a:r>
                        <a:rPr lang="ko-KR" altLang="en-US" sz="10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스킬 이펙트의 타격범위</a:t>
                      </a:r>
                      <a:endParaRPr sz="10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15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390CC36-B6E0-089A-AC7B-2F16ABE77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926" y="4102889"/>
            <a:ext cx="3279710" cy="21051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3D9A27-78C3-D005-F391-0F280E6312EA}"/>
              </a:ext>
            </a:extLst>
          </p:cNvPr>
          <p:cNvSpPr txBox="1"/>
          <p:nvPr/>
        </p:nvSpPr>
        <p:spPr>
          <a:xfrm>
            <a:off x="4538094" y="6171303"/>
            <a:ext cx="2353812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클라이언트 전투 개발용 화면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5.3  ① 1차 — 시간을 맞춘다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목표와 기준 파티를 문서에 못 박고 100 스테이지를 맞춘 뒤 baseline으로 대조</a:t>
            </a:r>
          </a:p>
        </p:txBody>
      </p:sp>
      <p:pic>
        <p:nvPicPr>
          <p:cNvPr id="7" name="Picture 6" descr="밸런싱-과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31720"/>
            <a:ext cx="8001000" cy="3334925"/>
          </a:xfrm>
          <a:prstGeom prst="rect">
            <a:avLst/>
          </a:prstGeom>
          <a:ln w="9525">
            <a:solidFill>
              <a:srgbClr val="D8D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887968" y="2103120"/>
            <a:ext cx="2651760" cy="339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dirty="0" err="1">
                <a:solidFill>
                  <a:srgbClr val="2F6FE4"/>
                </a:solidFill>
                <a:latin typeface="맑은 고딕"/>
              </a:rPr>
              <a:t>실제</a:t>
            </a:r>
            <a:r>
              <a:rPr sz="130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2F6FE4"/>
                </a:solidFill>
                <a:latin typeface="맑은 고딕"/>
              </a:rPr>
              <a:t>요청은</a:t>
            </a:r>
            <a:r>
              <a:rPr sz="1300" b="1" dirty="0">
                <a:solidFill>
                  <a:srgbClr val="2F6FE4"/>
                </a:solidFill>
                <a:latin typeface="맑은 고딕"/>
              </a:rPr>
              <a:t> 한 줄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250" b="1" dirty="0">
                <a:solidFill>
                  <a:srgbClr val="1B2430"/>
                </a:solidFill>
                <a:latin typeface="맑은 고딕"/>
              </a:rPr>
              <a:t>"1-10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스테이지를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회원가입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후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성장에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투자하지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않은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상태로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1분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안에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아슬아슬하게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깰 수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있도록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리밸런싱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B2430"/>
                </a:solidFill>
                <a:latin typeface="맑은 고딕"/>
              </a:rPr>
              <a:t>해줘</a:t>
            </a:r>
            <a:r>
              <a:rPr sz="1250" b="1" dirty="0">
                <a:solidFill>
                  <a:srgbClr val="1B2430"/>
                </a:solidFill>
                <a:latin typeface="맑은 고딕"/>
              </a:rPr>
              <a:t>"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150" b="0" dirty="0">
                <a:solidFill>
                  <a:srgbClr val="6B7684"/>
                </a:solidFill>
                <a:latin typeface="맑은 고딕"/>
              </a:rPr>
              <a:t>이 </a:t>
            </a:r>
            <a:r>
              <a:rPr lang="ko-KR" altLang="en-US" sz="1150" dirty="0">
                <a:solidFill>
                  <a:srgbClr val="6B7684"/>
                </a:solidFill>
                <a:latin typeface="맑은 고딕"/>
              </a:rPr>
              <a:t>명령에는 어떤 환경에서 어떤 조건이 되도록 밸런스를 </a:t>
            </a:r>
            <a:r>
              <a:rPr lang="ko-KR" altLang="en-US" sz="1150" dirty="0" err="1">
                <a:solidFill>
                  <a:srgbClr val="6B7684"/>
                </a:solidFill>
                <a:latin typeface="맑은 고딕"/>
              </a:rPr>
              <a:t>맞춰야함을</a:t>
            </a:r>
            <a:r>
              <a:rPr lang="ko-KR" altLang="en-US" sz="1150" dirty="0">
                <a:solidFill>
                  <a:srgbClr val="6B7684"/>
                </a:solidFill>
                <a:latin typeface="맑은 고딕"/>
              </a:rPr>
              <a:t> 확실히 알 수 있으므로 </a:t>
            </a:r>
            <a:r>
              <a:rPr lang="ko-KR" altLang="en-US" sz="1150" dirty="0" err="1">
                <a:solidFill>
                  <a:srgbClr val="6B7684"/>
                </a:solidFill>
                <a:latin typeface="맑은 고딕"/>
              </a:rPr>
              <a:t>하네스를</a:t>
            </a:r>
            <a:r>
              <a:rPr lang="ko-KR" altLang="en-US" sz="1150" dirty="0">
                <a:solidFill>
                  <a:srgbClr val="6B7684"/>
                </a:solidFill>
                <a:latin typeface="맑은 고딕"/>
              </a:rPr>
              <a:t> 통해 수치를 잡을 수 있다</a:t>
            </a:r>
            <a:r>
              <a:rPr lang="en-US" altLang="ko-KR" sz="1150" dirty="0">
                <a:solidFill>
                  <a:srgbClr val="6B7684"/>
                </a:solidFill>
                <a:latin typeface="맑은 고딕"/>
              </a:rPr>
              <a:t>.</a:t>
            </a:r>
            <a:endParaRPr lang="en-US" sz="115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150" b="0" dirty="0" err="1">
                <a:solidFill>
                  <a:srgbClr val="B03A2B"/>
                </a:solidFill>
                <a:latin typeface="맑은 고딕"/>
              </a:rPr>
              <a:t>여기까지로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시간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목표는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전부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달성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(91~108%).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그런데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보스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최저체력이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63·49·54·40·33% —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체력이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거의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닳지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않아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긴장감이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B03A2B"/>
                </a:solidFill>
                <a:latin typeface="맑은 고딕"/>
              </a:rPr>
              <a:t>없었다</a:t>
            </a:r>
            <a:r>
              <a:rPr sz="1150" b="0" dirty="0">
                <a:solidFill>
                  <a:srgbClr val="B03A2B"/>
                </a:solidFill>
                <a:latin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>
                <a:solidFill>
                  <a:srgbClr val="1B2430"/>
                </a:solidFill>
                <a:latin typeface="맑은 고딕"/>
              </a:rPr>
              <a:t>5.3  ② 2차 — "아슬아슬하게"를 만든다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7684"/>
                </a:solidFill>
                <a:latin typeface="맑은 고딕"/>
              </a:rPr>
              <a:t>처음부터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계획된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것이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아니라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, 1차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측정이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드러낸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사실에서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시작됐다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pic>
        <p:nvPicPr>
          <p:cNvPr id="7" name="Picture 6" descr="밸런싱-과정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647" y="1965960"/>
            <a:ext cx="7996225" cy="1874519"/>
          </a:xfrm>
          <a:prstGeom prst="rect">
            <a:avLst/>
          </a:prstGeom>
          <a:ln w="9525">
            <a:solidFill>
              <a:srgbClr val="D8D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3931919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684"/>
                </a:solidFill>
                <a:latin typeface="맑은 고딕"/>
              </a:rPr>
              <a:t>투자 기여도 측정 → 구조 재설계 → 전체 검증 → 보스 별도 조정 → 난수 최악값 보정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389120"/>
          <a:ext cx="10789920" cy="1810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측정이 알려 준 것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그래서 바꾼 것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투자해도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생존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격차가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거의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없다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장비 등급 · 강화 · 스킬을 기준 파티에 포함시켜 투자에 의미를 준다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공격력만 올리면 레인저만 전멸한다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원인은 체력이 아니라 광역 처리력 → class_master의 체력 격차를 좁힌다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1지역 보스에서 전 직업 전멸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강몹 8마리가 60초 내내 붙는다 → 보스 공격력만 따로 이분 탐색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시드를 바꾸면 전멸이 나온다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취약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직업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체력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보정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+ 1지역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공격력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소폭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하향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630936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684"/>
                </a:solidFill>
                <a:latin typeface="맑은 고딕"/>
              </a:rPr>
              <a:t>마지막 줄은 하네스가 아니면 못 잡는다 — 난수로 결과가 흔들려 --repeat로 최악값을, 그것도 4직업 × 10스테이지를 다 돌려야 보인다.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5.3  ③ 결과 — 실제 게임에서의 1-10 보스전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명령 </a:t>
            </a: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: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신규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계정이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아무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투자도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하지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않은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상태로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1지역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보스</a:t>
            </a: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를 </a:t>
            </a:r>
            <a:r>
              <a:rPr lang="en-US" altLang="ko-KR" sz="1400" b="0" dirty="0">
                <a:solidFill>
                  <a:srgbClr val="6B7684"/>
                </a:solidFill>
                <a:latin typeface="맑은 고딕"/>
              </a:rPr>
              <a:t>1</a:t>
            </a: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분 내외로 아슬아슬하게 클리어하도록 밸런스를 조정해줘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pic>
        <p:nvPicPr>
          <p:cNvPr id="7" name="Picture 6" descr="1-10-스테이지-리밸런싱-결과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433" y="2011680"/>
            <a:ext cx="2927773" cy="4160520"/>
          </a:xfrm>
          <a:prstGeom prst="rect">
            <a:avLst/>
          </a:prstGeom>
          <a:ln w="9525">
            <a:solidFill>
              <a:srgbClr val="D8D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14400" y="626364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684"/>
                </a:solidFill>
                <a:latin typeface="맑은 고딕"/>
              </a:rPr>
              <a:t>1지역 보스(암흑 마법사) — 60.6초 클리어 · 최저 체력 23%  (3.7배속)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40880" y="2148840"/>
          <a:ext cx="4434840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endParaRPr/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리밸런싱 전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지금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1지역 일반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15~27초 · 체력 62~100%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30~50초 · 85% → 46%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1-10 보스(기사)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35.6초 전멸(패배)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60.6초 클리어 · 최저 23%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1-10 보스(타직업)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24~31초 · 편차 큼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46~61초 · 23~66%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투자 요구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없음(1지역 내내 여유)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B2430"/>
                          </a:solidFill>
                          <a:latin typeface="맑은 고딕"/>
                        </a:rPr>
                        <a:t>2지역 중반부터 장비작·스킬작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40880" y="4937760"/>
            <a:ext cx="4434840" cy="473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300" b="1" dirty="0">
                <a:solidFill>
                  <a:srgbClr val="2F6FE4"/>
                </a:solidFill>
                <a:latin typeface="맑은 고딕"/>
              </a:rPr>
              <a:t>치명타</a:t>
            </a:r>
            <a:r>
              <a:rPr lang="en-US" altLang="ko-KR" sz="1300" b="1" dirty="0">
                <a:solidFill>
                  <a:srgbClr val="2F6FE4"/>
                </a:solidFill>
                <a:latin typeface="맑은 고딕"/>
              </a:rPr>
              <a:t>, </a:t>
            </a:r>
            <a:r>
              <a:rPr lang="ko-KR" altLang="en-US" sz="1300" b="1" dirty="0" err="1">
                <a:solidFill>
                  <a:srgbClr val="2F6FE4"/>
                </a:solidFill>
                <a:latin typeface="맑은 고딕"/>
              </a:rPr>
              <a:t>몹</a:t>
            </a:r>
            <a:r>
              <a:rPr lang="ko-KR" altLang="en-US" sz="1300" b="1" dirty="0">
                <a:solidFill>
                  <a:srgbClr val="2F6FE4"/>
                </a:solidFill>
                <a:latin typeface="맑은 고딕"/>
              </a:rPr>
              <a:t> 흩어짐 등에 의한 변수가 있으나 실제 전투 시간을 비교적 정확히 맞출 수 있게 되었다</a:t>
            </a:r>
            <a:r>
              <a:rPr lang="en-US" altLang="ko-KR" sz="1300" b="1" dirty="0">
                <a:solidFill>
                  <a:srgbClr val="2F6FE4"/>
                </a:solidFill>
                <a:latin typeface="맑은 고딕"/>
              </a:rPr>
              <a:t>.</a:t>
            </a:r>
            <a:r>
              <a:rPr lang="ko-KR" altLang="en-US" sz="1300" b="1" dirty="0">
                <a:solidFill>
                  <a:srgbClr val="2F6FE4"/>
                </a:solidFill>
                <a:latin typeface="맑은 고딕"/>
              </a:rPr>
              <a:t> </a:t>
            </a:r>
            <a:endParaRPr sz="1300" b="1" dirty="0">
              <a:solidFill>
                <a:srgbClr val="2F6FE4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E0A526"/>
                </a:solidFill>
                <a:latin typeface="맑은 고딕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맑은 고딕"/>
              </a:rPr>
              <a:t>클라이언트 (Unity)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6. 클라이언트 개발 환경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140644"/>
              </p:ext>
            </p:extLst>
          </p:nvPr>
        </p:nvGraphicFramePr>
        <p:xfrm>
          <a:off x="685800" y="1965960"/>
          <a:ext cx="10789920" cy="3822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엔진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Unity 6000.5.3f1 (Unity 6) · URP 2D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씬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4개 (Title</a:t>
                      </a:r>
                      <a:r>
                        <a:rPr 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CreateCharacter</a:t>
                      </a:r>
                      <a:r>
                        <a:rPr 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, 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Game</a:t>
                      </a:r>
                      <a:r>
                        <a:rPr 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,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TeamList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) +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개발용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하네스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씬 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3개</a:t>
                      </a:r>
                      <a:r>
                        <a:rPr 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(</a:t>
                      </a:r>
                      <a:r>
                        <a:rPr lang="en-US"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BattaleDevScene</a:t>
                      </a:r>
                      <a:r>
                        <a:rPr 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AnimDevScene</a:t>
                      </a:r>
                      <a:r>
                        <a:rPr 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CharacterDevScene</a:t>
                      </a:r>
                      <a:r>
                        <a:rPr 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)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코드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구성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Assets/Scripts/{Managers, UI, Battle, Game,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MasterData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,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Spum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} —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기능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단위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.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asmdef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서버 계약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TaskbarHero.Common을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로컬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UPM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패키지로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참조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DTO/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ErrorCode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재정의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금지</a:t>
                      </a:r>
                      <a:endParaRPr sz="125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통신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UnityWebRequest + 공유 DTO — JsonUtility와 서버 System.Text.Json이 같은 JSON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정적 데이터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Assets/Resources/MasterData/*.json 17개 — 마스터 DB에서 추출기로 생성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아트 · 사운드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아이템 아이콘 96종 전부 절차적 생성 · 사운드 67종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1B2430"/>
                          </a:solidFill>
                          <a:latin typeface="맑은 고딕"/>
                        </a:rPr>
                        <a:t>개발 도구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Claude Code + Unity MCP(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에디터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원격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조작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) ·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에디터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메뉴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TaskbarHero</a:t>
                      </a:r>
                      <a:r>
                        <a:rPr sz="12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/*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7. 개발 방식 한눈에 보기 — 서버와 무엇이 다른가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서버가 확정한 계약 위에서, 화면을 손으로 조립하지 않고 "화면을 만드는 코드"로 굽는다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82678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82880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400" dirty="0" err="1">
                <a:solidFill>
                  <a:srgbClr val="E6ECF5"/>
                </a:solidFill>
                <a:latin typeface="Consolas"/>
              </a:rPr>
              <a:t>서버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계약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확정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 →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클라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UI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기획서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 →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에디터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빌더로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화면을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굽고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런타임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E6ECF5"/>
                </a:solidFill>
                <a:latin typeface="Consolas"/>
              </a:rPr>
              <a:t>컨트롤러</a:t>
            </a:r>
            <a:r>
              <a:rPr sz="1400" dirty="0">
                <a:solidFill>
                  <a:srgbClr val="E6ECF5"/>
                </a:solidFill>
                <a:latin typeface="Consolas"/>
              </a:rPr>
              <a:t> 배</a:t>
            </a:r>
            <a:r>
              <a:rPr lang="ko-KR" altLang="en-US" sz="1400" dirty="0">
                <a:solidFill>
                  <a:srgbClr val="E6ECF5"/>
                </a:solidFill>
                <a:latin typeface="Consolas"/>
              </a:rPr>
              <a:t>선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ko-KR" altLang="en-US" sz="1200" dirty="0">
                <a:solidFill>
                  <a:srgbClr val="E6ECF5"/>
                </a:solidFill>
                <a:latin typeface="Consolas"/>
              </a:rPr>
              <a:t>                                   </a:t>
            </a:r>
            <a:r>
              <a:rPr lang="ko-KR" altLang="en-US" sz="1400" dirty="0">
                <a:solidFill>
                  <a:srgbClr val="E6ECF5"/>
                </a:solidFill>
                <a:latin typeface="Consolas"/>
              </a:rPr>
              <a:t>→</a:t>
            </a:r>
            <a:r>
              <a:rPr lang="ko-KR" altLang="en-US" sz="1200" dirty="0">
                <a:solidFill>
                  <a:srgbClr val="E6ECF5"/>
                </a:solidFill>
                <a:latin typeface="Consolas"/>
              </a:rPr>
              <a:t>  </a:t>
            </a:r>
            <a:r>
              <a:rPr lang="en-US" altLang="ko-KR" sz="1200" dirty="0">
                <a:solidFill>
                  <a:srgbClr val="E6ECF5"/>
                </a:solidFill>
                <a:latin typeface="Consolas"/>
              </a:rPr>
              <a:t>Unity MCP</a:t>
            </a:r>
            <a:r>
              <a:rPr lang="ko-KR" altLang="en-US" sz="1200" dirty="0">
                <a:solidFill>
                  <a:srgbClr val="E6ECF5"/>
                </a:solidFill>
                <a:latin typeface="Consolas"/>
              </a:rPr>
              <a:t>로 플레이 모드 진입 </a:t>
            </a:r>
            <a:r>
              <a:rPr lang="en-US" altLang="ko-KR" sz="1200" dirty="0">
                <a:solidFill>
                  <a:srgbClr val="E6ECF5"/>
                </a:solidFill>
                <a:latin typeface="Consolas"/>
              </a:rPr>
              <a:t>· </a:t>
            </a:r>
            <a:r>
              <a:rPr lang="ko-KR" altLang="en-US" sz="1200" dirty="0">
                <a:solidFill>
                  <a:srgbClr val="E6ECF5"/>
                </a:solidFill>
                <a:latin typeface="Consolas"/>
              </a:rPr>
              <a:t>검증  </a:t>
            </a:r>
            <a:r>
              <a:rPr lang="ko-KR" altLang="en-US" sz="1400" dirty="0">
                <a:solidFill>
                  <a:srgbClr val="E6ECF5"/>
                </a:solidFill>
                <a:latin typeface="Consolas"/>
              </a:rPr>
              <a:t>→</a:t>
            </a:r>
            <a:r>
              <a:rPr lang="ko-KR" altLang="en-US" sz="1200" dirty="0">
                <a:solidFill>
                  <a:srgbClr val="E6ECF5"/>
                </a:solidFill>
                <a:latin typeface="Consolas"/>
              </a:rPr>
              <a:t> 문서 </a:t>
            </a:r>
            <a:r>
              <a:rPr lang="en-US" altLang="ko-KR" sz="1200" dirty="0">
                <a:solidFill>
                  <a:srgbClr val="E6ECF5"/>
                </a:solidFill>
                <a:latin typeface="Consolas"/>
              </a:rPr>
              <a:t>· </a:t>
            </a:r>
            <a:r>
              <a:rPr lang="ko-KR" altLang="en-US" sz="1200" dirty="0" err="1">
                <a:solidFill>
                  <a:srgbClr val="E6ECF5"/>
                </a:solidFill>
                <a:latin typeface="Consolas"/>
              </a:rPr>
              <a:t>현황판</a:t>
            </a:r>
            <a:r>
              <a:rPr lang="ko-KR" altLang="en-US" sz="1200" dirty="0">
                <a:solidFill>
                  <a:srgbClr val="E6ECF5"/>
                </a:solidFill>
                <a:latin typeface="Consolas"/>
              </a:rPr>
              <a:t> 갱신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312433"/>
              </p:ext>
            </p:extLst>
          </p:nvPr>
        </p:nvGraphicFramePr>
        <p:xfrm>
          <a:off x="685800" y="3328416"/>
          <a:ext cx="1078992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endParaRPr/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서버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(1부)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클라이언트 (2부)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무엇을 근거로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세부 기획서(정본)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서버</a:t>
                      </a:r>
                      <a:r>
                        <a:rPr 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구현 문서 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+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원작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캡처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→ UI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기획서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무엇을 산출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컨트롤러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서비스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리포지토리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화면을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생성하는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에디터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빌</a:t>
                      </a:r>
                      <a:r>
                        <a:rPr lang="ko-KR" alt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더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어떻게 검증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서버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기동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→ API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호출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→ DB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대조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Unity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MCP로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에디터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원격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조작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→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상태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조회</a:t>
                      </a:r>
                      <a:r>
                        <a:rPr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 · </a:t>
                      </a:r>
                      <a:r>
                        <a:rPr sz="1200" b="0" dirty="0" err="1">
                          <a:solidFill>
                            <a:srgbClr val="1B2430"/>
                          </a:solidFill>
                          <a:latin typeface="맑은 고딕"/>
                        </a:rPr>
                        <a:t>스크린샷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B2430"/>
                          </a:solidFill>
                          <a:latin typeface="맑은 고딕"/>
                        </a:rPr>
                        <a:t>잘못됐을 때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빌드 오류 수정 후 테스트 재시도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200" b="0" dirty="0">
                          <a:solidFill>
                            <a:srgbClr val="1B2430"/>
                          </a:solidFill>
                          <a:latin typeface="맑은 고딕"/>
                        </a:rPr>
                        <a:t>클라이언트 스크립트 수정 후 플레이 모드에서 검증</a:t>
                      </a:r>
                      <a:endParaRPr sz="1200" b="0" dirty="0">
                        <a:solidFill>
                          <a:srgbClr val="1B2430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8. UI를 손으로 만들지 않는다 — 에디터 빌더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400" b="0" dirty="0" err="1">
                <a:solidFill>
                  <a:srgbClr val="6B7684"/>
                </a:solidFill>
                <a:latin typeface="맑은 고딕"/>
              </a:rPr>
              <a:t>클로드는</a:t>
            </a: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 유니티 에디터의 화면을 눈으로 확인하지 못한다</a:t>
            </a:r>
            <a:r>
              <a:rPr lang="en-US" altLang="ko-KR" sz="1400" b="0" dirty="0">
                <a:solidFill>
                  <a:srgbClr val="6B7684"/>
                </a:solidFill>
                <a:latin typeface="맑은 고딕"/>
              </a:rPr>
              <a:t>.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pic>
        <p:nvPicPr>
          <p:cNvPr id="7" name="Picture 6" descr="에디터-빌더-스크립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5760720" cy="3495635"/>
          </a:xfrm>
          <a:prstGeom prst="rect">
            <a:avLst/>
          </a:prstGeom>
          <a:ln w="9525">
            <a:solidFill>
              <a:srgbClr val="D8D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5598755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684"/>
                </a:solidFill>
                <a:latin typeface="맑은 고딕"/>
              </a:rPr>
              <a:t>에디터 메뉴 TaskbarHero/UI — 화면별 빌더가 메뉴 항목으로 노출된다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3643" y="2477543"/>
            <a:ext cx="4709160" cy="2563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dirty="0">
                <a:solidFill>
                  <a:srgbClr val="1B2430"/>
                </a:solidFill>
                <a:latin typeface="맑은 고딕"/>
              </a:rPr>
              <a:t>AI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에이전트는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Inspector에서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오브젝트를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끌어다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놓거나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화면을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눈으로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보며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배치를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다듬을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 수 </a:t>
            </a:r>
            <a:r>
              <a:rPr sz="1400" b="1" dirty="0" err="1">
                <a:solidFill>
                  <a:srgbClr val="1B2430"/>
                </a:solidFill>
                <a:latin typeface="맑은 고딕"/>
              </a:rPr>
              <a:t>없다</a:t>
            </a:r>
            <a:r>
              <a:rPr sz="1400" b="1" dirty="0">
                <a:solidFill>
                  <a:srgbClr val="1B2430"/>
                </a:solidFill>
                <a:latin typeface="맑은 고딕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200" b="0" dirty="0" err="1">
                <a:solidFill>
                  <a:srgbClr val="6B7684"/>
                </a:solidFill>
                <a:latin typeface="맑은 고딕"/>
              </a:rPr>
              <a:t>그래서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UI를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손으로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조립하는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대신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"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계층을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생성하는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에디터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스크립트"를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작성해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메뉴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한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번으로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화면을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다시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굽는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방식을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택했다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300" b="1" dirty="0">
                <a:solidFill>
                  <a:srgbClr val="2F6FE4"/>
                </a:solidFill>
                <a:latin typeface="맑은 고딕"/>
              </a:rPr>
              <a:t>Assets/Editor/ </a:t>
            </a:r>
            <a:r>
              <a:rPr sz="1300" b="1" dirty="0" err="1">
                <a:solidFill>
                  <a:srgbClr val="2F6FE4"/>
                </a:solidFill>
                <a:latin typeface="맑은 고딕"/>
              </a:rPr>
              <a:t>에디터</a:t>
            </a:r>
            <a:r>
              <a:rPr sz="130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2F6FE4"/>
                </a:solidFill>
                <a:latin typeface="맑은 고딕"/>
              </a:rPr>
              <a:t>스크립트</a:t>
            </a:r>
            <a:r>
              <a:rPr sz="1300" b="1" dirty="0">
                <a:solidFill>
                  <a:srgbClr val="2F6FE4"/>
                </a:solidFill>
                <a:latin typeface="맑은 고딕"/>
              </a:rPr>
              <a:t> 35개, </a:t>
            </a:r>
            <a:r>
              <a:rPr sz="1300" b="1" dirty="0" err="1">
                <a:solidFill>
                  <a:srgbClr val="2F6FE4"/>
                </a:solidFill>
                <a:latin typeface="맑은 고딕"/>
              </a:rPr>
              <a:t>그중</a:t>
            </a:r>
            <a:r>
              <a:rPr sz="1300" b="1" dirty="0">
                <a:solidFill>
                  <a:srgbClr val="2F6FE4"/>
                </a:solidFill>
                <a:latin typeface="맑은 고딕"/>
              </a:rPr>
              <a:t> 13개가 *</a:t>
            </a:r>
            <a:r>
              <a:rPr sz="1300" b="1" dirty="0" err="1">
                <a:solidFill>
                  <a:srgbClr val="2F6FE4"/>
                </a:solidFill>
                <a:latin typeface="맑은 고딕"/>
              </a:rPr>
              <a:t>UiBuilder</a:t>
            </a:r>
            <a:endParaRPr sz="1300" b="1" dirty="0">
              <a:solidFill>
                <a:srgbClr val="2F6FE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dirty="0" err="1">
                <a:solidFill>
                  <a:srgbClr val="1B2430"/>
                </a:solidFill>
                <a:latin typeface="맑은 고딕"/>
              </a:rPr>
              <a:t>재현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가능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 · 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화면이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코드에서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재생성된다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.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깨지면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다시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굽는다</a:t>
            </a:r>
            <a:endParaRPr sz="1000" b="0" dirty="0">
              <a:solidFill>
                <a:srgbClr val="1B243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 dirty="0" err="1">
                <a:solidFill>
                  <a:srgbClr val="1B2430"/>
                </a:solidFill>
                <a:latin typeface="맑은 고딕"/>
              </a:rPr>
              <a:t>리뷰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가능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 ·  UI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변경이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.unity/.prefab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바이너리가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아니라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lang="ko-KR" altLang="en-US" sz="1000" dirty="0">
                <a:solidFill>
                  <a:srgbClr val="1B2430"/>
                </a:solidFill>
                <a:latin typeface="맑은 고딕"/>
              </a:rPr>
              <a:t>코드 변경을 통해 이뤄져</a:t>
            </a:r>
            <a:r>
              <a:rPr lang="en-US" altLang="ko-KR" sz="1000" dirty="0">
                <a:solidFill>
                  <a:srgbClr val="1B2430"/>
                </a:solidFill>
                <a:latin typeface="맑은 고딕"/>
              </a:rPr>
              <a:t>, </a:t>
            </a:r>
            <a:r>
              <a:rPr lang="ko-KR" altLang="en-US" sz="1000" dirty="0" err="1">
                <a:solidFill>
                  <a:srgbClr val="1B2430"/>
                </a:solidFill>
                <a:latin typeface="맑은 고딕"/>
              </a:rPr>
              <a:t>클로드에서</a:t>
            </a:r>
            <a:r>
              <a:rPr lang="ko-KR" altLang="en-US" sz="1000" dirty="0">
                <a:solidFill>
                  <a:srgbClr val="1B2430"/>
                </a:solidFill>
                <a:latin typeface="맑은 고딕"/>
              </a:rPr>
              <a:t> 빠르게 변경사항을 캐치할 수 있다</a:t>
            </a:r>
            <a:r>
              <a:rPr lang="en-US" altLang="ko-KR" sz="1000" dirty="0">
                <a:solidFill>
                  <a:srgbClr val="1B2430"/>
                </a:solidFill>
                <a:latin typeface="맑은 고딕"/>
              </a:rPr>
              <a:t>.</a:t>
            </a:r>
            <a:endParaRPr sz="1000" b="0" dirty="0">
              <a:solidFill>
                <a:srgbClr val="1B243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 dirty="0" err="1">
                <a:solidFill>
                  <a:srgbClr val="1B2430"/>
                </a:solidFill>
                <a:latin typeface="맑은 고딕"/>
              </a:rPr>
              <a:t>대화로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수정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가능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 ·  "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패널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폭을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줄여라"를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빌더의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숫자</a:t>
            </a:r>
            <a:r>
              <a:rPr sz="1000" b="0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1B2430"/>
                </a:solidFill>
                <a:latin typeface="맑은 고딕"/>
              </a:rPr>
              <a:t>하나로</a:t>
            </a:r>
            <a:endParaRPr sz="1000" b="0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HARNESS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>
                <a:solidFill>
                  <a:srgbClr val="1B2430"/>
                </a:solidFill>
                <a:latin typeface="맑은 고딕"/>
              </a:rPr>
              <a:t>8.1  개발용 하네스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400" dirty="0" err="1">
                <a:solidFill>
                  <a:srgbClr val="6B7684"/>
                </a:solidFill>
                <a:latin typeface="맑은 고딕"/>
              </a:rPr>
              <a:t>인게임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 전투를 개발하기 위한 개발용 씬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pic>
        <p:nvPicPr>
          <p:cNvPr id="7" name="Picture 6" descr="BattleDev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71" y="2057400"/>
            <a:ext cx="5093738" cy="3017520"/>
          </a:xfrm>
          <a:prstGeom prst="rect">
            <a:avLst/>
          </a:prstGeom>
          <a:ln w="9525">
            <a:solidFill>
              <a:srgbClr val="D8D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5800" y="51663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684"/>
                </a:solidFill>
                <a:latin typeface="맑은 고딕"/>
              </a:rPr>
              <a:t>BattleDevScene — 파티 4인 스탯 · 스킬 쿨다운 · 소환 선택을 IMGUI로</a:t>
            </a:r>
          </a:p>
        </p:txBody>
      </p:sp>
      <p:pic>
        <p:nvPicPr>
          <p:cNvPr id="9" name="Picture 8" descr="AnimDev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881" y="2057400"/>
            <a:ext cx="5191037" cy="3017520"/>
          </a:xfrm>
          <a:prstGeom prst="rect">
            <a:avLst/>
          </a:prstGeom>
          <a:ln w="9525">
            <a:solidFill>
              <a:srgbClr val="D8DEE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309360" y="51663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684"/>
                </a:solidFill>
                <a:latin typeface="맑은 고딕"/>
              </a:rPr>
              <a:t>AnimDevScene — 클립 목록 · 직업/성별 전환 · 무기 강화 단계별 이펙트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32120"/>
            <a:ext cx="10789920" cy="770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dirty="0">
                <a:solidFill>
                  <a:srgbClr val="6B7684"/>
                </a:solidFill>
                <a:latin typeface="맑은 고딕"/>
              </a:rPr>
              <a:t>·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BattleDevScene은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로그인·스테이지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진입을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거치지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않고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전투만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켠다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—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광역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데미지가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몇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대에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들어갔는지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쿨다운이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실제로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도는지를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숫자로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확인한다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dirty="0">
                <a:solidFill>
                  <a:srgbClr val="6B7684"/>
                </a:solidFill>
                <a:latin typeface="맑은 고딕"/>
              </a:rPr>
              <a:t>· 이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IMGUI는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개발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전용이라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serverMode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=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true인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GameScene에서는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OnGUI가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자동으로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생략된다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dirty="0">
                <a:solidFill>
                  <a:srgbClr val="6B7684"/>
                </a:solidFill>
                <a:latin typeface="맑은 고딕"/>
              </a:rPr>
              <a:t>·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진입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단계가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짧을수록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원격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검증의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실패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지점이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줄고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측정값도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다른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시스템에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오염되지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6B7684"/>
                </a:solidFill>
                <a:latin typeface="맑은 고딕"/>
              </a:rPr>
              <a:t>않는다</a:t>
            </a:r>
            <a:r>
              <a:rPr sz="1200" b="0" dirty="0">
                <a:solidFill>
                  <a:srgbClr val="6B7684"/>
                </a:solidFill>
                <a:latin typeface="맑은 고딕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ASSETS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9. 자산 파이프라인 — 코드로 생성한다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241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7684"/>
                </a:solidFill>
                <a:latin typeface="맑은 고딕"/>
              </a:rPr>
              <a:t>아트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리소스를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외주·구매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없이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이미지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생성</a:t>
            </a:r>
            <a:r>
              <a:rPr lang="ko-KR" altLang="en-US" sz="1400" b="0" dirty="0">
                <a:solidFill>
                  <a:srgbClr val="6B7684"/>
                </a:solidFill>
                <a:latin typeface="맑은 고딕"/>
              </a:rPr>
              <a:t>을 통해 클라이언트에서 활용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785644"/>
              </p:ext>
            </p:extLst>
          </p:nvPr>
        </p:nvGraphicFramePr>
        <p:xfrm>
          <a:off x="685800" y="1892808"/>
          <a:ext cx="10789920" cy="31272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자산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도구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산출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아이템 · 스킬 · UI 아이콘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pixel-item-icons 스킬 (절차적 픽셀 아트 + 팔레트 레지스트리)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Assets/Art/Icon/ — 아이템 96종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전투 · 버프 · 투사체 이펙트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unity-pixel-vfx 스킬 (프레임 시퀀스 PNG)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Assets/Art/Effect/*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BGM · 효과음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tools/poe-sfx/generate_sound.py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Assets/Sound/ — 67종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마스터 데이터 번들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tools/master_data_export.py (마스터 DB → camelCase JSON)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Resources/MasterData/*.json — 17개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몬스터(능력치+외형+프리팹)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master-monster 스킬 + master_monster_tool.py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 dirty="0">
                          <a:solidFill>
                            <a:srgbClr val="1B2430"/>
                          </a:solidFill>
                          <a:latin typeface="맑은 고딕"/>
                        </a:rPr>
                        <a:t>monster_{code}.prefab — 12종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120640"/>
            <a:ext cx="10789920" cy="123444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82880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E6ECF5"/>
                </a:solidFill>
                <a:latin typeface="Consolas"/>
              </a:rPr>
              <a:t>master-item 스킬 — "아이템 한 종 추가"를 요청 한 번으로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E6ECF5"/>
                </a:solidFill>
                <a:latin typeface="Consolas"/>
              </a:rPr>
              <a:t>① 코드 자동 채번 → ② 정본 2곳 동시 삽입 + 자동 재검증 → ③ 아이콘 생성 → ④ .meta째 이동해 GUID 보존 → ⑤ DB 재적용 + 클라 JSON 재추출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>
                <a:solidFill>
                  <a:srgbClr val="1B2430"/>
                </a:solidFill>
                <a:latin typeface="맑은 고딕"/>
              </a:rPr>
              <a:t>10. 몬스터를 요청 한 줄로— master-monster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>
                <a:solidFill>
                  <a:srgbClr val="6B7684"/>
                </a:solidFill>
                <a:latin typeface="맑은 고딕"/>
              </a:rPr>
              <a:t>"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검은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갑옷의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스켈레톤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기사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, 2지역 5스테이지에 4마리" → 그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몬스터가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실제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전투에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나온다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0789920" cy="1097280"/>
          </a:xfrm>
          <a:prstGeom prst="roundRect">
            <a:avLst>
              <a:gd name="adj" fmla="val 4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82880" rtlCol="0" anchor="ctr"/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① 입력 해석 → ② 능력치·외형 결정 → ③ 정본 + 스폰 반영 → ④ 프리팹 생성 → ⑤ 전투 배선 → ⑥ 번들 재생성 → ⑦ 검증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250">
                <a:solidFill>
                  <a:srgbClr val="E6ECF5"/>
                </a:solidFill>
                <a:latin typeface="Consolas"/>
              </a:rPr>
              <a:t>                   └──────── ③ 도구(CLI) ────────┘   └─ ④⑤ Unity MCP ─┘   └ ⑥ CLI 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3383280"/>
          <a:ext cx="10789920" cy="2670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무엇이 자동인가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수단</a:t>
                      </a:r>
                    </a:p>
                  </a:txBody>
                  <a:tcPr marL="100584" marR="73152" marT="36576" marB="36576" anchor="ctr">
                    <a:solidFill>
                      <a:srgbClr val="1220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② 능력치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클라이언트 MonsterStatCurve와 같은 산식으로 Act·스테이지에서 hp·attack 산출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CLI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② 외형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SPUM 태그로 파츠를 뽑아 레시피 JSON 생성 · Act별 계열 고정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CLI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③ 정본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값.md · schema.sql · 레시피 · stage_spawn 네 곳을 한 명령으로 갱신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CLI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④⑤ 프리팹·배선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레시피에서 프리팹 조립 + 코드→프리팹 맵 갱신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Unity MCP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⑥ 번들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마스터 DB 재적용 + 클라 JSON 재추출 (전투는 클라 권위)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CLI</a:t>
                      </a:r>
                    </a:p>
                  </a:txBody>
                  <a:tcPr marL="100584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⑦ 검증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정본↔스키마 불일치 · 코드 규약 · 미배치 몬스터 검사(verify)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B2430"/>
                          </a:solidFill>
                          <a:latin typeface="맑은 고딕"/>
                        </a:rPr>
                        <a:t>CLI</a:t>
                      </a:r>
                    </a:p>
                  </a:txBody>
                  <a:tcPr marL="100584" marR="73152" marT="36576" marB="36576" anchor="ctr"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684"/>
                </a:solidFill>
                <a:latin typeface="맑은 고딕"/>
              </a:rPr>
              <a:t>부족한 값은 되묻지 않고 규칙으로 채운다 — monster_code는 Act 대역에서 자동 채번(보스 xx99), 스테이지 미지정이면 그 Act 중간.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>
                <a:solidFill>
                  <a:srgbClr val="1B2430"/>
                </a:solidFill>
                <a:latin typeface="맑은 고딕"/>
              </a:rPr>
              <a:t>10.1  몬스터의 외형을 자동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 err="1">
                <a:solidFill>
                  <a:srgbClr val="6B7684"/>
                </a:solidFill>
                <a:latin typeface="맑은 고딕"/>
              </a:rPr>
              <a:t>CharacterDevScene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—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능력치는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자동이지만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뽑힌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외형이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쓸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만한지는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사람이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봐야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한다</a:t>
            </a:r>
            <a:endParaRPr sz="1400" b="0" dirty="0">
              <a:solidFill>
                <a:srgbClr val="6B7684"/>
              </a:solidFill>
              <a:latin typeface="맑은 고딕"/>
            </a:endParaRPr>
          </a:p>
        </p:txBody>
      </p:sp>
      <p:pic>
        <p:nvPicPr>
          <p:cNvPr id="7" name="Picture 6" descr="몬스터-외형자동결정-결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1680"/>
            <a:ext cx="6675120" cy="3703320"/>
          </a:xfrm>
          <a:prstGeom prst="rect">
            <a:avLst/>
          </a:prstGeom>
          <a:ln w="9525">
            <a:solidFill>
              <a:srgbClr val="D8D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620000" y="2788045"/>
            <a:ext cx="3886200" cy="21505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dirty="0" err="1">
                <a:solidFill>
                  <a:srgbClr val="2F6FE4"/>
                </a:solidFill>
                <a:latin typeface="맑은 고딕"/>
              </a:rPr>
              <a:t>왼쪽</a:t>
            </a:r>
            <a:r>
              <a:rPr sz="1250" b="1" dirty="0">
                <a:solidFill>
                  <a:srgbClr val="2F6FE4"/>
                </a:solidFill>
                <a:latin typeface="맑은 고딕"/>
              </a:rPr>
              <a:t> — </a:t>
            </a:r>
            <a:r>
              <a:rPr sz="1250" b="1" dirty="0" err="1">
                <a:solidFill>
                  <a:srgbClr val="2F6FE4"/>
                </a:solidFill>
                <a:latin typeface="맑은 고딕"/>
              </a:rPr>
              <a:t>몬스터</a:t>
            </a:r>
            <a:r>
              <a:rPr sz="125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2F6FE4"/>
                </a:solidFill>
                <a:latin typeface="맑은 고딕"/>
              </a:rPr>
              <a:t>목록</a:t>
            </a:r>
            <a:endParaRPr sz="1250" b="1" dirty="0">
              <a:solidFill>
                <a:srgbClr val="2F6FE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dirty="0" err="1">
                <a:solidFill>
                  <a:srgbClr val="6B7684"/>
                </a:solidFill>
                <a:latin typeface="맑은 고딕"/>
              </a:rPr>
              <a:t>코드·이름·hp·atk와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추천값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대비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편차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, [PR](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Prefab·Recipe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)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보유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표시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dirty="0" err="1">
                <a:solidFill>
                  <a:srgbClr val="2F6FE4"/>
                </a:solidFill>
                <a:latin typeface="맑은 고딕"/>
              </a:rPr>
              <a:t>가운데</a:t>
            </a:r>
            <a:r>
              <a:rPr sz="1250" b="1" dirty="0">
                <a:solidFill>
                  <a:srgbClr val="2F6FE4"/>
                </a:solidFill>
                <a:latin typeface="맑은 고딕"/>
              </a:rPr>
              <a:t> — </a:t>
            </a:r>
            <a:r>
              <a:rPr sz="1250" b="1" dirty="0" err="1">
                <a:solidFill>
                  <a:srgbClr val="2F6FE4"/>
                </a:solidFill>
                <a:latin typeface="맑은 고딕"/>
              </a:rPr>
              <a:t>외형</a:t>
            </a:r>
            <a:r>
              <a:rPr sz="1250" b="1" dirty="0">
                <a:solidFill>
                  <a:srgbClr val="2F6FE4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2F6FE4"/>
                </a:solidFill>
                <a:latin typeface="맑은 고딕"/>
              </a:rPr>
              <a:t>프리뷰</a:t>
            </a:r>
            <a:endParaRPr sz="1250" b="1" dirty="0">
              <a:solidFill>
                <a:srgbClr val="2F6FE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 dirty="0" err="1">
                <a:solidFill>
                  <a:srgbClr val="6B7684"/>
                </a:solidFill>
                <a:latin typeface="맑은 고딕"/>
              </a:rPr>
              <a:t>고른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몬스터의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프리팹을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그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자리에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세운다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 dirty="0" err="1">
                <a:solidFill>
                  <a:srgbClr val="2F6FE4"/>
                </a:solidFill>
                <a:latin typeface="맑은 고딕"/>
              </a:rPr>
              <a:t>오른쪽</a:t>
            </a:r>
            <a:r>
              <a:rPr sz="1250" b="1" dirty="0">
                <a:solidFill>
                  <a:srgbClr val="2F6FE4"/>
                </a:solidFill>
                <a:latin typeface="맑은 고딕"/>
              </a:rPr>
              <a:t> — </a:t>
            </a:r>
            <a:r>
              <a:rPr sz="1250" b="1" dirty="0" err="1">
                <a:solidFill>
                  <a:srgbClr val="2F6FE4"/>
                </a:solidFill>
                <a:latin typeface="맑은 고딕"/>
              </a:rPr>
              <a:t>능력치</a:t>
            </a:r>
            <a:r>
              <a:rPr sz="1250" b="1" dirty="0">
                <a:solidFill>
                  <a:srgbClr val="2F6FE4"/>
                </a:solidFill>
                <a:latin typeface="맑은 고딕"/>
              </a:rPr>
              <a:t> · </a:t>
            </a:r>
            <a:r>
              <a:rPr sz="1250" b="1" dirty="0" err="1">
                <a:solidFill>
                  <a:srgbClr val="2F6FE4"/>
                </a:solidFill>
                <a:latin typeface="맑은 고딕"/>
              </a:rPr>
              <a:t>외형</a:t>
            </a:r>
            <a:r>
              <a:rPr sz="1250" b="1" dirty="0">
                <a:solidFill>
                  <a:srgbClr val="2F6FE4"/>
                </a:solidFill>
                <a:latin typeface="맑은 고딕"/>
              </a:rPr>
              <a:t> · </a:t>
            </a:r>
            <a:r>
              <a:rPr sz="1250" b="1" dirty="0" err="1">
                <a:solidFill>
                  <a:srgbClr val="2F6FE4"/>
                </a:solidFill>
                <a:latin typeface="맑은 고딕"/>
              </a:rPr>
              <a:t>산출</a:t>
            </a:r>
            <a:endParaRPr sz="1250" b="1" dirty="0">
              <a:solidFill>
                <a:srgbClr val="2F6FE4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150" b="0" dirty="0">
                <a:solidFill>
                  <a:srgbClr val="6B7684"/>
                </a:solidFill>
                <a:latin typeface="맑은 고딕"/>
              </a:rPr>
              <a:t>[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추천값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채우기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] ·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레시피와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시드가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고른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파트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목록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· [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외형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재생성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] · [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프리팹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저장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] · [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스니펫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복사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맑은 고딕"/>
              </a:rPr>
              <a:t>10.2  파이프라인의 산출물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6B7684"/>
                </a:solidFill>
                <a:latin typeface="맑은 고딕"/>
              </a:rPr>
              <a:t>현재 게임의 몬스터 12종(일반 7 + Act별 보스 5)이 전부 이 파이프라인 산출물</a:t>
            </a:r>
          </a:p>
        </p:txBody>
      </p:sp>
      <p:pic>
        <p:nvPicPr>
          <p:cNvPr id="7" name="Picture 6" descr="몬스터-자동생성-전투.png"/>
          <p:cNvPicPr>
            <a:picLocks noChangeAspect="1"/>
          </p:cNvPicPr>
          <p:nvPr/>
        </p:nvPicPr>
        <p:blipFill>
          <a:blip r:embed="rId2"/>
          <a:srcRect l="36124"/>
          <a:stretch>
            <a:fillRect/>
          </a:stretch>
        </p:blipFill>
        <p:spPr>
          <a:xfrm>
            <a:off x="1549598" y="2148840"/>
            <a:ext cx="3850244" cy="1883664"/>
          </a:xfrm>
          <a:prstGeom prst="rect">
            <a:avLst/>
          </a:prstGeom>
          <a:ln w="9525">
            <a:solidFill>
              <a:srgbClr val="D8DEE7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4123944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7684"/>
                </a:solidFill>
                <a:latin typeface="맑은 고딕"/>
              </a:rPr>
              <a:t>생성된 몬스터가 실제 전투에 등장 — 오른쪽 6종이 모두 파이프라인 산출물</a:t>
            </a:r>
          </a:p>
        </p:txBody>
      </p:sp>
      <p:pic>
        <p:nvPicPr>
          <p:cNvPr id="9" name="Picture 8" descr="몬스터-자동생성-라인업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400" y="2148840"/>
            <a:ext cx="5074360" cy="1883664"/>
          </a:xfrm>
          <a:prstGeom prst="rect">
            <a:avLst/>
          </a:prstGeom>
          <a:ln w="9525">
            <a:solidFill>
              <a:srgbClr val="D8DEE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675120" y="4123944"/>
            <a:ext cx="5074920" cy="189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lang="ko-KR" altLang="en-US" sz="1100" b="0" dirty="0">
                <a:solidFill>
                  <a:srgbClr val="6B7684"/>
                </a:solidFill>
                <a:latin typeface="맑은 고딕"/>
              </a:rPr>
              <a:t>인게임에 등장하는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몬스터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6B7684"/>
                </a:solidFill>
                <a:latin typeface="맑은 고딕"/>
              </a:rPr>
              <a:t>프리팹</a:t>
            </a:r>
            <a:r>
              <a:rPr sz="1100" b="0" dirty="0">
                <a:solidFill>
                  <a:srgbClr val="6B7684"/>
                </a:solidFill>
                <a:latin typeface="맑은 고딕"/>
              </a:rPr>
              <a:t> 12종 — </a:t>
            </a:r>
            <a:r>
              <a:rPr lang="en-US" sz="1100" b="0" dirty="0">
                <a:solidFill>
                  <a:srgbClr val="6B7684"/>
                </a:solidFill>
                <a:latin typeface="맑은 고딕"/>
              </a:rPr>
              <a:t>1</a:t>
            </a:r>
            <a:r>
              <a:rPr lang="ko-KR" altLang="en-US" sz="1100" b="0" dirty="0">
                <a:solidFill>
                  <a:srgbClr val="6B7684"/>
                </a:solidFill>
                <a:latin typeface="맑은 고딕"/>
              </a:rPr>
              <a:t>지역 </a:t>
            </a:r>
            <a:r>
              <a:rPr lang="en-US" altLang="ko-KR" sz="1100" b="0" dirty="0">
                <a:solidFill>
                  <a:srgbClr val="6B7684"/>
                </a:solidFill>
                <a:latin typeface="맑은 고딕"/>
              </a:rPr>
              <a:t>~ 5</a:t>
            </a:r>
            <a:r>
              <a:rPr lang="ko-KR" altLang="en-US" sz="1100" b="0" dirty="0">
                <a:solidFill>
                  <a:srgbClr val="6B7684"/>
                </a:solidFill>
                <a:latin typeface="맑은 고딕"/>
              </a:rPr>
              <a:t>지역</a:t>
            </a:r>
            <a:endParaRPr sz="110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4754880"/>
            <a:ext cx="10789920" cy="1177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0" dirty="0" err="1">
                <a:solidFill>
                  <a:srgbClr val="6B7684"/>
                </a:solidFill>
                <a:latin typeface="맑은 고딕"/>
              </a:rPr>
              <a:t>외형만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바꾸는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요청은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서버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손으로 만든 </a:t>
            </a:r>
            <a:r>
              <a:rPr lang="ko-KR" altLang="en-US" sz="1400" dirty="0" err="1">
                <a:solidFill>
                  <a:srgbClr val="6B7684"/>
                </a:solidFill>
                <a:latin typeface="맑은 고딕"/>
              </a:rPr>
              <a:t>프리팹이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 하나도 없다 </a:t>
            </a: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— 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전부 태그 → 레시피 → </a:t>
            </a:r>
            <a:r>
              <a:rPr lang="ko-KR" altLang="en-US" sz="1400" dirty="0" err="1">
                <a:solidFill>
                  <a:srgbClr val="6B7684"/>
                </a:solidFill>
                <a:latin typeface="맑은 고딕"/>
              </a:rPr>
              <a:t>프리팹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 → </a:t>
            </a:r>
            <a:r>
              <a:rPr lang="ko-KR" altLang="en-US" sz="1400" dirty="0" err="1">
                <a:solidFill>
                  <a:srgbClr val="6B7684"/>
                </a:solidFill>
                <a:latin typeface="맑은 고딕"/>
              </a:rPr>
              <a:t>스폰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 테이블을 거쳐 전투에 들어왔다</a:t>
            </a: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. 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이름</a:t>
            </a: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·HP·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공격력은 서버 정본에서 추출한 </a:t>
            </a:r>
            <a:r>
              <a:rPr lang="ko-KR" altLang="en-US" sz="1400" dirty="0" err="1">
                <a:solidFill>
                  <a:srgbClr val="6B7684"/>
                </a:solidFill>
                <a:latin typeface="맑은 고딕"/>
              </a:rPr>
              <a:t>번들에서</a:t>
            </a:r>
            <a:r>
              <a:rPr lang="ko-KR" altLang="en-US" sz="1400" dirty="0">
                <a:solidFill>
                  <a:srgbClr val="6B7684"/>
                </a:solidFill>
                <a:latin typeface="맑은 고딕"/>
              </a:rPr>
              <a:t> 읽는다</a:t>
            </a:r>
            <a:r>
              <a:rPr lang="en-US" altLang="ko-KR" sz="1400" dirty="0">
                <a:solidFill>
                  <a:srgbClr val="6B7684"/>
                </a:solidFill>
                <a:latin typeface="맑은 고딕"/>
              </a:rPr>
              <a:t>.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정본·DB·번들을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건드리지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않는다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—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같은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경로에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덮어써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GUID가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유지되므로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"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다시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뽑아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달라"를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몇 번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반복해도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DB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재적용도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, 씬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수정도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400" b="0" dirty="0" err="1">
                <a:solidFill>
                  <a:srgbClr val="6B7684"/>
                </a:solidFill>
                <a:latin typeface="맑은 고딕"/>
              </a:rPr>
              <a:t>없다</a:t>
            </a:r>
            <a:r>
              <a:rPr sz="1400" b="0" dirty="0">
                <a:solidFill>
                  <a:srgbClr val="6B7684"/>
                </a:solidFill>
                <a:latin typeface="맑은 고딕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2F6FE4"/>
                </a:solidFill>
                <a:latin typeface="맑은 고딕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749808"/>
            <a:ext cx="822960" cy="50292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10881360" cy="51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 dirty="0" err="1">
                <a:solidFill>
                  <a:srgbClr val="1B2430"/>
                </a:solidFill>
                <a:latin typeface="맑은 고딕"/>
              </a:rPr>
              <a:t>정리</a:t>
            </a:r>
            <a:r>
              <a:rPr sz="3000" b="1" dirty="0">
                <a:solidFill>
                  <a:srgbClr val="1B2430"/>
                </a:solidFill>
                <a:latin typeface="맑은 고딕"/>
              </a:rPr>
              <a:t> — </a:t>
            </a:r>
            <a:r>
              <a:rPr lang="ko-KR" altLang="en-US" sz="3000" b="1" dirty="0">
                <a:solidFill>
                  <a:srgbClr val="1B2430"/>
                </a:solidFill>
                <a:latin typeface="맑은 고딕"/>
              </a:rPr>
              <a:t>과제 진행 간 세가지 축</a:t>
            </a:r>
            <a:endParaRPr sz="3000" b="1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3317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624328"/>
            <a:ext cx="3017520" cy="25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dirty="0" err="1">
                <a:solidFill>
                  <a:srgbClr val="1B2430"/>
                </a:solidFill>
                <a:latin typeface="맑은 고딕"/>
              </a:rPr>
              <a:t>문서</a:t>
            </a:r>
            <a:r>
              <a:rPr lang="ko-KR" altLang="en-US" sz="1500" b="1" dirty="0">
                <a:solidFill>
                  <a:srgbClr val="1B2430"/>
                </a:solidFill>
                <a:latin typeface="맑은 고딕"/>
              </a:rPr>
              <a:t>를 기반으로 작업을 시작</a:t>
            </a:r>
            <a:endParaRPr sz="1500" b="1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5256" y="3017520"/>
            <a:ext cx="3017520" cy="1662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6B7684"/>
                </a:solidFill>
                <a:latin typeface="맑은 고딕"/>
              </a:rPr>
              <a:t>코드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작성을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바로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시키지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않고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기획서를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먼저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확정한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뒤 그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문서를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기반으로만 작업을 진행한다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.</a:t>
            </a:r>
            <a:endParaRPr sz="115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endParaRPr sz="115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>
                <a:solidFill>
                  <a:srgbClr val="6B7684"/>
                </a:solidFill>
                <a:latin typeface="맑은 고딕"/>
              </a:rPr>
              <a:t>"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확정"과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"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그렇게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정한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이유"를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함께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남겨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그때 왜 이렇게 했지 라는 질문에 대해 스스로 답을 찾을 수 있도록 하였다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3317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2F6FE4"/>
                </a:solidFill>
                <a:latin typeface="맑은 고딕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6243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dirty="0" err="1">
                <a:solidFill>
                  <a:srgbClr val="1B2430"/>
                </a:solidFill>
                <a:latin typeface="맑은 고딕"/>
              </a:rPr>
              <a:t>만드는</a:t>
            </a:r>
            <a:r>
              <a:rPr sz="15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B2430"/>
                </a:solidFill>
                <a:latin typeface="맑은 고딕"/>
              </a:rPr>
              <a:t>절차를</a:t>
            </a:r>
            <a:r>
              <a:rPr sz="15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B2430"/>
                </a:solidFill>
                <a:latin typeface="맑은 고딕"/>
              </a:rPr>
              <a:t>코드로</a:t>
            </a:r>
            <a:endParaRPr sz="1500" b="1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90288" y="3017520"/>
            <a:ext cx="30175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6B7684"/>
                </a:solidFill>
                <a:latin typeface="맑은 고딕"/>
              </a:rPr>
              <a:t>화면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아이콘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이펙트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마스터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번들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·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몬스터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—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산출물을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직접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편집하지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않고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그것을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생성하는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스크립트를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남겼다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endParaRPr sz="1150" b="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dirty="0" err="1">
                <a:solidFill>
                  <a:srgbClr val="6B7684"/>
                </a:solidFill>
                <a:latin typeface="맑은 고딕"/>
              </a:rPr>
              <a:t>그래서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어느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것이든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"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다시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만들어라"가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실행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가능한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요청이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6B7684"/>
                </a:solidFill>
                <a:latin typeface="맑은 고딕"/>
              </a:rPr>
              <a:t>된다</a:t>
            </a:r>
            <a:r>
              <a:rPr sz="1150" b="0" dirty="0">
                <a:solidFill>
                  <a:srgbClr val="6B7684"/>
                </a:solidFill>
                <a:latin typeface="맑은 고딕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214884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0A526"/>
                </a:solidFill>
                <a:latin typeface="맑은 고딕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24328"/>
            <a:ext cx="3017520" cy="258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ko-KR" altLang="en-US" sz="1500" b="1" dirty="0">
                <a:solidFill>
                  <a:srgbClr val="1B2430"/>
                </a:solidFill>
                <a:latin typeface="맑은 고딕"/>
              </a:rPr>
              <a:t>유니티 </a:t>
            </a:r>
            <a:r>
              <a:rPr lang="en-US" altLang="ko-KR" sz="1500" b="1" dirty="0">
                <a:solidFill>
                  <a:srgbClr val="1B2430"/>
                </a:solidFill>
                <a:latin typeface="맑은 고딕"/>
              </a:rPr>
              <a:t>MCP + </a:t>
            </a:r>
            <a:r>
              <a:rPr lang="ko-KR" altLang="en-US" sz="1500" b="1" dirty="0">
                <a:solidFill>
                  <a:srgbClr val="1B2430"/>
                </a:solidFill>
                <a:latin typeface="맑은 고딕"/>
              </a:rPr>
              <a:t> </a:t>
            </a:r>
            <a:r>
              <a:rPr lang="ko-KR" altLang="en-US" sz="1500" b="1" dirty="0" err="1">
                <a:solidFill>
                  <a:srgbClr val="1B2430"/>
                </a:solidFill>
                <a:latin typeface="맑은 고딕"/>
              </a:rPr>
              <a:t>하네스</a:t>
            </a:r>
            <a:r>
              <a:rPr lang="ko-KR" altLang="en-US" sz="1500" b="1" dirty="0">
                <a:solidFill>
                  <a:srgbClr val="1B2430"/>
                </a:solidFill>
                <a:latin typeface="맑은 고딕"/>
              </a:rPr>
              <a:t> 구성</a:t>
            </a:r>
            <a:endParaRPr sz="1500" b="1" dirty="0">
              <a:solidFill>
                <a:srgbClr val="1B2430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5320" y="3017520"/>
            <a:ext cx="3017520" cy="1892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개발자가 직접 보는 </a:t>
            </a:r>
            <a:r>
              <a:rPr lang="ko-KR" altLang="en-US" sz="1150" b="0" dirty="0" err="1">
                <a:solidFill>
                  <a:srgbClr val="6B7684"/>
                </a:solidFill>
                <a:latin typeface="맑은 고딕"/>
              </a:rPr>
              <a:t>씬이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 아닌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lang="ko-KR" altLang="en-US" sz="1150" b="0" dirty="0" err="1">
                <a:solidFill>
                  <a:srgbClr val="6B7684"/>
                </a:solidFill>
                <a:latin typeface="맑은 고딕"/>
              </a:rPr>
              <a:t>클로드를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 위한 개발용 </a:t>
            </a:r>
            <a:r>
              <a:rPr lang="en-US" altLang="ko-KR" sz="1150" b="0" dirty="0" err="1">
                <a:solidFill>
                  <a:srgbClr val="6B7684"/>
                </a:solidFill>
                <a:latin typeface="맑은 고딕"/>
              </a:rPr>
              <a:t>DevScene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들을 추가하여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구현에 대한 검증과 테스트가 효율적으로 이뤄지도록 하였다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endParaRPr lang="en-US" sz="1150" dirty="0">
              <a:solidFill>
                <a:srgbClr val="6B7684"/>
              </a:solidFill>
              <a:latin typeface="맑은 고딕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아이템 및 몬스터 등 일부 리소스에 대한 클라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, </a:t>
            </a:r>
            <a:r>
              <a:rPr lang="ko-KR" altLang="en-US" sz="1150" b="0" dirty="0">
                <a:solidFill>
                  <a:srgbClr val="6B7684"/>
                </a:solidFill>
                <a:latin typeface="맑은 고딕"/>
              </a:rPr>
              <a:t>서버 작업을 자동화하여 효율적으로 과제를 진행할 수 있도록 구성하였다</a:t>
            </a:r>
            <a:r>
              <a:rPr lang="en-US" altLang="ko-KR" sz="1150" b="0" dirty="0">
                <a:solidFill>
                  <a:srgbClr val="6B7684"/>
                </a:solidFill>
                <a:latin typeface="맑은 고딕"/>
              </a:rPr>
              <a:t>.</a:t>
            </a:r>
            <a:endParaRPr lang="en-US" sz="1150" b="0" dirty="0">
              <a:solidFill>
                <a:srgbClr val="6B7684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3794760"/>
            <a:ext cx="1463040" cy="4572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58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7684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2986</Words>
  <Application>Microsoft Office PowerPoint</Application>
  <PresentationFormat>와이드스크린</PresentationFormat>
  <Paragraphs>414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com2usholdings602</cp:lastModifiedBy>
  <cp:revision>18</cp:revision>
  <dcterms:created xsi:type="dcterms:W3CDTF">2013-01-27T09:14:16Z</dcterms:created>
  <dcterms:modified xsi:type="dcterms:W3CDTF">2026-08-13T03:25:30Z</dcterms:modified>
  <cp:category/>
</cp:coreProperties>
</file>